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[0:30] Good [morning/afternoon] everyone. My name is Prathik Anand Krishnan,</a:t>
            </a:r>
          </a:p>
          <a:p>
            <a:r>
              <a:t>and today I'll defend my MSc Software Engineering thesis, done at TNO-ESI and</a:t>
            </a:r>
          </a:p>
          <a:p>
            <a:r>
              <a:t>the University of Amsterdam.</a:t>
            </a:r>
          </a:p>
          <a:p>
            <a:r>
              <a:t>The title is "Hybrid Static–Trace Analysis for Interaction Model Synthesis in</a:t>
            </a:r>
          </a:p>
          <a:p>
            <a:r>
              <a:t>Event-Driven Systems" — in short, automatically reconstructing scenario-specific</a:t>
            </a:r>
          </a:p>
          <a:p>
            <a:r>
              <a:t>SysML v2 interaction diagrams from C++ code by combining two kinds of evidence.</a:t>
            </a:r>
          </a:p>
          <a:p>
            <a:r>
              <a:t>Thanks to my committee: my examiner Dr. van Binsbergen, my reader Prof. Åkesson,</a:t>
            </a:r>
          </a:p>
          <a:p>
            <a:r>
              <a:t>and my daily supervisor Dr. Corvino.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[0:30] Here's the roadmap. I'll start with the motivation and the concrete</a:t>
            </a:r>
          </a:p>
          <a:p>
            <a:r>
              <a:t>problem, state my two research questions, then walk through the approach —</a:t>
            </a:r>
          </a:p>
          <a:p>
            <a:r>
              <a:t>the pipeline and the shared property graph. After a quick look at the case</a:t>
            </a:r>
          </a:p>
          <a:p>
            <a:r>
              <a:t>study, CPSCore, I'll present the three experiments and their results, and close</a:t>
            </a:r>
          </a:p>
          <a:p>
            <a:r>
              <a:t>with contributions, limitations, and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[2:00] The systems I care about are long-lived and safety-critical — think</a:t>
            </a:r>
          </a:p>
          <a:p>
            <a:r>
              <a:t>medical imaging or industrial automation. Their behaviour is supposed to be</a:t>
            </a:r>
          </a:p>
          <a:p>
            <a:r>
              <a:t>captured in interaction models, i.e. sequence diagrams. But in practice those</a:t>
            </a:r>
          </a:p>
          <a:p>
            <a:r>
              <a:t>diagrams drift out of sync as the code evolves, so engineers end up</a:t>
            </a:r>
          </a:p>
          <a:p>
            <a:r>
              <a:t>reconstructing behaviour by hand — slow and expertise-dependent. Event-driven</a:t>
            </a:r>
          </a:p>
          <a:p>
            <a:r>
              <a:t>systems make it harder because async callbacks and pub/sub hide who talks to</a:t>
            </a:r>
          </a:p>
          <a:p>
            <a:r>
              <a:t>whom.</a:t>
            </a:r>
          </a:p>
          <a:p>
            <a:r>
              <a:t>On the right is a real, previously-resolved defect that motivated the work: a</a:t>
            </a:r>
          </a:p>
          <a:p>
            <a:r>
              <a:t>stale proxy was never freed because a reset call was missing, and after a</a:t>
            </a:r>
          </a:p>
          <a:p>
            <a:r>
              <a:t>restart the system silently stopped delivering notifications. It was only</a:t>
            </a:r>
          </a:p>
          <a:p>
            <a:r>
              <a:t>visible by tracing an implicit event chain that no diagram showed — exactly the</a:t>
            </a:r>
          </a:p>
          <a:p>
            <a:r>
              <a:t>kind of model this thesis reconstructs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[2:00] Two classic sources of evidence, each incomplete. The static call graph</a:t>
            </a:r>
          </a:p>
          <a:p>
            <a:r>
              <a:t>is complete in the sense that it captures every possible interaction — but it</a:t>
            </a:r>
          </a:p>
          <a:p>
            <a:r>
              <a:t>over-approximates and has no execution order or scenario specificity. Runtime</a:t>
            </a:r>
          </a:p>
          <a:p>
            <a:r>
              <a:t>traces are the opposite: scenario-specific and correctly ordered, but</a:t>
            </a:r>
          </a:p>
          <a:p>
            <a:r>
              <a:t>under-approximate — they only show what was actually exercised, and are sparse</a:t>
            </a:r>
          </a:p>
          <a:p>
            <a:r>
              <a:t>or noisy.</a:t>
            </a:r>
          </a:p>
          <a:p>
            <a:r>
              <a:t>The gap, in the box: prior hybrid methods only use static structure to organise</a:t>
            </a:r>
          </a:p>
          <a:p>
            <a:r>
              <a:t>a trace they already have. Nobody combines both directions at once — using</a:t>
            </a:r>
          </a:p>
          <a:p>
            <a:r>
              <a:t>static structure to recover what the trace missed, AND using the trace to trim</a:t>
            </a:r>
          </a:p>
          <a:p>
            <a:r>
              <a:t>the static graph down to the scenario. And pub/sub indirection hides the</a:t>
            </a:r>
          </a:p>
          <a:p>
            <a:r>
              <a:t>subscription topology from call-graph analysis entirely. Closing that</a:t>
            </a:r>
          </a:p>
          <a:p>
            <a:r>
              <a:t>two-directional gap is the core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Two research questions. RQ1 is about accuracy: does combining static</a:t>
            </a:r>
          </a:p>
          <a:p>
            <a:r>
              <a:t>analysis with incomplete traces actually improve reconstruction accuracy and</a:t>
            </a:r>
          </a:p>
          <a:p>
            <a:r>
              <a:t>completeness? RQ2 is about focus: can scenario-scoped querying of the static</a:t>
            </a:r>
          </a:p>
          <a:p>
            <a:r>
              <a:t>call graph restrict reconstruction to only scenario-relevant behaviour?</a:t>
            </a:r>
          </a:p>
          <a:p>
            <a:r>
              <a:t>Each RQ has a matching hypothesis and a dedicated experiment — H1 answers RQ1,</a:t>
            </a:r>
          </a:p>
          <a:p>
            <a:r>
              <a:t>H2 answers RQ2. And a downstream question, H3: is the reconstructed diagram</a:t>
            </a:r>
          </a:p>
          <a:p>
            <a:r>
              <a:t>actually useful to a consumer — here, an LLM agent doing scenario comprehension.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Positioning the work. Three families exist today. Trace-based methods give</a:t>
            </a:r>
          </a:p>
          <a:p>
            <a:r>
              <a:t>concrete observed behaviour but are incomplete and miss anything not exercised.</a:t>
            </a:r>
          </a:p>
          <a:p>
            <a:r>
              <a:t>Static analysis gives complete structure but over-approximates and has no</a:t>
            </a:r>
          </a:p>
          <a:p>
            <a:r>
              <a:t>scenario focus. Existing hybrids are the closest, but they use static structure</a:t>
            </a:r>
          </a:p>
          <a:p>
            <a:r>
              <a:t>only to reduce logging or organise a trace — they assume the observed trace is</a:t>
            </a:r>
          </a:p>
          <a:p>
            <a:r>
              <a:t>complete and never recover the interactions it missed.</a:t>
            </a:r>
          </a:p>
          <a:p>
            <a:r>
              <a:t>The fourth column is what this thesis adds: it recovers trace-missed edges from</a:t>
            </a:r>
          </a:p>
          <a:p>
            <a:r>
              <a:t>static evidence, trims the over-approximate static graph to the scenario using</a:t>
            </a:r>
          </a:p>
          <a:p>
            <a:r>
              <a:t>the trace, and recovers pub/sub wiring invisible to call graphs. The gap, stated</a:t>
            </a:r>
          </a:p>
          <a:p>
            <a:r>
              <a:t>plainly at the bottom: no prior approach infers unobserved interactions by</a:t>
            </a:r>
          </a:p>
          <a:p>
            <a:r>
              <a:t>combining both sources for scenario-specific models — and closing it in both</a:t>
            </a:r>
          </a:p>
          <a:p>
            <a:r>
              <a:t>directions is the core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[2:30] This is the whole pipeline. It's implemented as eleven composable agent</a:t>
            </a:r>
          </a:p>
          <a:p>
            <a:r>
              <a:t>skills, each invocable in natural language, and — importantly — with no changes</a:t>
            </a:r>
          </a:p>
          <a:p>
            <a:r>
              <a:t>to the target system's own code.</a:t>
            </a:r>
          </a:p>
          <a:p>
            <a:r>
              <a:t>Left to right: static extraction with the Renaissance tool turns C++ into a</a:t>
            </a:r>
          </a:p>
          <a:p>
            <a:r>
              <a:t>graph; everything lands in a Neo4j property graph; csp_matcher inserts runtime</a:t>
            </a:r>
          </a:p>
          <a:p>
            <a:r>
              <a:t>trace probes; graph fusion takes the union of static and trace edges, tagging</a:t>
            </a:r>
          </a:p>
          <a:p>
            <a:r>
              <a:t>each with its provenance; scenario scoping filters that fused graph; an agent</a:t>
            </a:r>
          </a:p>
          <a:p>
            <a:r>
              <a:t>synthesis step prunes false positives using provenance; and finally we emit a</a:t>
            </a:r>
          </a:p>
          <a:p>
            <a:r>
              <a:t>SysML v2 or Mermaid diagram.</a:t>
            </a:r>
          </a:p>
          <a:p>
            <a:r>
              <a:t>The two conceptual cores are at the bottom: fusion answers RQ1, scoping answers</a:t>
            </a:r>
          </a:p>
          <a:p>
            <a:r>
              <a:t>RQ2. Scoping is just a scenario-scoped Cypher query that works identically over</a:t>
            </a:r>
          </a:p>
          <a:p>
            <a:r>
              <a:t>static and trace edges — I'll show why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[2:00] This underlies both RQ1 and RQ2. The key design decision is that both</a:t>
            </a:r>
          </a:p>
          <a:p>
            <a:r>
              <a:t>evidence types live in one Neo4j property graph, and every interaction edge</a:t>
            </a:r>
          </a:p>
          <a:p>
            <a:r>
              <a:t>remembers which source produced it — its provenance. The schema has 11 node</a:t>
            </a:r>
          </a:p>
          <a:p>
            <a:r>
              <a:t>labels and 11 relationship types. On CPSCore the static side yields 2,574</a:t>
            </a:r>
          </a:p>
          <a:p>
            <a:r>
              <a:t>ordered interactions across 121 components; the trace side adds 27 events over</a:t>
            </a:r>
          </a:p>
          <a:p>
            <a:r>
              <a:t>26 unique pairs.</a:t>
            </a:r>
          </a:p>
          <a:p>
            <a:r>
              <a:t>On the right is the formal operation: the scenario graph is the scenario-scoped</a:t>
            </a:r>
          </a:p>
          <a:p>
            <a:r>
              <a:t>subset of the union of static and trace edges, keeping edges whose source is in</a:t>
            </a:r>
          </a:p>
          <a:p>
            <a:r>
              <a:t>the scenario's primary component and whose target is a declared participant.</a:t>
            </a:r>
          </a:p>
          <a:p>
            <a:r>
              <a:t>Because both edge types carry client/server component metadata, one linear</a:t>
            </a:r>
          </a:p>
          <a:p>
            <a:r>
              <a:t>filter works over both.</a:t>
            </a:r>
          </a:p>
          <a:p>
            <a:r>
              <a:t>A schema-introspection skill reads the labels at runtime, so the pipeline is</a:t>
            </a:r>
          </a:p>
          <a:p>
            <a:r>
              <a:t>codebase-agnostic — and crucially, the graph lets us recover pub/sub wiring that</a:t>
            </a:r>
          </a:p>
          <a:p>
            <a:r>
              <a:t>plain call-graph analysis can't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The static half. The Renaissance semantic-extraction tool parses the C++</a:t>
            </a:r>
          </a:p>
          <a:p>
            <a:r>
              <a:t>and populates Neo4j. What you're seeing is the full function-call dependency</a:t>
            </a:r>
          </a:p>
          <a:p>
            <a:r>
              <a:t>graph — everything the code could do, scenario-agnostic, so it over-approximates.</a:t>
            </a:r>
          </a:p>
          <a:p>
            <a:r>
              <a:t>We project the CppCalls edges into an ordered sequence-dependency table — 2,574</a:t>
            </a:r>
          </a:p>
          <a:p>
            <a:r>
              <a:t>interactions. The important role of static analysis in the fusion is as a recall</a:t>
            </a:r>
          </a:p>
          <a:p>
            <a:r>
              <a:t>floor: it guarantees interactions that a sparse trace would otherwise miss.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[2:00] The dynamic half is captured by csp_matcher, a Clang LibTooling tool I</a:t>
            </a:r>
          </a:p>
          <a:p>
            <a:r>
              <a:t>built. It inserts trace probes by matching AST patterns, and it's guided by the</a:t>
            </a:r>
          </a:p>
          <a:p>
            <a:r>
              <a:t>code graph so it only instruments the call sites relevant to a scenario. It's</a:t>
            </a:r>
          </a:p>
          <a:p>
            <a:r>
              <a:t>fully reversible — add and remove leave the source byte-for-byte unchanged.</a:t>
            </a:r>
          </a:p>
          <a:p>
            <a:r>
              <a:t>The figure illustrates the pub/sub case: csp_matcher resolves boost::signals2</a:t>
            </a:r>
          </a:p>
          <a:p>
            <a:r>
              <a:t>connect and slot wiring, which has no static call site, so it recovers edges the</a:t>
            </a:r>
          </a:p>
          <a:p>
            <a:r>
              <a:t>call graph simply cannot see. On CPSCore it produced 27 trace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The primary case study is CPSCore — an open-source event-driven C++</a:t>
            </a:r>
          </a:p>
          <a:p>
            <a:r>
              <a:t>framework for cyber-physical systems: about 13,000 lines, 154 files, five</a:t>
            </a:r>
          </a:p>
          <a:p>
            <a:r>
              <a:t>modules, with pub/sub over boost::signals2 and Redis.</a:t>
            </a:r>
          </a:p>
          <a:p>
            <a:r>
              <a:t>One structural property matters a lot for interpreting the results, in the amber</a:t>
            </a:r>
          </a:p>
          <a:p>
            <a:r>
              <a:t>box: CPSCore leans heavily on templates — static polymorphism — with only 32</a:t>
            </a:r>
          </a:p>
          <a:p>
            <a:r>
              <a:t>virtual signatures, all inside a single module or at config boundaries. No</a:t>
            </a:r>
          </a:p>
          <a:p>
            <a:r>
              <a:t>cross-module call goes through a vtable. That means, on the naturally-occurring</a:t>
            </a:r>
          </a:p>
          <a:p>
            <a:r>
              <a:t>scenarios, the static graph is already reachability-complete with respect to the</a:t>
            </a:r>
          </a:p>
          <a:p>
            <a:r>
              <a:t>trace. That's a property of this system, not a law — and it's precisely why I</a:t>
            </a:r>
          </a:p>
          <a:p>
            <a:r>
              <a:t>constructed scenario S4 to break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[2:00] Four scenarios. S1 to S3 are happy-path scenarios that occur naturally in</a:t>
            </a:r>
          </a:p>
          <a:p>
            <a:r>
              <a:t>CPSCore — an aggregation chain, a config mapping, and a multi-component runner.</a:t>
            </a:r>
          </a:p>
          <a:p>
            <a:r>
              <a:t>S4 is deliberately constructed: a boost::signals2 publish/subscribe bridge</a:t>
            </a:r>
          </a:p>
          <a:p>
            <a:r>
              <a:t>designed so each single source is blind to a *different* edge. Static sees the</a:t>
            </a:r>
          </a:p>
          <a:p>
            <a:r>
              <a:t>`stream` call but not `onStageEvent`, because the slot is connected at runtime</a:t>
            </a:r>
          </a:p>
          <a:p>
            <a:r>
              <a:t>via connect() with no static call expression. Dynamic sees `onStageEvent` but</a:t>
            </a:r>
          </a:p>
          <a:p>
            <a:r>
              <a:t>not `stream`, because a LogLevel::NONE idiom makes the log call a runtime no-op.</a:t>
            </a:r>
          </a:p>
          <a:p>
            <a:r>
              <a:t>Only the union recovers both. S4 isolates the one regime where fusion is</a:t>
            </a:r>
          </a:p>
          <a:p>
            <a:r>
              <a:t>strictly additive — I report it as its own stratum because it's constructed, not</a:t>
            </a:r>
          </a:p>
          <a:p>
            <a:r>
              <a:t>found in the wild.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H1 tests RQ1. I compare five conditions across the four scenarios. C1 is</a:t>
            </a:r>
          </a:p>
          <a:p>
            <a:r>
              <a:t>an LLM-only baseline with no code context. C2 is static-only, C3 is dynamic-only.</a:t>
            </a:r>
          </a:p>
          <a:p>
            <a:r>
              <a:t>C4 is the raw union of the two. C5 is the full pipeline — the union plus a</a:t>
            </a:r>
          </a:p>
          <a:p>
            <a:r>
              <a:t>provenance-aware agent step that prunes false positives.</a:t>
            </a:r>
          </a:p>
          <a:p>
            <a:r>
              <a:t>Everything is scored on interaction edges — unique ordered sender/receiver pairs</a:t>
            </a:r>
          </a:p>
          <a:p>
            <a:r>
              <a:t>— against a reference set I authored by reading the source *before* scoring</a:t>
            </a:r>
          </a:p>
          <a:p>
            <a:r>
              <a:t>anything. Standard precision, recall, F1, aggregated as macro-F1 so each</a:t>
            </a:r>
          </a:p>
          <a:p>
            <a:r>
              <a:t>scenario counts equally. S4 is reported as its own stratum.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[2:00] First the headline, aggregated over all four scenarios, one number per</a:t>
            </a:r>
          </a:p>
          <a:p>
            <a:r>
              <a:t>cell. Read down the F1 column: the LLM baseline is near-useless at 0.13. Static</a:t>
            </a:r>
          </a:p>
          <a:p>
            <a:r>
              <a:t>alone is 0.85, dynamic alone 0.92. The raw union C4 lifts recall to a perfect</a:t>
            </a:r>
          </a:p>
          <a:p>
            <a:r>
              <a:t>1.00 and F1 to 0.94. And the full pipeline C5 is the best condition tested at</a:t>
            </a:r>
          </a:p>
          <a:p>
            <a:r>
              <a:t>0.96 — it preserves C4's perfect recall while partially correcting static</a:t>
            </a:r>
          </a:p>
          <a:p>
            <a:r>
              <a:t>over-approximation. Note dynamic-only already has perfect precision, but its</a:t>
            </a:r>
          </a:p>
          <a:p>
            <a:r>
              <a:t>recall is only 0.88 — it misses edges — which is exactly what fusion fixes. The</a:t>
            </a:r>
          </a:p>
          <a:p>
            <a:r>
              <a:t>*where* and *why* are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[2:00] Now the same F1 split by stratum, which is the heart of H1. Look at the</a:t>
            </a:r>
          </a:p>
          <a:p>
            <a:r>
              <a:t>S4 column: C4 scores a perfect 1.00, strictly above both C2 and C3 at 0.67. That</a:t>
            </a:r>
          </a:p>
          <a:p>
            <a:r>
              <a:t>is the single scenario where fusion is genuinely additive — because static and</a:t>
            </a:r>
          </a:p>
          <a:p>
            <a:r>
              <a:t>dynamic are each blind to a different edge, and only the union recovers both.</a:t>
            </a:r>
          </a:p>
          <a:p>
            <a:r>
              <a:t>On the happy-path stratum, C4 equals C2. That's not a flaw: because there's no</a:t>
            </a:r>
          </a:p>
          <a:p>
            <a:r>
              <a:t>cross-module virtual dispatch, the trace edges are a subset of the static edges,</a:t>
            </a:r>
          </a:p>
          <a:p>
            <a:r>
              <a:t>so the union adds nothing new. But fusion is still protective — it guarantees a</a:t>
            </a:r>
          </a:p>
          <a:p>
            <a:r>
              <a:t>recall floor whenever traces are sparse. The takeaway: fusion helps exactly</a:t>
            </a:r>
          </a:p>
          <a:p>
            <a:r>
              <a:t>where the sources disagree, and is safely redundant otherwise. In any system</a:t>
            </a:r>
          </a:p>
          <a:p>
            <a:r>
              <a:t>with virtual dispatch, plugin loading, or reflection, the additive regime is</a:t>
            </a:r>
          </a:p>
          <a:p>
            <a:r>
              <a:t>what you'd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[2:30] Four mechanistic points behind those numbers. Top-left: on S4 fusion is</a:t>
            </a:r>
          </a:p>
          <a:p>
            <a:r>
              <a:t>additive because static misses the runtime connect() edge and dynamic misses the</a:t>
            </a:r>
          </a:p>
          <a:p>
            <a:r>
              <a:t>LogLevel::NONE-suppressed edge — the union recovers both. Top-right: on S1–S3</a:t>
            </a:r>
          </a:p>
          <a:p>
            <a:r>
              <a:t>it's redundant because trace edges are a subset of static edges — but still</a:t>
            </a:r>
          </a:p>
          <a:p>
            <a:r>
              <a:t>protective as a recall floor. Bottom-left: C5 wins overall because</a:t>
            </a:r>
          </a:p>
          <a:p>
            <a:r>
              <a:t>provenance-aware synthesis keeps C4's perfect recall while trimming static</a:t>
            </a:r>
          </a:p>
          <a:p>
            <a:r>
              <a:t>over-approximation — on S3 it lifts precision from 0.60 to 0.75. Bottom-right,</a:t>
            </a:r>
          </a:p>
          <a:p>
            <a:r>
              <a:t>being honest about the one miss: C5's only imprecision is a real but</a:t>
            </a:r>
          </a:p>
          <a:p>
            <a:r>
              <a:t>out-of-scope flush call on S3. Because C2's element list records source and</a:t>
            </a:r>
          </a:p>
          <a:p>
            <a:r>
              <a:t>target but not the calling function, "suppressed-but-in-scope" and</a:t>
            </a:r>
          </a:p>
          <a:p>
            <a:r>
              <a:t>"real-but-out-of-scope" are indistinguishable to the agent. That's a concrete,</a:t>
            </a:r>
          </a:p>
          <a:p>
            <a:r>
              <a:t>fixable limitation I'll return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[2:30] H2 answers RQ2 — focus. I compare "full" instrumentation, which probes</a:t>
            </a:r>
          </a:p>
          <a:p>
            <a:r>
              <a:t>everything and filters afterwards, against "guided", which scopes first and only</a:t>
            </a:r>
          </a:p>
          <a:p>
            <a:r>
              <a:t>probes the scenario-relevant call sites. The objective metrics on the left:</a:t>
            </a:r>
          </a:p>
          <a:p>
            <a:r>
              <a:t>guided cuts nodes by 50% and edges by 70%, drives measured noise from 0.70 to</a:t>
            </a:r>
          </a:p>
          <a:p>
            <a:r>
              <a:t>zero, and — critically — loses zero coverage. So it's not just smaller; nothing</a:t>
            </a:r>
          </a:p>
          <a:p>
            <a:r>
              <a:t>relevant is dropped.</a:t>
            </a:r>
          </a:p>
          <a:p>
            <a:r>
              <a:t>That's backed by a blinded six-rater expert panel, right. Guided wins on</a:t>
            </a:r>
          </a:p>
          <a:p>
            <a:r>
              <a:t>accuracy, readability, and usefulness. Across all 54 comparisons, guided was</a:t>
            </a:r>
          </a:p>
          <a:p>
            <a:r>
              <a:t>rated higher in 47, tied in 6, and lower in exactly one. That single dissent was</a:t>
            </a:r>
          </a:p>
          <a:p>
            <a:r>
              <a:t>S2 usefulness, where collapsing seven repeated config-to-logging reads into one</a:t>
            </a:r>
          </a:p>
          <a:p>
            <a:r>
              <a:t>edge loses a count some raters want for debugging — an honest trade-off, and I</a:t>
            </a:r>
          </a:p>
          <a:p>
            <a:r>
              <a:t>report it as such.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[2:30] H3 asks the downstream question: is the reconstructed diagram actually</a:t>
            </a:r>
          </a:p>
          <a:p>
            <a:r>
              <a:t>useful? I gave an LLM agent a scenario-comprehension task under five evidence</a:t>
            </a:r>
          </a:p>
          <a:p>
            <a:r>
              <a:t>conditions and measured component recall, interaction recall, and a rubric</a:t>
            </a:r>
          </a:p>
          <a:p>
            <a:r>
              <a:t>completeness score.</a:t>
            </a:r>
          </a:p>
          <a:p>
            <a:r>
              <a:t>The standout result is in the two highlighted rows: "diagram only" and</a:t>
            </a:r>
          </a:p>
          <a:p>
            <a:r>
              <a:t>"source + trace + diagram" are identical — and both are perfect. With no source</a:t>
            </a:r>
          </a:p>
          <a:p>
            <a:r>
              <a:t>and no trace, just the C5 interaction list, the agent hits perfect component and</a:t>
            </a:r>
          </a:p>
          <a:p>
            <a:r>
              <a:t>interaction recall and top completeness on every scenario, including the</a:t>
            </a:r>
          </a:p>
          <a:p>
            <a:r>
              <a:t>constructed S4. Adding source and traces on top neither helps nor hurts, because</a:t>
            </a:r>
          </a:p>
          <a:p>
            <a:r>
              <a:t>the diagram already saturates every metric. Notice source-only has the weakest</a:t>
            </a:r>
          </a:p>
          <a:p>
            <a:r>
              <a:t>interaction recall at 0.80 — it foregrounds the main control-flow path and drops</a:t>
            </a:r>
          </a:p>
          <a:p>
            <a:r>
              <a:t>secondary log-only branches, exactly the edges the fused diagram surfaces. So</a:t>
            </a:r>
          </a:p>
          <a:p>
            <a:r>
              <a:t>the diagram isn't just a helpful supplement; it can be a *sufficient* basis for</a:t>
            </a:r>
          </a:p>
          <a:p>
            <a:r>
              <a:t>comprehension.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A concrete look at what the pipeline produces — the reconstructed S4</a:t>
            </a:r>
          </a:p>
          <a:p>
            <a:r>
              <a:t>sequence. This makes the dual-gap tangible. The `stream` message is recovered</a:t>
            </a:r>
          </a:p>
          <a:p>
            <a:r>
              <a:t>from static evidence, because at runtime it's suppressed by the LogLevel::NONE</a:t>
            </a:r>
          </a:p>
          <a:p>
            <a:r>
              <a:t>no-op. The `onStageEvent` message is recovered from the trace, because it's</a:t>
            </a:r>
          </a:p>
          <a:p>
            <a:r>
              <a:t>wired by a runtime connect() and has no static call site. Neither source alone</a:t>
            </a:r>
          </a:p>
          <a:p>
            <a:r>
              <a:t>shows both — only the fused graph produces this single, scenario-specific</a:t>
            </a:r>
          </a:p>
          <a:p>
            <a:r>
              <a:t>SysML v2 diagram with both edges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To probe transferability beyond CPSCore, a practitioner session applied</a:t>
            </a:r>
          </a:p>
          <a:p>
            <a:r>
              <a:t>the same static-extraction and query approach to a second, larger industrial</a:t>
            </a:r>
          </a:p>
          <a:p>
            <a:r>
              <a:t>codebase. The good news, on the left: the structural and dependency diagrams</a:t>
            </a:r>
          </a:p>
          <a:p>
            <a:r>
              <a:t>were rated consistently useful — the static extraction and graph queries</a:t>
            </a:r>
          </a:p>
          <a:p>
            <a:r>
              <a:t>transferred to an unseen, larger system. On the right, the clearest area to</a:t>
            </a:r>
          </a:p>
          <a:p>
            <a:r>
              <a:t>improve was sequence-diagram message labelling, which is consistent with the</a:t>
            </a:r>
          </a:p>
          <a:p>
            <a:r>
              <a:t>CPSCore finding that message-level semantics need richer provenance. It's</a:t>
            </a:r>
          </a:p>
          <a:p>
            <a:r>
              <a:t>exploratory, not a controlled study, but it points at a concrete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[1:00] Step back — the three results converge on a single pattern, and this is</a:t>
            </a:r>
          </a:p>
          <a:p>
            <a:r>
              <a:t>the sentence I want you to remember: additional evidence improves reconstruction</a:t>
            </a:r>
          </a:p>
          <a:p>
            <a:r>
              <a:t>or comprehension specifically when the primary source is missing something, and</a:t>
            </a:r>
          </a:p>
          <a:p>
            <a:r>
              <a:t>is otherwise redundant. H1: fusion is additive only where the two sources each</a:t>
            </a:r>
          </a:p>
          <a:p>
            <a:r>
              <a:t>miss a different edge, redundant where static is already complete. H2: guiding</a:t>
            </a:r>
          </a:p>
          <a:p>
            <a:r>
              <a:t>instrumentation removes all noise with zero coverage loss. H3: the diagram alone</a:t>
            </a:r>
          </a:p>
          <a:p>
            <a:r>
              <a:t>is a sufficient basis for comprehension. One principle, three angles.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Six contributions. One: a single property graph that holds the static</a:t>
            </a:r>
          </a:p>
          <a:p>
            <a:r>
              <a:t>call graph and the runtime trace together, remembering each interaction's</a:t>
            </a:r>
          </a:p>
          <a:p>
            <a:r>
              <a:t>provenance. Two: a scenario-scoping method, built on plain scenario-scoped</a:t>
            </a:r>
          </a:p>
          <a:p>
            <a:r>
              <a:t>Cypher queries, that trims that combined graph to just one scenario. Three: a</a:t>
            </a:r>
          </a:p>
          <a:p>
            <a:r>
              <a:t>way to recover pub/sub wiring that call-graph analysis can't see. Four:</a:t>
            </a:r>
          </a:p>
          <a:p>
            <a:r>
              <a:t>csp_matcher, the small reversible instrumentation tool. Five: eleven</a:t>
            </a:r>
          </a:p>
          <a:p>
            <a:r>
              <a:t>natural-language agent skills that run the whole pipeline end-to-end, source to</a:t>
            </a:r>
          </a:p>
          <a:p>
            <a:r>
              <a:t>SysML v2, on any codebase with no code changes. And six — which I'd argue is the</a:t>
            </a:r>
          </a:p>
          <a:p>
            <a:r>
              <a:t>scientific contribution — a clear, evidence-based account of when combining</a:t>
            </a:r>
          </a:p>
          <a:p>
            <a:r>
              <a:t>static and dynamic analysis actually helps, and when it doesn't.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Being upfront about limitations, on the left. It's one primary case</a:t>
            </a:r>
          </a:p>
          <a:p>
            <a:r>
              <a:t>study, and S4 is constructed. The in-scope/out-of-scope ambiguity comes from C2's</a:t>
            </a:r>
          </a:p>
          <a:p>
            <a:r>
              <a:t>element list omitting the calling function. Two H3 conditions were rated</a:t>
            </a:r>
          </a:p>
          <a:p>
            <a:r>
              <a:t>non-blind by the same rater, which I disclose. Message-label semantics are the</a:t>
            </a:r>
          </a:p>
          <a:p>
            <a:r>
              <a:t>weakest output, and traces are bounded by what the test suite exercises.</a:t>
            </a:r>
          </a:p>
          <a:p>
            <a:r>
              <a:t>Future work, right, maps almost one-to-one: carry the calling function into the</a:t>
            </a:r>
          </a:p>
          <a:p>
            <a:r>
              <a:t>element list to remove that ambiguity; evaluate on systems with virtual</a:t>
            </a:r>
          </a:p>
          <a:p>
            <a:r>
              <a:t>dispatch, plugins, or reflection, where the additive regime should dominate;</a:t>
            </a:r>
          </a:p>
          <a:p>
            <a:r>
              <a:t>richer provenance-driven message labelling; broaden and fully blind the expert</a:t>
            </a:r>
          </a:p>
          <a:p>
            <a:r>
              <a:t>panel; and integrate this into CI for continuous model maintenance.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[1:00] To conclude: I built a hybrid pipeline that fuses a static call graph with</a:t>
            </a:r>
          </a:p>
          <a:p>
            <a:r>
              <a:t>runtime traces in one provenance-tagged property graph and scopes it to</a:t>
            </a:r>
          </a:p>
          <a:p>
            <a:r>
              <a:t>scenario-specific SysML v2 diagrams. Fusion helps exactly where one source is</a:t>
            </a:r>
          </a:p>
          <a:p>
            <a:r>
              <a:t>blind — best overall F1 of 0.96; guided scoping removes all noise at full</a:t>
            </a:r>
          </a:p>
          <a:p>
            <a:r>
              <a:t>coverage; and the reconstructed diagram alone suffices for comprehension.</a:t>
            </a:r>
          </a:p>
          <a:p>
            <a:r>
              <a:t>Mapping back: RQ1 — fusion is additive where sources disagree, best F1 0.964.</a:t>
            </a:r>
          </a:p>
          <a:p>
            <a:r>
              <a:t>RQ2 — scenario-scoped querying yields focused, noise-free diagrams with zero</a:t>
            </a:r>
          </a:p>
          <a:p>
            <a:r>
              <a:t>coverage loss. Thank you — I'm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 for the Q&amp;A. Common questions to be ready for: (1) Why only one</a:t>
            </a:r>
          </a:p>
          <a:p>
            <a:r>
              <a:t>case study — transferability is addressed by the exploratory second codebase.</a:t>
            </a:r>
          </a:p>
          <a:p>
            <a:r>
              <a:t>(2) Isn't S4 contrived — yes, deliberately, to isolate the additive regime that</a:t>
            </a:r>
          </a:p>
          <a:p>
            <a:r>
              <a:t>naturally-occurring virtual dispatch / plugins would trigger. (3) LLM</a:t>
            </a:r>
          </a:p>
          <a:p>
            <a:r>
              <a:t>reproducibility — the reference set was authored before scoring; provenance</a:t>
            </a:r>
          </a:p>
          <a:p>
            <a:r>
              <a:t>tagging keeps the synthesis auditable. (4) Scalability of scenario scoping —</a:t>
            </a:r>
          </a:p>
          <a:p>
            <a:r>
              <a:t>it's a linear Cypher edge filter. (5) Threats to validity in the expert panel — six raters, A/B</a:t>
            </a:r>
          </a:p>
          <a:p>
            <a:r>
              <a:t>randomised and blinded for the reused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slide for Q&amp;A: the S1 structural and reconstructed sequence views, if the</a:t>
            </a:r>
          </a:p>
          <a:p>
            <a:r>
              <a:t>committee wants to see a happy-path example end to end alongside the S4 fault</a:t>
            </a:r>
          </a:p>
          <a:p>
            <a:r>
              <a:t>path shown earlier.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slide for questions on engineering depth. Four concrete challenges and how</a:t>
            </a:r>
          </a:p>
          <a:p>
            <a:r>
              <a:t>each was handled: C++ context-sensitivity forced semantic extraction via</a:t>
            </a:r>
          </a:p>
          <a:p>
            <a:r>
              <a:t>Renaissance and Neo4j, with a ClangSharp/libclang cross-check; large dependency</a:t>
            </a:r>
          </a:p>
          <a:p>
            <a:r>
              <a:t>counts that crash SysML tools were tamed with identifier quoting and relationship</a:t>
            </a:r>
          </a:p>
          <a:p>
            <a:r>
              <a:t>deduplication; brittle hardcoded scoping was replaced by the agent-skill</a:t>
            </a:r>
          </a:p>
          <a:p>
            <a:r>
              <a:t>architecture where a scenario is just a natural-language query; and trace</a:t>
            </a:r>
          </a:p>
          <a:p>
            <a:r>
              <a:t>incompleteness is exactly what static reachability in the graph compensates for —</a:t>
            </a:r>
          </a:p>
          <a:p>
            <a:r>
              <a:t>the core hybrid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617720"/>
            <a:ext cx="12191695" cy="45720"/>
          </a:xfrm>
          <a:prstGeom prst="rect">
            <a:avLst/>
          </a:prstGeom>
          <a:solidFill>
            <a:srgbClr val="1B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43027" y="502920"/>
            <a:ext cx="1800028" cy="9966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no_es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2755" y="612648"/>
            <a:ext cx="1580572" cy="777240"/>
          </a:xfrm>
          <a:prstGeom prst="rect">
            <a:avLst/>
          </a:prstGeom>
        </p:spPr>
      </p:pic>
      <p:pic>
        <p:nvPicPr>
          <p:cNvPr id="7" name="Picture 6" descr="msc-se-logo-small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989320"/>
            <a:ext cx="548640" cy="548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40080"/>
            <a:ext cx="8778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1BA19C"/>
                </a:solidFill>
                <a:latin typeface="Calibri"/>
              </a:rPr>
              <a:t>MSc Software Engineering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060704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Hybrid Static–Trace Analysis for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Interaction Model Synthesis in Event-Driven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10607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0" i="1">
                <a:solidFill>
                  <a:srgbClr val="C9D6E2"/>
                </a:solidFill>
                <a:latin typeface="Calibri"/>
              </a:rPr>
              <a:t>Scenario-Specific Interaction Diagrams in SysML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00600"/>
            <a:ext cx="1060704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Prathik Anand Krishnan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9D6E2"/>
                </a:solidFill>
                <a:latin typeface="Calibri"/>
              </a:rPr>
              <a:t>Examiner: Dr. L. Thomas van Binsbergen (CCI, UvA)   ·   Reader: Prof. Dr. Benny Åkesson (PCS, UvA)</a:t>
            </a:r>
          </a:p>
          <a:p>
            <a:pPr algn="l"/>
            <a:r>
              <a:rPr sz="1300" b="0" i="0">
                <a:solidFill>
                  <a:srgbClr val="C9D6E2"/>
                </a:solidFill>
                <a:latin typeface="Calibri"/>
              </a:rPr>
              <a:t>Daily supervisor: Dr. Rosilde Corvino (TNO-ESI)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6053328"/>
            <a:ext cx="6858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University of Amsterdam  ·  TNO-ESI (in partnership with Philips), Eindhoven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399032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2B45"/>
                </a:solidFill>
                <a:latin typeface="Calibri"/>
              </a:rPr>
              <a:t>Motivation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472184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Why interaction models, why they drift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75688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057400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2B45"/>
                </a:solidFill>
                <a:latin typeface="Calibri"/>
              </a:rPr>
              <a:t>Problem &amp; Research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30552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The bidirectional fusion gap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34056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715768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2B45"/>
                </a:solidFill>
                <a:latin typeface="Calibri"/>
              </a:rPr>
              <a:t>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78892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The GDI hybrid pipeline &amp; property graph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92424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374136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2B45"/>
                </a:solidFill>
                <a:latin typeface="Calibri"/>
              </a:rPr>
              <a:t>Case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447288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CPSCore — event-driven C++ framework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50792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032504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2B45"/>
                </a:solidFill>
                <a:latin typeface="Calibri"/>
              </a:rPr>
              <a:t>Experiments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105656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H1 accuracy · H2 focus · H3 utility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70916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690872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2B45"/>
                </a:solidFill>
                <a:latin typeface="Calibri"/>
              </a:rPr>
              <a:t>Results &amp; Findings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764024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When fusion helps — and when it doesn't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367528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349240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2B45"/>
                </a:solidFill>
                <a:latin typeface="Calibri"/>
              </a:rPr>
              <a:t>Contributions, Limitations &amp; Conclusion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Understanding Behaviour Before You Change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532120" cy="44805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5029200" cy="4206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6FB2"/>
                </a:solidFill>
                <a:latin typeface="Calibri"/>
              </a:rPr>
              <a:t>The setting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Long-lived, safety-critical systems (medical imaging, industrial automation) evolve continuously.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Behaviour is meant to be captured by Interaction Models — scenario-specific sequence diagrams.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In practice these diagrams drift out of sync with the code and become unreliable.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Engineers must reconstruct behaviour by hand — slow, error-prone, expertise-dependent.</a:t>
            </a:r>
          </a:p>
          <a:p>
            <a:pPr algn="l"/>
            <a:r>
              <a:rPr sz="1500" b="0" i="0">
                <a:solidFill>
                  <a:srgbClr val="222A33"/>
                </a:solidFill>
                <a:latin typeface="Calibri"/>
              </a:rPr>
              <a:t>•  Event-driven systems make this worse: async callbacks and pub/sub hide who talks to whom.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440680" cy="4480560"/>
          </a:xfrm>
          <a:prstGeom prst="roundRect">
            <a:avLst>
              <a:gd name="adj" fmla="val 4000"/>
            </a:avLst>
          </a:prstGeom>
          <a:solidFill>
            <a:srgbClr val="FB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72768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E18A1B"/>
                </a:solidFill>
                <a:latin typeface="Calibri"/>
              </a:rPr>
              <a:t>A REAL DEFECT THIS WOULD HAVE CAUGHT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937760" cy="3657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A stale proxy object was never freed — a reset call was missing from the connection-handling code.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After a service restart, the system silently stopped delivering change-notification events.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The fault was visible only by following an implicit chain of events that no interaction model showed.</a:t>
            </a:r>
          </a:p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•  Diagnosing it meant manually reconstructing exactly the kind of model this thesis automates.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Two Incomplete Sources of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394960" cy="2148840"/>
          </a:xfrm>
          <a:prstGeom prst="roundRect">
            <a:avLst>
              <a:gd name="adj" fmla="val 4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1F6FB2"/>
                </a:solidFill>
                <a:latin typeface="Calibri"/>
              </a:rPr>
              <a:t>STATIC CALL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493776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E8B57"/>
                </a:solidFill>
                <a:latin typeface="Calibri"/>
              </a:rPr>
              <a:t>•  Complete view of all possible interactions.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C0392B"/>
                </a:solidFill>
                <a:latin typeface="Calibri"/>
              </a:rPr>
              <a:t>•  Over-approximates — includes paths never taken.</a:t>
            </a:r>
          </a:p>
          <a:p>
            <a:pPr algn="l"/>
            <a:r>
              <a:rPr sz="1400" b="0" i="0">
                <a:solidFill>
                  <a:srgbClr val="C0392B"/>
                </a:solidFill>
                <a:latin typeface="Calibri"/>
              </a:rPr>
              <a:t>•  No execution order, no scenario specificity.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94960" cy="2148840"/>
          </a:xfrm>
          <a:prstGeom prst="roundRect">
            <a:avLst>
              <a:gd name="adj" fmla="val 4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1BA19C"/>
                </a:solidFill>
                <a:latin typeface="Calibri"/>
              </a:rPr>
              <a:t>RUNTIME TRACES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493776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E8B57"/>
                </a:solidFill>
                <a:latin typeface="Calibri"/>
              </a:rPr>
              <a:t>•  Scenario-specific by construction, real order.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C0392B"/>
                </a:solidFill>
                <a:latin typeface="Calibri"/>
              </a:rPr>
              <a:t>•  Under-approximates — only what was exercised.</a:t>
            </a:r>
          </a:p>
          <a:p>
            <a:pPr algn="l"/>
            <a:r>
              <a:rPr sz="1400" b="0" i="0">
                <a:solidFill>
                  <a:srgbClr val="C0392B"/>
                </a:solidFill>
                <a:latin typeface="Calibri"/>
              </a:rPr>
              <a:t>•  Sparse / noisy; misses suppressed or rare paths.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49039"/>
            <a:ext cx="11155680" cy="2103120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13632"/>
            <a:ext cx="10607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E18A1B"/>
                </a:solidFill>
                <a:latin typeface="Calibri"/>
              </a:rPr>
              <a:t>THE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97680"/>
            <a:ext cx="106070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Existing hybrid methods use static structure only to organise an already-observed trace.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•  No approach combines both directions at once: use static structure to recover interactions the trace missed, AND use the trace to trim the over-approximate static graph to the scenario.</a:t>
            </a:r>
          </a:p>
          <a:p>
            <a:pPr algn="l">
              <a:spcBef>
                <a:spcPts val="600"/>
              </a:spcBef>
            </a:pPr>
            <a:r>
              <a:rPr sz="1500" b="0" i="0">
                <a:solidFill>
                  <a:srgbClr val="C9D6E2"/>
                </a:solidFill>
                <a:latin typeface="Calibri"/>
              </a:rPr>
              <a:t>•  Plus: publish/subscribe indirection (boost::signals2, Redis) hides the subscription topology from call-graph analysis entirely.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Research Questions &amp; Hypotheses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55680" cy="10515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105156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499616"/>
            <a:ext cx="740664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How does combining static analysis and incomplete runtime traces improve the accuracy and completeness of scenario-specific interaction model reconstruction?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1682496"/>
            <a:ext cx="1965960" cy="438912"/>
          </a:xfrm>
          <a:prstGeom prst="roundRect">
            <a:avLst>
              <a:gd name="adj" fmla="val 25000"/>
            </a:avLst>
          </a:prstGeom>
          <a:solidFill>
            <a:srgbClr val="1B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578608"/>
            <a:ext cx="11155680" cy="10515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2852928"/>
            <a:ext cx="105156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706624"/>
            <a:ext cx="740664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How can scenario-scoped querying of the static call graph restrict reconstruction to only the behaviour relevant to a given scenario?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2889504"/>
            <a:ext cx="1965960" cy="438912"/>
          </a:xfrm>
          <a:prstGeom prst="roundRect">
            <a:avLst>
              <a:gd name="adj" fmla="val 25000"/>
            </a:avLst>
          </a:prstGeom>
          <a:solidFill>
            <a:srgbClr val="1B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85616"/>
            <a:ext cx="11155680" cy="822960"/>
          </a:xfrm>
          <a:prstGeom prst="roundRect">
            <a:avLst>
              <a:gd name="adj" fmla="val 4000"/>
            </a:avLst>
          </a:prstGeom>
          <a:solidFill>
            <a:srgbClr val="FB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95344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E18A1B"/>
                </a:solidFill>
                <a:latin typeface="Calibri"/>
              </a:rPr>
              <a:t>H3 (downstream): the reconstructed diagram improves — and can even be sufficient for — LLM-agent scenario comprehension.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RELATED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State of the Art &amp; the Research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2724912" cy="32004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2724912" cy="548640"/>
          </a:xfrm>
          <a:prstGeom prst="roundRect">
            <a:avLst/>
          </a:prstGeom>
          <a:solidFill>
            <a:srgbClr val="1B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44752"/>
            <a:ext cx="2724912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Trace-Based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103120"/>
            <a:ext cx="274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Calibri"/>
              </a:rPr>
              <a:t>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103120"/>
            <a:ext cx="22219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Concrete, observed behaviour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880360"/>
            <a:ext cx="274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880360"/>
            <a:ext cx="22219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Traces are incomplete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657600"/>
            <a:ext cx="274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657600"/>
            <a:ext cx="22219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Misses unexercised interactions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46704" y="1371600"/>
            <a:ext cx="2724912" cy="32004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46704" y="1371600"/>
            <a:ext cx="2724912" cy="54864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46704" y="1444752"/>
            <a:ext cx="2724912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Static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2103120"/>
            <a:ext cx="274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Calibri"/>
              </a:rP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0752" y="2103120"/>
            <a:ext cx="22219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Complete static 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2880360"/>
            <a:ext cx="274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0752" y="2880360"/>
            <a:ext cx="22219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Over-approximates behaviour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3657600"/>
            <a:ext cx="274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0752" y="3657600"/>
            <a:ext cx="22219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No scenario focus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371600"/>
            <a:ext cx="2724912" cy="32004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90488" y="1371600"/>
            <a:ext cx="2724912" cy="548640"/>
          </a:xfrm>
          <a:prstGeom prst="roundRect">
            <a:avLst/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0488" y="1444752"/>
            <a:ext cx="2724912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Existing Hybrid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2103120"/>
            <a:ext cx="274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Calibri"/>
              </a:rPr>
              <a:t>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4536" y="2103120"/>
            <a:ext cx="22219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Uses static to reduce logging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216" y="2880360"/>
            <a:ext cx="274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4536" y="2880360"/>
            <a:ext cx="22219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Assumes observed traces complete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216" y="3657600"/>
            <a:ext cx="274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74536" y="3657600"/>
            <a:ext cx="22219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Does not recover missing edges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34272" y="1371600"/>
            <a:ext cx="2724912" cy="3200400"/>
          </a:xfrm>
          <a:prstGeom prst="roundRect">
            <a:avLst>
              <a:gd name="adj" fmla="val 4000"/>
            </a:avLst>
          </a:prstGeom>
          <a:solidFill>
            <a:srgbClr val="FBF2E3"/>
          </a:solidFill>
          <a:ln w="12700">
            <a:solidFill>
              <a:srgbClr val="E18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034272" y="1371600"/>
            <a:ext cx="2724912" cy="548640"/>
          </a:xfrm>
          <a:prstGeom prst="round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34272" y="1444752"/>
            <a:ext cx="2724912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0B2B45"/>
                </a:solidFill>
                <a:latin typeface="Calibri"/>
              </a:rPr>
              <a:t>This Thesis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2103120"/>
            <a:ext cx="274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Calibri"/>
              </a:rPr>
              <a:t>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2103120"/>
            <a:ext cx="22219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Recovers trace-missed edges from static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880360"/>
            <a:ext cx="274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Calibri"/>
              </a:rPr>
              <a:t>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2880360"/>
            <a:ext cx="22219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Trims static to scenario via trace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3657600"/>
            <a:ext cx="274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Calibri"/>
              </a:rPr>
              <a:t>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3657600"/>
            <a:ext cx="22219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Recovers pub/sub wiring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4800600"/>
            <a:ext cx="11155680" cy="1508760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4956048"/>
            <a:ext cx="106984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E18A1B"/>
                </a:solidFill>
                <a:latin typeface="Calibri"/>
              </a:rPr>
              <a:t>THE GAP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321808"/>
            <a:ext cx="106984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No existing approach infers unobserved interactions by combining static structure and runtime traces to generate scenario-specific interaction models — closing this gap in both directions is the core contribution.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GDI Hybrid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48840"/>
            <a:ext cx="1463040" cy="1554480"/>
          </a:xfrm>
          <a:prstGeom prst="roundRect">
            <a:avLst>
              <a:gd name="adj" fmla="val 4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350008"/>
            <a:ext cx="1463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Static
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8152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DCE6F0"/>
                </a:solidFill>
                <a:latin typeface="Calibri"/>
              </a:rPr>
              <a:t>Renaissance
C++ → graph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929384" y="2816352"/>
            <a:ext cx="164592" cy="219456"/>
          </a:xfrm>
          <a:prstGeom prst="rightArrow">
            <a:avLst/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03120" y="2148840"/>
            <a:ext cx="1463040" cy="1554480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350008"/>
            <a:ext cx="1463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Property
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08152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DCE6F0"/>
                </a:solidFill>
                <a:latin typeface="Calibri"/>
              </a:rPr>
              <a:t>Neo4j
11 / 11 schema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575304" y="2816352"/>
            <a:ext cx="164592" cy="219456"/>
          </a:xfrm>
          <a:prstGeom prst="rightArrow">
            <a:avLst/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49040" y="2148840"/>
            <a:ext cx="1463040" cy="1554480"/>
          </a:xfrm>
          <a:prstGeom prst="roundRect">
            <a:avLst>
              <a:gd name="adj" fmla="val 4000"/>
            </a:avLst>
          </a:prstGeom>
          <a:solidFill>
            <a:srgbClr val="1B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40" y="2350008"/>
            <a:ext cx="1463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Runtime
Tracing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308152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DCE6F0"/>
                </a:solidFill>
                <a:latin typeface="Calibri"/>
              </a:rPr>
              <a:t>csp_matcher
probes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221224" y="2816352"/>
            <a:ext cx="164592" cy="219456"/>
          </a:xfrm>
          <a:prstGeom prst="rightArrow">
            <a:avLst/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94960" y="2148840"/>
            <a:ext cx="1463040" cy="1554480"/>
          </a:xfrm>
          <a:prstGeom prst="roundRect">
            <a:avLst>
              <a:gd name="adj" fmla="val 4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2350008"/>
            <a:ext cx="1463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Graph
Fusion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08152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DCE6F0"/>
                </a:solidFill>
                <a:latin typeface="Calibri"/>
              </a:rPr>
              <a:t>static ∪ trace
(provenance)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867144" y="2816352"/>
            <a:ext cx="164592" cy="219456"/>
          </a:xfrm>
          <a:prstGeom prst="rightArrow">
            <a:avLst/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40880" y="2148840"/>
            <a:ext cx="1463040" cy="1554480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2350008"/>
            <a:ext cx="1463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Scenario
Scoping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08152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DCE6F0"/>
                </a:solidFill>
                <a:latin typeface="Calibri"/>
              </a:rPr>
              <a:t>scope-constrained
Cypher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513064" y="2816352"/>
            <a:ext cx="164592" cy="219456"/>
          </a:xfrm>
          <a:prstGeom prst="rightArrow">
            <a:avLst/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86800" y="2148840"/>
            <a:ext cx="1463040" cy="1554480"/>
          </a:xfrm>
          <a:prstGeom prst="roundRect">
            <a:avLst>
              <a:gd name="adj" fmla="val 4000"/>
            </a:avLst>
          </a:prstGeom>
          <a:solidFill>
            <a:srgbClr val="1B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2350008"/>
            <a:ext cx="1463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Agent
Synthesis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08152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DCE6F0"/>
                </a:solidFill>
                <a:latin typeface="Calibri"/>
              </a:rPr>
              <a:t>provenance-aware
pruning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0158984" y="2816352"/>
            <a:ext cx="164592" cy="219456"/>
          </a:xfrm>
          <a:prstGeom prst="rightArrow">
            <a:avLst/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332720" y="2148840"/>
            <a:ext cx="1463040" cy="1554480"/>
          </a:xfrm>
          <a:prstGeom prst="roundRect">
            <a:avLst>
              <a:gd name="adj" fmla="val 4000"/>
            </a:avLst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32720" y="2350008"/>
            <a:ext cx="1463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SysML v2 /
Mermaid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308152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DCE6F0"/>
                </a:solidFill>
                <a:latin typeface="Calibri"/>
              </a:rPr>
              <a:t>scenario
diagram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137160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11 composable agent skills — each invocable by natural language, no code changes to the target system.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1755648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A636E"/>
                </a:solidFill>
                <a:latin typeface="Calibri"/>
              </a:rPr>
              <a:t>Originally scoped as a 5-stage methodology (proposal); realised as this graph-centric 7-stage pipeline.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114800"/>
            <a:ext cx="5532120" cy="155448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251960"/>
            <a:ext cx="512064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F6FB2"/>
                </a:solidFill>
                <a:latin typeface="Calibri"/>
              </a:rPr>
              <a:t>Fusion (RQ1)</a:t>
            </a:r>
          </a:p>
          <a:p>
            <a:pPr algn="l"/>
            <a:r>
              <a:rPr sz="1350" b="0" i="0">
                <a:solidFill>
                  <a:srgbClr val="222A33"/>
                </a:solidFill>
                <a:latin typeface="Calibri"/>
              </a:rPr>
              <a:t>Set union of static (CppCalls) and trace (TRACE_CALLS) edges, each tagged with which source observed it.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4114800"/>
            <a:ext cx="5532120" cy="155448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4251960"/>
            <a:ext cx="512064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BA19C"/>
                </a:solidFill>
                <a:latin typeface="Calibri"/>
              </a:rPr>
              <a:t>Scoping (RQ2)</a:t>
            </a:r>
          </a:p>
          <a:p>
            <a:pPr algn="l"/>
            <a:r>
              <a:rPr sz="1350" b="0" i="0">
                <a:solidFill>
                  <a:srgbClr val="222A33"/>
                </a:solidFill>
                <a:latin typeface="Calibri"/>
              </a:rPr>
              <a:t>Scenario-scoped Cypher query: keep e where src ∈ scenario.primary and tgt ∈ scenario.targets — identical over static &amp; trace edges.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APPROACH ·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A Single Property Graph for Both Evidence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0B2B45"/>
                </a:solidFill>
                <a:latin typeface="Calibri"/>
              </a:rPr>
              <a:t>Static call graph and runtime trace live in one Neo4j graph — each interaction remembers which evidence produced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4937760" cy="56692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20239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2000" b="1" i="0">
                <a:solidFill>
                  <a:srgbClr val="1F6FB2"/>
                </a:solidFill>
                <a:latin typeface="Calibr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984247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22A33"/>
                </a:solidFill>
                <a:latin typeface="Calibri"/>
              </a:rPr>
              <a:t>node labels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532887"/>
            <a:ext cx="4937760" cy="56692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78607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2000" b="1" i="0">
                <a:solidFill>
                  <a:srgbClr val="1F6FB2"/>
                </a:solidFill>
                <a:latin typeface="Calibri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642615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22A33"/>
                </a:solidFill>
                <a:latin typeface="Calibri"/>
              </a:rPr>
              <a:t>relationship types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91255"/>
            <a:ext cx="4937760" cy="56692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36975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2000" b="1" i="0">
                <a:solidFill>
                  <a:srgbClr val="1F6FB2"/>
                </a:solidFill>
                <a:latin typeface="Calibri"/>
              </a:rPr>
              <a:t>2,574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300983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22A33"/>
                </a:solidFill>
                <a:latin typeface="Calibri"/>
              </a:rPr>
              <a:t>ordered static interactions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49623"/>
            <a:ext cx="4937760" cy="56692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95343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2000" b="1" i="0">
                <a:solidFill>
                  <a:srgbClr val="1F6FB2"/>
                </a:solidFill>
                <a:latin typeface="Calibri"/>
              </a:rPr>
              <a:t>121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959351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22A33"/>
                </a:solidFill>
                <a:latin typeface="Calibri"/>
              </a:rPr>
              <a:t>components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507991"/>
            <a:ext cx="4937760" cy="56692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53711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2000" b="1" i="0">
                <a:solidFill>
                  <a:srgbClr val="1F6FB2"/>
                </a:solidFill>
                <a:latin typeface="Calibri"/>
              </a:rPr>
              <a:t>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617719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22A33"/>
                </a:solidFill>
                <a:latin typeface="Calibri"/>
              </a:rPr>
              <a:t>runtime trace events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66359"/>
            <a:ext cx="4937760" cy="56692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212079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2000" b="1" i="0">
                <a:solidFill>
                  <a:srgbClr val="1F6FB2"/>
                </a:solidFill>
                <a:latin typeface="Calibri"/>
              </a:rPr>
              <a:t>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276087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22A33"/>
                </a:solidFill>
                <a:latin typeface="Calibri"/>
              </a:rPr>
              <a:t>unique traced pairs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720" y="1874519"/>
            <a:ext cx="5897880" cy="3977639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2057400"/>
            <a:ext cx="5394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E18A1B"/>
                </a:solidFill>
                <a:latin typeface="Calibri"/>
              </a:rPr>
              <a:t>FUSION &amp; SCOPE, FORMALLY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2514600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Gσ = scope(G_static ∪ G_trace, σ)</a:t>
            </a:r>
          </a:p>
          <a:p>
            <a:pPr algn="ctr"/>
            <a:r>
              <a:rPr sz="1400" b="0" i="0">
                <a:solidFill>
                  <a:srgbClr val="C9D6E2"/>
                </a:solidFill>
                <a:latin typeface="Calibri"/>
              </a:rPr>
              <a:t>= { e ∈ Es ∪ Et  |  src(e) ∈ σ.primary  ∧  tgt(e) ∈ σ.targets 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3794760"/>
            <a:ext cx="5394960" cy="1920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 Both edge types carry ClientComponent / ServerComponent metadata, so one filter works over both.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 Schema-introspection skill reads labels at runtime → the pipeline is codebase-agnostic.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 Recovers pub/sub wiring (boost::signals2) that plain call-graph analysis cannot see.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APPROACH · STATIC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Static Extraction: The Full Call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9</a:t>
            </a:r>
          </a:p>
        </p:txBody>
      </p:sp>
      <p:pic>
        <p:nvPicPr>
          <p:cNvPr id="7" name="Picture 6" descr="function-call-dependenc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56559"/>
            <a:ext cx="7680960" cy="89352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0" y="1371600"/>
            <a:ext cx="3246120" cy="45720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554480"/>
            <a:ext cx="2834640" cy="4297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F6FB2"/>
                </a:solidFill>
                <a:latin typeface="Calibri"/>
              </a:rPr>
              <a:t>What it gives us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•  Renaissance parses C++ → Neo4j.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•  Over-approximate: every possible call, scenario-agnostic.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•  Projected into an ordered sequence-dependency table (2,574 interactions).</a:t>
            </a:r>
          </a:p>
          <a:p>
            <a:pPr algn="l"/>
            <a:r>
              <a:rPr sz="1350" b="1" i="0">
                <a:solidFill>
                  <a:srgbClr val="0B2B45"/>
                </a:solidFill>
                <a:latin typeface="Calibri"/>
              </a:rPr>
              <a:t>•  Recall floor: guarantees interactions a sparse trace would miss.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APPROACH · DYNAMIC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Runtime Tracing with csp_matcher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10</a:t>
            </a:r>
          </a:p>
        </p:txBody>
      </p:sp>
      <p:pic>
        <p:nvPicPr>
          <p:cNvPr id="7" name="Picture 6" descr="signal-runtime-tra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95022"/>
            <a:ext cx="5760720" cy="39251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325880"/>
            <a:ext cx="521208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0B2B45"/>
                </a:solidFill>
                <a:latin typeface="Calibri"/>
              </a:rPr>
              <a:t>A small, reversible instrumentation tool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Clang LibTooling-based; inserts trace probes by AST-level pattern matching.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Guided by the code graph — probes only the call sites that matter for a scenario.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Fully reversible: add_tracing / remove_tracing restore the original source exactly.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Recovers pub/sub edges: resolves boost::signals2 connect()/slot wiring invisible to static call sites.</a:t>
            </a:r>
          </a:p>
          <a:p>
            <a:pPr algn="l"/>
            <a:r>
              <a:rPr sz="1500" b="1" i="0">
                <a:solidFill>
                  <a:srgbClr val="1F6FB2"/>
                </a:solidFill>
                <a:latin typeface="Calibri"/>
              </a:rPr>
              <a:t>•  Produced 27 trace events across the studied scenarios.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EVALUATION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Case Study: CPSCore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11</a:t>
            </a:r>
          </a:p>
        </p:txBody>
      </p:sp>
      <p:pic>
        <p:nvPicPr>
          <p:cNvPr id="7" name="Picture 6" descr="module-depend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307" y="1280160"/>
            <a:ext cx="5101306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280160"/>
            <a:ext cx="521208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B2B45"/>
                </a:solidFill>
                <a:latin typeface="Calibri"/>
              </a:rPr>
              <a:t>Open-source event-driven C++ framework for cyber-physical systems.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A33"/>
                </a:solidFill>
                <a:latin typeface="Calibri"/>
              </a:rPr>
              <a:t>•  ~13,000 LOC · 154 files · 5 modules: Aggregation, Configuration, Synchronization, Logging, Utilities.</a:t>
            </a:r>
          </a:p>
          <a:p>
            <a:pPr algn="l"/>
            <a:r>
              <a:rPr sz="1400" b="0" i="0">
                <a:solidFill>
                  <a:srgbClr val="222A33"/>
                </a:solidFill>
                <a:latin typeface="Calibri"/>
              </a:rPr>
              <a:t>•  Event-driven pub/sub via boost::signals2 and Redis.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29000"/>
            <a:ext cx="5212080" cy="2423160"/>
          </a:xfrm>
          <a:prstGeom prst="roundRect">
            <a:avLst>
              <a:gd name="adj" fmla="val 4000"/>
            </a:avLst>
          </a:prstGeom>
          <a:solidFill>
            <a:srgbClr val="FB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4754880" cy="2194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18A1B"/>
                </a:solidFill>
                <a:latin typeface="Calibri"/>
              </a:rPr>
              <a:t>KEY STRUCTURAL PROPERTY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•  ~470 template occurrences (static polymorphism); only 32 virtual signatures, all within one module or at config boundaries.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•  No cross-module call goes through a vtable → static graph is reachability-complete w.r.t. the trace on found-in-the-wild scenarios.</a:t>
            </a:r>
          </a:p>
          <a:p>
            <a:pPr algn="l"/>
            <a:r>
              <a:rPr sz="1350" b="1" i="0">
                <a:solidFill>
                  <a:srgbClr val="0B2B45"/>
                </a:solidFill>
                <a:latin typeface="Calibri"/>
              </a:rPr>
              <a:t>•  This is exactly why we constructed scenario S4.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Four Evaluation 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12</a:t>
            </a:r>
          </a:p>
        </p:txBody>
      </p:sp>
      <p:pic>
        <p:nvPicPr>
          <p:cNvPr id="7" name="Picture 6" descr="s4-structu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37942"/>
            <a:ext cx="5212080" cy="197627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17320"/>
          <a:ext cx="5669278" cy="2514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9270"/>
                <a:gridCol w="1526344"/>
                <a:gridCol w="2943664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Nature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exercises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S1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Happy-path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Aggregation chain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S2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Happy-path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Config mapping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S3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Happy-path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Multi-component runner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A33"/>
                          </a:solidFill>
                          <a:latin typeface="Calibri"/>
                        </a:rPr>
                        <a:t>S4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Constructed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pub/sub dual-gap fault path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4480560"/>
            <a:ext cx="5669280" cy="1417320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4617720"/>
            <a:ext cx="5257800" cy="1234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18A1B"/>
                </a:solidFill>
                <a:latin typeface="Calibri"/>
              </a:rPr>
              <a:t>S4 — the dual-gap scenario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 boost::signals2 bridge where static sees stream but not onStageEvent (runtime connect()), and dynamic sees onStageEvent but not stream (a LogLevel::NONE no-op). Only the union recovers both.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526280"/>
            <a:ext cx="52120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1">
                <a:solidFill>
                  <a:srgbClr val="5A636E"/>
                </a:solidFill>
                <a:latin typeface="Calibri"/>
              </a:rPr>
              <a:t>S4 structural view — StageEventBridge ↔ StageEventListener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EXPERIMENT · RQ1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H1 — Does Fusion Improve Accuracy?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Five conditions × four scenarios, scored against a manually source-read reference edge set (authored before scoring).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6766560" cy="65836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2002535"/>
            <a:ext cx="822960" cy="402336"/>
          </a:xfrm>
          <a:prstGeom prst="roundRect">
            <a:avLst>
              <a:gd name="adj" fmla="val 25000"/>
            </a:avLst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947671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LLM-only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947671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no code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24327"/>
            <a:ext cx="6766560" cy="65836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752343"/>
            <a:ext cx="822960" cy="402336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697479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Static-only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697479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call graph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74135"/>
            <a:ext cx="6766560" cy="65836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3502151"/>
            <a:ext cx="822960" cy="402336"/>
          </a:xfrm>
          <a:prstGeom prst="roundRect">
            <a:avLst>
              <a:gd name="adj" fmla="val 25000"/>
            </a:avLst>
          </a:prstGeom>
          <a:solidFill>
            <a:srgbClr val="1B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447287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Dynamic-only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447287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runtime traces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123943"/>
            <a:ext cx="6766560" cy="65836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4251959"/>
            <a:ext cx="822960" cy="402336"/>
          </a:xfrm>
          <a:prstGeom prst="roundRect">
            <a:avLst>
              <a:gd name="adj" fmla="val 25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197095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Static ∪ Dynamic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197095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raw union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873751"/>
            <a:ext cx="6766560" cy="65836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5001767"/>
            <a:ext cx="822960" cy="402336"/>
          </a:xfrm>
          <a:prstGeom prst="roundRect">
            <a:avLst>
              <a:gd name="adj" fmla="val 25000"/>
            </a:avLst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946903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Full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946903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union + agent pruning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1874519"/>
            <a:ext cx="4114800" cy="3794760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205740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E18A1B"/>
                </a:solidFill>
                <a:latin typeface="Calibri"/>
              </a:rPr>
              <a:t>METRICS (on interaction edges)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2514600"/>
            <a:ext cx="3657600" cy="3017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 = |gen ∩ ref| / |gen|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 = |gen ∩ ref| / |ref|</a:t>
            </a:r>
          </a:p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F1 = 2PR / (P + R)</a:t>
            </a:r>
          </a:p>
          <a:p>
            <a:pPr algn="l"/>
            <a:r>
              <a:rPr sz="1350" b="0" i="0">
                <a:solidFill>
                  <a:srgbClr val="C9D6E2"/>
                </a:solidFill>
                <a:latin typeface="Calibri"/>
              </a:rPr>
              <a:t>Aggregated as macro-F1 — each scenario weighted equally.</a:t>
            </a:r>
          </a:p>
          <a:p>
            <a:pPr algn="l">
              <a:spcBef>
                <a:spcPts val="800"/>
              </a:spcBef>
            </a:pPr>
            <a:r>
              <a:rPr sz="1350" b="0" i="0">
                <a:solidFill>
                  <a:srgbClr val="C9D6E2"/>
                </a:solidFill>
                <a:latin typeface="Calibri"/>
              </a:rPr>
              <a:t>S4 kept as its own stratum (constructed, not found in the wild).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RESULTS · RQ1  (S1–S4)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H1 Results — Overall Precision / Recall / F1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80160" y="1508760"/>
          <a:ext cx="9601198" cy="36210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39547"/>
                <a:gridCol w="2087217"/>
                <a:gridCol w="2087217"/>
                <a:gridCol w="2087217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C1  LLM-only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C2  Static-only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C3  Dynamic-only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C4  Static ∪ Dynamic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22A33"/>
                          </a:solidFill>
                          <a:latin typeface="Calibri"/>
                        </a:rPr>
                        <a:t>C5  Full pipeline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0.96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280160" y="5394960"/>
            <a:ext cx="9601200" cy="914400"/>
          </a:xfrm>
          <a:prstGeom prst="roundRect">
            <a:avLst>
              <a:gd name="adj" fmla="val 4000"/>
            </a:avLst>
          </a:prstGeom>
          <a:solidFill>
            <a:srgbClr val="EC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5504688"/>
            <a:ext cx="923544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Calibri"/>
              </a:rPr>
              <a:t>C5 posts the highest overall F1 of any condition (0.96): it keeps C4's perfect recall while partially fixing static over-approximation.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RESULTS · RQ1  (PER STRATUM, F1)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H1 Results — Fusion Is Additive Only on S4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881357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94869"/>
                <a:gridCol w="2994869"/>
                <a:gridCol w="2895040"/>
                <a:gridCol w="1996579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Happy-path (S1–S3)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Constructed (S4)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Overall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C1  LLM-only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C2  Static-only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C3  Dynamic-only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A33"/>
                          </a:solidFill>
                          <a:latin typeface="Calibri"/>
                        </a:rPr>
                        <a:t>C4  Static ∪ Dynamic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A33"/>
                          </a:solidFill>
                          <a:latin typeface="Calibri"/>
                        </a:rPr>
                        <a:t>C5  Full pipeline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0.95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0.96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029200"/>
            <a:ext cx="5349240" cy="1280160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138928"/>
            <a:ext cx="49377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On S4: C4 = 1.00 strictly beats C2 = 0.67 and C3 = 0.67.</a:t>
            </a:r>
          </a:p>
          <a:p>
            <a:pPr algn="l"/>
            <a:r>
              <a:rPr sz="1250" b="0" i="0">
                <a:solidFill>
                  <a:srgbClr val="C9D6E2"/>
                </a:solidFill>
                <a:latin typeface="Calibri"/>
              </a:rPr>
              <a:t>The only scenario where fusion is additive — each source is blind to a different edge.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5029200"/>
            <a:ext cx="5349240" cy="1280160"/>
          </a:xfrm>
          <a:prstGeom prst="roundRect">
            <a:avLst>
              <a:gd name="adj" fmla="val 4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138928"/>
            <a:ext cx="49377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6FB2"/>
                </a:solidFill>
                <a:latin typeface="Calibri"/>
              </a:rPr>
              <a:t>On S1–S3: C4 = C2 (fusion redundant).</a:t>
            </a:r>
          </a:p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C3 ⊆ C2 here, so the union adds nothing — but it still guarantees a recall floor (C4 ≥ C3 always).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RESULTS ·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Why the Numbers Look the Way They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532120" cy="21945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109728" cy="21945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Calibri"/>
              </a:rPr>
              <a:t>Fusion additive on S4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51206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50" b="0" i="0">
                <a:solidFill>
                  <a:srgbClr val="222A33"/>
                </a:solidFill>
                <a:latin typeface="Calibri"/>
              </a:rPr>
              <a:t>Static misses the runtime connect() edge; dynamic misses the LogLevel::NONE-suppressed edge. Only the union C4 recovers both → F1 1.00 vs 0.67 / 0.67.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5532120" cy="21945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109728" cy="21945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36192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1F6FB2"/>
                </a:solidFill>
                <a:latin typeface="Calibri"/>
              </a:rPr>
              <a:t>Fusion redundant on S1–S3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51206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50" b="0" i="0">
                <a:solidFill>
                  <a:srgbClr val="222A33"/>
                </a:solidFill>
                <a:latin typeface="Calibri"/>
              </a:rPr>
              <a:t>No cross-module virtual dispatch in CPSCore ⇒ C3 ⊆ C2, so C4 = C2. Fusion is still protective: it guarantees a recall floor when traces are sparse (C4 ≥ C3 always).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94760"/>
            <a:ext cx="5532120" cy="21945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794760"/>
            <a:ext cx="109728" cy="2194560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59352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E18A1B"/>
                </a:solidFill>
                <a:latin typeface="Calibri"/>
              </a:rPr>
              <a:t>Why C5 wins overall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34840"/>
            <a:ext cx="51206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50" b="0" i="0">
                <a:solidFill>
                  <a:srgbClr val="222A33"/>
                </a:solidFill>
                <a:latin typeface="Calibri"/>
              </a:rPr>
              <a:t>Provenance-aware synthesis preserves C4's perfect recall while partially fixing static over-approximation on S3 (precision 0.60 → 0.75) → best overall F1 = 0.964.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794760"/>
            <a:ext cx="5532120" cy="21945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3794760"/>
            <a:ext cx="109728" cy="2194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959352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The one honest miss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34840"/>
            <a:ext cx="51206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50" b="0" i="0">
                <a:solidFill>
                  <a:srgbClr val="222A33"/>
                </a:solidFill>
                <a:latin typeface="Calibri"/>
              </a:rPr>
              <a:t>C5's only imprecision: a real but out-of-scope flush call on S3. C2's element list omits the calling function, so 'suppressed-in-scope' and 'real-out-of-scope' look identical to the agent.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EXPERIMENT · RQ2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H2 — Guided Instrumentation Improves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Full (probe everything, filter after) vs Guided (scope first, then probe only scenario-relevant call sites), on S1–S3.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874519"/>
          <a:ext cx="5486398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1155031"/>
                <a:gridCol w="1155031"/>
                <a:gridCol w="1347536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Guided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Nodes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6.0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−50%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Edges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9.0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2.7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−70%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Coverage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0% loss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A33"/>
                          </a:solidFill>
                          <a:latin typeface="Calibri"/>
                        </a:rPr>
                        <a:t>Noise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0.704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−100%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263640" y="1874519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F6FB2"/>
                </a:solidFill>
                <a:latin typeface="Calibri"/>
              </a:rPr>
              <a:t>BLINDED 6-RATER EXPERT PANEL (mean, 1–5)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92240" y="2468880"/>
          <a:ext cx="493776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1234440"/>
                <a:gridCol w="12344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Guided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2.39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4.61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Readability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2.44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4.89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Usefulness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2.94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4.00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02920" y="489204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EC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1088136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E8B57"/>
                </a:solidFill>
                <a:latin typeface="Calibri"/>
              </a:rPr>
              <a:t>•  Across all 54 rater × scenario × dimension comparisons: guided rated higher in 47, tied in 6, lower in exactly 1.</a:t>
            </a:r>
          </a:p>
          <a:p>
            <a:pPr algn="l"/>
            <a:r>
              <a:rPr sz="1350" b="0" i="0">
                <a:solidFill>
                  <a:srgbClr val="222A33"/>
                </a:solidFill>
                <a:latin typeface="Calibri"/>
              </a:rPr>
              <a:t>•  The single dissent (S2 usefulness): collapsing 7 repeated Config→Logging reads into one edge loses a count some find useful for debugging — an honest trade-off, not a defect.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EXPERIMENT · UTILITY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H3 — Is the Diagram Actually Useful?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Does the pipeline's output (C5 interaction list) help an LLM agent comprehend a scenario — alone and in combination?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828800"/>
          <a:ext cx="11155679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15004"/>
                <a:gridCol w="2504336"/>
                <a:gridCol w="2504336"/>
                <a:gridCol w="2732003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Component recall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Interaction recall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Completeness (1–5)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Source 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0.917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0.800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4.25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Trace only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0.917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0.900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4.25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A33"/>
                          </a:solidFill>
                          <a:latin typeface="Calibri"/>
                        </a:rPr>
                        <a:t>Diagram only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Source + Trace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0.917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0.900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4.25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A33"/>
                          </a:solidFill>
                          <a:latin typeface="Calibri"/>
                        </a:rPr>
                        <a:t>Source + Trace + Diagram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5212080"/>
            <a:ext cx="11155680" cy="1097280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349240"/>
            <a:ext cx="1088136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The standout: “Diagram only” equals “Source + Trace + Diagram” — perfect on every measure. With no source and no trace, the C5 diagram alone is a sufficient basis for scenario comprehension.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RESULTS · QUALITATIVE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Example Output — S4 Reconstructed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19</a:t>
            </a:r>
          </a:p>
        </p:txBody>
      </p:sp>
      <p:pic>
        <p:nvPicPr>
          <p:cNvPr id="7" name="Picture 6" descr="s4-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2132"/>
            <a:ext cx="7863840" cy="408237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49640" y="1371600"/>
            <a:ext cx="3108960" cy="45720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1554480"/>
            <a:ext cx="2697480" cy="4297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F6FB2"/>
                </a:solidFill>
                <a:latin typeface="Calibri"/>
              </a:rPr>
              <a:t>The dual-gap recovered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•  stream — recovered from static evidence (runtime-suppressed by LogLevel::NONE).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•  onStageEvent — recovered from the trace (runtime connect(); no static call site).</a:t>
            </a:r>
          </a:p>
          <a:p>
            <a:pPr algn="l"/>
            <a:r>
              <a:rPr sz="1350" b="1" i="0">
                <a:solidFill>
                  <a:srgbClr val="0B2B45"/>
                </a:solidFill>
                <a:latin typeface="Calibri"/>
              </a:rPr>
              <a:t>•  Only the fused graph shows both edges in one scenario-specific SysML v2 diagram.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TRANSFERABILITY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Exploratory: A Second, Larger Industrial Codebase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55680" cy="118872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17904"/>
            <a:ext cx="1088136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222A33"/>
                </a:solidFill>
                <a:latin typeface="Calibri"/>
              </a:rPr>
              <a:t>A practitioner session applied the same static-extraction and query approach to a second industrial system — testing whether the method transfers beyond CPSCore.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788920"/>
            <a:ext cx="5532120" cy="3063240"/>
          </a:xfrm>
          <a:prstGeom prst="roundRect">
            <a:avLst>
              <a:gd name="adj" fmla="val 4000"/>
            </a:avLst>
          </a:prstGeom>
          <a:solidFill>
            <a:srgbClr val="EC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5029200" cy="2743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2E8B57"/>
                </a:solidFill>
                <a:latin typeface="Calibri"/>
              </a:rPr>
              <a:t>Worked well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Structural diagrams rated consistently useful.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Dependency diagrams rated consistently useful.</a:t>
            </a:r>
          </a:p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•  Static extraction + graph query transferred to a larger, unseen codebase.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788920"/>
            <a:ext cx="5532120" cy="3063240"/>
          </a:xfrm>
          <a:prstGeom prst="roundRect">
            <a:avLst>
              <a:gd name="adj" fmla="val 4000"/>
            </a:avLst>
          </a:prstGeom>
          <a:solidFill>
            <a:srgbClr val="FB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971800"/>
            <a:ext cx="5029200" cy="2743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E18A1B"/>
                </a:solidFill>
                <a:latin typeface="Calibri"/>
              </a:rPr>
              <a:t>Clearest area to improve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Sequence-diagram message labelling was identified as the weakest point.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Consistent with the CPSCore finding that message-level semantics need richer provenance.</a:t>
            </a:r>
          </a:p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•  A concrete, actionable direction for future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1BA19C"/>
                </a:solidFill>
                <a:latin typeface="Calibri"/>
              </a:rPr>
              <a:t>THE ONE PATTERN BEHIND ALL THREE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2377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Additional evidence improves reconstruction or comprehension specifically when the primary evidence source is missing something — and is otherwise redundant.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114800"/>
            <a:ext cx="822960" cy="457200"/>
          </a:xfrm>
          <a:prstGeom prst="roundRect">
            <a:avLst>
              <a:gd name="adj" fmla="val 25000"/>
            </a:avLst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700" b="1">
                <a:solidFill>
                  <a:srgbClr val="0B2B45"/>
                </a:solidFill>
                <a:latin typeface="Calibri"/>
              </a:rPr>
              <a:t>H1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096512"/>
            <a:ext cx="96926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DCE6F0"/>
                </a:solidFill>
                <a:latin typeface="Calibri"/>
              </a:rPr>
              <a:t>Fusion is strictly additive only where static &amp; dynamic each miss a different edge (S4); redundant where the static graph is complete.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828032"/>
            <a:ext cx="822960" cy="457200"/>
          </a:xfrm>
          <a:prstGeom prst="roundRect">
            <a:avLst>
              <a:gd name="adj" fmla="val 25000"/>
            </a:avLst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700" b="1">
                <a:solidFill>
                  <a:srgbClr val="0B2B45"/>
                </a:solidFill>
                <a:latin typeface="Calibri"/>
              </a:rPr>
              <a:t>H2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809744"/>
            <a:ext cx="96926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DCE6F0"/>
                </a:solidFill>
                <a:latin typeface="Calibri"/>
              </a:rPr>
              <a:t>Guiding instrumentation by the code graph removes 100% of noise with zero coverage loss.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541264"/>
            <a:ext cx="822960" cy="457200"/>
          </a:xfrm>
          <a:prstGeom prst="roundRect">
            <a:avLst>
              <a:gd name="adj" fmla="val 25000"/>
            </a:avLst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700" b="1">
                <a:solidFill>
                  <a:srgbClr val="0B2B45"/>
                </a:solidFill>
                <a:latin typeface="Calibri"/>
              </a:rPr>
              <a:t>H3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522976"/>
            <a:ext cx="96926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DCE6F0"/>
                </a:solidFill>
                <a:latin typeface="Calibri"/>
              </a:rPr>
              <a:t>The reconstructed diagram alone is a sufficient basis for scenario comprehension — perfect recall everywhere.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55680" cy="73152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536192"/>
            <a:ext cx="685800" cy="402336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26464"/>
            <a:ext cx="996696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222A33"/>
                </a:solidFill>
                <a:latin typeface="Calibri"/>
              </a:rPr>
              <a:t>One property graph holding static call graph + runtime trace together, remembering each interaction's provenance.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76272"/>
            <a:ext cx="11155680" cy="73152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340864"/>
            <a:ext cx="685800" cy="402336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31136"/>
            <a:ext cx="996696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222A33"/>
                </a:solidFill>
                <a:latin typeface="Calibri"/>
              </a:rPr>
              <a:t>A scenario-scoping method, using plain scenario-scoped Cypher queries, that trims the combined graph to just the interactions relevant to one scenario.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80944"/>
            <a:ext cx="11155680" cy="73152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3145536"/>
            <a:ext cx="685800" cy="402336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35808"/>
            <a:ext cx="996696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222A33"/>
                </a:solidFill>
                <a:latin typeface="Calibri"/>
              </a:rPr>
              <a:t>A way to recover publish-subscribe wiring that ordinary call-graph analysis cannot see.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85616"/>
            <a:ext cx="11155680" cy="73152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3950208"/>
            <a:ext cx="685800" cy="402336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40480"/>
            <a:ext cx="996696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222A33"/>
                </a:solidFill>
                <a:latin typeface="Calibri"/>
              </a:rPr>
              <a:t>csp_matcher — a small, reversible tool that inserts and removes trace probes automatically.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590288"/>
            <a:ext cx="11155680" cy="73152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4754880"/>
            <a:ext cx="685800" cy="402336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645152"/>
            <a:ext cx="996696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222A33"/>
                </a:solidFill>
                <a:latin typeface="Calibri"/>
              </a:rPr>
              <a:t>Eleven natural-language agent skills running the whole pipeline, source → SysML v2, on any codebase without code changes.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394960"/>
            <a:ext cx="11155680" cy="73152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5559552"/>
            <a:ext cx="685800" cy="402336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vi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449824"/>
            <a:ext cx="996696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222A33"/>
                </a:solidFill>
                <a:latin typeface="Calibri"/>
              </a:rPr>
              <a:t>An evidence-based account of when combining static and dynamic analysis helps — and when it does not.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532120" cy="4480560"/>
          </a:xfrm>
          <a:prstGeom prst="roundRect">
            <a:avLst>
              <a:gd name="adj" fmla="val 4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5029200" cy="4206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C0392B"/>
                </a:solidFill>
                <a:latin typeface="Calibri"/>
              </a:rPr>
              <a:t>Limitations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•  Single primary case study (CPSCore); S4 is constructed, not found in the wild.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•  C2's element list omits the calling function → agent cannot always distinguish in-scope from out-of-scope edges.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•  Two H3 conditions (source-only, diagram-only) rated non-blind by the same rater — disclosed.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•  Message-label semantics on sequence diagrams remain the weakest output dimension.</a:t>
            </a:r>
          </a:p>
          <a:p>
            <a:pPr algn="l"/>
            <a:r>
              <a:rPr sz="1450" b="0" i="0">
                <a:solidFill>
                  <a:srgbClr val="222A33"/>
                </a:solidFill>
                <a:latin typeface="Calibri"/>
              </a:rPr>
              <a:t>•  Traces limited to what the test suite exercises.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394960" cy="4480560"/>
          </a:xfrm>
          <a:prstGeom prst="roundRect">
            <a:avLst>
              <a:gd name="adj" fmla="val 4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554480"/>
            <a:ext cx="4892040" cy="4206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1BA19C"/>
                </a:solidFill>
                <a:latin typeface="Calibri"/>
              </a:rPr>
              <a:t>Future work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•  Carry the calling function into the element list to fix the in-scope / out-of-scope ambiguity.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•  Evaluate on systems with cross-module virtual dispatch, plugin loading, or reflection — where the additive regime dominates.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•  Richer, provenance-driven message labelling for sequence diagrams.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•  Broaden the expert panel and blind all conditions.</a:t>
            </a:r>
          </a:p>
          <a:p>
            <a:pPr algn="l"/>
            <a:r>
              <a:rPr sz="1450" b="0" i="0">
                <a:solidFill>
                  <a:srgbClr val="222A33"/>
                </a:solidFill>
                <a:latin typeface="Calibri"/>
              </a:rPr>
              <a:t>•  Continuous, CI-integrated model maintenance.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55680" cy="2011680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72768"/>
            <a:ext cx="10698480" cy="1737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 hybrid pipeline fuses a static call graph with runtime traces in one provenance-tagged property graph and scopes it to scenario-specific SysML v2 interaction diagrams.</a:t>
            </a:r>
          </a:p>
          <a:p>
            <a:pPr algn="l"/>
            <a:r>
              <a:rPr sz="1600" b="0" i="0">
                <a:solidFill>
                  <a:srgbClr val="C9D6E2"/>
                </a:solidFill>
                <a:latin typeface="Calibri"/>
              </a:rPr>
              <a:t>Fusion helps exactly where one source is blind (C5 macro-F1 0.964); guided scoping removes 100% of noise at full coverage; the diagram alone suffices for comprehension.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57600"/>
            <a:ext cx="96012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657600"/>
            <a:ext cx="98755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0B2B45"/>
                </a:solidFill>
                <a:latin typeface="Calibri"/>
              </a:rPr>
              <a:t>Fusion is additive where sources disagree (S4), redundant elsewhere — best macro-F1 0.964.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70832"/>
            <a:ext cx="960120" cy="502920"/>
          </a:xfrm>
          <a:prstGeom prst="roundRect">
            <a:avLst>
              <a:gd name="adj" fmla="val 25000"/>
            </a:avLst>
          </a:prstGeom>
          <a:solidFill>
            <a:srgbClr val="1B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370832"/>
            <a:ext cx="98755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0B2B45"/>
                </a:solidFill>
                <a:latin typeface="Calibri"/>
              </a:rPr>
              <a:t>Scenario-scoped Cypher querying yields focused, noise-free diagrams with zero coverage loss.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58612" y="548640"/>
            <a:ext cx="1893003" cy="10424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o_es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340" y="658368"/>
            <a:ext cx="1673547" cy="822960"/>
          </a:xfrm>
          <a:prstGeom prst="rect">
            <a:avLst/>
          </a:prstGeom>
        </p:spPr>
      </p:pic>
      <p:pic>
        <p:nvPicPr>
          <p:cNvPr id="6" name="Picture 5" descr="msc-se-logo-small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943600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011680"/>
            <a:ext cx="1060704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Thank you — 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106070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 i="1">
                <a:solidFill>
                  <a:srgbClr val="C9D6E2"/>
                </a:solidFill>
                <a:latin typeface="Calibri"/>
              </a:rPr>
              <a:t>Hybrid Static–Trace Analysis for Interaction Model Synthesis in Event-Driven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46320"/>
            <a:ext cx="106070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Prathik Anand Krishnan</a:t>
            </a:r>
          </a:p>
          <a:p>
            <a:pPr algn="l"/>
            <a:r>
              <a:rPr sz="1400" b="0" i="0">
                <a:solidFill>
                  <a:srgbClr val="1BA19C"/>
                </a:solidFill>
                <a:latin typeface="Calibri"/>
              </a:rPr>
              <a:t>TNO-ESI  ·  MSc Software Engineering, University of Amsterdam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6016752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University of Amsterdam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Backup — S1 Structural &amp; Sequence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26</a:t>
            </a:r>
          </a:p>
        </p:txBody>
      </p:sp>
      <p:pic>
        <p:nvPicPr>
          <p:cNvPr id="7" name="Picture 6" descr="s1-structu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26" y="1371600"/>
            <a:ext cx="5470988" cy="4572000"/>
          </a:xfrm>
          <a:prstGeom prst="rect">
            <a:avLst/>
          </a:prstGeom>
        </p:spPr>
      </p:pic>
      <p:pic>
        <p:nvPicPr>
          <p:cNvPr id="8" name="Picture 7" descr="s1-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427330"/>
            <a:ext cx="5486400" cy="24605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9893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1">
                <a:solidFill>
                  <a:srgbClr val="5A636E"/>
                </a:solidFill>
                <a:latin typeface="Calibri"/>
              </a:rPr>
              <a:t>S1 structural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9893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1">
                <a:solidFill>
                  <a:srgbClr val="5A636E"/>
                </a:solidFill>
                <a:latin typeface="Calibri"/>
              </a:rPr>
              <a:t>S1 reconstructed sequence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Backup — Engineering Challenges &amp;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79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76343"/>
                <a:gridCol w="6879336"/>
              </a:tblGrid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Challenge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How it was solved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C++ is context-sensitive — regex / simple parsers fail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Renaissance + Neo4j for semantic-level extraction; ClangSharp (libclang) for validation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Thousands of dependencies crash SysML toolchains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Identifier quoting + relationship deduplication in the generation layer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Hardcoded scenario scoping is brittle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Agent-skill architecture — scenario defined as a natural-language query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Traces alone are incomplete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Static reachability in the graph fills unobserved interactions — the core hybrid contribution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