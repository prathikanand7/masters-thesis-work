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B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5720"/>
          </a:xfrm>
          <a:prstGeom prst="rect">
            <a:avLst/>
          </a:prstGeom>
          <a:solidFill>
            <a:srgbClr val="E18A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8229600" cy="274320"/>
          </a:xfrm>
          <a:prstGeom prst="rect">
            <a:avLst/>
          </a:prstGeom>
          <a:noFill/>
        </p:spPr>
        <p:txBody>
          <a:bodyPr wrap="square" anchor="t" lIns="45720" rIns="45720" tIns="18288" bIns="18288">
            <a:spAutoFit/>
          </a:bodyPr>
          <a:lstStyle/>
          <a:p>
            <a:pPr algn="l"/>
            <a:r>
              <a:rPr sz="1100" b="1" i="0">
                <a:solidFill>
                  <a:srgbClr val="1BA19C"/>
                </a:solidFill>
                <a:latin typeface="Calibri"/>
              </a:rPr>
              <a:t>METHODOLOGY</a:t>
            </a:r>
          </a:p>
        </p:txBody>
      </p:sp>
      <p:sp>
        <p:nvSpPr>
          <p:cNvPr id="5" name="TextBox 4"/>
          <p:cNvSpPr txBox="1"/>
          <p:nvPr/>
        </p:nvSpPr>
        <p:spPr>
          <a:xfrm>
            <a:off x="457200" y="320040"/>
            <a:ext cx="9875520" cy="594360"/>
          </a:xfrm>
          <a:prstGeom prst="rect">
            <a:avLst/>
          </a:prstGeom>
          <a:noFill/>
        </p:spPr>
        <p:txBody>
          <a:bodyPr wrap="square" anchor="t" lIns="45720" rIns="45720" tIns="18288" bIns="18288">
            <a:spAutoFit/>
          </a:bodyPr>
          <a:lstStyle/>
          <a:p>
            <a:pPr algn="l"/>
            <a:r>
              <a:rPr sz="2400" b="1" i="0">
                <a:solidFill>
                  <a:srgbClr val="FFFFFF"/>
                </a:solidFill>
                <a:latin typeface="Calibri"/>
              </a:rPr>
              <a:t>The Hybrid Pipeline — Six Stages</a:t>
            </a:r>
          </a:p>
        </p:txBody>
      </p:sp>
      <p:sp>
        <p:nvSpPr>
          <p:cNvPr id="6" name="TextBox 5"/>
          <p:cNvSpPr txBox="1"/>
          <p:nvPr/>
        </p:nvSpPr>
        <p:spPr>
          <a:xfrm>
            <a:off x="457200" y="1143000"/>
            <a:ext cx="11247120" cy="365760"/>
          </a:xfrm>
          <a:prstGeom prst="rect">
            <a:avLst/>
          </a:prstGeom>
          <a:noFill/>
        </p:spPr>
        <p:txBody>
          <a:bodyPr wrap="square" anchor="t" lIns="45720" rIns="45720" tIns="18288" bIns="18288">
            <a:spAutoFit/>
          </a:bodyPr>
          <a:lstStyle/>
          <a:p>
            <a:pPr algn="l"/>
            <a:r>
              <a:rPr sz="1400" b="1" i="0">
                <a:solidFill>
                  <a:srgbClr val="0B2B45"/>
                </a:solidFill>
                <a:latin typeface="Calibri"/>
              </a:rPr>
              <a:t>Static extraction and a targeted global query jointly drive guided instrumentation; union, tagging and LLM synthesis fuse both into a scenario diagram.</a:t>
            </a:r>
          </a:p>
        </p:txBody>
      </p:sp>
      <p:sp>
        <p:nvSpPr>
          <p:cNvPr id="7" name="Rounded Rectangle 6"/>
          <p:cNvSpPr/>
          <p:nvPr/>
        </p:nvSpPr>
        <p:spPr>
          <a:xfrm>
            <a:off x="457200" y="1874519"/>
            <a:ext cx="1744980" cy="1874519"/>
          </a:xfrm>
          <a:prstGeom prst="roundRect">
            <a:avLst>
              <a:gd name="adj" fmla="val 5000"/>
            </a:avLst>
          </a:prstGeom>
          <a:solidFill>
            <a:srgbClr val="0B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530352" y="1947671"/>
            <a:ext cx="365760" cy="3657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0B2B45"/>
                </a:solidFill>
              </a:rPr>
              <a:t>1</a:t>
            </a:r>
          </a:p>
        </p:txBody>
      </p:sp>
      <p:sp>
        <p:nvSpPr>
          <p:cNvPr id="9" name="TextBox 8"/>
          <p:cNvSpPr txBox="1"/>
          <p:nvPr/>
        </p:nvSpPr>
        <p:spPr>
          <a:xfrm>
            <a:off x="548640" y="2423159"/>
            <a:ext cx="1562100" cy="640080"/>
          </a:xfrm>
          <a:prstGeom prst="rect">
            <a:avLst/>
          </a:prstGeom>
          <a:noFill/>
        </p:spPr>
        <p:txBody>
          <a:bodyPr wrap="square" anchor="t" lIns="45720" rIns="45720" tIns="18288" bIns="18288">
            <a:spAutoFit/>
          </a:bodyPr>
          <a:lstStyle/>
          <a:p>
            <a:pPr algn="l"/>
            <a:r>
              <a:rPr sz="1400" b="1" i="0">
                <a:solidFill>
                  <a:srgbClr val="FFFFFF"/>
                </a:solidFill>
                <a:latin typeface="Calibri"/>
              </a:rPr>
              <a:t>Static
Extraction</a:t>
            </a:r>
          </a:p>
        </p:txBody>
      </p:sp>
      <p:sp>
        <p:nvSpPr>
          <p:cNvPr id="10" name="TextBox 9"/>
          <p:cNvSpPr txBox="1"/>
          <p:nvPr/>
        </p:nvSpPr>
        <p:spPr>
          <a:xfrm>
            <a:off x="548640" y="3108959"/>
            <a:ext cx="1562100" cy="594360"/>
          </a:xfrm>
          <a:prstGeom prst="rect">
            <a:avLst/>
          </a:prstGeom>
          <a:noFill/>
        </p:spPr>
        <p:txBody>
          <a:bodyPr wrap="square" anchor="t" lIns="45720" rIns="45720" tIns="18288" bIns="18288">
            <a:spAutoFit/>
          </a:bodyPr>
          <a:lstStyle/>
          <a:p>
            <a:pPr algn="l"/>
            <a:r>
              <a:rPr sz="1050" b="0" i="0">
                <a:solidFill>
                  <a:srgbClr val="DCE6F0"/>
                </a:solidFill>
                <a:latin typeface="Calibri"/>
              </a:rPr>
              <a:t>Renaissance C++ →
Neo4j property graph</a:t>
            </a:r>
          </a:p>
        </p:txBody>
      </p:sp>
      <p:sp>
        <p:nvSpPr>
          <p:cNvPr id="11" name="Right Arrow 10"/>
          <p:cNvSpPr/>
          <p:nvPr/>
        </p:nvSpPr>
        <p:spPr>
          <a:xfrm>
            <a:off x="2210409" y="2702050"/>
            <a:ext cx="148133" cy="219456"/>
          </a:xfrm>
          <a:prstGeom prst="rightArrow">
            <a:avLst/>
          </a:prstGeom>
          <a:solidFill>
            <a:srgbClr val="5A63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366772" y="1874519"/>
            <a:ext cx="1744980" cy="1874519"/>
          </a:xfrm>
          <a:prstGeom prst="roundRect">
            <a:avLst>
              <a:gd name="adj" fmla="val 5000"/>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2439924" y="1947671"/>
            <a:ext cx="365760" cy="3657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1F6FB2"/>
                </a:solidFill>
              </a:rPr>
              <a:t>2</a:t>
            </a:r>
          </a:p>
        </p:txBody>
      </p:sp>
      <p:sp>
        <p:nvSpPr>
          <p:cNvPr id="14" name="TextBox 13"/>
          <p:cNvSpPr txBox="1"/>
          <p:nvPr/>
        </p:nvSpPr>
        <p:spPr>
          <a:xfrm>
            <a:off x="2458212" y="2423159"/>
            <a:ext cx="1562100" cy="640080"/>
          </a:xfrm>
          <a:prstGeom prst="rect">
            <a:avLst/>
          </a:prstGeom>
          <a:noFill/>
        </p:spPr>
        <p:txBody>
          <a:bodyPr wrap="square" anchor="t" lIns="45720" rIns="45720" tIns="18288" bIns="18288">
            <a:spAutoFit/>
          </a:bodyPr>
          <a:lstStyle/>
          <a:p>
            <a:pPr algn="l"/>
            <a:r>
              <a:rPr sz="1400" b="1" i="0">
                <a:solidFill>
                  <a:srgbClr val="FFFFFF"/>
                </a:solidFill>
                <a:latin typeface="Calibri"/>
              </a:rPr>
              <a:t>Scenario-Specific
Query</a:t>
            </a:r>
          </a:p>
        </p:txBody>
      </p:sp>
      <p:sp>
        <p:nvSpPr>
          <p:cNvPr id="15" name="TextBox 14"/>
          <p:cNvSpPr txBox="1"/>
          <p:nvPr/>
        </p:nvSpPr>
        <p:spPr>
          <a:xfrm>
            <a:off x="2458212" y="3108959"/>
            <a:ext cx="1562100" cy="594360"/>
          </a:xfrm>
          <a:prstGeom prst="rect">
            <a:avLst/>
          </a:prstGeom>
          <a:noFill/>
        </p:spPr>
        <p:txBody>
          <a:bodyPr wrap="square" anchor="t" lIns="45720" rIns="45720" tIns="18288" bIns="18288">
            <a:spAutoFit/>
          </a:bodyPr>
          <a:lstStyle/>
          <a:p>
            <a:pPr algn="l"/>
            <a:r>
              <a:rPr sz="1050" b="0" i="0">
                <a:solidFill>
                  <a:srgbClr val="DCE6F0"/>
                </a:solidFill>
                <a:latin typeface="Calibri"/>
              </a:rPr>
              <a:t>Cypher, scenario-scoped
→ Static interactions</a:t>
            </a:r>
          </a:p>
        </p:txBody>
      </p:sp>
      <p:sp>
        <p:nvSpPr>
          <p:cNvPr id="16" name="Right Arrow 15"/>
          <p:cNvSpPr/>
          <p:nvPr/>
        </p:nvSpPr>
        <p:spPr>
          <a:xfrm>
            <a:off x="4119981" y="2702050"/>
            <a:ext cx="148133" cy="219456"/>
          </a:xfrm>
          <a:prstGeom prst="rightArrow">
            <a:avLst/>
          </a:prstGeom>
          <a:solidFill>
            <a:srgbClr val="5A63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276344" y="1874519"/>
            <a:ext cx="1744980" cy="1874519"/>
          </a:xfrm>
          <a:prstGeom prst="roundRect">
            <a:avLst>
              <a:gd name="adj" fmla="val 5000"/>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4349496" y="1947671"/>
            <a:ext cx="365760" cy="3657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1F6FB2"/>
                </a:solidFill>
              </a:rPr>
              <a:t>3</a:t>
            </a:r>
          </a:p>
        </p:txBody>
      </p:sp>
      <p:sp>
        <p:nvSpPr>
          <p:cNvPr id="19" name="TextBox 18"/>
          <p:cNvSpPr txBox="1"/>
          <p:nvPr/>
        </p:nvSpPr>
        <p:spPr>
          <a:xfrm>
            <a:off x="4367784" y="2423159"/>
            <a:ext cx="1562100" cy="640080"/>
          </a:xfrm>
          <a:prstGeom prst="rect">
            <a:avLst/>
          </a:prstGeom>
          <a:noFill/>
        </p:spPr>
        <p:txBody>
          <a:bodyPr wrap="square" anchor="t" lIns="45720" rIns="45720" tIns="18288" bIns="18288">
            <a:spAutoFit/>
          </a:bodyPr>
          <a:lstStyle/>
          <a:p>
            <a:pPr algn="l"/>
            <a:r>
              <a:rPr sz="1400" b="1" i="0">
                <a:solidFill>
                  <a:srgbClr val="FFFFFF"/>
                </a:solidFill>
                <a:latin typeface="Calibri"/>
              </a:rPr>
              <a:t>Global Code
Graph Query</a:t>
            </a:r>
          </a:p>
        </p:txBody>
      </p:sp>
      <p:sp>
        <p:nvSpPr>
          <p:cNvPr id="20" name="TextBox 19"/>
          <p:cNvSpPr txBox="1"/>
          <p:nvPr/>
        </p:nvSpPr>
        <p:spPr>
          <a:xfrm>
            <a:off x="4367784" y="3108959"/>
            <a:ext cx="1562100" cy="594360"/>
          </a:xfrm>
          <a:prstGeom prst="rect">
            <a:avLst/>
          </a:prstGeom>
          <a:noFill/>
        </p:spPr>
        <p:txBody>
          <a:bodyPr wrap="square" anchor="t" lIns="45720" rIns="45720" tIns="18288" bIns="18288">
            <a:spAutoFit/>
          </a:bodyPr>
          <a:lstStyle/>
          <a:p>
            <a:pPr algn="l"/>
            <a:r>
              <a:rPr sz="1050" b="0" i="0">
                <a:solidFill>
                  <a:srgbClr val="DCE6F0"/>
                </a:solidFill>
                <a:latin typeface="Calibri"/>
              </a:rPr>
              <a:t>Cypher, all cross-
component CppCalls</a:t>
            </a:r>
          </a:p>
        </p:txBody>
      </p:sp>
      <p:sp>
        <p:nvSpPr>
          <p:cNvPr id="21" name="Right Arrow 20"/>
          <p:cNvSpPr/>
          <p:nvPr/>
        </p:nvSpPr>
        <p:spPr>
          <a:xfrm>
            <a:off x="6029553" y="2702050"/>
            <a:ext cx="148133" cy="219456"/>
          </a:xfrm>
          <a:prstGeom prst="rightArrow">
            <a:avLst/>
          </a:prstGeom>
          <a:solidFill>
            <a:srgbClr val="5A63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185916" y="1874519"/>
            <a:ext cx="1744980" cy="1874519"/>
          </a:xfrm>
          <a:prstGeom prst="roundRect">
            <a:avLst>
              <a:gd name="adj" fmla="val 5000"/>
            </a:avLst>
          </a:prstGeom>
          <a:solidFill>
            <a:srgbClr val="1BA1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259068" y="1947671"/>
            <a:ext cx="365760" cy="3657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1BA19C"/>
                </a:solidFill>
              </a:rPr>
              <a:t>4</a:t>
            </a:r>
          </a:p>
        </p:txBody>
      </p:sp>
      <p:sp>
        <p:nvSpPr>
          <p:cNvPr id="24" name="TextBox 23"/>
          <p:cNvSpPr txBox="1"/>
          <p:nvPr/>
        </p:nvSpPr>
        <p:spPr>
          <a:xfrm>
            <a:off x="6277356" y="2423159"/>
            <a:ext cx="1562100" cy="640080"/>
          </a:xfrm>
          <a:prstGeom prst="rect">
            <a:avLst/>
          </a:prstGeom>
          <a:noFill/>
        </p:spPr>
        <p:txBody>
          <a:bodyPr wrap="square" anchor="t" lIns="45720" rIns="45720" tIns="18288" bIns="18288">
            <a:spAutoFit/>
          </a:bodyPr>
          <a:lstStyle/>
          <a:p>
            <a:pPr algn="l"/>
            <a:r>
              <a:rPr sz="1400" b="1" i="0">
                <a:solidFill>
                  <a:srgbClr val="FFFFFF"/>
                </a:solidFill>
                <a:latin typeface="Calibri"/>
              </a:rPr>
              <a:t>Guided
Instrumentation</a:t>
            </a:r>
          </a:p>
        </p:txBody>
      </p:sp>
      <p:sp>
        <p:nvSpPr>
          <p:cNvPr id="25" name="TextBox 24"/>
          <p:cNvSpPr txBox="1"/>
          <p:nvPr/>
        </p:nvSpPr>
        <p:spPr>
          <a:xfrm>
            <a:off x="6277356" y="3108959"/>
            <a:ext cx="1562100" cy="594360"/>
          </a:xfrm>
          <a:prstGeom prst="rect">
            <a:avLst/>
          </a:prstGeom>
          <a:noFill/>
        </p:spPr>
        <p:txBody>
          <a:bodyPr wrap="square" anchor="t" lIns="45720" rIns="45720" tIns="18288" bIns="18288">
            <a:spAutoFit/>
          </a:bodyPr>
          <a:lstStyle/>
          <a:p>
            <a:pPr algn="l"/>
            <a:r>
              <a:rPr sz="1050" b="0" i="0">
                <a:solidFill>
                  <a:srgbClr val="DCE6F0"/>
                </a:solidFill>
                <a:latin typeface="Calibri"/>
              </a:rPr>
              <a:t>clang-renaissance probes
→ Guided trace</a:t>
            </a:r>
          </a:p>
        </p:txBody>
      </p:sp>
      <p:sp>
        <p:nvSpPr>
          <p:cNvPr id="26" name="Right Arrow 25"/>
          <p:cNvSpPr/>
          <p:nvPr/>
        </p:nvSpPr>
        <p:spPr>
          <a:xfrm>
            <a:off x="7939125" y="2702050"/>
            <a:ext cx="148133" cy="219456"/>
          </a:xfrm>
          <a:prstGeom prst="rightArrow">
            <a:avLst/>
          </a:prstGeom>
          <a:solidFill>
            <a:srgbClr val="5A63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095488" y="1874519"/>
            <a:ext cx="1744980" cy="1874519"/>
          </a:xfrm>
          <a:prstGeom prst="roundRect">
            <a:avLst>
              <a:gd name="adj" fmla="val 5000"/>
            </a:avLst>
          </a:prstGeom>
          <a:solidFill>
            <a:srgbClr val="1BA1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168640" y="1947671"/>
            <a:ext cx="365760" cy="3657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1BA19C"/>
                </a:solidFill>
              </a:rPr>
              <a:t>5</a:t>
            </a:r>
          </a:p>
        </p:txBody>
      </p:sp>
      <p:sp>
        <p:nvSpPr>
          <p:cNvPr id="29" name="TextBox 28"/>
          <p:cNvSpPr txBox="1"/>
          <p:nvPr/>
        </p:nvSpPr>
        <p:spPr>
          <a:xfrm>
            <a:off x="8186928" y="2423159"/>
            <a:ext cx="1562100" cy="640080"/>
          </a:xfrm>
          <a:prstGeom prst="rect">
            <a:avLst/>
          </a:prstGeom>
          <a:noFill/>
        </p:spPr>
        <p:txBody>
          <a:bodyPr wrap="square" anchor="t" lIns="45720" rIns="45720" tIns="18288" bIns="18288">
            <a:spAutoFit/>
          </a:bodyPr>
          <a:lstStyle/>
          <a:p>
            <a:pPr algn="l"/>
            <a:r>
              <a:rPr sz="1400" b="1" i="0">
                <a:solidFill>
                  <a:srgbClr val="FFFFFF"/>
                </a:solidFill>
                <a:latin typeface="Calibri"/>
              </a:rPr>
              <a:t>Union &amp;
Tagging</a:t>
            </a:r>
          </a:p>
        </p:txBody>
      </p:sp>
      <p:sp>
        <p:nvSpPr>
          <p:cNvPr id="30" name="TextBox 29"/>
          <p:cNvSpPr txBox="1"/>
          <p:nvPr/>
        </p:nvSpPr>
        <p:spPr>
          <a:xfrm>
            <a:off x="8186928" y="3108959"/>
            <a:ext cx="1562100" cy="594360"/>
          </a:xfrm>
          <a:prstGeom prst="rect">
            <a:avLst/>
          </a:prstGeom>
          <a:noFill/>
        </p:spPr>
        <p:txBody>
          <a:bodyPr wrap="square" anchor="t" lIns="45720" rIns="45720" tIns="18288" bIns="18288">
            <a:spAutoFit/>
          </a:bodyPr>
          <a:lstStyle/>
          <a:p>
            <a:pPr algn="l"/>
            <a:r>
              <a:rPr sz="1050" b="0" i="0">
                <a:solidFill>
                  <a:srgbClr val="DCE6F0"/>
                </a:solidFill>
                <a:latin typeface="Calibri"/>
              </a:rPr>
              <a:t>Static + Dynamic + code
→ Elements / Sequence</a:t>
            </a:r>
          </a:p>
        </p:txBody>
      </p:sp>
      <p:sp>
        <p:nvSpPr>
          <p:cNvPr id="31" name="Right Arrow 30"/>
          <p:cNvSpPr/>
          <p:nvPr/>
        </p:nvSpPr>
        <p:spPr>
          <a:xfrm>
            <a:off x="9848697" y="2702050"/>
            <a:ext cx="148133" cy="219456"/>
          </a:xfrm>
          <a:prstGeom prst="rightArrow">
            <a:avLst/>
          </a:prstGeom>
          <a:solidFill>
            <a:srgbClr val="5A63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10005060" y="1874519"/>
            <a:ext cx="1744980" cy="1874519"/>
          </a:xfrm>
          <a:prstGeom prst="roundRect">
            <a:avLst>
              <a:gd name="adj" fmla="val 5000"/>
            </a:avLst>
          </a:prstGeom>
          <a:solidFill>
            <a:srgbClr val="E18A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78212" y="1947671"/>
            <a:ext cx="365760" cy="3657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E18A1B"/>
                </a:solidFill>
              </a:rPr>
              <a:t>6</a:t>
            </a:r>
          </a:p>
        </p:txBody>
      </p:sp>
      <p:sp>
        <p:nvSpPr>
          <p:cNvPr id="34" name="TextBox 33"/>
          <p:cNvSpPr txBox="1"/>
          <p:nvPr/>
        </p:nvSpPr>
        <p:spPr>
          <a:xfrm>
            <a:off x="10096500" y="2423159"/>
            <a:ext cx="1562100" cy="640080"/>
          </a:xfrm>
          <a:prstGeom prst="rect">
            <a:avLst/>
          </a:prstGeom>
          <a:noFill/>
        </p:spPr>
        <p:txBody>
          <a:bodyPr wrap="square" anchor="t" lIns="45720" rIns="45720" tIns="18288" bIns="18288">
            <a:spAutoFit/>
          </a:bodyPr>
          <a:lstStyle/>
          <a:p>
            <a:pPr algn="l"/>
            <a:r>
              <a:rPr sz="1400" b="1" i="0">
                <a:solidFill>
                  <a:srgbClr val="FFFFFF"/>
                </a:solidFill>
                <a:latin typeface="Calibri"/>
              </a:rPr>
              <a:t>SysML v2
Generation</a:t>
            </a:r>
          </a:p>
        </p:txBody>
      </p:sp>
      <p:sp>
        <p:nvSpPr>
          <p:cNvPr id="35" name="TextBox 34"/>
          <p:cNvSpPr txBox="1"/>
          <p:nvPr/>
        </p:nvSpPr>
        <p:spPr>
          <a:xfrm>
            <a:off x="10096500" y="3108959"/>
            <a:ext cx="1562100" cy="594360"/>
          </a:xfrm>
          <a:prstGeom prst="rect">
            <a:avLst/>
          </a:prstGeom>
          <a:noFill/>
        </p:spPr>
        <p:txBody>
          <a:bodyPr wrap="square" anchor="t" lIns="45720" rIns="45720" tIns="18288" bIns="18288">
            <a:spAutoFit/>
          </a:bodyPr>
          <a:lstStyle/>
          <a:p>
            <a:pPr algn="l"/>
            <a:r>
              <a:rPr sz="1050" b="0" i="0">
                <a:solidFill>
                  <a:srgbClr val="DCE6F0"/>
                </a:solidFill>
                <a:latin typeface="Calibri"/>
              </a:rPr>
              <a:t>Elements →
Scenario diagram</a:t>
            </a:r>
          </a:p>
        </p:txBody>
      </p:sp>
      <p:sp>
        <p:nvSpPr>
          <p:cNvPr id="36" name="Rounded Rectangle 35"/>
          <p:cNvSpPr/>
          <p:nvPr/>
        </p:nvSpPr>
        <p:spPr>
          <a:xfrm>
            <a:off x="457200" y="4160520"/>
            <a:ext cx="11292840" cy="566928"/>
          </a:xfrm>
          <a:prstGeom prst="roundRect">
            <a:avLst>
              <a:gd name="adj" fmla="val 5000"/>
            </a:avLst>
          </a:prstGeom>
          <a:solidFill>
            <a:srgbClr val="FBF2E3"/>
          </a:solidFill>
          <a:ln w="12700">
            <a:solidFill>
              <a:srgbClr val="E18A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0080" y="4197096"/>
            <a:ext cx="10881360" cy="219456"/>
          </a:xfrm>
          <a:prstGeom prst="rect">
            <a:avLst/>
          </a:prstGeom>
          <a:noFill/>
        </p:spPr>
        <p:txBody>
          <a:bodyPr wrap="square" anchor="t" lIns="45720" rIns="45720" tIns="18288" bIns="18288">
            <a:spAutoFit/>
          </a:bodyPr>
          <a:lstStyle/>
          <a:p>
            <a:pPr algn="l"/>
            <a:r>
              <a:rPr sz="1050" b="1" i="0">
                <a:solidFill>
                  <a:srgbClr val="E18A1B"/>
                </a:solidFill>
                <a:latin typeface="Calibri"/>
              </a:rPr>
              <a:t>RUNNING EDGE, ALL SIX STAGES</a:t>
            </a:r>
          </a:p>
        </p:txBody>
      </p:sp>
      <p:sp>
        <p:nvSpPr>
          <p:cNvPr id="38" name="TextBox 37"/>
          <p:cNvSpPr txBox="1"/>
          <p:nvPr/>
        </p:nvSpPr>
        <p:spPr>
          <a:xfrm>
            <a:off x="640080" y="4407408"/>
            <a:ext cx="10881360" cy="292608"/>
          </a:xfrm>
          <a:prstGeom prst="rect">
            <a:avLst/>
          </a:prstGeom>
          <a:noFill/>
        </p:spPr>
        <p:txBody>
          <a:bodyPr wrap="square" anchor="t" lIns="45720" rIns="45720" tIns="18288" bIns="18288">
            <a:spAutoFit/>
          </a:bodyPr>
          <a:lstStyle/>
          <a:p>
            <a:pPr algn="l"/>
            <a:r>
              <a:rPr sz="1300" b="0" i="0">
                <a:solidFill>
                  <a:srgbClr val="222A33"/>
                </a:solidFill>
                <a:latin typeface="Consolas"/>
              </a:rPr>
              <a:t>Synchronization::SynchronizedRunner::runSynchronized   →   Logging::CPSLogger::instance</a:t>
            </a:r>
          </a:p>
        </p:txBody>
      </p:sp>
      <p:sp>
        <p:nvSpPr>
          <p:cNvPr id="39" name="Rounded Rectangle 38"/>
          <p:cNvSpPr/>
          <p:nvPr/>
        </p:nvSpPr>
        <p:spPr>
          <a:xfrm>
            <a:off x="457200" y="4892040"/>
            <a:ext cx="11292840" cy="1417320"/>
          </a:xfrm>
          <a:prstGeom prst="roundRect">
            <a:avLst>
              <a:gd name="adj" fmla="val 5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85800" y="5029200"/>
            <a:ext cx="10881360" cy="1188720"/>
          </a:xfrm>
          <a:prstGeom prst="rect">
            <a:avLst/>
          </a:prstGeom>
          <a:noFill/>
        </p:spPr>
        <p:txBody>
          <a:bodyPr wrap="square" anchor="t" lIns="45720" rIns="45720" tIns="18288" bIns="18288">
            <a:spAutoFit/>
          </a:bodyPr>
          <a:lstStyle/>
          <a:p>
            <a:pPr algn="l">
              <a:spcAft>
                <a:spcPts val="400"/>
              </a:spcAft>
            </a:pPr>
            <a:r>
              <a:rPr sz="1350" b="1" i="0">
                <a:solidFill>
                  <a:srgbClr val="0B2B45"/>
                </a:solidFill>
                <a:latin typeface="Calibri"/>
              </a:rPr>
              <a:t>Two query paths off the same graph:</a:t>
            </a:r>
          </a:p>
          <a:p>
            <a:pPr algn="l"/>
            <a:r>
              <a:rPr sz="1300" b="0" i="0">
                <a:solidFill>
                  <a:srgbClr val="222A33"/>
                </a:solidFill>
                <a:latin typeface="Calibri"/>
              </a:rPr>
              <a:t>Stage 2 (scenario-scoped, 1–6 hops from S1 entry points) produces the static interaction ground truth; Stage 3 (global, all cross-component CppCalls) is what targets Stage 4's instrumentation. Stage 5 fuses the resulting static and dynamic evidence — plus raw code snippets — with an LLM that tags each interaction both / static-only / dynamic-only before Stage 6 renders SysML v2.</a:t>
            </a:r>
          </a:p>
        </p:txBody>
      </p:sp>
      <p:sp>
        <p:nvSpPr>
          <p:cNvPr id="41" name="TextBox 40"/>
          <p:cNvSpPr txBox="1"/>
          <p:nvPr/>
        </p:nvSpPr>
        <p:spPr>
          <a:xfrm>
            <a:off x="365760" y="6519672"/>
            <a:ext cx="8686800" cy="292608"/>
          </a:xfrm>
          <a:prstGeom prst="rect">
            <a:avLst/>
          </a:prstGeom>
          <a:noFill/>
        </p:spPr>
        <p:txBody>
          <a:bodyPr wrap="square" anchor="t" lIns="45720" rIns="45720" tIns="18288" bIns="18288">
            <a:spAutoFit/>
          </a:bodyPr>
          <a:lstStyle/>
          <a:p>
            <a:pPr algn="l"/>
            <a:r>
              <a:rPr sz="900" b="0" i="0">
                <a:solidFill>
                  <a:srgbClr val="5A636E"/>
                </a:solidFill>
                <a:latin typeface="Calibri"/>
              </a:rPr>
              <a:t>The Hybrid Pipeline  ·  Prathik Anand Krishnan  ·  UvA / TNO-ESI</a:t>
            </a:r>
          </a:p>
        </p:txBody>
      </p:sp>
      <p:sp>
        <p:nvSpPr>
          <p:cNvPr id="42" name="TextBox 41"/>
          <p:cNvSpPr txBox="1"/>
          <p:nvPr/>
        </p:nvSpPr>
        <p:spPr>
          <a:xfrm>
            <a:off x="11155680" y="6519672"/>
            <a:ext cx="822960" cy="292608"/>
          </a:xfrm>
          <a:prstGeom prst="rect">
            <a:avLst/>
          </a:prstGeom>
          <a:noFill/>
        </p:spPr>
        <p:txBody>
          <a:bodyPr wrap="square" anchor="t" lIns="45720" rIns="45720" tIns="18288" bIns="18288">
            <a:spAutoFit/>
          </a:bodyPr>
          <a:lstStyle/>
          <a:p>
            <a:pPr algn="r"/>
            <a:r>
              <a:rPr sz="1000" b="0" i="0">
                <a:solidFill>
                  <a:srgbClr val="5A636E"/>
                </a:solidFill>
                <a:latin typeface="Calibr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B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5720"/>
          </a:xfrm>
          <a:prstGeom prst="rect">
            <a:avLst/>
          </a:prstGeom>
          <a:solidFill>
            <a:srgbClr val="E18A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20040"/>
            <a:ext cx="9875520" cy="594360"/>
          </a:xfrm>
          <a:prstGeom prst="rect">
            <a:avLst/>
          </a:prstGeom>
          <a:noFill/>
        </p:spPr>
        <p:txBody>
          <a:bodyPr wrap="square" anchor="t" lIns="45720" rIns="45720" tIns="18288" bIns="18288">
            <a:spAutoFit/>
          </a:bodyPr>
          <a:lstStyle/>
          <a:p>
            <a:pPr algn="l"/>
            <a:r>
              <a:rPr sz="2400" b="1" i="0">
                <a:solidFill>
                  <a:srgbClr val="FFFFFF"/>
                </a:solidFill>
                <a:latin typeface="Calibri"/>
              </a:rPr>
              <a:t>Stage 1 : Static Extraction: C++ → Property Graph</a:t>
            </a:r>
          </a:p>
        </p:txBody>
      </p:sp>
      <p:sp>
        <p:nvSpPr>
          <p:cNvPr id="5" name="Rounded Rectangle 4"/>
          <p:cNvSpPr/>
          <p:nvPr/>
        </p:nvSpPr>
        <p:spPr>
          <a:xfrm>
            <a:off x="10698480" y="292608"/>
            <a:ext cx="1234440" cy="384048"/>
          </a:xfrm>
          <a:prstGeom prst="roundRect">
            <a:avLst>
              <a:gd name="adj" fmla="val 30000"/>
            </a:avLst>
          </a:prstGeom>
          <a:solidFill>
            <a:srgbClr val="1BA19C"/>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a:lstStyle/>
          <a:p>
            <a:pPr algn="ctr"/>
            <a:r>
              <a:rPr sz="1200" b="1">
                <a:solidFill>
                  <a:srgbClr val="FFFFFF"/>
                </a:solidFill>
                <a:latin typeface="Calibri"/>
              </a:rPr>
              <a:t>STAGE 1 / 6</a:t>
            </a:r>
          </a:p>
        </p:txBody>
      </p:sp>
      <p:sp>
        <p:nvSpPr>
          <p:cNvPr id="6" name="Rounded Rectangle 5"/>
          <p:cNvSpPr/>
          <p:nvPr/>
        </p:nvSpPr>
        <p:spPr>
          <a:xfrm>
            <a:off x="457200" y="1143000"/>
            <a:ext cx="11292840" cy="566928"/>
          </a:xfrm>
          <a:prstGeom prst="roundRect">
            <a:avLst>
              <a:gd name="adj" fmla="val 5000"/>
            </a:avLst>
          </a:prstGeom>
          <a:solidFill>
            <a:srgbClr val="FBF2E3"/>
          </a:solidFill>
          <a:ln w="12700">
            <a:solidFill>
              <a:srgbClr val="E18A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179576"/>
            <a:ext cx="10881360" cy="219456"/>
          </a:xfrm>
          <a:prstGeom prst="rect">
            <a:avLst/>
          </a:prstGeom>
          <a:noFill/>
        </p:spPr>
        <p:txBody>
          <a:bodyPr wrap="square" anchor="t" lIns="45720" rIns="45720" tIns="18288" bIns="18288">
            <a:spAutoFit/>
          </a:bodyPr>
          <a:lstStyle/>
          <a:p>
            <a:pPr algn="l"/>
            <a:r>
              <a:rPr sz="1050" b="1" i="0">
                <a:solidFill>
                  <a:srgbClr val="E18A1B"/>
                </a:solidFill>
                <a:latin typeface="Calibri"/>
              </a:rPr>
              <a:t>RUNNING EDGE, ALL SIX STAGES</a:t>
            </a:r>
          </a:p>
        </p:txBody>
      </p:sp>
      <p:sp>
        <p:nvSpPr>
          <p:cNvPr id="8" name="TextBox 7"/>
          <p:cNvSpPr txBox="1"/>
          <p:nvPr/>
        </p:nvSpPr>
        <p:spPr>
          <a:xfrm>
            <a:off x="640080" y="1389888"/>
            <a:ext cx="10881360" cy="292608"/>
          </a:xfrm>
          <a:prstGeom prst="rect">
            <a:avLst/>
          </a:prstGeom>
          <a:noFill/>
        </p:spPr>
        <p:txBody>
          <a:bodyPr wrap="square" anchor="t" lIns="45720" rIns="45720" tIns="18288" bIns="18288">
            <a:spAutoFit/>
          </a:bodyPr>
          <a:lstStyle/>
          <a:p>
            <a:pPr algn="l"/>
            <a:r>
              <a:rPr sz="1300" b="0" i="0">
                <a:solidFill>
                  <a:srgbClr val="222A33"/>
                </a:solidFill>
                <a:latin typeface="Consolas"/>
              </a:rPr>
              <a:t>Synchronization::SynchronizedRunner::runSynchronized   →   Logging::CPSLogger::instance</a:t>
            </a:r>
          </a:p>
        </p:txBody>
      </p:sp>
      <p:sp>
        <p:nvSpPr>
          <p:cNvPr id="9" name="TextBox 8"/>
          <p:cNvSpPr txBox="1"/>
          <p:nvPr/>
        </p:nvSpPr>
        <p:spPr>
          <a:xfrm>
            <a:off x="457200" y="1847088"/>
            <a:ext cx="11247120" cy="640080"/>
          </a:xfrm>
          <a:prstGeom prst="rect">
            <a:avLst/>
          </a:prstGeom>
          <a:noFill/>
        </p:spPr>
        <p:txBody>
          <a:bodyPr wrap="square" anchor="t" lIns="45720" rIns="45720" tIns="18288" bIns="18288">
            <a:spAutoFit/>
          </a:bodyPr>
          <a:lstStyle/>
          <a:p>
            <a:pPr algn="l"/>
            <a:r>
              <a:rPr sz="1450" b="0" i="0">
                <a:solidFill>
                  <a:srgbClr val="222A33"/>
                </a:solidFill>
                <a:latin typeface="Calibri"/>
              </a:rPr>
              <a:t>Renaissance tool parses the whole cpsCore codebase into a Neo4j property graph: one node per declaration, definition, header, source file and folder. One edge per CppCalls / CppContains / CppUses / Include / Source / ParentFolder relationship.</a:t>
            </a:r>
          </a:p>
        </p:txBody>
      </p:sp>
      <p:sp>
        <p:nvSpPr>
          <p:cNvPr id="10" name="Rounded Rectangle 9"/>
          <p:cNvSpPr/>
          <p:nvPr/>
        </p:nvSpPr>
        <p:spPr>
          <a:xfrm>
            <a:off x="457200" y="2624328"/>
            <a:ext cx="2377440" cy="777240"/>
          </a:xfrm>
          <a:prstGeom prst="roundRect">
            <a:avLst>
              <a:gd name="adj" fmla="val 5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2697480"/>
            <a:ext cx="2103120" cy="320040"/>
          </a:xfrm>
          <a:prstGeom prst="rect">
            <a:avLst/>
          </a:prstGeom>
          <a:noFill/>
        </p:spPr>
        <p:txBody>
          <a:bodyPr wrap="square" anchor="t" lIns="45720" rIns="45720" tIns="18288" bIns="18288">
            <a:spAutoFit/>
          </a:bodyPr>
          <a:lstStyle/>
          <a:p>
            <a:pPr algn="l"/>
            <a:r>
              <a:rPr sz="2200" b="1" i="0">
                <a:solidFill>
                  <a:srgbClr val="1F6FB2"/>
                </a:solidFill>
                <a:latin typeface="Calibri"/>
              </a:rPr>
              <a:t>67,104</a:t>
            </a:r>
          </a:p>
        </p:txBody>
      </p:sp>
      <p:sp>
        <p:nvSpPr>
          <p:cNvPr id="12" name="TextBox 11"/>
          <p:cNvSpPr txBox="1"/>
          <p:nvPr/>
        </p:nvSpPr>
        <p:spPr>
          <a:xfrm>
            <a:off x="594360" y="3081528"/>
            <a:ext cx="2103120" cy="274320"/>
          </a:xfrm>
          <a:prstGeom prst="rect">
            <a:avLst/>
          </a:prstGeom>
          <a:noFill/>
        </p:spPr>
        <p:txBody>
          <a:bodyPr wrap="square" anchor="t" lIns="45720" rIns="45720" tIns="18288" bIns="18288">
            <a:spAutoFit/>
          </a:bodyPr>
          <a:lstStyle/>
          <a:p>
            <a:pPr algn="l"/>
            <a:r>
              <a:rPr sz="1150" b="0" i="0">
                <a:solidFill>
                  <a:srgbClr val="5A636E"/>
                </a:solidFill>
                <a:latin typeface="Calibri"/>
              </a:rPr>
              <a:t>nodes in the property graph</a:t>
            </a:r>
          </a:p>
        </p:txBody>
      </p:sp>
      <p:sp>
        <p:nvSpPr>
          <p:cNvPr id="13" name="Rounded Rectangle 12"/>
          <p:cNvSpPr/>
          <p:nvPr/>
        </p:nvSpPr>
        <p:spPr>
          <a:xfrm>
            <a:off x="3017520" y="2624328"/>
            <a:ext cx="8732520" cy="1965960"/>
          </a:xfrm>
          <a:prstGeom prst="roundRect">
            <a:avLst>
              <a:gd name="adj" fmla="val 5000"/>
            </a:avLst>
          </a:prstGeom>
          <a:solidFill>
            <a:srgbClr val="1B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182112" y="2752344"/>
            <a:ext cx="8403336" cy="1709928"/>
          </a:xfrm>
          <a:prstGeom prst="rect">
            <a:avLst/>
          </a:prstGeom>
          <a:noFill/>
        </p:spPr>
        <p:txBody>
          <a:bodyPr wrap="square">
            <a:spAutoFit/>
          </a:bodyPr>
          <a:lstStyle/>
          <a:p>
            <a:pPr>
              <a:spcAft>
                <a:spcPts val="100"/>
              </a:spcAft>
            </a:pPr>
            <a:r>
              <a:rPr sz="1300" b="0">
                <a:solidFill>
                  <a:srgbClr val="E8E8E8"/>
                </a:solidFill>
                <a:latin typeface="Consolas"/>
              </a:rPr>
              <a:t>type=CppCalls</a:t>
            </a:r>
          </a:p>
          <a:p>
            <a:pPr>
              <a:spcAft>
                <a:spcPts val="100"/>
              </a:spcAft>
            </a:pPr>
            <a:r>
              <a:rPr sz="1300" b="0">
                <a:solidFill>
                  <a:srgbClr val="E8E8E8"/>
                </a:solidFill>
                <a:latin typeface="Consolas"/>
              </a:rPr>
              <a:t>source=cpp_funcdef//src/Synchronization/SynchronizedRunner.cpp/</a:t>
            </a:r>
          </a:p>
          <a:p>
            <a:pPr>
              <a:spcAft>
                <a:spcPts val="100"/>
              </a:spcAft>
            </a:pPr>
            <a:r>
              <a:rPr sz="1300" b="0">
                <a:solidFill>
                  <a:srgbClr val="E8E8E8"/>
                </a:solidFill>
                <a:latin typeface="Consolas"/>
              </a:rPr>
              <a:t>        SynchronizedRunner.runSynchronized</a:t>
            </a:r>
          </a:p>
          <a:p>
            <a:pPr>
              <a:spcAft>
                <a:spcPts val="100"/>
              </a:spcAft>
            </a:pPr>
            <a:r>
              <a:rPr sz="1300" b="0">
                <a:solidFill>
                  <a:srgbClr val="E8E8E8"/>
                </a:solidFill>
                <a:latin typeface="Consolas"/>
              </a:rPr>
              <a:t>target=cpp_funcdec//include/cpsCore/Logging/CPSLogger.h/CPSLogger.instance</a:t>
            </a:r>
          </a:p>
          <a:p>
            <a:pPr>
              <a:spcAft>
                <a:spcPts val="100"/>
              </a:spcAft>
            </a:pPr>
            <a:r>
              <a:rPr sz="1300" b="0">
                <a:solidFill>
                  <a:srgbClr val="E8E8E8"/>
                </a:solidFill>
                <a:latin typeface="Consolas"/>
              </a:rPr>
              <a:t> </a:t>
            </a:r>
          </a:p>
          <a:p>
            <a:pPr>
              <a:spcAft>
                <a:spcPts val="100"/>
              </a:spcAft>
            </a:pPr>
            <a:r>
              <a:rPr sz="1300" b="0">
                <a:solidFill>
                  <a:srgbClr val="E8E8E8"/>
                </a:solidFill>
                <a:latin typeface="Consolas"/>
              </a:rPr>
              <a:t># sibling edge, same call site, different target:</a:t>
            </a:r>
          </a:p>
          <a:p>
            <a:pPr>
              <a:spcAft>
                <a:spcPts val="100"/>
              </a:spcAft>
            </a:pPr>
            <a:r>
              <a:rPr sz="1300" b="0">
                <a:solidFill>
                  <a:srgbClr val="E8E8E8"/>
                </a:solidFill>
                <a:latin typeface="Consolas"/>
              </a:rPr>
              <a:t>type=CppCalls  ...  target=.../CPSLogger.h/CPSLogger.flush</a:t>
            </a:r>
          </a:p>
        </p:txBody>
      </p:sp>
      <p:sp>
        <p:nvSpPr>
          <p:cNvPr id="15" name="TextBox 14"/>
          <p:cNvSpPr txBox="1"/>
          <p:nvPr/>
        </p:nvSpPr>
        <p:spPr>
          <a:xfrm>
            <a:off x="457200" y="3584448"/>
            <a:ext cx="2377440" cy="1005840"/>
          </a:xfrm>
          <a:prstGeom prst="rect">
            <a:avLst/>
          </a:prstGeom>
          <a:noFill/>
        </p:spPr>
        <p:txBody>
          <a:bodyPr wrap="square" anchor="t" lIns="45720" rIns="45720" tIns="18288" bIns="18288">
            <a:spAutoFit/>
          </a:bodyPr>
          <a:lstStyle/>
          <a:p>
            <a:pPr algn="l"/>
            <a:r>
              <a:rPr sz="1150" b="0" i="1">
                <a:solidFill>
                  <a:srgbClr val="5A636E"/>
                </a:solidFill>
                <a:latin typeface="Calibri"/>
              </a:rPr>
              <a:t>Nothing scenario-specific has happened yet.</a:t>
            </a:r>
          </a:p>
        </p:txBody>
      </p:sp>
      <p:sp>
        <p:nvSpPr>
          <p:cNvPr id="16" name="TextBox 15"/>
          <p:cNvSpPr txBox="1"/>
          <p:nvPr/>
        </p:nvSpPr>
        <p:spPr>
          <a:xfrm>
            <a:off x="457200" y="4818888"/>
            <a:ext cx="11247120" cy="822960"/>
          </a:xfrm>
          <a:prstGeom prst="rect">
            <a:avLst/>
          </a:prstGeom>
          <a:noFill/>
        </p:spPr>
        <p:txBody>
          <a:bodyPr wrap="square" anchor="t" lIns="45720" rIns="45720" tIns="18288" bIns="18288">
            <a:spAutoFit/>
          </a:bodyPr>
          <a:lstStyle/>
          <a:p>
            <a:pPr algn="l"/>
            <a:r>
              <a:rPr sz="1300" b="0" i="0">
                <a:solidFill>
                  <a:srgbClr val="222A33"/>
                </a:solidFill>
                <a:latin typeface="Calibri"/>
              </a:rPr>
              <a:t>Our running edge exists as a raw CppCalls relationship between two function nodes, with a near-identical sibling edge to CPSLogger.flush — both fired from the exact same C++ statement. Stage 2 is what carves S1 out of the other 67k nodes.</a:t>
            </a:r>
          </a:p>
        </p:txBody>
      </p:sp>
      <p:sp>
        <p:nvSpPr>
          <p:cNvPr id="17" name="TextBox 16"/>
          <p:cNvSpPr txBox="1"/>
          <p:nvPr/>
        </p:nvSpPr>
        <p:spPr>
          <a:xfrm>
            <a:off x="365760" y="6519672"/>
            <a:ext cx="8686800" cy="292608"/>
          </a:xfrm>
          <a:prstGeom prst="rect">
            <a:avLst/>
          </a:prstGeom>
          <a:noFill/>
        </p:spPr>
        <p:txBody>
          <a:bodyPr wrap="square" anchor="t" lIns="45720" rIns="45720" tIns="18288" bIns="18288">
            <a:spAutoFit/>
          </a:bodyPr>
          <a:lstStyle/>
          <a:p>
            <a:pPr algn="l"/>
            <a:r>
              <a:rPr sz="900" b="0" i="0">
                <a:solidFill>
                  <a:srgbClr val="5A636E"/>
                </a:solidFill>
                <a:latin typeface="Calibri"/>
              </a:rPr>
              <a:t>The Hybrid Pipeline  ·  Prathik Anand Krishnan  ·  UvA / TNO-ESI</a:t>
            </a:r>
          </a:p>
        </p:txBody>
      </p:sp>
      <p:sp>
        <p:nvSpPr>
          <p:cNvPr id="18" name="TextBox 17"/>
          <p:cNvSpPr txBox="1"/>
          <p:nvPr/>
        </p:nvSpPr>
        <p:spPr>
          <a:xfrm>
            <a:off x="11155680" y="6519672"/>
            <a:ext cx="822960" cy="292608"/>
          </a:xfrm>
          <a:prstGeom prst="rect">
            <a:avLst/>
          </a:prstGeom>
          <a:noFill/>
        </p:spPr>
        <p:txBody>
          <a:bodyPr wrap="square" anchor="t" lIns="45720" rIns="45720" tIns="18288" bIns="18288">
            <a:spAutoFit/>
          </a:bodyPr>
          <a:lstStyle/>
          <a:p>
            <a:pPr algn="r"/>
            <a:r>
              <a:rPr sz="1000" b="0" i="0">
                <a:solidFill>
                  <a:srgbClr val="5A636E"/>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B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5720"/>
          </a:xfrm>
          <a:prstGeom prst="rect">
            <a:avLst/>
          </a:prstGeom>
          <a:solidFill>
            <a:srgbClr val="E18A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20040"/>
            <a:ext cx="9875520" cy="594360"/>
          </a:xfrm>
          <a:prstGeom prst="rect">
            <a:avLst/>
          </a:prstGeom>
          <a:noFill/>
        </p:spPr>
        <p:txBody>
          <a:bodyPr wrap="square" anchor="t" lIns="45720" rIns="45720" tIns="18288" bIns="18288">
            <a:spAutoFit/>
          </a:bodyPr>
          <a:lstStyle/>
          <a:p>
            <a:pPr algn="l"/>
            <a:r>
              <a:rPr sz="2400" b="1" i="0">
                <a:solidFill>
                  <a:srgbClr val="FFFFFF"/>
                </a:solidFill>
                <a:latin typeface="Calibri"/>
              </a:rPr>
              <a:t>Stage 2 : Scenario Specific Code Graph Query: Property Graph → S1 Subgraph</a:t>
            </a:r>
          </a:p>
        </p:txBody>
      </p:sp>
      <p:sp>
        <p:nvSpPr>
          <p:cNvPr id="5" name="Rounded Rectangle 4"/>
          <p:cNvSpPr/>
          <p:nvPr/>
        </p:nvSpPr>
        <p:spPr>
          <a:xfrm>
            <a:off x="10698480" y="292608"/>
            <a:ext cx="1234440" cy="384048"/>
          </a:xfrm>
          <a:prstGeom prst="roundRect">
            <a:avLst>
              <a:gd name="adj" fmla="val 30000"/>
            </a:avLst>
          </a:prstGeom>
          <a:solidFill>
            <a:srgbClr val="1BA19C"/>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a:lstStyle/>
          <a:p>
            <a:pPr algn="ctr"/>
            <a:r>
              <a:rPr sz="1200" b="1">
                <a:solidFill>
                  <a:srgbClr val="FFFFFF"/>
                </a:solidFill>
                <a:latin typeface="Calibri"/>
              </a:rPr>
              <a:t>STAGE 2 / 6</a:t>
            </a:r>
          </a:p>
        </p:txBody>
      </p:sp>
      <p:sp>
        <p:nvSpPr>
          <p:cNvPr id="6" name="Rounded Rectangle 5"/>
          <p:cNvSpPr/>
          <p:nvPr/>
        </p:nvSpPr>
        <p:spPr>
          <a:xfrm>
            <a:off x="457200" y="1143000"/>
            <a:ext cx="11292840" cy="566928"/>
          </a:xfrm>
          <a:prstGeom prst="roundRect">
            <a:avLst>
              <a:gd name="adj" fmla="val 5000"/>
            </a:avLst>
          </a:prstGeom>
          <a:solidFill>
            <a:srgbClr val="FBF2E3"/>
          </a:solidFill>
          <a:ln w="12700">
            <a:solidFill>
              <a:srgbClr val="E18A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179576"/>
            <a:ext cx="10881360" cy="219456"/>
          </a:xfrm>
          <a:prstGeom prst="rect">
            <a:avLst/>
          </a:prstGeom>
          <a:noFill/>
        </p:spPr>
        <p:txBody>
          <a:bodyPr wrap="square" anchor="t" lIns="45720" rIns="45720" tIns="18288" bIns="18288">
            <a:spAutoFit/>
          </a:bodyPr>
          <a:lstStyle/>
          <a:p>
            <a:pPr algn="l"/>
            <a:r>
              <a:rPr sz="1050" b="1" i="0">
                <a:solidFill>
                  <a:srgbClr val="E18A1B"/>
                </a:solidFill>
                <a:latin typeface="Calibri"/>
              </a:rPr>
              <a:t>RUNNING EDGE, ALL SIX STAGES</a:t>
            </a:r>
          </a:p>
        </p:txBody>
      </p:sp>
      <p:sp>
        <p:nvSpPr>
          <p:cNvPr id="8" name="TextBox 7"/>
          <p:cNvSpPr txBox="1"/>
          <p:nvPr/>
        </p:nvSpPr>
        <p:spPr>
          <a:xfrm>
            <a:off x="640080" y="1389888"/>
            <a:ext cx="10881360" cy="292608"/>
          </a:xfrm>
          <a:prstGeom prst="rect">
            <a:avLst/>
          </a:prstGeom>
          <a:noFill/>
        </p:spPr>
        <p:txBody>
          <a:bodyPr wrap="square" anchor="t" lIns="45720" rIns="45720" tIns="18288" bIns="18288">
            <a:spAutoFit/>
          </a:bodyPr>
          <a:lstStyle/>
          <a:p>
            <a:pPr algn="l"/>
            <a:r>
              <a:rPr sz="1300" b="0" i="0">
                <a:solidFill>
                  <a:srgbClr val="222A33"/>
                </a:solidFill>
                <a:latin typeface="Consolas"/>
              </a:rPr>
              <a:t>Synchronization::SynchronizedRunner::runSynchronized   →   Logging::CPSLogger::instance</a:t>
            </a:r>
          </a:p>
        </p:txBody>
      </p:sp>
      <p:sp>
        <p:nvSpPr>
          <p:cNvPr id="9" name="TextBox 8"/>
          <p:cNvSpPr txBox="1"/>
          <p:nvPr/>
        </p:nvSpPr>
        <p:spPr>
          <a:xfrm>
            <a:off x="457200" y="1847088"/>
            <a:ext cx="11247120" cy="914400"/>
          </a:xfrm>
          <a:prstGeom prst="rect">
            <a:avLst/>
          </a:prstGeom>
          <a:noFill/>
        </p:spPr>
        <p:txBody>
          <a:bodyPr wrap="square" anchor="t" lIns="45720" rIns="45720" tIns="18288" bIns="18288">
            <a:spAutoFit/>
          </a:bodyPr>
          <a:lstStyle/>
          <a:p>
            <a:pPr algn="l"/>
            <a:r>
              <a:rPr sz="1350" b="0" i="0">
                <a:solidFill>
                  <a:srgbClr val="222A33"/>
                </a:solidFill>
                <a:latin typeface="Calibri"/>
              </a:rPr>
              <a:t>User text: S1 scenario → Cypher query via text-to-cypher (schema-aware, built on get-neo4j-schema) → cypher-to-output skill then executes that query against the live graph, returning the S1-scoped subgraph. The get-sequence-dependency-table skill flattens the graph into sequence_dependency_table.csv: one row per edge, via a direct Cypher query with file paths standing in for components. This is the static ground truth.</a:t>
            </a:r>
          </a:p>
        </p:txBody>
      </p:sp>
      <p:sp>
        <p:nvSpPr>
          <p:cNvPr id="10" name="Rounded Rectangle 9"/>
          <p:cNvSpPr/>
          <p:nvPr/>
        </p:nvSpPr>
        <p:spPr>
          <a:xfrm>
            <a:off x="457200" y="2852928"/>
            <a:ext cx="11292840" cy="2286000"/>
          </a:xfrm>
          <a:prstGeom prst="roundRect">
            <a:avLst>
              <a:gd name="adj" fmla="val 5000"/>
            </a:avLst>
          </a:prstGeom>
          <a:solidFill>
            <a:srgbClr val="1B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2980944"/>
            <a:ext cx="10963656" cy="2029968"/>
          </a:xfrm>
          <a:prstGeom prst="rect">
            <a:avLst/>
          </a:prstGeom>
          <a:noFill/>
        </p:spPr>
        <p:txBody>
          <a:bodyPr wrap="square">
            <a:spAutoFit/>
          </a:bodyPr>
          <a:lstStyle/>
          <a:p>
            <a:pPr>
              <a:spcAft>
                <a:spcPts val="100"/>
              </a:spcAft>
            </a:pPr>
            <a:r>
              <a:rPr sz="1400" b="0">
                <a:solidFill>
                  <a:srgbClr val="E8E8E8"/>
                </a:solidFill>
                <a:latin typeface="Consolas"/>
              </a:rPr>
              <a:t>// scoped to S1: Synchronization / Aggregation / Logging</a:t>
            </a:r>
          </a:p>
          <a:p>
            <a:pPr>
              <a:spcAft>
                <a:spcPts val="100"/>
              </a:spcAft>
            </a:pPr>
            <a:r>
              <a:rPr sz="1400" b="0">
                <a:solidFill>
                  <a:srgbClr val="E8E8E8"/>
                </a:solidFill>
                <a:latin typeface="Consolas"/>
              </a:rPr>
              <a:t>MATCH (caller)-[:CppCalls]-&gt;(callee)</a:t>
            </a:r>
          </a:p>
          <a:p>
            <a:pPr>
              <a:spcAft>
                <a:spcPts val="100"/>
              </a:spcAft>
            </a:pPr>
            <a:r>
              <a:rPr sz="1400" b="0">
                <a:solidFill>
                  <a:srgbClr val="E8E8E8"/>
                </a:solidFill>
                <a:latin typeface="Consolas"/>
              </a:rPr>
              <a:t>WHERE (caller.name CONTAINS '/src/Synchronization/'</a:t>
            </a:r>
          </a:p>
          <a:p>
            <a:pPr>
              <a:spcAft>
                <a:spcPts val="100"/>
              </a:spcAft>
            </a:pPr>
            <a:r>
              <a:rPr sz="1400" b="0">
                <a:solidFill>
                  <a:srgbClr val="E8E8E8"/>
                </a:solidFill>
                <a:latin typeface="Consolas"/>
              </a:rPr>
              <a:t>    OR caller.name CONTAINS '/include/cpsCore/Synchronization/')</a:t>
            </a:r>
          </a:p>
          <a:p>
            <a:pPr>
              <a:spcAft>
                <a:spcPts val="100"/>
              </a:spcAft>
            </a:pPr>
            <a:r>
              <a:rPr sz="1400" b="0">
                <a:solidFill>
                  <a:srgbClr val="E8E8E8"/>
                </a:solidFill>
                <a:latin typeface="Consolas"/>
              </a:rPr>
              <a:t>  AND (callee.name CONTAINS '/Aggregation/' OR callee.name CONTAINS '/Logging/')</a:t>
            </a:r>
          </a:p>
          <a:p>
            <a:pPr>
              <a:spcAft>
                <a:spcPts val="100"/>
              </a:spcAft>
            </a:pPr>
            <a:r>
              <a:rPr sz="1400" b="0">
                <a:solidFill>
                  <a:srgbClr val="E8E8E8"/>
                </a:solidFill>
                <a:latin typeface="Consolas"/>
              </a:rPr>
              <a:t>RETURN DISTINCT</a:t>
            </a:r>
          </a:p>
          <a:p>
            <a:pPr>
              <a:spcAft>
                <a:spcPts val="100"/>
              </a:spcAft>
            </a:pPr>
            <a:r>
              <a:rPr sz="1400" b="0">
                <a:solidFill>
                  <a:srgbClr val="E8E8E8"/>
                </a:solidFill>
                <a:latin typeface="Consolas"/>
              </a:rPr>
              <a:t>    caller.name AS callerName, caller.symbol AS callerSymbol,</a:t>
            </a:r>
          </a:p>
          <a:p>
            <a:pPr>
              <a:spcAft>
                <a:spcPts val="100"/>
              </a:spcAft>
            </a:pPr>
            <a:r>
              <a:rPr sz="1400" b="0">
                <a:solidFill>
                  <a:srgbClr val="E8E8E8"/>
                </a:solidFill>
                <a:latin typeface="Consolas"/>
              </a:rPr>
              <a:t>    callee.name AS calleeName, callee.symbol AS calleeSymbol</a:t>
            </a:r>
          </a:p>
        </p:txBody>
      </p:sp>
      <p:sp>
        <p:nvSpPr>
          <p:cNvPr id="12" name="TextBox 11"/>
          <p:cNvSpPr txBox="1"/>
          <p:nvPr/>
        </p:nvSpPr>
        <p:spPr>
          <a:xfrm>
            <a:off x="457200" y="5276088"/>
            <a:ext cx="11247120" cy="548640"/>
          </a:xfrm>
          <a:prstGeom prst="rect">
            <a:avLst/>
          </a:prstGeom>
          <a:noFill/>
        </p:spPr>
        <p:txBody>
          <a:bodyPr wrap="square" anchor="t" lIns="45720" rIns="45720" tIns="18288" bIns="18288">
            <a:spAutoFit/>
          </a:bodyPr>
          <a:lstStyle/>
          <a:p>
            <a:pPr algn="l"/>
            <a:r>
              <a:rPr sz="1300" b="0" i="0">
                <a:solidFill>
                  <a:srgbClr val="222A33"/>
                </a:solidFill>
                <a:latin typeface="Calibri"/>
              </a:rPr>
              <a:t>Our running edge survives the filter — SynchronizedRunner.cpp is under /src/Synchronization/, CPSLogger.h is under /include/cpsCore/Logging/</a:t>
            </a:r>
          </a:p>
        </p:txBody>
      </p:sp>
      <p:sp>
        <p:nvSpPr>
          <p:cNvPr id="13" name="TextBox 12"/>
          <p:cNvSpPr txBox="1"/>
          <p:nvPr/>
        </p:nvSpPr>
        <p:spPr>
          <a:xfrm>
            <a:off x="365760" y="6519672"/>
            <a:ext cx="8686800" cy="292608"/>
          </a:xfrm>
          <a:prstGeom prst="rect">
            <a:avLst/>
          </a:prstGeom>
          <a:noFill/>
        </p:spPr>
        <p:txBody>
          <a:bodyPr wrap="square" anchor="t" lIns="45720" rIns="45720" tIns="18288" bIns="18288">
            <a:spAutoFit/>
          </a:bodyPr>
          <a:lstStyle/>
          <a:p>
            <a:pPr algn="l"/>
            <a:r>
              <a:rPr sz="900" b="0" i="0">
                <a:solidFill>
                  <a:srgbClr val="5A636E"/>
                </a:solidFill>
                <a:latin typeface="Calibri"/>
              </a:rPr>
              <a:t>The Hybrid Pipeline  ·  Prathik Anand Krishnan  ·  UvA / TNO-ESI</a:t>
            </a:r>
          </a:p>
        </p:txBody>
      </p:sp>
      <p:sp>
        <p:nvSpPr>
          <p:cNvPr id="14" name="TextBox 13"/>
          <p:cNvSpPr txBox="1"/>
          <p:nvPr/>
        </p:nvSpPr>
        <p:spPr>
          <a:xfrm>
            <a:off x="11155680" y="6519672"/>
            <a:ext cx="822960" cy="292608"/>
          </a:xfrm>
          <a:prstGeom prst="rect">
            <a:avLst/>
          </a:prstGeom>
          <a:noFill/>
        </p:spPr>
        <p:txBody>
          <a:bodyPr wrap="square" anchor="t" lIns="45720" rIns="45720" tIns="18288" bIns="18288">
            <a:spAutoFit/>
          </a:bodyPr>
          <a:lstStyle/>
          <a:p>
            <a:pPr algn="r"/>
            <a:r>
              <a:rPr sz="1000" b="0" i="0">
                <a:solidFill>
                  <a:srgbClr val="5A636E"/>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B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5720"/>
          </a:xfrm>
          <a:prstGeom prst="rect">
            <a:avLst/>
          </a:prstGeom>
          <a:solidFill>
            <a:srgbClr val="E18A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20040"/>
            <a:ext cx="9875520" cy="594360"/>
          </a:xfrm>
          <a:prstGeom prst="rect">
            <a:avLst/>
          </a:prstGeom>
          <a:noFill/>
        </p:spPr>
        <p:txBody>
          <a:bodyPr wrap="square" anchor="t" lIns="45720" rIns="45720" tIns="18288" bIns="18288">
            <a:spAutoFit/>
          </a:bodyPr>
          <a:lstStyle/>
          <a:p>
            <a:pPr algn="l"/>
            <a:r>
              <a:rPr sz="2400" b="1" i="0">
                <a:solidFill>
                  <a:srgbClr val="FFFFFF"/>
                </a:solidFill>
                <a:latin typeface="Calibri"/>
              </a:rPr>
              <a:t>Stage 3 : Global Code Graph Query: Property Graph → Global Trace Subgraph</a:t>
            </a:r>
          </a:p>
        </p:txBody>
      </p:sp>
      <p:sp>
        <p:nvSpPr>
          <p:cNvPr id="5" name="Rounded Rectangle 4"/>
          <p:cNvSpPr/>
          <p:nvPr/>
        </p:nvSpPr>
        <p:spPr>
          <a:xfrm>
            <a:off x="10698480" y="292608"/>
            <a:ext cx="1234440" cy="384048"/>
          </a:xfrm>
          <a:prstGeom prst="roundRect">
            <a:avLst>
              <a:gd name="adj" fmla="val 30000"/>
            </a:avLst>
          </a:prstGeom>
          <a:solidFill>
            <a:srgbClr val="1BA19C"/>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a:lstStyle/>
          <a:p>
            <a:pPr algn="ctr"/>
            <a:r>
              <a:rPr sz="1200" b="1">
                <a:solidFill>
                  <a:srgbClr val="FFFFFF"/>
                </a:solidFill>
                <a:latin typeface="Calibri"/>
              </a:rPr>
              <a:t>STAGE 3 / 6</a:t>
            </a:r>
          </a:p>
        </p:txBody>
      </p:sp>
      <p:sp>
        <p:nvSpPr>
          <p:cNvPr id="6" name="TextBox 5"/>
          <p:cNvSpPr txBox="1"/>
          <p:nvPr/>
        </p:nvSpPr>
        <p:spPr>
          <a:xfrm>
            <a:off x="457200" y="1143000"/>
            <a:ext cx="11247120" cy="548640"/>
          </a:xfrm>
          <a:prstGeom prst="rect">
            <a:avLst/>
          </a:prstGeom>
          <a:noFill/>
        </p:spPr>
        <p:txBody>
          <a:bodyPr wrap="square" anchor="t" lIns="45720" rIns="45720" tIns="18288" bIns="18288">
            <a:spAutoFit/>
          </a:bodyPr>
          <a:lstStyle/>
          <a:p>
            <a:pPr algn="l"/>
            <a:r>
              <a:rPr sz="1400" b="0" i="0">
                <a:solidFill>
                  <a:srgbClr val="222A33"/>
                </a:solidFill>
                <a:latin typeface="Calibri"/>
              </a:rPr>
              <a:t>User text: Global query → Cypher query via text-to-cypher (schema-aware, built on get-neo4j-schema) → cypher-to-output skill then executes that query against the live graph, returning the Global-scoped subgraph.</a:t>
            </a:r>
          </a:p>
        </p:txBody>
      </p:sp>
      <p:graphicFrame>
        <p:nvGraphicFramePr>
          <p:cNvPr id="7" name="Table 6"/>
          <p:cNvGraphicFramePr>
            <a:graphicFrameLocks noGrp="1"/>
          </p:cNvGraphicFramePr>
          <p:nvPr/>
        </p:nvGraphicFramePr>
        <p:xfrm>
          <a:off x="457200" y="1874519"/>
          <a:ext cx="11292839" cy="2852928"/>
        </p:xfrm>
        <a:graphic>
          <a:graphicData uri="http://schemas.openxmlformats.org/drawingml/2006/table">
            <a:tbl>
              <a:tblPr bandRow="1">
                <a:tableStyleId>{5C22544A-7EE6-4342-B048-85BDC9FD1C3A}</a:tableStyleId>
              </a:tblPr>
              <a:tblGrid>
                <a:gridCol w="761315"/>
                <a:gridCol w="1395744"/>
                <a:gridCol w="2918374"/>
                <a:gridCol w="2410831"/>
                <a:gridCol w="2410831"/>
                <a:gridCol w="1395744"/>
              </a:tblGrid>
              <a:tr h="475488">
                <a:tc>
                  <a:txBody>
                    <a:bodyPr wrap="square"/>
                    <a:lstStyle/>
                    <a:p>
                      <a:pPr algn="l"/>
                      <a:r>
                        <a:rPr sz="1300" b="1">
                          <a:solidFill>
                            <a:srgbClr val="FFFFFF"/>
                          </a:solidFill>
                          <a:latin typeface="Calibri"/>
                        </a:rPr>
                        <a:t>Seq</a:t>
                      </a:r>
                    </a:p>
                  </a:txBody>
                  <a:tcPr marL="73152" marR="73152" marT="18288" marB="18288" anchor="ctr">
                    <a:solidFill>
                      <a:srgbClr val="0B2B45"/>
                    </a:solidFill>
                  </a:tcPr>
                </a:tc>
                <a:tc>
                  <a:txBody>
                    <a:bodyPr wrap="square"/>
                    <a:lstStyle/>
                    <a:p>
                      <a:pPr algn="ctr"/>
                      <a:r>
                        <a:rPr sz="1300" b="1">
                          <a:solidFill>
                            <a:srgbClr val="FFFFFF"/>
                          </a:solidFill>
                          <a:latin typeface="Calibri"/>
                        </a:rPr>
                        <a:t>Event</a:t>
                      </a:r>
                    </a:p>
                  </a:txBody>
                  <a:tcPr marL="73152" marR="73152" marT="18288" marB="18288" anchor="ctr">
                    <a:solidFill>
                      <a:srgbClr val="0B2B45"/>
                    </a:solidFill>
                  </a:tcPr>
                </a:tc>
                <a:tc>
                  <a:txBody>
                    <a:bodyPr wrap="square"/>
                    <a:lstStyle/>
                    <a:p>
                      <a:pPr algn="ctr"/>
                      <a:r>
                        <a:rPr sz="1300" b="1">
                          <a:solidFill>
                            <a:srgbClr val="FFFFFF"/>
                          </a:solidFill>
                          <a:latin typeface="Calibri"/>
                        </a:rPr>
                        <a:t>Client file</a:t>
                      </a:r>
                    </a:p>
                  </a:txBody>
                  <a:tcPr marL="73152" marR="73152" marT="18288" marB="18288" anchor="ctr">
                    <a:solidFill>
                      <a:srgbClr val="0B2B45"/>
                    </a:solidFill>
                  </a:tcPr>
                </a:tc>
                <a:tc>
                  <a:txBody>
                    <a:bodyPr wrap="square"/>
                    <a:lstStyle/>
                    <a:p>
                      <a:pPr algn="ctr"/>
                      <a:r>
                        <a:rPr sz="1300" b="1">
                          <a:solidFill>
                            <a:srgbClr val="FFFFFF"/>
                          </a:solidFill>
                          <a:latin typeface="Calibri"/>
                        </a:rPr>
                        <a:t>Client fn</a:t>
                      </a:r>
                    </a:p>
                  </a:txBody>
                  <a:tcPr marL="73152" marR="73152" marT="18288" marB="18288" anchor="ctr">
                    <a:solidFill>
                      <a:srgbClr val="0B2B45"/>
                    </a:solidFill>
                  </a:tcPr>
                </a:tc>
                <a:tc>
                  <a:txBody>
                    <a:bodyPr wrap="square"/>
                    <a:lstStyle/>
                    <a:p>
                      <a:pPr algn="ctr"/>
                      <a:r>
                        <a:rPr sz="1300" b="1">
                          <a:solidFill>
                            <a:srgbClr val="FFFFFF"/>
                          </a:solidFill>
                          <a:latin typeface="Calibri"/>
                        </a:rPr>
                        <a:t>Server file</a:t>
                      </a:r>
                    </a:p>
                  </a:txBody>
                  <a:tcPr marL="73152" marR="73152" marT="18288" marB="18288" anchor="ctr">
                    <a:solidFill>
                      <a:srgbClr val="0B2B45"/>
                    </a:solidFill>
                  </a:tcPr>
                </a:tc>
                <a:tc>
                  <a:txBody>
                    <a:bodyPr wrap="square"/>
                    <a:lstStyle/>
                    <a:p>
                      <a:pPr algn="ctr"/>
                      <a:r>
                        <a:rPr sz="1300" b="1">
                          <a:solidFill>
                            <a:srgbClr val="FFFFFF"/>
                          </a:solidFill>
                          <a:latin typeface="Calibri"/>
                        </a:rPr>
                        <a:t>Server fn</a:t>
                      </a:r>
                    </a:p>
                  </a:txBody>
                  <a:tcPr marL="73152" marR="73152" marT="18288" marB="18288" anchor="ctr">
                    <a:solidFill>
                      <a:srgbClr val="0B2B45"/>
                    </a:solidFill>
                  </a:tcPr>
                </a:tc>
              </a:tr>
              <a:tr h="475488">
                <a:tc>
                  <a:txBody>
                    <a:bodyPr wrap="square"/>
                    <a:lstStyle/>
                    <a:p>
                      <a:pPr algn="l"/>
                      <a:r>
                        <a:rPr sz="1300" b="0">
                          <a:solidFill>
                            <a:srgbClr val="222A33"/>
                          </a:solidFill>
                          <a:latin typeface="Calibri"/>
                        </a:rPr>
                        <a:t>149</a:t>
                      </a:r>
                    </a:p>
                  </a:txBody>
                  <a:tcPr marL="73152" marR="73152" marT="18288" marB="18288" anchor="ctr">
                    <a:solidFill>
                      <a:srgbClr val="FFFFFF"/>
                    </a:solidFill>
                  </a:tcPr>
                </a:tc>
                <a:tc>
                  <a:txBody>
                    <a:bodyPr wrap="square"/>
                    <a:lstStyle/>
                    <a:p>
                      <a:pPr algn="ctr"/>
                      <a:r>
                        <a:rPr sz="1300" b="0">
                          <a:solidFill>
                            <a:srgbClr val="222A33"/>
                          </a:solidFill>
                          <a:latin typeface="Calibri"/>
                        </a:rPr>
                        <a:t>getAll</a:t>
                      </a:r>
                    </a:p>
                  </a:txBody>
                  <a:tcPr marL="73152" marR="73152" marT="18288" marB="18288" anchor="ctr">
                    <a:solidFill>
                      <a:srgbClr val="FFFFFF"/>
                    </a:solidFill>
                  </a:tcPr>
                </a:tc>
                <a:tc>
                  <a:txBody>
                    <a:bodyPr wrap="square"/>
                    <a:lstStyle/>
                    <a:p>
                      <a:pPr algn="ctr"/>
                      <a:r>
                        <a:rPr sz="1300" b="0">
                          <a:solidFill>
                            <a:srgbClr val="222A33"/>
                          </a:solidFill>
                          <a:latin typeface="Calibri"/>
                        </a:rPr>
                        <a:t>SynchronizedRunner.cpp</a:t>
                      </a:r>
                    </a:p>
                  </a:txBody>
                  <a:tcPr marL="73152" marR="73152" marT="18288" marB="18288" anchor="ctr">
                    <a:solidFill>
                      <a:srgbClr val="FFFFFF"/>
                    </a:solidFill>
                  </a:tcPr>
                </a:tc>
                <a:tc>
                  <a:txBody>
                    <a:bodyPr wrap="square"/>
                    <a:lstStyle/>
                    <a:p>
                      <a:pPr algn="ctr"/>
                      <a:r>
                        <a:rPr sz="1300" b="0">
                          <a:solidFill>
                            <a:srgbClr val="222A33"/>
                          </a:solidFill>
                          <a:latin typeface="Calibri"/>
                        </a:rPr>
                        <a:t>runSynchronized</a:t>
                      </a:r>
                    </a:p>
                  </a:txBody>
                  <a:tcPr marL="73152" marR="73152" marT="18288" marB="18288" anchor="ctr">
                    <a:solidFill>
                      <a:srgbClr val="FFFFFF"/>
                    </a:solidFill>
                  </a:tcPr>
                </a:tc>
                <a:tc>
                  <a:txBody>
                    <a:bodyPr wrap="square"/>
                    <a:lstStyle/>
                    <a:p>
                      <a:pPr algn="ctr"/>
                      <a:r>
                        <a:rPr sz="1300" b="0">
                          <a:solidFill>
                            <a:srgbClr val="222A33"/>
                          </a:solidFill>
                          <a:latin typeface="Calibri"/>
                        </a:rPr>
                        <a:t>Aggregator.h</a:t>
                      </a:r>
                    </a:p>
                  </a:txBody>
                  <a:tcPr marL="73152" marR="73152" marT="18288" marB="18288" anchor="ctr">
                    <a:solidFill>
                      <a:srgbClr val="FFFFFF"/>
                    </a:solidFill>
                  </a:tcPr>
                </a:tc>
                <a:tc>
                  <a:txBody>
                    <a:bodyPr wrap="square"/>
                    <a:lstStyle/>
                    <a:p>
                      <a:pPr algn="ctr"/>
                      <a:r>
                        <a:rPr sz="1300" b="0">
                          <a:solidFill>
                            <a:srgbClr val="222A33"/>
                          </a:solidFill>
                          <a:latin typeface="Calibri"/>
                        </a:rPr>
                        <a:t>getAll</a:t>
                      </a:r>
                    </a:p>
                  </a:txBody>
                  <a:tcPr marL="73152" marR="73152" marT="18288" marB="18288" anchor="ctr">
                    <a:solidFill>
                      <a:srgbClr val="FFFFFF"/>
                    </a:solidFill>
                  </a:tcPr>
                </a:tc>
              </a:tr>
              <a:tr h="475488">
                <a:tc>
                  <a:txBody>
                    <a:bodyPr wrap="square"/>
                    <a:lstStyle/>
                    <a:p>
                      <a:pPr algn="l"/>
                      <a:r>
                        <a:rPr sz="1300" b="0">
                          <a:solidFill>
                            <a:srgbClr val="222A33"/>
                          </a:solidFill>
                          <a:latin typeface="Calibri"/>
                        </a:rPr>
                        <a:t>264</a:t>
                      </a:r>
                    </a:p>
                  </a:txBody>
                  <a:tcPr marL="73152" marR="73152" marT="18288" marB="18288" anchor="ctr">
                    <a:solidFill>
                      <a:srgbClr val="F1F4F7"/>
                    </a:solidFill>
                  </a:tcPr>
                </a:tc>
                <a:tc>
                  <a:txBody>
                    <a:bodyPr wrap="square"/>
                    <a:lstStyle/>
                    <a:p>
                      <a:pPr algn="ctr"/>
                      <a:r>
                        <a:rPr sz="1300" b="0">
                          <a:solidFill>
                            <a:srgbClr val="222A33"/>
                          </a:solidFill>
                          <a:latin typeface="Calibri"/>
                        </a:rPr>
                        <a:t>run</a:t>
                      </a:r>
                    </a:p>
                  </a:txBody>
                  <a:tcPr marL="73152" marR="73152" marT="18288" marB="18288" anchor="ctr">
                    <a:solidFill>
                      <a:srgbClr val="F1F4F7"/>
                    </a:solidFill>
                  </a:tcPr>
                </a:tc>
                <a:tc>
                  <a:txBody>
                    <a:bodyPr wrap="square"/>
                    <a:lstStyle/>
                    <a:p>
                      <a:pPr algn="ctr"/>
                      <a:r>
                        <a:rPr sz="1300" b="0">
                          <a:solidFill>
                            <a:srgbClr val="222A33"/>
                          </a:solidFill>
                          <a:latin typeface="Calibri"/>
                        </a:rPr>
                        <a:t>SynchronizedRunner.cpp</a:t>
                      </a:r>
                    </a:p>
                  </a:txBody>
                  <a:tcPr marL="73152" marR="73152" marT="18288" marB="18288" anchor="ctr">
                    <a:solidFill>
                      <a:srgbClr val="F1F4F7"/>
                    </a:solidFill>
                  </a:tcPr>
                </a:tc>
                <a:tc>
                  <a:txBody>
                    <a:bodyPr wrap="square"/>
                    <a:lstStyle/>
                    <a:p>
                      <a:pPr algn="ctr"/>
                      <a:r>
                        <a:rPr sz="1300" b="0">
                          <a:solidFill>
                            <a:srgbClr val="222A33"/>
                          </a:solidFill>
                          <a:latin typeface="Calibri"/>
                        </a:rPr>
                        <a:t>runSynchronized</a:t>
                      </a:r>
                    </a:p>
                  </a:txBody>
                  <a:tcPr marL="73152" marR="73152" marT="18288" marB="18288" anchor="ctr">
                    <a:solidFill>
                      <a:srgbClr val="F1F4F7"/>
                    </a:solidFill>
                  </a:tcPr>
                </a:tc>
                <a:tc>
                  <a:txBody>
                    <a:bodyPr wrap="square"/>
                    <a:lstStyle/>
                    <a:p>
                      <a:pPr algn="ctr"/>
                      <a:r>
                        <a:rPr sz="1300" b="0">
                          <a:solidFill>
                            <a:srgbClr val="222A33"/>
                          </a:solidFill>
                          <a:latin typeface="Calibri"/>
                        </a:rPr>
                        <a:t>IRunnableObject.h</a:t>
                      </a:r>
                    </a:p>
                  </a:txBody>
                  <a:tcPr marL="73152" marR="73152" marT="18288" marB="18288" anchor="ctr">
                    <a:solidFill>
                      <a:srgbClr val="F1F4F7"/>
                    </a:solidFill>
                  </a:tcPr>
                </a:tc>
                <a:tc>
                  <a:txBody>
                    <a:bodyPr wrap="square"/>
                    <a:lstStyle/>
                    <a:p>
                      <a:pPr algn="ctr"/>
                      <a:r>
                        <a:rPr sz="1300" b="0">
                          <a:solidFill>
                            <a:srgbClr val="222A33"/>
                          </a:solidFill>
                          <a:latin typeface="Calibri"/>
                        </a:rPr>
                        <a:t>run</a:t>
                      </a:r>
                    </a:p>
                  </a:txBody>
                  <a:tcPr marL="73152" marR="73152" marT="18288" marB="18288" anchor="ctr">
                    <a:solidFill>
                      <a:srgbClr val="F1F4F7"/>
                    </a:solidFill>
                  </a:tcPr>
                </a:tc>
              </a:tr>
              <a:tr h="475488">
                <a:tc>
                  <a:txBody>
                    <a:bodyPr wrap="square"/>
                    <a:lstStyle/>
                    <a:p>
                      <a:pPr algn="l"/>
                      <a:r>
                        <a:rPr sz="1300" b="0">
                          <a:solidFill>
                            <a:srgbClr val="222A33"/>
                          </a:solidFill>
                          <a:latin typeface="Calibri"/>
                        </a:rPr>
                        <a:t>291</a:t>
                      </a:r>
                    </a:p>
                  </a:txBody>
                  <a:tcPr marL="73152" marR="73152" marT="18288" marB="18288" anchor="ctr">
                    <a:solidFill>
                      <a:srgbClr val="FBF2E3"/>
                    </a:solidFill>
                  </a:tcPr>
                </a:tc>
                <a:tc>
                  <a:txBody>
                    <a:bodyPr wrap="square"/>
                    <a:lstStyle/>
                    <a:p>
                      <a:pPr algn="ctr"/>
                      <a:r>
                        <a:rPr sz="1300" b="0">
                          <a:solidFill>
                            <a:srgbClr val="222A33"/>
                          </a:solidFill>
                          <a:latin typeface="Calibri"/>
                        </a:rPr>
                        <a:t>flush</a:t>
                      </a:r>
                    </a:p>
                  </a:txBody>
                  <a:tcPr marL="73152" marR="73152" marT="18288" marB="18288" anchor="ctr">
                    <a:solidFill>
                      <a:srgbClr val="FBF2E3"/>
                    </a:solidFill>
                  </a:tcPr>
                </a:tc>
                <a:tc>
                  <a:txBody>
                    <a:bodyPr wrap="square"/>
                    <a:lstStyle/>
                    <a:p>
                      <a:pPr algn="ctr"/>
                      <a:r>
                        <a:rPr sz="1300" b="0">
                          <a:solidFill>
                            <a:srgbClr val="222A33"/>
                          </a:solidFill>
                          <a:latin typeface="Calibri"/>
                        </a:rPr>
                        <a:t>SynchronizedRunner.cpp</a:t>
                      </a:r>
                    </a:p>
                  </a:txBody>
                  <a:tcPr marL="73152" marR="73152" marT="18288" marB="18288" anchor="ctr">
                    <a:solidFill>
                      <a:srgbClr val="FBF2E3"/>
                    </a:solidFill>
                  </a:tcPr>
                </a:tc>
                <a:tc>
                  <a:txBody>
                    <a:bodyPr wrap="square"/>
                    <a:lstStyle/>
                    <a:p>
                      <a:pPr algn="ctr"/>
                      <a:r>
                        <a:rPr sz="1300" b="0">
                          <a:solidFill>
                            <a:srgbClr val="222A33"/>
                          </a:solidFill>
                          <a:latin typeface="Calibri"/>
                        </a:rPr>
                        <a:t>runSynchronized</a:t>
                      </a:r>
                    </a:p>
                  </a:txBody>
                  <a:tcPr marL="73152" marR="73152" marT="18288" marB="18288" anchor="ctr">
                    <a:solidFill>
                      <a:srgbClr val="FBF2E3"/>
                    </a:solidFill>
                  </a:tcPr>
                </a:tc>
                <a:tc>
                  <a:txBody>
                    <a:bodyPr wrap="square"/>
                    <a:lstStyle/>
                    <a:p>
                      <a:pPr algn="ctr"/>
                      <a:r>
                        <a:rPr sz="1300" b="0">
                          <a:solidFill>
                            <a:srgbClr val="222A33"/>
                          </a:solidFill>
                          <a:latin typeface="Calibri"/>
                        </a:rPr>
                        <a:t>CPSLogger.h</a:t>
                      </a:r>
                    </a:p>
                  </a:txBody>
                  <a:tcPr marL="73152" marR="73152" marT="18288" marB="18288" anchor="ctr">
                    <a:solidFill>
                      <a:srgbClr val="FBF2E3"/>
                    </a:solidFill>
                  </a:tcPr>
                </a:tc>
                <a:tc>
                  <a:txBody>
                    <a:bodyPr wrap="square"/>
                    <a:lstStyle/>
                    <a:p>
                      <a:pPr algn="ctr"/>
                      <a:r>
                        <a:rPr sz="1300" b="0">
                          <a:solidFill>
                            <a:srgbClr val="222A33"/>
                          </a:solidFill>
                          <a:latin typeface="Calibri"/>
                        </a:rPr>
                        <a:t>flush</a:t>
                      </a:r>
                    </a:p>
                  </a:txBody>
                  <a:tcPr marL="73152" marR="73152" marT="18288" marB="18288" anchor="ctr">
                    <a:solidFill>
                      <a:srgbClr val="FBF2E3"/>
                    </a:solidFill>
                  </a:tcPr>
                </a:tc>
              </a:tr>
              <a:tr h="475488">
                <a:tc>
                  <a:txBody>
                    <a:bodyPr wrap="square"/>
                    <a:lstStyle/>
                    <a:p>
                      <a:pPr algn="l"/>
                      <a:r>
                        <a:rPr sz="1300" b="0">
                          <a:solidFill>
                            <a:srgbClr val="222A33"/>
                          </a:solidFill>
                          <a:latin typeface="Calibri"/>
                        </a:rPr>
                        <a:t>292</a:t>
                      </a:r>
                    </a:p>
                  </a:txBody>
                  <a:tcPr marL="73152" marR="73152" marT="18288" marB="18288" anchor="ctr">
                    <a:solidFill>
                      <a:srgbClr val="FBF2E3"/>
                    </a:solidFill>
                  </a:tcPr>
                </a:tc>
                <a:tc>
                  <a:txBody>
                    <a:bodyPr wrap="square"/>
                    <a:lstStyle/>
                    <a:p>
                      <a:pPr algn="ctr"/>
                      <a:r>
                        <a:rPr sz="1300" b="0">
                          <a:solidFill>
                            <a:srgbClr val="222A33"/>
                          </a:solidFill>
                          <a:latin typeface="Calibri"/>
                        </a:rPr>
                        <a:t>instance</a:t>
                      </a:r>
                    </a:p>
                  </a:txBody>
                  <a:tcPr marL="73152" marR="73152" marT="18288" marB="18288" anchor="ctr">
                    <a:solidFill>
                      <a:srgbClr val="FBF2E3"/>
                    </a:solidFill>
                  </a:tcPr>
                </a:tc>
                <a:tc>
                  <a:txBody>
                    <a:bodyPr wrap="square"/>
                    <a:lstStyle/>
                    <a:p>
                      <a:pPr algn="ctr"/>
                      <a:r>
                        <a:rPr sz="1300" b="0">
                          <a:solidFill>
                            <a:srgbClr val="222A33"/>
                          </a:solidFill>
                          <a:latin typeface="Calibri"/>
                        </a:rPr>
                        <a:t>SynchronizedRunner.cpp</a:t>
                      </a:r>
                    </a:p>
                  </a:txBody>
                  <a:tcPr marL="73152" marR="73152" marT="18288" marB="18288" anchor="ctr">
                    <a:solidFill>
                      <a:srgbClr val="FBF2E3"/>
                    </a:solidFill>
                  </a:tcPr>
                </a:tc>
                <a:tc>
                  <a:txBody>
                    <a:bodyPr wrap="square"/>
                    <a:lstStyle/>
                    <a:p>
                      <a:pPr algn="ctr"/>
                      <a:r>
                        <a:rPr sz="1300" b="0">
                          <a:solidFill>
                            <a:srgbClr val="222A33"/>
                          </a:solidFill>
                          <a:latin typeface="Calibri"/>
                        </a:rPr>
                        <a:t>runSynchronized</a:t>
                      </a:r>
                    </a:p>
                  </a:txBody>
                  <a:tcPr marL="73152" marR="73152" marT="18288" marB="18288" anchor="ctr">
                    <a:solidFill>
                      <a:srgbClr val="FBF2E3"/>
                    </a:solidFill>
                  </a:tcPr>
                </a:tc>
                <a:tc>
                  <a:txBody>
                    <a:bodyPr wrap="square"/>
                    <a:lstStyle/>
                    <a:p>
                      <a:pPr algn="ctr"/>
                      <a:r>
                        <a:rPr sz="1300" b="0">
                          <a:solidFill>
                            <a:srgbClr val="222A33"/>
                          </a:solidFill>
                          <a:latin typeface="Calibri"/>
                        </a:rPr>
                        <a:t>CPSLogger.h</a:t>
                      </a:r>
                    </a:p>
                  </a:txBody>
                  <a:tcPr marL="73152" marR="73152" marT="18288" marB="18288" anchor="ctr">
                    <a:solidFill>
                      <a:srgbClr val="FBF2E3"/>
                    </a:solidFill>
                  </a:tcPr>
                </a:tc>
                <a:tc>
                  <a:txBody>
                    <a:bodyPr wrap="square"/>
                    <a:lstStyle/>
                    <a:p>
                      <a:pPr algn="ctr"/>
                      <a:r>
                        <a:rPr sz="1300" b="0">
                          <a:solidFill>
                            <a:srgbClr val="222A33"/>
                          </a:solidFill>
                          <a:latin typeface="Calibri"/>
                        </a:rPr>
                        <a:t>instance</a:t>
                      </a:r>
                    </a:p>
                  </a:txBody>
                  <a:tcPr marL="73152" marR="73152" marT="18288" marB="18288" anchor="ctr">
                    <a:solidFill>
                      <a:srgbClr val="FBF2E3"/>
                    </a:solidFill>
                  </a:tcPr>
                </a:tc>
              </a:tr>
              <a:tr h="475488">
                <a:tc>
                  <a:txBody>
                    <a:bodyPr wrap="square"/>
                    <a:lstStyle/>
                    <a:p>
                      <a:pPr algn="l"/>
                      <a:r>
                        <a:rPr sz="1300" b="0">
                          <a:solidFill>
                            <a:srgbClr val="222A33"/>
                          </a:solidFill>
                          <a:latin typeface="Calibri"/>
                        </a:rPr>
                        <a:t>139</a:t>
                      </a:r>
                    </a:p>
                  </a:txBody>
                  <a:tcPr marL="73152" marR="73152" marT="18288" marB="18288" anchor="ctr">
                    <a:solidFill>
                      <a:srgbClr val="FFFFFF"/>
                    </a:solidFill>
                  </a:tcPr>
                </a:tc>
                <a:tc>
                  <a:txBody>
                    <a:bodyPr wrap="square"/>
                    <a:lstStyle/>
                    <a:p>
                      <a:pPr algn="ctr"/>
                      <a:r>
                        <a:rPr sz="1300" b="0">
                          <a:solidFill>
                            <a:srgbClr val="222A33"/>
                          </a:solidFill>
                          <a:latin typeface="Calibri"/>
                        </a:rPr>
                        <a:t>stream</a:t>
                      </a:r>
                    </a:p>
                  </a:txBody>
                  <a:tcPr marL="73152" marR="73152" marT="18288" marB="18288" anchor="ctr">
                    <a:solidFill>
                      <a:srgbClr val="FFFFFF"/>
                    </a:solidFill>
                  </a:tcPr>
                </a:tc>
                <a:tc>
                  <a:txBody>
                    <a:bodyPr wrap="square"/>
                    <a:lstStyle/>
                    <a:p>
                      <a:pPr algn="ctr"/>
                      <a:r>
                        <a:rPr sz="1300" b="0">
                          <a:solidFill>
                            <a:srgbClr val="222A33"/>
                          </a:solidFill>
                          <a:latin typeface="Calibri"/>
                        </a:rPr>
                        <a:t>SynchronizedRunnerMaster.cpp</a:t>
                      </a:r>
                    </a:p>
                  </a:txBody>
                  <a:tcPr marL="73152" marR="73152" marT="18288" marB="18288" anchor="ctr">
                    <a:solidFill>
                      <a:srgbClr val="FFFFFF"/>
                    </a:solidFill>
                  </a:tcPr>
                </a:tc>
                <a:tc>
                  <a:txBody>
                    <a:bodyPr wrap="square"/>
                    <a:lstStyle/>
                    <a:p>
                      <a:pPr algn="ctr"/>
                      <a:r>
                        <a:rPr sz="1300" b="0">
                          <a:solidFill>
                            <a:srgbClr val="222A33"/>
                          </a:solidFill>
                          <a:latin typeface="Calibri"/>
                        </a:rPr>
                        <a:t>SynchronizedRunnerMaster</a:t>
                      </a:r>
                    </a:p>
                  </a:txBody>
                  <a:tcPr marL="73152" marR="73152" marT="18288" marB="18288" anchor="ctr">
                    <a:solidFill>
                      <a:srgbClr val="FFFFFF"/>
                    </a:solidFill>
                  </a:tcPr>
                </a:tc>
                <a:tc>
                  <a:txBody>
                    <a:bodyPr wrap="square"/>
                    <a:lstStyle/>
                    <a:p>
                      <a:pPr algn="ctr"/>
                      <a:r>
                        <a:rPr sz="1300" b="0">
                          <a:solidFill>
                            <a:srgbClr val="222A33"/>
                          </a:solidFill>
                          <a:latin typeface="Calibri"/>
                        </a:rPr>
                        <a:t>CPSLogger.h</a:t>
                      </a:r>
                    </a:p>
                  </a:txBody>
                  <a:tcPr marL="73152" marR="73152" marT="18288" marB="18288" anchor="ctr">
                    <a:solidFill>
                      <a:srgbClr val="FFFFFF"/>
                    </a:solidFill>
                  </a:tcPr>
                </a:tc>
                <a:tc>
                  <a:txBody>
                    <a:bodyPr wrap="square"/>
                    <a:lstStyle/>
                    <a:p>
                      <a:pPr algn="ctr"/>
                      <a:r>
                        <a:rPr sz="1300" b="0">
                          <a:solidFill>
                            <a:srgbClr val="222A33"/>
                          </a:solidFill>
                          <a:latin typeface="Calibri"/>
                        </a:rPr>
                        <a:t>stream</a:t>
                      </a:r>
                    </a:p>
                  </a:txBody>
                  <a:tcPr marL="73152" marR="73152" marT="18288" marB="18288" anchor="ctr">
                    <a:solidFill>
                      <a:srgbClr val="FFFFFF"/>
                    </a:solidFill>
                  </a:tcPr>
                </a:tc>
              </a:tr>
            </a:tbl>
          </a:graphicData>
        </a:graphic>
      </p:graphicFrame>
      <p:sp>
        <p:nvSpPr>
          <p:cNvPr id="8" name="TextBox 7"/>
          <p:cNvSpPr txBox="1"/>
          <p:nvPr/>
        </p:nvSpPr>
        <p:spPr>
          <a:xfrm>
            <a:off x="457200" y="4892040"/>
            <a:ext cx="11247120" cy="822960"/>
          </a:xfrm>
          <a:prstGeom prst="rect">
            <a:avLst/>
          </a:prstGeom>
          <a:noFill/>
        </p:spPr>
        <p:txBody>
          <a:bodyPr wrap="square" anchor="t" lIns="45720" rIns="45720" tIns="18288" bIns="18288">
            <a:spAutoFit/>
          </a:bodyPr>
          <a:lstStyle/>
          <a:p>
            <a:pPr algn="l"/>
            <a:r>
              <a:rPr sz="1300" b="0" i="0">
                <a:solidFill>
                  <a:srgbClr val="222A33"/>
                </a:solidFill>
                <a:latin typeface="Calibri"/>
              </a:rPr>
              <a:t>Highlighted rows 291–292: two separate CppCalls edges from the exact same call site (CPSLogger::instance()-&gt;flush();) — extracted as two rows because they're two distinct function calls chained on one line.</a:t>
            </a:r>
          </a:p>
        </p:txBody>
      </p:sp>
      <p:sp>
        <p:nvSpPr>
          <p:cNvPr id="9" name="TextBox 8"/>
          <p:cNvSpPr txBox="1"/>
          <p:nvPr/>
        </p:nvSpPr>
        <p:spPr>
          <a:xfrm>
            <a:off x="365760" y="6519672"/>
            <a:ext cx="8686800" cy="292608"/>
          </a:xfrm>
          <a:prstGeom prst="rect">
            <a:avLst/>
          </a:prstGeom>
          <a:noFill/>
        </p:spPr>
        <p:txBody>
          <a:bodyPr wrap="square" anchor="t" lIns="45720" rIns="45720" tIns="18288" bIns="18288">
            <a:spAutoFit/>
          </a:bodyPr>
          <a:lstStyle/>
          <a:p>
            <a:pPr algn="l"/>
            <a:r>
              <a:rPr sz="900" b="0" i="0">
                <a:solidFill>
                  <a:srgbClr val="5A636E"/>
                </a:solidFill>
                <a:latin typeface="Calibri"/>
              </a:rPr>
              <a:t>The Hybrid Pipeline  ·  Prathik Anand Krishnan  ·  UvA / TNO-ESI</a:t>
            </a:r>
          </a:p>
        </p:txBody>
      </p:sp>
      <p:sp>
        <p:nvSpPr>
          <p:cNvPr id="10" name="TextBox 9"/>
          <p:cNvSpPr txBox="1"/>
          <p:nvPr/>
        </p:nvSpPr>
        <p:spPr>
          <a:xfrm>
            <a:off x="11155680" y="6519672"/>
            <a:ext cx="822960" cy="292608"/>
          </a:xfrm>
          <a:prstGeom prst="rect">
            <a:avLst/>
          </a:prstGeom>
          <a:noFill/>
        </p:spPr>
        <p:txBody>
          <a:bodyPr wrap="square" anchor="t" lIns="45720" rIns="45720" tIns="18288" bIns="18288">
            <a:spAutoFit/>
          </a:bodyPr>
          <a:lstStyle/>
          <a:p>
            <a:pPr algn="r"/>
            <a:r>
              <a:rPr sz="1000" b="0" i="0">
                <a:solidFill>
                  <a:srgbClr val="5A636E"/>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B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5720"/>
          </a:xfrm>
          <a:prstGeom prst="rect">
            <a:avLst/>
          </a:prstGeom>
          <a:solidFill>
            <a:srgbClr val="E18A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20040"/>
            <a:ext cx="9875520" cy="594360"/>
          </a:xfrm>
          <a:prstGeom prst="rect">
            <a:avLst/>
          </a:prstGeom>
          <a:noFill/>
        </p:spPr>
        <p:txBody>
          <a:bodyPr wrap="square" anchor="t" lIns="45720" rIns="45720" tIns="18288" bIns="18288">
            <a:spAutoFit/>
          </a:bodyPr>
          <a:lstStyle/>
          <a:p>
            <a:pPr algn="l"/>
            <a:r>
              <a:rPr sz="2400" b="1" i="0">
                <a:solidFill>
                  <a:srgbClr val="FFFFFF"/>
                </a:solidFill>
                <a:latin typeface="Calibri"/>
              </a:rPr>
              <a:t>Stage 4 : Guided Trace Instrumentation &amp; Runtime Tracing</a:t>
            </a:r>
          </a:p>
        </p:txBody>
      </p:sp>
      <p:sp>
        <p:nvSpPr>
          <p:cNvPr id="5" name="Rounded Rectangle 4"/>
          <p:cNvSpPr/>
          <p:nvPr/>
        </p:nvSpPr>
        <p:spPr>
          <a:xfrm>
            <a:off x="10698480" y="292608"/>
            <a:ext cx="1234440" cy="384048"/>
          </a:xfrm>
          <a:prstGeom prst="roundRect">
            <a:avLst>
              <a:gd name="adj" fmla="val 30000"/>
            </a:avLst>
          </a:prstGeom>
          <a:solidFill>
            <a:srgbClr val="1BA19C"/>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a:lstStyle/>
          <a:p>
            <a:pPr algn="ctr"/>
            <a:r>
              <a:rPr sz="1200" b="1">
                <a:solidFill>
                  <a:srgbClr val="FFFFFF"/>
                </a:solidFill>
                <a:latin typeface="Calibri"/>
              </a:rPr>
              <a:t>STAGE 4 / 6</a:t>
            </a:r>
          </a:p>
        </p:txBody>
      </p:sp>
      <p:sp>
        <p:nvSpPr>
          <p:cNvPr id="6" name="Rounded Rectangle 5"/>
          <p:cNvSpPr/>
          <p:nvPr/>
        </p:nvSpPr>
        <p:spPr>
          <a:xfrm>
            <a:off x="457200" y="1143000"/>
            <a:ext cx="11292840" cy="566928"/>
          </a:xfrm>
          <a:prstGeom prst="roundRect">
            <a:avLst>
              <a:gd name="adj" fmla="val 5000"/>
            </a:avLst>
          </a:prstGeom>
          <a:solidFill>
            <a:srgbClr val="FBF2E3"/>
          </a:solidFill>
          <a:ln w="12700">
            <a:solidFill>
              <a:srgbClr val="E18A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179576"/>
            <a:ext cx="10881360" cy="219456"/>
          </a:xfrm>
          <a:prstGeom prst="rect">
            <a:avLst/>
          </a:prstGeom>
          <a:noFill/>
        </p:spPr>
        <p:txBody>
          <a:bodyPr wrap="square" anchor="t" lIns="45720" rIns="45720" tIns="18288" bIns="18288">
            <a:spAutoFit/>
          </a:bodyPr>
          <a:lstStyle/>
          <a:p>
            <a:pPr algn="l"/>
            <a:r>
              <a:rPr sz="1050" b="1" i="0">
                <a:solidFill>
                  <a:srgbClr val="E18A1B"/>
                </a:solidFill>
                <a:latin typeface="Calibri"/>
              </a:rPr>
              <a:t>RUNNING EDGE, ALL SIX STAGES</a:t>
            </a:r>
          </a:p>
        </p:txBody>
      </p:sp>
      <p:sp>
        <p:nvSpPr>
          <p:cNvPr id="8" name="TextBox 7"/>
          <p:cNvSpPr txBox="1"/>
          <p:nvPr/>
        </p:nvSpPr>
        <p:spPr>
          <a:xfrm>
            <a:off x="640080" y="1389888"/>
            <a:ext cx="10881360" cy="292608"/>
          </a:xfrm>
          <a:prstGeom prst="rect">
            <a:avLst/>
          </a:prstGeom>
          <a:noFill/>
        </p:spPr>
        <p:txBody>
          <a:bodyPr wrap="square" anchor="t" lIns="45720" rIns="45720" tIns="18288" bIns="18288">
            <a:spAutoFit/>
          </a:bodyPr>
          <a:lstStyle/>
          <a:p>
            <a:pPr algn="l"/>
            <a:r>
              <a:rPr sz="1300" b="0" i="0">
                <a:solidFill>
                  <a:srgbClr val="222A33"/>
                </a:solidFill>
                <a:latin typeface="Consolas"/>
              </a:rPr>
              <a:t>Synchronization::SynchronizedRunner::runSynchronized   →   Logging::CPSLogger::instance</a:t>
            </a:r>
          </a:p>
        </p:txBody>
      </p:sp>
      <p:sp>
        <p:nvSpPr>
          <p:cNvPr id="9" name="TextBox 8"/>
          <p:cNvSpPr txBox="1"/>
          <p:nvPr/>
        </p:nvSpPr>
        <p:spPr>
          <a:xfrm>
            <a:off x="457200" y="1847088"/>
            <a:ext cx="11247120" cy="822960"/>
          </a:xfrm>
          <a:prstGeom prst="rect">
            <a:avLst/>
          </a:prstGeom>
          <a:noFill/>
        </p:spPr>
        <p:txBody>
          <a:bodyPr wrap="square" anchor="t" lIns="45720" rIns="45720" tIns="18288" bIns="18288">
            <a:spAutoFit/>
          </a:bodyPr>
          <a:lstStyle/>
          <a:p>
            <a:pPr algn="l"/>
            <a:r>
              <a:rPr sz="1300" b="0" i="0">
                <a:solidFill>
                  <a:srgbClr val="222A33"/>
                </a:solidFill>
                <a:latin typeface="Calibri"/>
              </a:rPr>
              <a:t>The add-runtime-instrumentation skill injects trace emission points at the relevant call sites from the Global query. Rebuilds and runs the binary (“MultiThreaded Test 1”, “IPC Test 1”, “Synchronized Runner Test”), turning the captured [TRACE] output into runtime_traces.txt. Every call the global query matrix said could happen is now checked against what did happen, in real chronological order.</a:t>
            </a:r>
          </a:p>
        </p:txBody>
      </p:sp>
      <p:sp>
        <p:nvSpPr>
          <p:cNvPr id="10" name="Rounded Rectangle 9"/>
          <p:cNvSpPr/>
          <p:nvPr/>
        </p:nvSpPr>
        <p:spPr>
          <a:xfrm>
            <a:off x="457200" y="2761488"/>
            <a:ext cx="11292840" cy="2148840"/>
          </a:xfrm>
          <a:prstGeom prst="roundRect">
            <a:avLst>
              <a:gd name="adj" fmla="val 5000"/>
            </a:avLst>
          </a:prstGeom>
          <a:solidFill>
            <a:srgbClr val="1B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2889504"/>
            <a:ext cx="10963656" cy="1892808"/>
          </a:xfrm>
          <a:prstGeom prst="rect">
            <a:avLst/>
          </a:prstGeom>
          <a:noFill/>
        </p:spPr>
        <p:txBody>
          <a:bodyPr wrap="square">
            <a:spAutoFit/>
          </a:bodyPr>
          <a:lstStyle/>
          <a:p>
            <a:pPr>
              <a:spcAft>
                <a:spcPts val="100"/>
              </a:spcAft>
            </a:pPr>
            <a:r>
              <a:rPr sz="1050" b="0">
                <a:solidFill>
                  <a:srgbClr val="E8E8E8"/>
                </a:solidFill>
                <a:latin typeface="Consolas"/>
              </a:rPr>
              <a:t>EventTimestamp | EventName | ClientComponent | ClientFunction | ServerComponent | ServerFunction</a:t>
            </a:r>
          </a:p>
          <a:p>
            <a:pPr>
              <a:spcAft>
                <a:spcPts val="100"/>
              </a:spcAft>
            </a:pPr>
            <a:r>
              <a:rPr sz="1050" b="0">
                <a:solidFill>
                  <a:srgbClr val="E8E8E8"/>
                </a:solidFill>
                <a:latin typeface="Consolas"/>
              </a:rPr>
              <a:t>...686645Z|Aggregator.getAll|Synchronization|AggregatableRunner.notifyAggregationOnUpdate|Aggregation|...</a:t>
            </a:r>
          </a:p>
          <a:p>
            <a:pPr>
              <a:spcAft>
                <a:spcPts val="100"/>
              </a:spcAft>
            </a:pPr>
            <a:r>
              <a:rPr sz="1050" b="0">
                <a:solidFill>
                  <a:srgbClr val="E8E8E8"/>
                </a:solidFill>
                <a:latin typeface="Consolas"/>
              </a:rPr>
              <a:t>...687645Z|RAIILogStream.stream|Synchronization|SimpleRunner.runAllStages|Logging|...</a:t>
            </a:r>
          </a:p>
          <a:p>
            <a:pPr>
              <a:spcAft>
                <a:spcPts val="100"/>
              </a:spcAft>
            </a:pPr>
            <a:r>
              <a:rPr sz="1050" b="0">
                <a:solidFill>
                  <a:srgbClr val="E8E8E8"/>
                </a:solidFill>
                <a:latin typeface="Consolas"/>
              </a:rPr>
              <a:t>...688645Z|Aggregator.getAll|Synchronization|SimpleRunner.runStage|Aggregation|...</a:t>
            </a:r>
          </a:p>
          <a:p>
            <a:pPr>
              <a:spcAft>
                <a:spcPts val="100"/>
              </a:spcAft>
            </a:pPr>
            <a:r>
              <a:rPr sz="1050" b="0">
                <a:solidFill>
                  <a:srgbClr val="E8E8E8"/>
                </a:solidFill>
                <a:latin typeface="Consolas"/>
              </a:rPr>
              <a:t>...689645Z|RAIILogStream.stream|Synchronization|SimpleRunner.runStage|Logging|...</a:t>
            </a:r>
          </a:p>
          <a:p>
            <a:pPr>
              <a:spcAft>
                <a:spcPts val="100"/>
              </a:spcAft>
            </a:pPr>
            <a:r>
              <a:rPr sz="1050" b="0">
                <a:solidFill>
                  <a:srgbClr val="E8E8E8"/>
                </a:solidFill>
                <a:latin typeface="Consolas"/>
              </a:rPr>
              <a:t>...691645Z|RAIILogStream.stream|Synchronization|SimpleRunner.runStages|Logging|...</a:t>
            </a:r>
          </a:p>
          <a:p>
            <a:pPr>
              <a:spcAft>
                <a:spcPts val="100"/>
              </a:spcAft>
            </a:pPr>
            <a:r>
              <a:rPr sz="1050" b="0">
                <a:solidFill>
                  <a:srgbClr val="E8E8E8"/>
                </a:solidFill>
                <a:latin typeface="Consolas"/>
              </a:rPr>
              <a:t>...693645Z|Aggregator.getAll|Synchronization|SynchronizedRunner.runSynchronized|Aggregation|...</a:t>
            </a:r>
          </a:p>
          <a:p>
            <a:pPr>
              <a:spcAft>
                <a:spcPts val="100"/>
              </a:spcAft>
            </a:pPr>
            <a:r>
              <a:rPr sz="1050" b="1">
                <a:solidFill>
                  <a:srgbClr val="E1A63B"/>
                </a:solidFill>
                <a:latin typeface="Consolas"/>
              </a:rPr>
              <a:t>...694645Z|CPSLogger.flush|Synchronization|SynchronizedRunner.runSynchronized|Logging|CPSLogger.flush</a:t>
            </a:r>
          </a:p>
          <a:p>
            <a:pPr>
              <a:spcAft>
                <a:spcPts val="100"/>
              </a:spcAft>
            </a:pPr>
            <a:r>
              <a:rPr sz="1050" b="1">
                <a:solidFill>
                  <a:srgbClr val="E1A63B"/>
                </a:solidFill>
                <a:latin typeface="Consolas"/>
              </a:rPr>
              <a:t>...695645Z|CPSLogger.instance|Synchronization|SynchronizedRunner.runSynchronized|Logging|CPSLogger.instance</a:t>
            </a:r>
          </a:p>
          <a:p>
            <a:pPr>
              <a:spcAft>
                <a:spcPts val="100"/>
              </a:spcAft>
            </a:pPr>
            <a:r>
              <a:rPr sz="1050" b="0">
                <a:solidFill>
                  <a:srgbClr val="E8E8E8"/>
                </a:solidFill>
                <a:latin typeface="Consolas"/>
              </a:rPr>
              <a:t>...696645Z|RAIILogStream.stream|Synchronization|SynchronizedRunnerMaster.SynchronizedRunnerMaster|...</a:t>
            </a:r>
          </a:p>
          <a:p>
            <a:pPr>
              <a:spcAft>
                <a:spcPts val="100"/>
              </a:spcAft>
            </a:pPr>
            <a:r>
              <a:rPr sz="1050" b="0">
                <a:solidFill>
                  <a:srgbClr val="E8E8E8"/>
                </a:solidFill>
                <a:latin typeface="Consolas"/>
              </a:rPr>
              <a:t>...697645Z|RAIILogStream.stream|Synchronization|SynchronizedRunnerMaster.runAllStages|Logging|...</a:t>
            </a:r>
          </a:p>
          <a:p>
            <a:pPr>
              <a:spcAft>
                <a:spcPts val="100"/>
              </a:spcAft>
            </a:pPr>
            <a:r>
              <a:rPr sz="1050" b="0">
                <a:solidFill>
                  <a:srgbClr val="E8E8E8"/>
                </a:solidFill>
                <a:latin typeface="Consolas"/>
              </a:rPr>
              <a:t>...698645Z|RAIILogStream.stream|Synchronization|SynchronizedRunnerMaster.runStage|Logging|...</a:t>
            </a:r>
          </a:p>
        </p:txBody>
      </p:sp>
      <p:sp>
        <p:nvSpPr>
          <p:cNvPr id="12" name="TextBox 11"/>
          <p:cNvSpPr txBox="1"/>
          <p:nvPr/>
        </p:nvSpPr>
        <p:spPr>
          <a:xfrm>
            <a:off x="457200" y="5047488"/>
            <a:ext cx="11247120" cy="457200"/>
          </a:xfrm>
          <a:prstGeom prst="rect">
            <a:avLst/>
          </a:prstGeom>
          <a:noFill/>
        </p:spPr>
        <p:txBody>
          <a:bodyPr wrap="square" anchor="t" lIns="45720" rIns="45720" tIns="18288" bIns="18288">
            <a:spAutoFit/>
          </a:bodyPr>
          <a:lstStyle/>
          <a:p>
            <a:pPr algn="l"/>
            <a:r>
              <a:rPr sz="1300" b="0" i="0">
                <a:solidFill>
                  <a:srgbClr val="222A33"/>
                </a:solidFill>
                <a:latin typeface="Calibri"/>
              </a:rPr>
              <a:t>11 rows, all corroborating a static edge — our running edge is row 8, with its sibling flush at row 7, one millisecond earlier.</a:t>
            </a:r>
          </a:p>
        </p:txBody>
      </p:sp>
      <p:sp>
        <p:nvSpPr>
          <p:cNvPr id="13" name="TextBox 12"/>
          <p:cNvSpPr txBox="1"/>
          <p:nvPr/>
        </p:nvSpPr>
        <p:spPr>
          <a:xfrm>
            <a:off x="365760" y="6519672"/>
            <a:ext cx="8686800" cy="292608"/>
          </a:xfrm>
          <a:prstGeom prst="rect">
            <a:avLst/>
          </a:prstGeom>
          <a:noFill/>
        </p:spPr>
        <p:txBody>
          <a:bodyPr wrap="square" anchor="t" lIns="45720" rIns="45720" tIns="18288" bIns="18288">
            <a:spAutoFit/>
          </a:bodyPr>
          <a:lstStyle/>
          <a:p>
            <a:pPr algn="l"/>
            <a:r>
              <a:rPr sz="900" b="0" i="0">
                <a:solidFill>
                  <a:srgbClr val="5A636E"/>
                </a:solidFill>
                <a:latin typeface="Calibri"/>
              </a:rPr>
              <a:t>The Hybrid Pipeline  ·  Prathik Anand Krishnan  ·  UvA / TNO-ESI</a:t>
            </a:r>
          </a:p>
        </p:txBody>
      </p:sp>
      <p:sp>
        <p:nvSpPr>
          <p:cNvPr id="14" name="TextBox 13"/>
          <p:cNvSpPr txBox="1"/>
          <p:nvPr/>
        </p:nvSpPr>
        <p:spPr>
          <a:xfrm>
            <a:off x="11155680" y="6519672"/>
            <a:ext cx="822960" cy="292608"/>
          </a:xfrm>
          <a:prstGeom prst="rect">
            <a:avLst/>
          </a:prstGeom>
          <a:noFill/>
        </p:spPr>
        <p:txBody>
          <a:bodyPr wrap="square" anchor="t" lIns="45720" rIns="45720" tIns="18288" bIns="18288">
            <a:spAutoFit/>
          </a:bodyPr>
          <a:lstStyle/>
          <a:p>
            <a:pPr algn="r"/>
            <a:r>
              <a:rPr sz="1000" b="0" i="0">
                <a:solidFill>
                  <a:srgbClr val="5A636E"/>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B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5720"/>
          </a:xfrm>
          <a:prstGeom prst="rect">
            <a:avLst/>
          </a:prstGeom>
          <a:solidFill>
            <a:srgbClr val="E18A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20040"/>
            <a:ext cx="9875520" cy="594360"/>
          </a:xfrm>
          <a:prstGeom prst="rect">
            <a:avLst/>
          </a:prstGeom>
          <a:noFill/>
        </p:spPr>
        <p:txBody>
          <a:bodyPr wrap="square" anchor="t" lIns="45720" rIns="45720" tIns="18288" bIns="18288">
            <a:spAutoFit/>
          </a:bodyPr>
          <a:lstStyle/>
          <a:p>
            <a:pPr algn="l"/>
            <a:r>
              <a:rPr sz="2400" b="1" i="0">
                <a:solidFill>
                  <a:srgbClr val="FFFFFF"/>
                </a:solidFill>
                <a:latin typeface="Calibri"/>
              </a:rPr>
              <a:t>Stage 5 : Union and Tagging: Static + Dynamic → Elements</a:t>
            </a:r>
          </a:p>
        </p:txBody>
      </p:sp>
      <p:sp>
        <p:nvSpPr>
          <p:cNvPr id="5" name="Rounded Rectangle 4"/>
          <p:cNvSpPr/>
          <p:nvPr/>
        </p:nvSpPr>
        <p:spPr>
          <a:xfrm>
            <a:off x="10698480" y="292608"/>
            <a:ext cx="1234440" cy="384048"/>
          </a:xfrm>
          <a:prstGeom prst="roundRect">
            <a:avLst>
              <a:gd name="adj" fmla="val 30000"/>
            </a:avLst>
          </a:prstGeom>
          <a:solidFill>
            <a:srgbClr val="1BA19C"/>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a:lstStyle/>
          <a:p>
            <a:pPr algn="ctr"/>
            <a:r>
              <a:rPr sz="1200" b="1">
                <a:solidFill>
                  <a:srgbClr val="FFFFFF"/>
                </a:solidFill>
                <a:latin typeface="Calibri"/>
              </a:rPr>
              <a:t>STAGE 5 / 6</a:t>
            </a:r>
          </a:p>
        </p:txBody>
      </p:sp>
      <p:sp>
        <p:nvSpPr>
          <p:cNvPr id="6" name="TextBox 5"/>
          <p:cNvSpPr txBox="1"/>
          <p:nvPr/>
        </p:nvSpPr>
        <p:spPr>
          <a:xfrm>
            <a:off x="457200" y="1143000"/>
            <a:ext cx="11247120" cy="822960"/>
          </a:xfrm>
          <a:prstGeom prst="rect">
            <a:avLst/>
          </a:prstGeom>
          <a:noFill/>
        </p:spPr>
        <p:txBody>
          <a:bodyPr wrap="square" anchor="t" lIns="45720" rIns="45720" tIns="18288" bIns="18288">
            <a:spAutoFit/>
          </a:bodyPr>
          <a:lstStyle/>
          <a:p>
            <a:pPr algn="l"/>
            <a:r>
              <a:rPr sz="1350" b="0" i="0">
                <a:solidFill>
                  <a:srgbClr val="222A33"/>
                </a:solidFill>
                <a:latin typeface="Calibri"/>
              </a:rPr>
              <a:t>We then receive the static and dynamic evidence — plus the underlying C++ code snippets for each candidate interaction — as separately-labeled, un-merged sources, and reason about corroboration, suppression and indirect dispatch. Outputs elements.json and sequence.json used to construct the SysML diagrams.</a:t>
            </a:r>
          </a:p>
        </p:txBody>
      </p:sp>
      <p:sp>
        <p:nvSpPr>
          <p:cNvPr id="7" name="Rounded Rectangle 6"/>
          <p:cNvSpPr/>
          <p:nvPr/>
        </p:nvSpPr>
        <p:spPr>
          <a:xfrm>
            <a:off x="457200" y="2057400"/>
            <a:ext cx="5532120" cy="3291840"/>
          </a:xfrm>
          <a:prstGeom prst="roundRect">
            <a:avLst>
              <a:gd name="adj" fmla="val 5000"/>
            </a:avLst>
          </a:prstGeom>
          <a:solidFill>
            <a:srgbClr val="1B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2185416"/>
            <a:ext cx="5202936" cy="3035808"/>
          </a:xfrm>
          <a:prstGeom prst="rect">
            <a:avLst/>
          </a:prstGeom>
          <a:noFill/>
        </p:spPr>
        <p:txBody>
          <a:bodyPr wrap="square">
            <a:spAutoFit/>
          </a:bodyPr>
          <a:lstStyle/>
          <a:p>
            <a:pPr>
              <a:spcAft>
                <a:spcPts val="100"/>
              </a:spcAft>
            </a:pPr>
            <a:r>
              <a:rPr sz="1250" b="0">
                <a:solidFill>
                  <a:srgbClr val="E8E8E8"/>
                </a:solidFill>
                <a:latin typeface="Consolas"/>
              </a:rPr>
              <a:t>## STATIC EVIDENCE (no execution order)</a:t>
            </a:r>
          </a:p>
          <a:p>
            <a:pPr>
              <a:spcAft>
                <a:spcPts val="100"/>
              </a:spcAft>
            </a:pPr>
            <a:r>
              <a:rPr sz="1250" b="0">
                <a:solidFill>
                  <a:srgbClr val="E8E8E8"/>
                </a:solidFill>
                <a:latin typeface="Consolas"/>
              </a:rPr>
              <a:t># (a) suppressed at runtime -&gt; still real, KEEP</a:t>
            </a:r>
          </a:p>
          <a:p>
            <a:pPr>
              <a:spcAft>
                <a:spcPts val="100"/>
              </a:spcAft>
            </a:pPr>
            <a:r>
              <a:rPr sz="1250" b="0">
                <a:solidFill>
                  <a:srgbClr val="E8E8E8"/>
                </a:solidFill>
                <a:latin typeface="Consolas"/>
              </a:rPr>
              <a:t># (b) over-approximation -&gt; safe to DROP</a:t>
            </a:r>
          </a:p>
          <a:p>
            <a:pPr>
              <a:spcAft>
                <a:spcPts val="100"/>
              </a:spcAft>
            </a:pPr>
            <a:r>
              <a:rPr sz="1250" b="1">
                <a:solidFill>
                  <a:srgbClr val="E1A63B"/>
                </a:solidFill>
                <a:latin typeface="Consolas"/>
              </a:rPr>
              <a:t>Synchronization -&gt; Logging : flush     [ALSO dynamic]</a:t>
            </a:r>
          </a:p>
          <a:p>
            <a:pPr>
              <a:spcAft>
                <a:spcPts val="100"/>
              </a:spcAft>
            </a:pPr>
            <a:r>
              <a:rPr sz="1250" b="1">
                <a:solidFill>
                  <a:srgbClr val="E1A63B"/>
                </a:solidFill>
                <a:latin typeface="Consolas"/>
              </a:rPr>
              <a:t>Synchronization -&gt; Logging : instance  [ALSO dynamic]</a:t>
            </a:r>
          </a:p>
          <a:p>
            <a:pPr>
              <a:spcAft>
                <a:spcPts val="100"/>
              </a:spcAft>
            </a:pPr>
            <a:r>
              <a:rPr sz="1250" b="0">
                <a:solidFill>
                  <a:srgbClr val="E8E8E8"/>
                </a:solidFill>
                <a:latin typeface="Consolas"/>
              </a:rPr>
              <a:t> </a:t>
            </a:r>
          </a:p>
          <a:p>
            <a:pPr>
              <a:spcAft>
                <a:spcPts val="100"/>
              </a:spcAft>
            </a:pPr>
            <a:r>
              <a:rPr sz="1250" b="0">
                <a:solidFill>
                  <a:srgbClr val="E8E8E8"/>
                </a:solidFill>
                <a:latin typeface="Consolas"/>
              </a:rPr>
              <a:t>## DYNAMIC EVIDENCE (real execution order)</a:t>
            </a:r>
          </a:p>
          <a:p>
            <a:pPr>
              <a:spcAft>
                <a:spcPts val="100"/>
              </a:spcAft>
            </a:pPr>
            <a:r>
              <a:rPr sz="1250" b="0">
                <a:solidFill>
                  <a:srgbClr val="E8E8E8"/>
                </a:solidFill>
                <a:latin typeface="Consolas"/>
              </a:rPr>
              <a:t>[7] Sync -&gt; Logging : flush</a:t>
            </a:r>
          </a:p>
          <a:p>
            <a:pPr>
              <a:spcAft>
                <a:spcPts val="100"/>
              </a:spcAft>
            </a:pPr>
            <a:r>
              <a:rPr sz="1250" b="0">
                <a:solidFill>
                  <a:srgbClr val="E8E8E8"/>
                </a:solidFill>
                <a:latin typeface="Consolas"/>
              </a:rPr>
              <a:t>     (from SynchronizedRunner.runSynchronized)</a:t>
            </a:r>
          </a:p>
          <a:p>
            <a:pPr>
              <a:spcAft>
                <a:spcPts val="100"/>
              </a:spcAft>
            </a:pPr>
            <a:r>
              <a:rPr sz="1250" b="0">
                <a:solidFill>
                  <a:srgbClr val="E8E8E8"/>
                </a:solidFill>
                <a:latin typeface="Consolas"/>
              </a:rPr>
              <a:t>[8] Sync -&gt; Logging : instance</a:t>
            </a:r>
          </a:p>
          <a:p>
            <a:pPr>
              <a:spcAft>
                <a:spcPts val="100"/>
              </a:spcAft>
            </a:pPr>
            <a:r>
              <a:rPr sz="1250" b="0">
                <a:solidFill>
                  <a:srgbClr val="E8E8E8"/>
                </a:solidFill>
                <a:latin typeface="Consolas"/>
              </a:rPr>
              <a:t>     (from SynchronizedRunner.runSynchronized)</a:t>
            </a:r>
          </a:p>
        </p:txBody>
      </p:sp>
      <p:sp>
        <p:nvSpPr>
          <p:cNvPr id="9" name="Rounded Rectangle 8"/>
          <p:cNvSpPr/>
          <p:nvPr/>
        </p:nvSpPr>
        <p:spPr>
          <a:xfrm>
            <a:off x="6172200" y="2057400"/>
            <a:ext cx="5577840" cy="3291840"/>
          </a:xfrm>
          <a:prstGeom prst="roundRect">
            <a:avLst>
              <a:gd name="adj" fmla="val 5000"/>
            </a:avLst>
          </a:prstGeom>
          <a:solidFill>
            <a:srgbClr val="1B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36792" y="2185416"/>
            <a:ext cx="5248656" cy="3035808"/>
          </a:xfrm>
          <a:prstGeom prst="rect">
            <a:avLst/>
          </a:prstGeom>
          <a:noFill/>
        </p:spPr>
        <p:txBody>
          <a:bodyPr wrap="square">
            <a:spAutoFit/>
          </a:bodyPr>
          <a:lstStyle/>
          <a:p>
            <a:pPr>
              <a:spcAft>
                <a:spcPts val="100"/>
              </a:spcAft>
            </a:pPr>
            <a:r>
              <a:rPr sz="1250" b="0">
                <a:solidFill>
                  <a:srgbClr val="E8E8E8"/>
                </a:solidFill>
                <a:latin typeface="Consolas"/>
              </a:rPr>
              <a:t>// elements.json (final set)</a:t>
            </a:r>
          </a:p>
          <a:p>
            <a:pPr>
              <a:spcAft>
                <a:spcPts val="100"/>
              </a:spcAft>
            </a:pPr>
            <a:r>
              <a:rPr sz="1250" b="0">
                <a:solidFill>
                  <a:srgbClr val="E8E8E8"/>
                </a:solidFill>
                <a:latin typeface="Consolas"/>
              </a:rPr>
              <a:t>{"source":"Synchronization","target":"Logging",</a:t>
            </a:r>
          </a:p>
          <a:p>
            <a:pPr>
              <a:spcAft>
                <a:spcPts val="100"/>
              </a:spcAft>
            </a:pPr>
            <a:r>
              <a:rPr sz="1250" b="0">
                <a:solidFill>
                  <a:srgbClr val="E8E8E8"/>
                </a:solidFill>
                <a:latin typeface="Consolas"/>
              </a:rPr>
              <a:t>  "interaction":"flush"},</a:t>
            </a:r>
          </a:p>
          <a:p>
            <a:pPr>
              <a:spcAft>
                <a:spcPts val="100"/>
              </a:spcAft>
            </a:pPr>
            <a:r>
              <a:rPr sz="1250" b="0">
                <a:solidFill>
                  <a:srgbClr val="E8E8E8"/>
                </a:solidFill>
                <a:latin typeface="Consolas"/>
              </a:rPr>
              <a:t>{"source":"Synchronization","target":"Logging",</a:t>
            </a:r>
          </a:p>
          <a:p>
            <a:pPr>
              <a:spcAft>
                <a:spcPts val="100"/>
              </a:spcAft>
            </a:pPr>
            <a:r>
              <a:rPr sz="1250" b="0">
                <a:solidFill>
                  <a:srgbClr val="E8E8E8"/>
                </a:solidFill>
                <a:latin typeface="Consolas"/>
              </a:rPr>
              <a:t>  "interaction":"instance"},</a:t>
            </a:r>
          </a:p>
          <a:p>
            <a:pPr>
              <a:spcAft>
                <a:spcPts val="100"/>
              </a:spcAft>
            </a:pPr>
            <a:r>
              <a:rPr sz="1250" b="0">
                <a:solidFill>
                  <a:srgbClr val="E8E8E8"/>
                </a:solidFill>
                <a:latin typeface="Consolas"/>
              </a:rPr>
              <a:t>...</a:t>
            </a:r>
          </a:p>
          <a:p>
            <a:pPr>
              <a:spcAft>
                <a:spcPts val="100"/>
              </a:spcAft>
            </a:pPr>
            <a:r>
              <a:rPr sz="1250" b="0">
                <a:solidFill>
                  <a:srgbClr val="E8E8E8"/>
                </a:solidFill>
                <a:latin typeface="Consolas"/>
              </a:rPr>
              <a:t> </a:t>
            </a:r>
          </a:p>
          <a:p>
            <a:pPr>
              <a:spcAft>
                <a:spcPts val="100"/>
              </a:spcAft>
            </a:pPr>
            <a:r>
              <a:rPr sz="1250" b="1">
                <a:solidFill>
                  <a:srgbClr val="E1A63B"/>
                </a:solidFill>
                <a:latin typeface="Consolas"/>
              </a:rPr>
              <a:t>// sequence.json, steps 7-8</a:t>
            </a:r>
          </a:p>
          <a:p>
            <a:pPr>
              <a:spcAft>
                <a:spcPts val="100"/>
              </a:spcAft>
            </a:pPr>
            <a:r>
              <a:rPr sz="1250" b="1">
                <a:solidFill>
                  <a:srgbClr val="E1A63B"/>
                </a:solidFill>
                <a:latin typeface="Consolas"/>
              </a:rPr>
              <a:t>{"step":7,  ...,"interaction":"flush",   "note":""}</a:t>
            </a:r>
          </a:p>
          <a:p>
            <a:pPr>
              <a:spcAft>
                <a:spcPts val="100"/>
              </a:spcAft>
            </a:pPr>
            <a:r>
              <a:rPr sz="1250" b="0">
                <a:solidFill>
                  <a:srgbClr val="E8E8E8"/>
                </a:solidFill>
                <a:latin typeface="Consolas"/>
              </a:rPr>
              <a:t>{"step":8,  ...,"interaction":"instance","note":""}</a:t>
            </a:r>
          </a:p>
        </p:txBody>
      </p:sp>
      <p:sp>
        <p:nvSpPr>
          <p:cNvPr id="11" name="TextBox 10"/>
          <p:cNvSpPr txBox="1"/>
          <p:nvPr/>
        </p:nvSpPr>
        <p:spPr>
          <a:xfrm>
            <a:off x="457200" y="5532120"/>
            <a:ext cx="11247120" cy="777240"/>
          </a:xfrm>
          <a:prstGeom prst="rect">
            <a:avLst/>
          </a:prstGeom>
          <a:noFill/>
        </p:spPr>
        <p:txBody>
          <a:bodyPr wrap="square" anchor="t" lIns="45720" rIns="45720" tIns="18288" bIns="18288">
            <a:spAutoFit/>
          </a:bodyPr>
          <a:lstStyle/>
          <a:p>
            <a:pPr algn="l"/>
            <a:r>
              <a:rPr sz="1300" b="0" i="0">
                <a:solidFill>
                  <a:srgbClr val="222A33"/>
                </a:solidFill>
                <a:latin typeface="Calibri"/>
              </a:rPr>
              <a:t>Empty “note” fields matter: the agent notes a step ONLY when it came from a single source. All 11 S1 steps corroborate both ways — the agent's judgment call is trivial here.</a:t>
            </a:r>
          </a:p>
        </p:txBody>
      </p:sp>
      <p:sp>
        <p:nvSpPr>
          <p:cNvPr id="12" name="TextBox 11"/>
          <p:cNvSpPr txBox="1"/>
          <p:nvPr/>
        </p:nvSpPr>
        <p:spPr>
          <a:xfrm>
            <a:off x="365760" y="6519672"/>
            <a:ext cx="8686800" cy="292608"/>
          </a:xfrm>
          <a:prstGeom prst="rect">
            <a:avLst/>
          </a:prstGeom>
          <a:noFill/>
        </p:spPr>
        <p:txBody>
          <a:bodyPr wrap="square" anchor="t" lIns="45720" rIns="45720" tIns="18288" bIns="18288">
            <a:spAutoFit/>
          </a:bodyPr>
          <a:lstStyle/>
          <a:p>
            <a:pPr algn="l"/>
            <a:r>
              <a:rPr sz="900" b="0" i="0">
                <a:solidFill>
                  <a:srgbClr val="5A636E"/>
                </a:solidFill>
                <a:latin typeface="Calibri"/>
              </a:rPr>
              <a:t>The Hybrid Pipeline  ·  Prathik Anand Krishnan  ·  UvA / TNO-ESI</a:t>
            </a:r>
          </a:p>
        </p:txBody>
      </p:sp>
      <p:sp>
        <p:nvSpPr>
          <p:cNvPr id="13" name="TextBox 12"/>
          <p:cNvSpPr txBox="1"/>
          <p:nvPr/>
        </p:nvSpPr>
        <p:spPr>
          <a:xfrm>
            <a:off x="11155680" y="6519672"/>
            <a:ext cx="822960" cy="292608"/>
          </a:xfrm>
          <a:prstGeom prst="rect">
            <a:avLst/>
          </a:prstGeom>
          <a:noFill/>
        </p:spPr>
        <p:txBody>
          <a:bodyPr wrap="square" anchor="t" lIns="45720" rIns="45720" tIns="18288" bIns="18288">
            <a:spAutoFit/>
          </a:bodyPr>
          <a:lstStyle/>
          <a:p>
            <a:pPr algn="r"/>
            <a:r>
              <a:rPr sz="1000" b="0" i="0">
                <a:solidFill>
                  <a:srgbClr val="5A636E"/>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B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5720"/>
          </a:xfrm>
          <a:prstGeom prst="rect">
            <a:avLst/>
          </a:prstGeom>
          <a:solidFill>
            <a:srgbClr val="E18A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20040"/>
            <a:ext cx="9875520" cy="594360"/>
          </a:xfrm>
          <a:prstGeom prst="rect">
            <a:avLst/>
          </a:prstGeom>
          <a:noFill/>
        </p:spPr>
        <p:txBody>
          <a:bodyPr wrap="square" anchor="t" lIns="45720" rIns="45720" tIns="18288" bIns="18288">
            <a:spAutoFit/>
          </a:bodyPr>
          <a:lstStyle/>
          <a:p>
            <a:pPr algn="l"/>
            <a:r>
              <a:rPr sz="2400" b="1" i="0">
                <a:solidFill>
                  <a:srgbClr val="FFFFFF"/>
                </a:solidFill>
                <a:latin typeface="Calibri"/>
              </a:rPr>
              <a:t>Stage 6 : SysML v2 Generation: Elements → Scenario Diagram</a:t>
            </a:r>
          </a:p>
        </p:txBody>
      </p:sp>
      <p:sp>
        <p:nvSpPr>
          <p:cNvPr id="5" name="Rounded Rectangle 4"/>
          <p:cNvSpPr/>
          <p:nvPr/>
        </p:nvSpPr>
        <p:spPr>
          <a:xfrm>
            <a:off x="10698480" y="292608"/>
            <a:ext cx="1234440" cy="384048"/>
          </a:xfrm>
          <a:prstGeom prst="roundRect">
            <a:avLst>
              <a:gd name="adj" fmla="val 30000"/>
            </a:avLst>
          </a:prstGeom>
          <a:solidFill>
            <a:srgbClr val="1BA19C"/>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a:lstStyle/>
          <a:p>
            <a:pPr algn="ctr"/>
            <a:r>
              <a:rPr sz="1200" b="1">
                <a:solidFill>
                  <a:srgbClr val="FFFFFF"/>
                </a:solidFill>
                <a:latin typeface="Calibri"/>
              </a:rPr>
              <a:t>STAGE 6 / 6</a:t>
            </a:r>
          </a:p>
        </p:txBody>
      </p:sp>
      <p:sp>
        <p:nvSpPr>
          <p:cNvPr id="6" name="TextBox 5"/>
          <p:cNvSpPr txBox="1"/>
          <p:nvPr/>
        </p:nvSpPr>
        <p:spPr>
          <a:xfrm>
            <a:off x="457200" y="1143000"/>
            <a:ext cx="11247120" cy="640080"/>
          </a:xfrm>
          <a:prstGeom prst="rect">
            <a:avLst/>
          </a:prstGeom>
          <a:noFill/>
        </p:spPr>
        <p:txBody>
          <a:bodyPr wrap="square" anchor="t" lIns="45720" rIns="45720" tIns="18288" bIns="18288">
            <a:spAutoFit/>
          </a:bodyPr>
          <a:lstStyle/>
          <a:p>
            <a:pPr algn="l"/>
            <a:r>
              <a:rPr sz="1400" b="0" i="0">
                <a:solidFill>
                  <a:srgbClr val="222A33"/>
                </a:solidFill>
                <a:latin typeface="Calibri"/>
              </a:rPr>
              <a:t>SysML v2 structural and sequence models are generated using the draw-sysml-structural-model and draw-sysml-sequence-model agent skills. Each element becomes a typed port pair and each sequence step becomes a labelled SynchronousCall.</a:t>
            </a:r>
          </a:p>
        </p:txBody>
      </p:sp>
      <p:sp>
        <p:nvSpPr>
          <p:cNvPr id="7" name="Rounded Rectangle 6"/>
          <p:cNvSpPr/>
          <p:nvPr/>
        </p:nvSpPr>
        <p:spPr>
          <a:xfrm>
            <a:off x="457200" y="1920240"/>
            <a:ext cx="11292840" cy="4206240"/>
          </a:xfrm>
          <a:prstGeom prst="roundRect">
            <a:avLst>
              <a:gd name="adj" fmla="val 5000"/>
            </a:avLst>
          </a:prstGeom>
          <a:solidFill>
            <a:srgbClr val="1B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2048256"/>
            <a:ext cx="10963656" cy="3950208"/>
          </a:xfrm>
          <a:prstGeom prst="rect">
            <a:avLst/>
          </a:prstGeom>
          <a:noFill/>
        </p:spPr>
        <p:txBody>
          <a:bodyPr wrap="square">
            <a:spAutoFit/>
          </a:bodyPr>
          <a:lstStyle/>
          <a:p>
            <a:pPr>
              <a:spcAft>
                <a:spcPts val="100"/>
              </a:spcAft>
            </a:pPr>
            <a:r>
              <a:rPr sz="1500" b="0">
                <a:solidFill>
                  <a:srgbClr val="E8E8E8"/>
                </a:solidFill>
                <a:latin typeface="Consolas"/>
              </a:rPr>
              <a:t>package ComponentModel_S1 {</a:t>
            </a:r>
          </a:p>
          <a:p>
            <a:pPr>
              <a:spcAft>
                <a:spcPts val="100"/>
              </a:spcAft>
            </a:pPr>
            <a:r>
              <a:rPr sz="1500" b="0">
                <a:solidFill>
                  <a:srgbClr val="E8E8E8"/>
                </a:solidFill>
                <a:latin typeface="Consolas"/>
              </a:rPr>
              <a:t>    port def Instance;  // ...Flush, GetAll, Stream</a:t>
            </a:r>
          </a:p>
          <a:p>
            <a:pPr>
              <a:spcAft>
                <a:spcPts val="100"/>
              </a:spcAft>
            </a:pPr>
            <a:r>
              <a:rPr sz="1500" b="0">
                <a:solidFill>
                  <a:srgbClr val="E8E8E8"/>
                </a:solidFill>
                <a:latin typeface="Consolas"/>
              </a:rPr>
              <a:t>    part def Logging { port serverInstance : Instance; }</a:t>
            </a:r>
          </a:p>
          <a:p>
            <a:pPr>
              <a:spcAft>
                <a:spcPts val="100"/>
              </a:spcAft>
            </a:pPr>
            <a:r>
              <a:rPr sz="1500" b="0">
                <a:solidFill>
                  <a:srgbClr val="E8E8E8"/>
                </a:solidFill>
                <a:latin typeface="Consolas"/>
              </a:rPr>
              <a:t>    part def Synchronization { port clientInstance : Instance; }</a:t>
            </a:r>
          </a:p>
          <a:p>
            <a:pPr>
              <a:spcAft>
                <a:spcPts val="100"/>
              </a:spcAft>
            </a:pPr>
            <a:r>
              <a:rPr sz="1500" b="0">
                <a:solidFill>
                  <a:srgbClr val="E8E8E8"/>
                </a:solidFill>
                <a:latin typeface="Consolas"/>
              </a:rPr>
              <a:t>    part def S1System {</a:t>
            </a:r>
          </a:p>
          <a:p>
            <a:pPr>
              <a:spcAft>
                <a:spcPts val="100"/>
              </a:spcAft>
            </a:pPr>
            <a:r>
              <a:rPr sz="1500" b="0">
                <a:solidFill>
                  <a:srgbClr val="E8E8E8"/>
                </a:solidFill>
                <a:latin typeface="Consolas"/>
              </a:rPr>
              <a:t>        connect logging.serverInstance to synchronization.clientInstance;</a:t>
            </a:r>
          </a:p>
          <a:p>
            <a:pPr>
              <a:spcAft>
                <a:spcPts val="100"/>
              </a:spcAft>
            </a:pPr>
            <a:r>
              <a:rPr sz="1500" b="0">
                <a:solidFill>
                  <a:srgbClr val="E8E8E8"/>
                </a:solidFill>
                <a:latin typeface="Consolas"/>
              </a:rPr>
              <a:t>    }</a:t>
            </a:r>
          </a:p>
          <a:p>
            <a:pPr>
              <a:spcAft>
                <a:spcPts val="100"/>
              </a:spcAft>
            </a:pPr>
            <a:r>
              <a:rPr sz="1500" b="0">
                <a:solidFill>
                  <a:srgbClr val="E8E8E8"/>
                </a:solidFill>
                <a:latin typeface="Consolas"/>
              </a:rPr>
              <a:t>}</a:t>
            </a:r>
          </a:p>
          <a:p>
            <a:pPr>
              <a:spcAft>
                <a:spcPts val="100"/>
              </a:spcAft>
            </a:pPr>
            <a:r>
              <a:rPr sz="1500" b="0">
                <a:solidFill>
                  <a:srgbClr val="E8E8E8"/>
                </a:solidFill>
                <a:latin typeface="Consolas"/>
              </a:rPr>
              <a:t>package CPScoreInteractionModels_S1 {</a:t>
            </a:r>
          </a:p>
          <a:p>
            <a:pPr>
              <a:spcAft>
                <a:spcPts val="100"/>
              </a:spcAft>
            </a:pPr>
            <a:r>
              <a:rPr sz="1500" b="0">
                <a:solidFill>
                  <a:srgbClr val="E8E8E8"/>
                </a:solidFill>
                <a:latin typeface="Consolas"/>
              </a:rPr>
              <a:t>    part m8_instance : SynchronousCall {</a:t>
            </a:r>
          </a:p>
          <a:p>
            <a:pPr>
              <a:spcAft>
                <a:spcPts val="100"/>
              </a:spcAft>
            </a:pPr>
            <a:r>
              <a:rPr sz="1500" b="0">
                <a:solidFill>
                  <a:srgbClr val="E8E8E8"/>
                </a:solidFill>
                <a:latin typeface="Consolas"/>
              </a:rPr>
              <a:t>        ref from : Lifeline = synchronization;</a:t>
            </a:r>
          </a:p>
          <a:p>
            <a:pPr>
              <a:spcAft>
                <a:spcPts val="100"/>
              </a:spcAft>
            </a:pPr>
            <a:r>
              <a:rPr sz="1500" b="0">
                <a:solidFill>
                  <a:srgbClr val="E8E8E8"/>
                </a:solidFill>
                <a:latin typeface="Consolas"/>
              </a:rPr>
              <a:t>        ref to   : Lifeline = logging;</a:t>
            </a:r>
          </a:p>
          <a:p>
            <a:pPr>
              <a:spcAft>
                <a:spcPts val="100"/>
              </a:spcAft>
            </a:pPr>
            <a:r>
              <a:rPr sz="1500" b="0">
                <a:solidFill>
                  <a:srgbClr val="E8E8E8"/>
                </a:solidFill>
                <a:latin typeface="Consolas"/>
              </a:rPr>
              <a:t>        attribute :&gt;&gt; label = "8. instance";</a:t>
            </a:r>
          </a:p>
          <a:p>
            <a:pPr>
              <a:spcAft>
                <a:spcPts val="100"/>
              </a:spcAft>
            </a:pPr>
            <a:r>
              <a:rPr sz="1500" b="0">
                <a:solidFill>
                  <a:srgbClr val="E8E8E8"/>
                </a:solidFill>
                <a:latin typeface="Consolas"/>
              </a:rPr>
              <a:t>    }</a:t>
            </a:r>
          </a:p>
          <a:p>
            <a:pPr>
              <a:spcAft>
                <a:spcPts val="100"/>
              </a:spcAft>
            </a:pPr>
            <a:r>
              <a:rPr sz="1500" b="0">
                <a:solidFill>
                  <a:srgbClr val="E8E8E8"/>
                </a:solidFill>
                <a:latin typeface="Consolas"/>
              </a:rPr>
              <a:t>}</a:t>
            </a:r>
          </a:p>
        </p:txBody>
      </p:sp>
      <p:sp>
        <p:nvSpPr>
          <p:cNvPr id="9" name="TextBox 8"/>
          <p:cNvSpPr txBox="1"/>
          <p:nvPr/>
        </p:nvSpPr>
        <p:spPr>
          <a:xfrm>
            <a:off x="365760" y="6519672"/>
            <a:ext cx="8686800" cy="292608"/>
          </a:xfrm>
          <a:prstGeom prst="rect">
            <a:avLst/>
          </a:prstGeom>
          <a:noFill/>
        </p:spPr>
        <p:txBody>
          <a:bodyPr wrap="square" anchor="t" lIns="45720" rIns="45720" tIns="18288" bIns="18288">
            <a:spAutoFit/>
          </a:bodyPr>
          <a:lstStyle/>
          <a:p>
            <a:pPr algn="l"/>
            <a:r>
              <a:rPr sz="900" b="0" i="0">
                <a:solidFill>
                  <a:srgbClr val="5A636E"/>
                </a:solidFill>
                <a:latin typeface="Calibri"/>
              </a:rPr>
              <a:t>The Hybrid Pipeline  ·  Prathik Anand Krishnan  ·  UvA / TNO-ESI</a:t>
            </a:r>
          </a:p>
        </p:txBody>
      </p:sp>
      <p:sp>
        <p:nvSpPr>
          <p:cNvPr id="10" name="TextBox 9"/>
          <p:cNvSpPr txBox="1"/>
          <p:nvPr/>
        </p:nvSpPr>
        <p:spPr>
          <a:xfrm>
            <a:off x="11155680" y="6519672"/>
            <a:ext cx="822960" cy="292608"/>
          </a:xfrm>
          <a:prstGeom prst="rect">
            <a:avLst/>
          </a:prstGeom>
          <a:noFill/>
        </p:spPr>
        <p:txBody>
          <a:bodyPr wrap="square" anchor="t" lIns="45720" rIns="45720" tIns="18288" bIns="18288">
            <a:spAutoFit/>
          </a:bodyPr>
          <a:lstStyle/>
          <a:p>
            <a:pPr algn="r"/>
            <a:r>
              <a:rPr sz="1000" b="0" i="0">
                <a:solidFill>
                  <a:srgbClr val="5A636E"/>
                </a:solidFill>
                <a:latin typeface="Calibri"/>
              </a:rPr>
              <a:t>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