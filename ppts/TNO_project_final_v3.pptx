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comments/modernComment_1A5_D195E6CE.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A8_294BA3FA.xml" ContentType="application/vnd.ms-powerpoint.comments+xml"/>
  <Override PartName="/ppt/notesSlides/notesSlide8.xml" ContentType="application/vnd.openxmlformats-officedocument.presentationml.notesSlide+xml"/>
  <Override PartName="/ppt/comments/modernComment_1C8_C69BCFDA.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1B2_1C7AC93D.xml" ContentType="application/vnd.ms-powerpoint.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omments/modernComment_1B1_92CC96AC.xml" ContentType="application/vnd.ms-powerpoint.comment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omments/modernComment_165_67511C01.xml" ContentType="application/vnd.ms-powerpoint.comments+xml"/>
  <Override PartName="/ppt/notesSlides/notesSlide23.xml" ContentType="application/vnd.openxmlformats-officedocument.presentationml.notesSlide+xml"/>
  <Override PartName="/ppt/comments/modernComment_15D_52A0B324.xml" ContentType="application/vnd.ms-powerpoint.comments+xml"/>
  <Override PartName="/ppt/comments/modernComment_186_71847901.xml" ContentType="application/vnd.ms-powerpoint.comment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4.xml" ContentType="application/vnd.openxmlformats-officedocument.presentationml.notesSlide+xml"/>
  <Override PartName="/ppt/comments/modernComment_172_4D5AE85A.xml" ContentType="application/vnd.ms-powerpoint.comments+xml"/>
  <Override PartName="/ppt/comments/modernComment_17B_0.xml" ContentType="application/vnd.ms-powerpoint.comments+xml"/>
  <Override PartName="/ppt/comments/modernComment_188_33457153.xml" ContentType="application/vnd.ms-powerpoint.comments+xml"/>
  <Override PartName="/ppt/notesSlides/notesSlide2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omments/modernComment_192_0.xml" ContentType="application/vnd.ms-powerpoint.comments+xml"/>
  <Override PartName="/ppt/comments/modernComment_193_0.xml" ContentType="application/vnd.ms-powerpoint.comments+xml"/>
  <Override PartName="/ppt/comments/modernComment_194_0.xml" ContentType="application/vnd.ms-powerpoint.comment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omments/modernComment_17C_0.xml" ContentType="application/vnd.ms-powerpoint.comments+xml"/>
  <Override PartName="/ppt/comments/modernComment_18E_C1D53EFB.xml" ContentType="application/vnd.ms-powerpoint.comments+xml"/>
  <Override PartName="/ppt/comments/modernComment_17D_0.xml" ContentType="application/vnd.ms-powerpoint.comments+xml"/>
  <Override PartName="/ppt/comments/modernComment_185_7D020D4A.xml" ContentType="application/vnd.ms-powerpoint.comment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omments/modernComment_167_90842B7A.xml" ContentType="application/vnd.ms-powerpoint.comments+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81"/>
  </p:notesMasterIdLst>
  <p:handoutMasterIdLst>
    <p:handoutMasterId r:id="rId82"/>
  </p:handoutMasterIdLst>
  <p:sldIdLst>
    <p:sldId id="415" r:id="rId5"/>
    <p:sldId id="416" r:id="rId6"/>
    <p:sldId id="417" r:id="rId7"/>
    <p:sldId id="455" r:id="rId8"/>
    <p:sldId id="419" r:id="rId9"/>
    <p:sldId id="420" r:id="rId10"/>
    <p:sldId id="421" r:id="rId11"/>
    <p:sldId id="422" r:id="rId12"/>
    <p:sldId id="424" r:id="rId13"/>
    <p:sldId id="456" r:id="rId14"/>
    <p:sldId id="457" r:id="rId15"/>
    <p:sldId id="434" r:id="rId16"/>
    <p:sldId id="458" r:id="rId17"/>
    <p:sldId id="459" r:id="rId18"/>
    <p:sldId id="461" r:id="rId19"/>
    <p:sldId id="446" r:id="rId20"/>
    <p:sldId id="447" r:id="rId21"/>
    <p:sldId id="448" r:id="rId22"/>
    <p:sldId id="460" r:id="rId23"/>
    <p:sldId id="450" r:id="rId24"/>
    <p:sldId id="451" r:id="rId25"/>
    <p:sldId id="452" r:id="rId26"/>
    <p:sldId id="462" r:id="rId27"/>
    <p:sldId id="454" r:id="rId28"/>
    <p:sldId id="433" r:id="rId29"/>
    <p:sldId id="449" r:id="rId30"/>
    <p:sldId id="346" r:id="rId31"/>
    <p:sldId id="257" r:id="rId32"/>
    <p:sldId id="357" r:id="rId33"/>
    <p:sldId id="349" r:id="rId34"/>
    <p:sldId id="390" r:id="rId35"/>
    <p:sldId id="410" r:id="rId36"/>
    <p:sldId id="370" r:id="rId37"/>
    <p:sldId id="379" r:id="rId38"/>
    <p:sldId id="392" r:id="rId39"/>
    <p:sldId id="393" r:id="rId40"/>
    <p:sldId id="409" r:id="rId41"/>
    <p:sldId id="402" r:id="rId42"/>
    <p:sldId id="403" r:id="rId43"/>
    <p:sldId id="404" r:id="rId44"/>
    <p:sldId id="405" r:id="rId45"/>
    <p:sldId id="406" r:id="rId46"/>
    <p:sldId id="407" r:id="rId47"/>
    <p:sldId id="408" r:id="rId48"/>
    <p:sldId id="380" r:id="rId49"/>
    <p:sldId id="398" r:id="rId50"/>
    <p:sldId id="394" r:id="rId51"/>
    <p:sldId id="400" r:id="rId52"/>
    <p:sldId id="413" r:id="rId53"/>
    <p:sldId id="414" r:id="rId54"/>
    <p:sldId id="401" r:id="rId55"/>
    <p:sldId id="381" r:id="rId56"/>
    <p:sldId id="382" r:id="rId57"/>
    <p:sldId id="386" r:id="rId58"/>
    <p:sldId id="387" r:id="rId59"/>
    <p:sldId id="388" r:id="rId60"/>
    <p:sldId id="389" r:id="rId61"/>
    <p:sldId id="383" r:id="rId62"/>
    <p:sldId id="384" r:id="rId63"/>
    <p:sldId id="372" r:id="rId64"/>
    <p:sldId id="373" r:id="rId65"/>
    <p:sldId id="374" r:id="rId66"/>
    <p:sldId id="375" r:id="rId67"/>
    <p:sldId id="376" r:id="rId68"/>
    <p:sldId id="412" r:id="rId69"/>
    <p:sldId id="344" r:id="rId70"/>
    <p:sldId id="385" r:id="rId71"/>
    <p:sldId id="359" r:id="rId72"/>
    <p:sldId id="258" r:id="rId73"/>
    <p:sldId id="365" r:id="rId74"/>
    <p:sldId id="367" r:id="rId75"/>
    <p:sldId id="368" r:id="rId76"/>
    <p:sldId id="369" r:id="rId77"/>
    <p:sldId id="362" r:id="rId78"/>
    <p:sldId id="364" r:id="rId79"/>
    <p:sldId id="411" r:id="rId8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52"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A3D024-909B-3BC2-1496-FEEAB652808A}" name="Sher Dionisio" initials="" userId="S::Sher.Dionisio@teksystemsgs.com::02daa716-9709-4d47-a153-1943ce1675cb" providerId="AD"/>
  <p188:author id="{129DFD28-E731-E8D5-7D1E-BFEBD96854E7}" name="Prathik Anand Krishnan" initials="PA" userId="Prathik Anand Krishnan" providerId="None"/>
  <p188:author id="{E3A4AC88-1F38-2D15-4F33-8B3B4A3AA3B8}" name="Corvino, R. (Rosilde)" initials="RC" userId="S::rosilde.corvino@tno.nl::302a6903-09fe-4989-a994-17373535285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5736D"/>
    <a:srgbClr val="151F14"/>
    <a:srgbClr val="7A786C"/>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1356" autoAdjust="0"/>
  </p:normalViewPr>
  <p:slideViewPr>
    <p:cSldViewPr snapToGrid="0">
      <p:cViewPr varScale="1">
        <p:scale>
          <a:sx n="77" d="100"/>
          <a:sy n="77" d="100"/>
        </p:scale>
        <p:origin x="58" y="72"/>
      </p:cViewPr>
      <p:guideLst>
        <p:guide orient="horz" pos="1752"/>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10109"/>
    </p:cViewPr>
  </p:sorterViewPr>
  <p:notesViewPr>
    <p:cSldViewPr snapToGrid="0" showGuides="1">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presProps" Target="pres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commentAuthors" Target="commentAuthors.xml"/><Relationship Id="rId88"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notesMaster" Target="notesMasters/notesMaster1.xml"/><Relationship Id="rId86"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tableStyles" Target="tableStyles.xml"/><Relationship Id="rId61" Type="http://schemas.openxmlformats.org/officeDocument/2006/relationships/slide" Target="slides/slide57.xml"/><Relationship Id="rId82" Type="http://schemas.openxmlformats.org/officeDocument/2006/relationships/handoutMaster" Target="handoutMasters/handoutMaster1.xml"/></Relationships>
</file>

<file path=ppt/comments/modernComment_1A5_D195E6CE.xml><?xml version="1.0" encoding="utf-8"?>
<p188:cmLst xmlns:a="http://schemas.openxmlformats.org/drawingml/2006/main" xmlns:r="http://schemas.openxmlformats.org/officeDocument/2006/relationships" xmlns:p188="http://schemas.microsoft.com/office/powerpoint/2018/8/main">
  <p188:cm id="{C5426218-9BA4-487A-807C-E0B63291B1FA}" authorId="{E3A4AC88-1F38-2D15-4F33-8B3B4A3AA3B8}" created="2026-07-20T07:53:06.662">
    <ac:txMkLst xmlns:ac="http://schemas.microsoft.com/office/drawing/2013/main/command">
      <pc:docMk xmlns:pc="http://schemas.microsoft.com/office/powerpoint/2013/main/command"/>
      <pc:sldMk xmlns:pc="http://schemas.microsoft.com/office/powerpoint/2013/main/command" cId="3516262094" sldId="421"/>
      <ac:spMk id="3" creationId="{211CA02A-819A-0F9F-2700-FB232077A801}"/>
      <ac:txMk cp="0" len="6">
        <ac:context len="507" hash="2865379112"/>
      </ac:txMk>
    </ac:txMkLst>
    <p188:pos x="879713" y="156473"/>
    <p188:txBody>
      <a:bodyPr/>
      <a:lstStyle/>
      <a:p>
        <a:r>
          <a:rPr lang="en-US"/>
          <a:t>I see 8</a:t>
        </a:r>
      </a:p>
    </p188:txBody>
  </p188:cm>
</p188:cmLst>
</file>

<file path=ppt/comments/modernComment_1A8_294BA3FA.xml><?xml version="1.0" encoding="utf-8"?>
<p188:cmLst xmlns:a="http://schemas.openxmlformats.org/drawingml/2006/main" xmlns:r="http://schemas.openxmlformats.org/officeDocument/2006/relationships" xmlns:p188="http://schemas.microsoft.com/office/powerpoint/2018/8/main">
  <p188:cm id="{F5985B83-DCB8-4F3B-A963-1B806580C60F}" authorId="{129DFD28-E731-E8D5-7D1E-BFEBD96854E7}" created="2026-07-20T14:27:59.242">
    <pc:sldMkLst xmlns:pc="http://schemas.microsoft.com/office/powerpoint/2013/main/command">
      <pc:docMk/>
      <pc:sldMk cId="692823034" sldId="424"/>
    </pc:sldMkLst>
    <p188:txBody>
      <a:bodyPr/>
      <a:lstStyle/>
      <a:p>
        <a:r>
          <a:rPr lang="en-GB"/>
          <a:t>Config for the python tool
Clang-uml - for verification
Human - for manual verification
</a:t>
        </a:r>
      </a:p>
    </p188:txBody>
  </p188:cm>
</p188:cmLst>
</file>

<file path=ppt/comments/modernComment_1B1_92CC96AC.xml><?xml version="1.0" encoding="utf-8"?>
<p188:cmLst xmlns:a="http://schemas.openxmlformats.org/drawingml/2006/main" xmlns:r="http://schemas.openxmlformats.org/officeDocument/2006/relationships" xmlns:p188="http://schemas.microsoft.com/office/powerpoint/2018/8/main">
  <p188:cm id="{E369F825-D39C-400C-97C7-2AC285F8C3A1}" authorId="{129DFD28-E731-E8D5-7D1E-BFEBD96854E7}" status="resolved" created="2026-07-16T12:52:12.939">
    <ac:deMkLst xmlns:ac="http://schemas.microsoft.com/office/drawing/2013/main/command">
      <pc:docMk xmlns:pc="http://schemas.microsoft.com/office/powerpoint/2013/main/command"/>
      <pc:sldMk xmlns:pc="http://schemas.microsoft.com/office/powerpoint/2013/main/command" cId="2462881452" sldId="433"/>
      <ac:spMk id="3" creationId="{1F07DA3B-F8FA-CBD6-0F0A-8942DC67E0CB}"/>
    </ac:deMkLst>
    <p188:replyLst>
      <p188:reply id="{063589D2-FF22-403D-BCE3-177F1BB9FA9E}" authorId="{129DFD28-E731-E8D5-7D1E-BFEBD96854E7}" created="2026-07-16T12:52:32.397">
        <p188:txBody>
          <a:bodyPr/>
          <a:lstStyle/>
          <a:p>
            <a:r>
              <a:rPr lang="en-GB"/>
              <a:t>Dicuss only 1 scenario</a:t>
            </a:r>
          </a:p>
        </p188:txBody>
      </p188:reply>
    </p188:replyLst>
    <p188:txBody>
      <a:bodyPr/>
      <a:lstStyle/>
      <a:p>
        <a:r>
          <a:rPr lang="en-GB"/>
          <a:t>Ground truth we need to show.</a:t>
        </a:r>
      </a:p>
    </p188:txBody>
  </p188:cm>
  <p188:cm id="{98ED6AED-8E97-4385-9F45-BFD9C90FC3AB}" authorId="{129DFD28-E731-E8D5-7D1E-BFEBD96854E7}" status="resolved" created="2026-07-17T14:52:02.534">
    <pc:sldMkLst xmlns:pc="http://schemas.microsoft.com/office/powerpoint/2013/main/command">
      <pc:docMk/>
      <pc:sldMk cId="0" sldId="380"/>
    </pc:sldMkLst>
    <p188:txBody>
      <a:bodyPr/>
      <a:lstStyle/>
      <a:p>
        <a:r>
          <a:rPr lang="en-GB"/>
          <a:t>Actual test cases for each scenario
the artifacts used to calculate Precesion, Recall and ref - H1, H2 and H3
in gitlab</a:t>
        </a:r>
      </a:p>
    </p188:txBody>
  </p188:cm>
  <p188:cm id="{91C39E60-0AF7-4732-85CC-D5ABBA3D2486}" authorId="{E3A4AC88-1F38-2D15-4F33-8B3B4A3AA3B8}" created="2026-07-20T09:21:38.381">
    <ac:txMkLst xmlns:ac="http://schemas.microsoft.com/office/drawing/2013/main/command">
      <pc:docMk xmlns:pc="http://schemas.microsoft.com/office/powerpoint/2013/main/command"/>
      <pc:sldMk xmlns:pc="http://schemas.microsoft.com/office/powerpoint/2013/main/command" cId="2462881452" sldId="433"/>
      <ac:spMk id="3" creationId="{1F07DA3B-F8FA-CBD6-0F0A-8942DC67E0CB}"/>
      <ac:txMk cp="226" len="67">
        <ac:context len="550" hash="3655189909"/>
      </ac:txMk>
    </ac:txMkLst>
    <p188:pos x="5967341" y="2850970"/>
    <p188:txBody>
      <a:bodyPr/>
      <a:lstStyle/>
      <a:p>
        <a:r>
          <a:rPr lang="en-US"/>
          <a:t>I also added the full_trace</a:t>
        </a:r>
      </a:p>
    </p188:txBody>
  </p188:cm>
</p188:cmLst>
</file>

<file path=ppt/comments/modernComment_1B2_1C7AC93D.xml><?xml version="1.0" encoding="utf-8"?>
<p188:cmLst xmlns:a="http://schemas.openxmlformats.org/drawingml/2006/main" xmlns:r="http://schemas.openxmlformats.org/officeDocument/2006/relationships" xmlns:p188="http://schemas.microsoft.com/office/powerpoint/2018/8/main">
  <p188:cm id="{32BE1CE3-1B37-4C59-BCDA-A26DD520D2DA}" authorId="{E3A4AC88-1F38-2D15-4F33-8B3B4A3AA3B8}" created="2026-07-20T09:23:05.333">
    <pc:sldMkLst xmlns:pc="http://schemas.microsoft.com/office/powerpoint/2013/main/command">
      <pc:docMk/>
      <pc:sldMk cId="3251977979" sldId="398"/>
    </pc:sldMkLst>
    <p188:txBody>
      <a:bodyPr/>
      <a:lstStyle/>
      <a:p>
        <a:r>
          <a:rPr lang="en-US"/>
          <a:t>Only one example is enough </a:t>
        </a:r>
      </a:p>
    </p188:txBody>
  </p188:cm>
</p188:cmLst>
</file>

<file path=ppt/comments/modernComment_1C8_C69BCFDA.xml><?xml version="1.0" encoding="utf-8"?>
<p188:cmLst xmlns:a="http://schemas.openxmlformats.org/drawingml/2006/main" xmlns:r="http://schemas.openxmlformats.org/officeDocument/2006/relationships" xmlns:p188="http://schemas.microsoft.com/office/powerpoint/2018/8/main">
  <p188:cm id="{937500A2-06B9-4A34-977C-05EE659F6209}" authorId="{129DFD28-E731-E8D5-7D1E-BFEBD96854E7}" created="2026-07-20T14:30:38.538">
    <pc:sldMkLst xmlns:pc="http://schemas.microsoft.com/office/powerpoint/2013/main/command">
      <pc:docMk/>
      <pc:sldMk cId="3332100058" sldId="456"/>
    </pc:sldMkLst>
    <p188:replyLst>
      <p188:reply id="{280ABF0A-4B48-427E-9770-80E2F71C9EAF}" authorId="{129DFD28-E731-E8D5-7D1E-BFEBD96854E7}" created="2026-07-20T14:31:02.870">
        <p188:txBody>
          <a:bodyPr/>
          <a:lstStyle/>
          <a:p>
            <a:r>
              <a:rPr lang="en-GB"/>
              <a:t>We do the scoping at the instrumentation level, so that we do not need to run the whole program every time.</a:t>
            </a:r>
          </a:p>
        </p188:txBody>
      </p188:reply>
    </p188:replyLst>
    <p188:txBody>
      <a:bodyPr/>
      <a:lstStyle/>
      <a:p>
        <a:r>
          <a:rPr lang="en-GB"/>
          <a:t>Traces are done for all scenarios. So, we get the total runtime traces</a:t>
        </a:r>
      </a:p>
    </p188:txBody>
  </p188:cm>
  <p188:cm id="{63FADD9D-F1FB-4E27-BA31-2E3F15B8D0A1}" authorId="{129DFD28-E731-E8D5-7D1E-BFEBD96854E7}" created="2026-07-20T14:34:46.591">
    <pc:sldMkLst xmlns:pc="http://schemas.microsoft.com/office/powerpoint/2013/main/command">
      <pc:docMk/>
      <pc:sldMk cId="3332100058" sldId="456"/>
    </pc:sldMkLst>
    <p188:txBody>
      <a:bodyPr/>
      <a:lstStyle/>
      <a:p>
        <a:r>
          <a:rPr lang="en-GB"/>
          <a:t>Python script to do the union and tagging</a:t>
        </a:r>
      </a:p>
    </p188:txBody>
  </p188:cm>
</p188:cmLst>
</file>

<file path=ppt/comments/modernComment_15D_52A0B324.xml><?xml version="1.0" encoding="utf-8"?>
<p188:cmLst xmlns:a="http://schemas.openxmlformats.org/drawingml/2006/main" xmlns:r="http://schemas.openxmlformats.org/officeDocument/2006/relationships" xmlns:p188="http://schemas.microsoft.com/office/powerpoint/2018/8/main">
  <p188:cm id="{3D0D8555-0750-4D77-8BAE-606DE5490BFE}" authorId="{129DFD28-E731-E8D5-7D1E-BFEBD96854E7}" created="2026-07-15T13:12:27.983">
    <pc:sldMkLst xmlns:pc="http://schemas.microsoft.com/office/powerpoint/2013/main/command">
      <pc:docMk/>
      <pc:sldMk cId="1386263332" sldId="349"/>
    </pc:sldMkLst>
    <p188:txBody>
      <a:bodyPr/>
      <a:lstStyle/>
      <a:p>
        <a:r>
          <a:rPr lang="en-GB"/>
          <a:t>Papers to be referenced. [x] : refer them in the last.</a:t>
        </a:r>
      </a:p>
    </p188:txBody>
  </p188:cm>
  <p188:cm id="{468B91E4-EC99-4B81-9CFD-4FF4A7F35954}" authorId="{129DFD28-E731-E8D5-7D1E-BFEBD96854E7}" created="2026-07-15T13:14:40.184">
    <pc:sldMkLst xmlns:pc="http://schemas.microsoft.com/office/powerpoint/2013/main/command">
      <pc:docMk/>
      <pc:sldMk cId="1386263332" sldId="349"/>
    </pc:sldMkLst>
    <p188:txBody>
      <a:bodyPr/>
      <a:lstStyle/>
      <a:p>
        <a:r>
          <a:rPr lang="en-GB"/>
          <a:t>Ex. If you Branches if you have - you will overcapture for an interaction.</a:t>
        </a:r>
      </a:p>
    </p188:txBody>
  </p188:cm>
  <p188:cm id="{C5FDA50A-7128-43F5-9E30-4AC55A8754BE}" authorId="{129DFD28-E731-E8D5-7D1E-BFEBD96854E7}" created="2026-07-15T13:16:41.106">
    <pc:sldMkLst xmlns:pc="http://schemas.microsoft.com/office/powerpoint/2013/main/command">
      <pc:docMk/>
      <pc:sldMk cId="1386263332" sldId="349"/>
    </pc:sldMkLst>
    <p188:txBody>
      <a:bodyPr/>
      <a:lstStyle/>
      <a:p>
        <a:r>
          <a:rPr lang="en-GB"/>
          <a:t>Hybrid : they do not do scenario specifics - they do it on full systems - add references [x]</a:t>
        </a:r>
      </a:p>
    </p188:txBody>
  </p188:cm>
  <p188:cm id="{F2A17774-6D0C-4B2C-B75D-53494AF948F8}" authorId="{129DFD28-E731-E8D5-7D1E-BFEBD96854E7}" created="2026-07-15T13:18:05.135">
    <ac:deMkLst xmlns:ac="http://schemas.microsoft.com/office/drawing/2013/main/command">
      <pc:docMk xmlns:pc="http://schemas.microsoft.com/office/powerpoint/2013/main/command"/>
      <pc:sldMk xmlns:pc="http://schemas.microsoft.com/office/powerpoint/2013/main/command" cId="1386263332" sldId="349"/>
      <ac:spMk id="5" creationId="{3D6F48DD-3E1C-ACE5-C1C5-A45079769380}"/>
    </ac:deMkLst>
    <p188:txBody>
      <a:bodyPr/>
      <a:lstStyle/>
      <a:p>
        <a:r>
          <a:rPr lang="en-GB"/>
          <a:t>Column - static, trace and scenario specific and sysML v2</a:t>
        </a:r>
      </a:p>
    </p188:txBody>
  </p188:cm>
  <p188:cm id="{21CA5EE0-6C24-4ED0-9CCB-80ABF09B5E41}" authorId="{E3A4AC88-1F38-2D15-4F33-8B3B4A3AA3B8}" created="2026-07-20T07:37:19.237">
    <ac:deMkLst xmlns:ac="http://schemas.microsoft.com/office/drawing/2013/main/command">
      <pc:docMk xmlns:pc="http://schemas.microsoft.com/office/powerpoint/2013/main/command"/>
      <pc:sldMk xmlns:pc="http://schemas.microsoft.com/office/powerpoint/2013/main/command" cId="1386263332" sldId="349"/>
      <ac:picMk id="3" creationId="{B50EA2D5-0170-005E-6678-CCFA1F1CEDDF}"/>
    </ac:deMkLst>
    <p188:replyLst>
      <p188:reply id="{FE52A598-9C38-40E4-9554-92723D2763A1}" authorId="{E3A4AC88-1F38-2D15-4F33-8B3B4A3AA3B8}" created="2026-07-20T07:40:33.919">
        <p188:txBody>
          <a:bodyPr/>
          <a:lstStyle/>
          <a:p>
            <a:r>
              <a:rPr lang="en-US"/>
              <a:t>Remove pub-sub
</a:t>
            </a:r>
          </a:p>
        </p188:txBody>
      </p188:reply>
    </p188:replyLst>
    <p188:txBody>
      <a:bodyPr/>
      <a:lstStyle/>
      <a:p>
        <a:r>
          <a:rPr lang="en-US"/>
          <a:t>I would have paper cited and more columns and also I miss scope specific </a:t>
        </a:r>
      </a:p>
    </p188:txBody>
  </p188:cm>
</p188:cmLst>
</file>

<file path=ppt/comments/modernComment_17B_0.xml><?xml version="1.0" encoding="utf-8"?>
<p188:cmLst xmlns:a="http://schemas.openxmlformats.org/drawingml/2006/main" xmlns:r="http://schemas.openxmlformats.org/officeDocument/2006/relationships" xmlns:p188="http://schemas.microsoft.com/office/powerpoint/2018/8/main">
  <p188:cm id="{63D14503-193A-4C3B-AAF0-BD89869C60E8}" authorId="{129DFD28-E731-E8D5-7D1E-BFEBD96854E7}" created="2026-07-15T14:35:27.473">
    <ac:deMkLst xmlns:ac="http://schemas.microsoft.com/office/drawing/2013/main/command">
      <pc:docMk xmlns:pc="http://schemas.microsoft.com/office/powerpoint/2013/main/command"/>
      <pc:sldMk xmlns:pc="http://schemas.microsoft.com/office/powerpoint/2013/main/command" cId="0" sldId="379"/>
      <ac:spMk id="3" creationId="{00000000-0000-0000-0000-000000000000}"/>
    </ac:deMkLst>
    <p188:replyLst>
      <p188:reply id="{0A36C42E-63F2-4BE8-AC89-3B14C6BFF929}" authorId="{129DFD28-E731-E8D5-7D1E-BFEBD96854E7}" created="2026-07-17T13:39:22.968">
        <p188:txBody>
          <a:bodyPr/>
          <a:lstStyle/>
          <a:p>
            <a:r>
              <a:rPr lang="en-GB"/>
              <a:t>Add the test case ref. in the descrption</a:t>
            </a:r>
          </a:p>
        </p188:txBody>
      </p188:reply>
    </p188:replyLst>
    <p188:txBody>
      <a:bodyPr/>
      <a:lstStyle/>
      <a:p>
        <a:r>
          <a:rPr lang="en-GB"/>
          <a:t>Make it less verbose</a:t>
        </a:r>
      </a:p>
    </p188:txBody>
  </p188:cm>
  <p188:cm id="{20D74984-4A9C-4784-92BA-35A8843277C2}" authorId="{E3A4AC88-1F38-2D15-4F33-8B3B4A3AA3B8}" created="2026-07-20T07:55:12.887">
    <ac:txMkLst xmlns:ac="http://schemas.microsoft.com/office/drawing/2013/main/command">
      <pc:docMk xmlns:pc="http://schemas.microsoft.com/office/powerpoint/2013/main/command"/>
      <pc:sldMk xmlns:pc="http://schemas.microsoft.com/office/powerpoint/2013/main/command" cId="0" sldId="379"/>
      <ac:graphicFrameMk id="6" creationId="{7543644A-209D-E4C1-2BAC-78135FD641E7}"/>
      <ac:tblMk/>
      <ac:tcMk rowId="1488196117" colId="1857059950"/>
      <ac:txMk cp="0" len="61">
        <ac:context len="62" hash="1987517371"/>
      </ac:txMk>
    </ac:txMkLst>
    <p188:pos x="7825735" y="1530904"/>
    <p188:txBody>
      <a:bodyPr/>
      <a:lstStyle/>
      <a:p>
        <a:r>
          <a:rPr lang="en-US"/>
          <a:t>Not true: 
"Optional test"</a:t>
        </a:r>
      </a:p>
    </p188:txBody>
  </p188:cm>
  <p188:cm id="{16FB5E87-9FBF-4403-8E3A-0F3918FD731A}" authorId="{E3A4AC88-1F38-2D15-4F33-8B3B4A3AA3B8}" created="2026-07-20T07:55:36.368">
    <ac:txMkLst xmlns:ac="http://schemas.microsoft.com/office/drawing/2013/main/command">
      <pc:docMk xmlns:pc="http://schemas.microsoft.com/office/powerpoint/2013/main/command"/>
      <pc:sldMk xmlns:pc="http://schemas.microsoft.com/office/powerpoint/2013/main/command" cId="0" sldId="379"/>
      <ac:graphicFrameMk id="6" creationId="{7543644A-209D-E4C1-2BAC-78135FD641E7}"/>
      <ac:tblMk/>
      <ac:tcMk rowId="1452621448" colId="1857059950"/>
      <ac:txMk cp="0" len="74">
        <ac:context len="75" hash="3422669824"/>
      </ac:txMk>
    </ac:txMkLst>
    <p188:pos x="8053197" y="2367967"/>
    <p188:txBody>
      <a:bodyPr/>
      <a:lstStyle/>
      <a:p>
        <a:r>
          <a:rPr lang="en-US"/>
          <a:t>Not true: "MultiThreaded Test 1"</a:t>
        </a:r>
      </a:p>
    </p188:txBody>
  </p188:cm>
</p188:cmLst>
</file>

<file path=ppt/comments/modernComment_17C_0.xml><?xml version="1.0" encoding="utf-8"?>
<p188:cmLst xmlns:a="http://schemas.openxmlformats.org/drawingml/2006/main" xmlns:r="http://schemas.openxmlformats.org/officeDocument/2006/relationships" xmlns:p188="http://schemas.microsoft.com/office/powerpoint/2018/8/main">
  <p188:cm id="{88AB9407-CD8C-4BE0-8515-DE9D87695BDC}" authorId="{129DFD28-E731-E8D5-7D1E-BFEBD96854E7}" status="resolved" created="2026-07-16T12:52:12.939" complete="100000">
    <ac:deMkLst xmlns:ac="http://schemas.microsoft.com/office/drawing/2013/main/command">
      <pc:docMk xmlns:pc="http://schemas.microsoft.com/office/powerpoint/2013/main/command"/>
      <pc:sldMk xmlns:pc="http://schemas.microsoft.com/office/powerpoint/2013/main/command" cId="0" sldId="380"/>
      <ac:spMk id="3" creationId="{00000000-0000-0000-0000-000000000000}"/>
    </ac:deMkLst>
    <p188:replyLst>
      <p188:reply id="{063589D2-FF22-403D-BCE3-177F1BB9FA9E}" authorId="{129DFD28-E731-E8D5-7D1E-BFEBD96854E7}" created="2026-07-16T12:52:32.397">
        <p188:txBody>
          <a:bodyPr/>
          <a:lstStyle/>
          <a:p>
            <a:r>
              <a:rPr lang="en-GB"/>
              <a:t>Dicuss only 1 scenario</a:t>
            </a:r>
          </a:p>
        </p188:txBody>
      </p188:reply>
    </p188:replyLst>
    <p188:txBody>
      <a:bodyPr/>
      <a:lstStyle/>
      <a:p>
        <a:r>
          <a:rPr lang="en-GB"/>
          <a:t>Ground truth we need to show.</a:t>
        </a:r>
      </a:p>
    </p188:txBody>
  </p188:cm>
  <p188:cm id="{C1D7D6DE-6B1D-4AC0-A385-C7AF135DB49B}" authorId="{129DFD28-E731-E8D5-7D1E-BFEBD96854E7}" status="resolved" created="2026-07-17T14:52:02.534" complete="100000">
    <pc:sldMkLst xmlns:pc="http://schemas.microsoft.com/office/powerpoint/2013/main/command">
      <pc:docMk/>
      <pc:sldMk cId="0" sldId="380"/>
    </pc:sldMkLst>
    <p188:txBody>
      <a:bodyPr/>
      <a:lstStyle/>
      <a:p>
        <a:r>
          <a:rPr lang="en-GB"/>
          <a:t>Actual test cases for each scenario
the artifacts used to calculate Precesion, Recall and ref - H1, H2 and H3
in gitlab</a:t>
        </a:r>
      </a:p>
    </p188:txBody>
  </p188:cm>
  <p188:cm id="{C4527A0C-149A-4AC4-B1CF-4A14DB6FC4AB}" authorId="{E3A4AC88-1F38-2D15-4F33-8B3B4A3AA3B8}" created="2026-07-20T09:21:38.381">
    <ac:txMkLst xmlns:ac="http://schemas.microsoft.com/office/drawing/2013/main/command">
      <pc:docMk xmlns:pc="http://schemas.microsoft.com/office/powerpoint/2013/main/command"/>
      <pc:sldMk xmlns:pc="http://schemas.microsoft.com/office/powerpoint/2013/main/command" cId="0" sldId="380"/>
      <ac:spMk id="3" creationId="{00000000-0000-0000-0000-000000000000}"/>
      <ac:txMk cp="226" len="67">
        <ac:context len="550" hash="3655189909"/>
      </ac:txMk>
    </ac:txMkLst>
    <p188:pos x="5967341" y="2850970"/>
    <p188:txBody>
      <a:bodyPr/>
      <a:lstStyle/>
      <a:p>
        <a:r>
          <a:rPr lang="en-US"/>
          <a:t>I also added the full_trace</a:t>
        </a:r>
      </a:p>
    </p188:txBody>
  </p188:cm>
</p188:cmLst>
</file>

<file path=ppt/comments/modernComment_17D_0.xml><?xml version="1.0" encoding="utf-8"?>
<p188:cmLst xmlns:a="http://schemas.openxmlformats.org/drawingml/2006/main" xmlns:r="http://schemas.openxmlformats.org/officeDocument/2006/relationships" xmlns:p188="http://schemas.microsoft.com/office/powerpoint/2018/8/main">
  <p188:cm id="{6770D329-C769-4D6C-9E0E-7D481E54AC8A}" authorId="{E3A4AC88-1F38-2D15-4F33-8B3B4A3AA3B8}" created="2026-07-20T09:25:19.593">
    <pc:sldMkLst xmlns:pc="http://schemas.microsoft.com/office/powerpoint/2013/main/command">
      <pc:docMk/>
      <pc:sldMk cId="0" sldId="381"/>
    </pc:sldMkLst>
    <p188:txBody>
      <a:bodyPr/>
      <a:lstStyle/>
      <a:p>
        <a:r>
          <a:rPr lang="en-US"/>
          <a:t>There is only one table for the interactions, not for the order preserving  sequence </a:t>
        </a:r>
      </a:p>
    </p188:txBody>
  </p188:cm>
  <p188:cm id="{F6D64638-AD5A-4BD7-BE3B-2913C21495F4}" authorId="{E3A4AC88-1F38-2D15-4F33-8B3B4A3AA3B8}" created="2026-07-20T09:28:29.332">
    <pc:sldMkLst xmlns:pc="http://schemas.microsoft.com/office/powerpoint/2013/main/command">
      <pc:docMk/>
      <pc:sldMk cId="0" sldId="381"/>
    </pc:sldMkLst>
    <p188:txBody>
      <a:bodyPr/>
      <a:lstStyle/>
      <a:p>
        <a:r>
          <a:rPr lang="en-US"/>
          <a:t>Show a shorter version only with macros, show full vs guided and show shortcomings analysis </a:t>
        </a:r>
      </a:p>
    </p188:txBody>
  </p188:cm>
</p188:cmLst>
</file>

<file path=ppt/comments/modernComment_18E_C1D53EFB.xml><?xml version="1.0" encoding="utf-8"?>
<p188:cmLst xmlns:a="http://schemas.openxmlformats.org/drawingml/2006/main" xmlns:r="http://schemas.openxmlformats.org/officeDocument/2006/relationships" xmlns:p188="http://schemas.microsoft.com/office/powerpoint/2018/8/main">
  <p188:cm id="{51AF3D79-63F5-4B4E-A8E5-A94438FF8D3D}" authorId="{E3A4AC88-1F38-2D15-4F33-8B3B4A3AA3B8}" created="2026-07-20T09:23:05.333">
    <pc:sldMkLst xmlns:pc="http://schemas.microsoft.com/office/powerpoint/2013/main/command">
      <pc:docMk/>
      <pc:sldMk cId="3251977979" sldId="398"/>
    </pc:sldMkLst>
    <p188:txBody>
      <a:bodyPr/>
      <a:lstStyle/>
      <a:p>
        <a:r>
          <a:rPr lang="en-US"/>
          <a:t>Only one example is enough </a:t>
        </a:r>
      </a:p>
    </p188:txBody>
  </p188:cm>
</p188:cmLst>
</file>

<file path=ppt/comments/modernComment_165_67511C01.xml><?xml version="1.0" encoding="utf-8"?>
<p188:cmLst xmlns:a="http://schemas.openxmlformats.org/drawingml/2006/main" xmlns:r="http://schemas.openxmlformats.org/officeDocument/2006/relationships" xmlns:p188="http://schemas.microsoft.com/office/powerpoint/2018/8/main">
  <p188:cm id="{EC67BBDF-FE1A-464F-93F8-892BA41299DE}" authorId="{129DFD28-E731-E8D5-7D1E-BFEBD96854E7}" created="2026-07-15T13:11:22.122">
    <pc:sldMkLst xmlns:pc="http://schemas.microsoft.com/office/powerpoint/2013/main/command">
      <pc:docMk/>
      <pc:sldMk cId="1733368833" sldId="357"/>
    </pc:sldMkLst>
    <p188:txBody>
      <a:bodyPr/>
      <a:lstStyle/>
      <a:p>
        <a:r>
          <a:rPr lang="en-GB"/>
          <a:t>Interaction diagrams support human understanding of event driven sys behaviour. Industry - the diagrams are are reverse engineered manually. Which is costly and costly to maintain these diagram: consistent with the implementation.
Current : existent technique to automate the reverse engineering diagrams are static analysis and trace analysis.</a:t>
        </a:r>
      </a:p>
    </p188:txBody>
  </p188:cm>
  <p188:cm id="{0259A4DC-2AC6-45ED-9AB3-56E318682560}" authorId="{E3A4AC88-1F38-2D15-4F33-8B3B4A3AA3B8}" created="2026-07-20T07:34:11.902">
    <ac:txMkLst xmlns:ac="http://schemas.microsoft.com/office/drawing/2013/main/command">
      <pc:docMk xmlns:pc="http://schemas.microsoft.com/office/powerpoint/2013/main/command"/>
      <pc:sldMk xmlns:pc="http://schemas.microsoft.com/office/powerpoint/2013/main/command" cId="1733368833" sldId="357"/>
      <ac:spMk id="6" creationId="{A9EB73A2-0158-D260-CF98-AE91CC0CE504}"/>
      <ac:txMk cp="52" len="25">
        <ac:context len="301" hash="1639248502"/>
      </ac:txMk>
    </ac:txMkLst>
    <p188:pos x="5818748" y="1247224"/>
    <p188:txBody>
      <a:bodyPr/>
      <a:lstStyle/>
      <a:p>
        <a:r>
          <a:rPr lang="en-US"/>
          <a:t>I don’t think this should be mentioned, it does not come into the story at all
</a:t>
        </a:r>
      </a:p>
    </p188:txBody>
  </p188:cm>
  <p188:cm id="{E7912F8C-6B97-4A41-B907-4B701843411D}" authorId="{E3A4AC88-1F38-2D15-4F33-8B3B4A3AA3B8}" created="2026-07-20T07:34:32.696">
    <ac:txMkLst xmlns:ac="http://schemas.microsoft.com/office/drawing/2013/main/command">
      <pc:docMk xmlns:pc="http://schemas.microsoft.com/office/powerpoint/2013/main/command"/>
      <pc:sldMk xmlns:pc="http://schemas.microsoft.com/office/powerpoint/2013/main/command" cId="1733368833" sldId="357"/>
      <ac:spMk id="6" creationId="{A9EB73A2-0158-D260-CF98-AE91CC0CE504}"/>
      <ac:txMk cp="1" len="23">
        <ac:context len="301" hash="1639248502"/>
      </ac:txMk>
    </ac:txMkLst>
    <p188:pos x="3917160" y="432908"/>
    <p188:replyLst>
      <p188:reply id="{FDDAE3BF-6988-44CD-9055-5650E3A5B235}" authorId="{E3A4AC88-1F38-2D15-4F33-8B3B4A3AA3B8}" created="2026-07-20T07:34:46.478">
        <p188:txBody>
          <a:bodyPr/>
          <a:lstStyle/>
          <a:p>
            <a:r>
              <a:rPr lang="en-US"/>
              <a:t>Maybe you can leave large </a:t>
            </a:r>
          </a:p>
        </p188:txBody>
      </p188:reply>
    </p188:replyLst>
    <p188:txBody>
      <a:bodyPr/>
      <a:lstStyle/>
      <a:p>
        <a:r>
          <a:rPr lang="en-US"/>
          <a:t>This doe s not come into the story at all </a:t>
        </a:r>
      </a:p>
    </p188:txBody>
  </p188:cm>
</p188:cmLst>
</file>

<file path=ppt/comments/modernComment_167_90842B7A.xml><?xml version="1.0" encoding="utf-8"?>
<p188:cmLst xmlns:a="http://schemas.openxmlformats.org/drawingml/2006/main" xmlns:r="http://schemas.openxmlformats.org/officeDocument/2006/relationships" xmlns:p188="http://schemas.microsoft.com/office/powerpoint/2018/8/main">
  <p188:cm id="{525B1B84-9ECE-44F8-BD21-0087BED8E582}" authorId="{129DFD28-E731-E8D5-7D1E-BFEBD96854E7}" created="2026-07-15T13:21:43.855">
    <ac:deMkLst xmlns:ac="http://schemas.microsoft.com/office/drawing/2013/main/command">
      <pc:docMk xmlns:pc="http://schemas.microsoft.com/office/powerpoint/2013/main/command"/>
      <pc:sldMk xmlns:pc="http://schemas.microsoft.com/office/powerpoint/2013/main/command" cId="2424580986" sldId="359"/>
      <ac:spMk id="3" creationId="{72A0D7F7-63C4-ECF7-BA18-3CEC3ABC2D24}"/>
    </ac:deMkLst>
    <p188:txBody>
      <a:bodyPr/>
      <a:lstStyle/>
      <a:p>
        <a:r>
          <a:rPr lang="en-GB"/>
          <a:t>1 slide which have 3 Core Research questions </a:t>
        </a:r>
      </a:p>
    </p188:txBody>
  </p188:cm>
</p188:cmLst>
</file>

<file path=ppt/comments/modernComment_172_4D5AE85A.xml><?xml version="1.0" encoding="utf-8"?>
<p188:cmLst xmlns:a="http://schemas.openxmlformats.org/drawingml/2006/main" xmlns:r="http://schemas.openxmlformats.org/officeDocument/2006/relationships" xmlns:p188="http://schemas.microsoft.com/office/powerpoint/2018/8/main">
  <p188:cm id="{0482467A-CD8C-4C06-B2EA-36B5FFA0C407}" authorId="{E3A4AC88-1F38-2D15-4F33-8B3B4A3AA3B8}" created="2026-07-20T07:53:06.662">
    <ac:txMkLst xmlns:ac="http://schemas.microsoft.com/office/drawing/2013/main/command">
      <pc:docMk xmlns:pc="http://schemas.microsoft.com/office/powerpoint/2013/main/command"/>
      <pc:sldMk xmlns:pc="http://schemas.microsoft.com/office/powerpoint/2013/main/command" cId="1297803354" sldId="370"/>
      <ac:spMk id="3" creationId="{4983592E-EF52-E037-AB61-B0C859B0BA67}"/>
      <ac:txMk cp="0" len="6">
        <ac:context len="507" hash="91731784"/>
      </ac:txMk>
    </ac:txMkLst>
    <p188:pos x="879713" y="156473"/>
    <p188:txBody>
      <a:bodyPr/>
      <a:lstStyle/>
      <a:p>
        <a:r>
          <a:rPr lang="en-US"/>
          <a:t>I see 8</a:t>
        </a:r>
      </a:p>
    </p188:txBody>
  </p188:cm>
</p188:cmLst>
</file>

<file path=ppt/comments/modernComment_185_7D020D4A.xml><?xml version="1.0" encoding="utf-8"?>
<p188:cmLst xmlns:a="http://schemas.openxmlformats.org/drawingml/2006/main" xmlns:r="http://schemas.openxmlformats.org/officeDocument/2006/relationships" xmlns:p188="http://schemas.microsoft.com/office/powerpoint/2018/8/main">
  <p188:cm id="{793F5D1E-F3A9-4BAB-B7E7-4983AD2562C9}" authorId="{E3A4AC88-1F38-2D15-4F33-8B3B4A3AA3B8}" created="2026-07-20T09:29:10.039">
    <ac:txMkLst xmlns:ac="http://schemas.microsoft.com/office/drawing/2013/main/command">
      <pc:docMk xmlns:pc="http://schemas.microsoft.com/office/powerpoint/2013/main/command"/>
      <pc:sldMk xmlns:pc="http://schemas.microsoft.com/office/powerpoint/2013/main/command" cId="2097286474" sldId="389"/>
      <ac:spMk id="14" creationId="{7991A684-3ACB-260E-155A-19EF57C0FE6F}"/>
      <ac:txMk cp="22" len="13">
        <ac:context len="406" hash="2949707269"/>
      </ac:txMk>
    </ac:txMkLst>
    <p188:pos x="4110933" y="154584"/>
    <p188:txBody>
      <a:bodyPr/>
      <a:lstStyle/>
      <a:p>
        <a:r>
          <a:rPr lang="en-US"/>
          <a:t>That is false</a:t>
        </a:r>
      </a:p>
    </p188:txBody>
  </p188:cm>
</p188:cmLst>
</file>

<file path=ppt/comments/modernComment_186_71847901.xml><?xml version="1.0" encoding="utf-8"?>
<p188:cmLst xmlns:a="http://schemas.openxmlformats.org/drawingml/2006/main" xmlns:r="http://schemas.openxmlformats.org/officeDocument/2006/relationships" xmlns:p188="http://schemas.microsoft.com/office/powerpoint/2018/8/main">
  <p188:cm id="{1683C148-5A7D-4D1F-B253-FB4E4A7129A6}" authorId="{E3A4AC88-1F38-2D15-4F33-8B3B4A3AA3B8}" created="2026-07-20T07:45:02.877">
    <ac:txMkLst xmlns:ac="http://schemas.microsoft.com/office/drawing/2013/main/command">
      <pc:docMk xmlns:pc="http://schemas.microsoft.com/office/powerpoint/2013/main/command"/>
      <pc:sldMk xmlns:pc="http://schemas.microsoft.com/office/powerpoint/2013/main/command" cId="1904507137" sldId="390"/>
      <ac:graphicFrameMk id="13" creationId="{C3318B82-77E9-F5AA-CF25-4DE202CC619E}"/>
      <dc:dgmMk xmlns:dc="http://schemas.microsoft.com/office/drawing/2013/diagram/command"/>
      <dc:nodeMk xmlns:dc="http://schemas.microsoft.com/office/drawing/2013/diagram/command" id="{9214A3F3-BB67-4C6A-9DCC-A9BA12C575DB}"/>
      <ac:txMk cp="66" len="7">
        <ac:context len="114" hash="299886184"/>
      </ac:txMk>
    </ac:txMkLst>
    <p188:pos x="1678031" y="2115233"/>
    <p188:txBody>
      <a:bodyPr/>
      <a:lstStyle/>
      <a:p>
        <a:r>
          <a:rPr lang="en-US"/>
          <a:t>Remove --&gt; remove the S</a:t>
        </a:r>
      </a:p>
    </p188:txBody>
  </p188:cm>
  <p188:cm id="{2F2AED48-93EB-4C26-9D43-184BB1955568}" authorId="{E3A4AC88-1F38-2D15-4F33-8B3B4A3AA3B8}" created="2026-07-20T07:45:35.237">
    <ac:txMkLst xmlns:ac="http://schemas.microsoft.com/office/drawing/2013/main/command">
      <pc:docMk xmlns:pc="http://schemas.microsoft.com/office/powerpoint/2013/main/command"/>
      <pc:sldMk xmlns:pc="http://schemas.microsoft.com/office/powerpoint/2013/main/command" cId="1904507137" sldId="390"/>
      <ac:graphicFrameMk id="13" creationId="{C3318B82-77E9-F5AA-CF25-4DE202CC619E}"/>
      <dc:dgmMk xmlns:dc="http://schemas.microsoft.com/office/drawing/2013/diagram/command"/>
      <dc:nodeMk xmlns:dc="http://schemas.microsoft.com/office/drawing/2013/diagram/command" id="{6C29C085-CFF0-4C10-B234-D5A256B9F609}"/>
      <ac:txMk cp="44" len="11">
        <ac:context len="174" hash="2037643810"/>
      </ac:txMk>
    </ac:txMkLst>
    <p188:pos x="5986175" y="2888606"/>
    <p188:txBody>
      <a:bodyPr/>
      <a:lstStyle/>
      <a:p>
        <a:r>
          <a:rPr lang="en-US"/>
          <a:t>Interaction and sequence</a:t>
        </a:r>
      </a:p>
    </p188:txBody>
  </p188:cm>
</p188:cmLst>
</file>

<file path=ppt/comments/modernComment_188_33457153.xml><?xml version="1.0" encoding="utf-8"?>
<p188:cmLst xmlns:a="http://schemas.openxmlformats.org/drawingml/2006/main" xmlns:r="http://schemas.openxmlformats.org/officeDocument/2006/relationships" xmlns:p188="http://schemas.microsoft.com/office/powerpoint/2018/8/main">
  <p188:cm id="{D744BB70-655C-441A-9F1C-C6DD18B796E5}" authorId="{E3A4AC88-1F38-2D15-4F33-8B3B4A3AA3B8}" created="2026-07-20T07:56:38.237">
    <pc:sldMkLst xmlns:pc="http://schemas.microsoft.com/office/powerpoint/2013/main/command">
      <pc:docMk/>
      <pc:sldMk cId="860189011" sldId="392"/>
    </pc:sldMkLst>
    <p188:txBody>
      <a:bodyPr/>
      <a:lstStyle/>
      <a:p>
        <a:r>
          <a:rPr lang="en-US"/>
          <a:t>Currently, the ground truth is automated - you can say you double checked it manually </a:t>
        </a:r>
      </a:p>
    </p188:txBody>
  </p188:cm>
</p188:cmLst>
</file>

<file path=ppt/comments/modernComment_192_0.xml><?xml version="1.0" encoding="utf-8"?>
<p188:cmLst xmlns:a="http://schemas.openxmlformats.org/drawingml/2006/main" xmlns:r="http://schemas.openxmlformats.org/officeDocument/2006/relationships" xmlns:p188="http://schemas.microsoft.com/office/powerpoint/2018/8/main">
  <p188:cm id="{7E5D3782-99EE-4185-99DD-591E457243B2}" authorId="{E3A4AC88-1F38-2D15-4F33-8B3B4A3AA3B8}" created="2026-07-20T09:15:06.860">
    <pc:sldMkLst xmlns:pc="http://schemas.microsoft.com/office/powerpoint/2013/main/command">
      <pc:docMk/>
      <pc:sldMk cId="0" sldId="402"/>
    </pc:sldMkLst>
    <p188:txBody>
      <a:bodyPr/>
      <a:lstStyle/>
      <a:p>
        <a:r>
          <a:rPr lang="en-US"/>
          <a:t>This should be Renaissance, only the schema and nodes and edge numbers  </a:t>
        </a:r>
      </a:p>
    </p188:txBody>
  </p188:cm>
</p188:cmLst>
</file>

<file path=ppt/comments/modernComment_193_0.xml><?xml version="1.0" encoding="utf-8"?>
<p188:cmLst xmlns:a="http://schemas.openxmlformats.org/drawingml/2006/main" xmlns:r="http://schemas.openxmlformats.org/officeDocument/2006/relationships" xmlns:p188="http://schemas.microsoft.com/office/powerpoint/2018/8/main">
  <p188:cm id="{21053129-E796-4E97-9429-AE0A2256950C}" authorId="{E3A4AC88-1F38-2D15-4F33-8B3B4A3AA3B8}" created="2026-07-20T09:16:05.708">
    <pc:sldMkLst xmlns:pc="http://schemas.microsoft.com/office/powerpoint/2013/main/command">
      <pc:docMk/>
      <pc:sldMk cId="0" sldId="403"/>
    </pc:sldMkLst>
    <p188:txBody>
      <a:bodyPr/>
      <a:lstStyle/>
      <a:p>
        <a:r>
          <a:rPr lang="en-US"/>
          <a:t>Two graph queries </a:t>
        </a:r>
      </a:p>
    </p188:txBody>
  </p188:cm>
</p188:cmLst>
</file>

<file path=ppt/comments/modernComment_194_0.xml><?xml version="1.0" encoding="utf-8"?>
<p188:cmLst xmlns:a="http://schemas.openxmlformats.org/drawingml/2006/main" xmlns:r="http://schemas.openxmlformats.org/officeDocument/2006/relationships" xmlns:p188="http://schemas.microsoft.com/office/powerpoint/2018/8/main">
  <p188:cm id="{106709C4-1D35-4247-9A0B-979DE1274634}" authorId="{E3A4AC88-1F38-2D15-4F33-8B3B4A3AA3B8}" created="2026-07-20T09:16:26.762">
    <pc:sldMkLst xmlns:pc="http://schemas.microsoft.com/office/powerpoint/2013/main/command">
      <pc:docMk/>
      <pc:sldMk cId="0" sldId="404"/>
    </pc:sldMkLst>
    <p188:txBody>
      <a:bodyPr/>
      <a:lstStyle/>
      <a:p>
        <a:r>
          <a:rPr lang="en-US"/>
          <a:t>This should be removed</a:t>
        </a:r>
      </a:p>
    </p188:txBody>
  </p188:cm>
</p188:cmLst>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3C4FF3-511F-4F4E-8CBA-7957CD35A0FA}" type="doc">
      <dgm:prSet loTypeId="urn:microsoft.com/office/officeart/2005/8/layout/vList2" loCatId="list" qsTypeId="urn:microsoft.com/office/officeart/2005/8/quickstyle/simple1" qsCatId="simple" csTypeId="urn:microsoft.com/office/officeart/2005/8/colors/accent4_2" csCatId="accent4" phldr="1"/>
      <dgm:spPr/>
      <dgm:t>
        <a:bodyPr/>
        <a:lstStyle/>
        <a:p>
          <a:endParaRPr lang="en-US"/>
        </a:p>
      </dgm:t>
    </dgm:pt>
    <dgm:pt modelId="{21D771B0-D063-4F97-92EC-A6362D8AB3FA}">
      <dgm:prSet/>
      <dgm:spPr/>
      <dgm:t>
        <a:bodyPr/>
        <a:lstStyle/>
        <a:p>
          <a:r>
            <a:rPr lang="en-IN" dirty="0"/>
            <a:t>RQ1: How does combining static analysis and runtime traces improve accuracy and completeness of scenario-specific interaction model reconstruction? </a:t>
          </a:r>
          <a:endParaRPr lang="en-US" dirty="0"/>
        </a:p>
      </dgm:t>
    </dgm:pt>
    <dgm:pt modelId="{C3AF8761-29D2-4843-882F-0D6B1803A1E1}" type="parTrans" cxnId="{7ED06996-6CAE-4F22-802E-9C5488962F7B}">
      <dgm:prSet/>
      <dgm:spPr/>
      <dgm:t>
        <a:bodyPr/>
        <a:lstStyle/>
        <a:p>
          <a:endParaRPr lang="en-US"/>
        </a:p>
      </dgm:t>
    </dgm:pt>
    <dgm:pt modelId="{D0B0D6A3-AEE9-4B1B-9265-AEB4FFD9D734}" type="sibTrans" cxnId="{7ED06996-6CAE-4F22-802E-9C5488962F7B}">
      <dgm:prSet/>
      <dgm:spPr/>
      <dgm:t>
        <a:bodyPr/>
        <a:lstStyle/>
        <a:p>
          <a:endParaRPr lang="en-US"/>
        </a:p>
      </dgm:t>
    </dgm:pt>
    <dgm:pt modelId="{9214A3F3-BB67-4C6A-9DCC-A9BA12C575DB}">
      <dgm:prSet/>
      <dgm:spPr/>
      <dgm:t>
        <a:bodyPr/>
        <a:lstStyle/>
        <a:p>
          <a:r>
            <a:rPr lang="en-IN" dirty="0"/>
            <a:t>RQ2: </a:t>
          </a:r>
          <a:r>
            <a:rPr lang="en-GB" dirty="0"/>
            <a:t>How does guiding trace collection with the static call graph remove noise without losing scenario coverage</a:t>
          </a:r>
          <a:r>
            <a:rPr lang="en-IN" dirty="0"/>
            <a:t>?</a:t>
          </a:r>
          <a:endParaRPr lang="en-US" dirty="0"/>
        </a:p>
      </dgm:t>
    </dgm:pt>
    <dgm:pt modelId="{E1DA5E7F-8E3E-4350-A8B2-EA31388F36EC}" type="parTrans" cxnId="{FBF462FB-B86E-4833-BDB0-00AC77F6B0A4}">
      <dgm:prSet/>
      <dgm:spPr/>
      <dgm:t>
        <a:bodyPr/>
        <a:lstStyle/>
        <a:p>
          <a:endParaRPr lang="en-US"/>
        </a:p>
      </dgm:t>
    </dgm:pt>
    <dgm:pt modelId="{1C198FDD-B004-4D99-B339-943AC7AAD379}" type="sibTrans" cxnId="{FBF462FB-B86E-4833-BDB0-00AC77F6B0A4}">
      <dgm:prSet/>
      <dgm:spPr/>
      <dgm:t>
        <a:bodyPr/>
        <a:lstStyle/>
        <a:p>
          <a:endParaRPr lang="en-US"/>
        </a:p>
      </dgm:t>
    </dgm:pt>
    <dgm:pt modelId="{6C29C085-CFF0-4C10-B234-D5A256B9F609}">
      <dgm:prSet/>
      <dgm:spPr/>
      <dgm:t>
        <a:bodyPr/>
        <a:lstStyle/>
        <a:p>
          <a:r>
            <a:rPr lang="en-IN" dirty="0"/>
            <a:t>RQ3: </a:t>
          </a:r>
          <a:r>
            <a:rPr lang="en-GB" dirty="0"/>
            <a:t>How well do reconstructed </a:t>
          </a:r>
          <a:r>
            <a:rPr lang="en-GB" dirty="0" err="1"/>
            <a:t>SysML</a:t>
          </a:r>
          <a:r>
            <a:rPr lang="en-GB" dirty="0"/>
            <a:t> v2 interaction (interconnection and sequence) diagrams consolidate static and dynamic evidence into abstract artifacts sufficient for system </a:t>
          </a:r>
          <a:r>
            <a:rPr lang="en-GB" dirty="0" err="1"/>
            <a:t>behavior</a:t>
          </a:r>
          <a:r>
            <a:rPr lang="en-GB" dirty="0"/>
            <a:t> comprehension</a:t>
          </a:r>
          <a:r>
            <a:rPr lang="en-IN" dirty="0"/>
            <a:t>?</a:t>
          </a:r>
          <a:endParaRPr lang="en-US" dirty="0"/>
        </a:p>
      </dgm:t>
    </dgm:pt>
    <dgm:pt modelId="{74A916C4-FCC7-4C86-A48C-E6B5C27F2E86}" type="parTrans" cxnId="{59CD6FB3-302D-4CA9-A88E-78C8B6BFCE61}">
      <dgm:prSet/>
      <dgm:spPr/>
      <dgm:t>
        <a:bodyPr/>
        <a:lstStyle/>
        <a:p>
          <a:endParaRPr lang="en-US"/>
        </a:p>
      </dgm:t>
    </dgm:pt>
    <dgm:pt modelId="{5A950125-52CE-4709-AB4A-6FD552E3EC58}" type="sibTrans" cxnId="{59CD6FB3-302D-4CA9-A88E-78C8B6BFCE61}">
      <dgm:prSet/>
      <dgm:spPr/>
      <dgm:t>
        <a:bodyPr/>
        <a:lstStyle/>
        <a:p>
          <a:endParaRPr lang="en-US"/>
        </a:p>
      </dgm:t>
    </dgm:pt>
    <dgm:pt modelId="{BD325CB9-0C5D-43A5-B7DE-B04E9EA8981A}" type="pres">
      <dgm:prSet presAssocID="{253C4FF3-511F-4F4E-8CBA-7957CD35A0FA}" presName="linear" presStyleCnt="0">
        <dgm:presLayoutVars>
          <dgm:animLvl val="lvl"/>
          <dgm:resizeHandles val="exact"/>
        </dgm:presLayoutVars>
      </dgm:prSet>
      <dgm:spPr/>
    </dgm:pt>
    <dgm:pt modelId="{92F5EDA9-998D-4869-B237-6B6D0E109CAC}" type="pres">
      <dgm:prSet presAssocID="{21D771B0-D063-4F97-92EC-A6362D8AB3FA}" presName="parentText" presStyleLbl="node1" presStyleIdx="0" presStyleCnt="3">
        <dgm:presLayoutVars>
          <dgm:chMax val="0"/>
          <dgm:bulletEnabled val="1"/>
        </dgm:presLayoutVars>
      </dgm:prSet>
      <dgm:spPr/>
    </dgm:pt>
    <dgm:pt modelId="{C435D792-9F9F-4D13-B909-0360B4EB6456}" type="pres">
      <dgm:prSet presAssocID="{D0B0D6A3-AEE9-4B1B-9265-AEB4FFD9D734}" presName="spacer" presStyleCnt="0"/>
      <dgm:spPr/>
    </dgm:pt>
    <dgm:pt modelId="{E3DFA99D-7EEB-48D8-BFB9-31FDA3A57870}" type="pres">
      <dgm:prSet presAssocID="{9214A3F3-BB67-4C6A-9DCC-A9BA12C575DB}" presName="parentText" presStyleLbl="node1" presStyleIdx="1" presStyleCnt="3">
        <dgm:presLayoutVars>
          <dgm:chMax val="0"/>
          <dgm:bulletEnabled val="1"/>
        </dgm:presLayoutVars>
      </dgm:prSet>
      <dgm:spPr/>
    </dgm:pt>
    <dgm:pt modelId="{0B389985-EBCC-43AB-BB98-49D3E89E2268}" type="pres">
      <dgm:prSet presAssocID="{1C198FDD-B004-4D99-B339-943AC7AAD379}" presName="spacer" presStyleCnt="0"/>
      <dgm:spPr/>
    </dgm:pt>
    <dgm:pt modelId="{214E6DCC-4172-412A-A56E-989382293DD6}" type="pres">
      <dgm:prSet presAssocID="{6C29C085-CFF0-4C10-B234-D5A256B9F609}" presName="parentText" presStyleLbl="node1" presStyleIdx="2" presStyleCnt="3">
        <dgm:presLayoutVars>
          <dgm:chMax val="0"/>
          <dgm:bulletEnabled val="1"/>
        </dgm:presLayoutVars>
      </dgm:prSet>
      <dgm:spPr/>
    </dgm:pt>
  </dgm:ptLst>
  <dgm:cxnLst>
    <dgm:cxn modelId="{51096F62-64DE-4BD3-80A5-2A7454805B54}" type="presOf" srcId="{21D771B0-D063-4F97-92EC-A6362D8AB3FA}" destId="{92F5EDA9-998D-4869-B237-6B6D0E109CAC}" srcOrd="0" destOrd="0" presId="urn:microsoft.com/office/officeart/2005/8/layout/vList2"/>
    <dgm:cxn modelId="{64EC4D83-AACE-45B4-A1E1-071EC40B6072}" type="presOf" srcId="{6C29C085-CFF0-4C10-B234-D5A256B9F609}" destId="{214E6DCC-4172-412A-A56E-989382293DD6}" srcOrd="0" destOrd="0" presId="urn:microsoft.com/office/officeart/2005/8/layout/vList2"/>
    <dgm:cxn modelId="{7ED06996-6CAE-4F22-802E-9C5488962F7B}" srcId="{253C4FF3-511F-4F4E-8CBA-7957CD35A0FA}" destId="{21D771B0-D063-4F97-92EC-A6362D8AB3FA}" srcOrd="0" destOrd="0" parTransId="{C3AF8761-29D2-4843-882F-0D6B1803A1E1}" sibTransId="{D0B0D6A3-AEE9-4B1B-9265-AEB4FFD9D734}"/>
    <dgm:cxn modelId="{93C57498-A9E3-464A-92F6-22769CF7047A}" type="presOf" srcId="{9214A3F3-BB67-4C6A-9DCC-A9BA12C575DB}" destId="{E3DFA99D-7EEB-48D8-BFB9-31FDA3A57870}" srcOrd="0" destOrd="0" presId="urn:microsoft.com/office/officeart/2005/8/layout/vList2"/>
    <dgm:cxn modelId="{1C24429E-3990-46C0-BD6E-8A3824126CA6}" type="presOf" srcId="{253C4FF3-511F-4F4E-8CBA-7957CD35A0FA}" destId="{BD325CB9-0C5D-43A5-B7DE-B04E9EA8981A}" srcOrd="0" destOrd="0" presId="urn:microsoft.com/office/officeart/2005/8/layout/vList2"/>
    <dgm:cxn modelId="{59CD6FB3-302D-4CA9-A88E-78C8B6BFCE61}" srcId="{253C4FF3-511F-4F4E-8CBA-7957CD35A0FA}" destId="{6C29C085-CFF0-4C10-B234-D5A256B9F609}" srcOrd="2" destOrd="0" parTransId="{74A916C4-FCC7-4C86-A48C-E6B5C27F2E86}" sibTransId="{5A950125-52CE-4709-AB4A-6FD552E3EC58}"/>
    <dgm:cxn modelId="{FBF462FB-B86E-4833-BDB0-00AC77F6B0A4}" srcId="{253C4FF3-511F-4F4E-8CBA-7957CD35A0FA}" destId="{9214A3F3-BB67-4C6A-9DCC-A9BA12C575DB}" srcOrd="1" destOrd="0" parTransId="{E1DA5E7F-8E3E-4350-A8B2-EA31388F36EC}" sibTransId="{1C198FDD-B004-4D99-B339-943AC7AAD379}"/>
    <dgm:cxn modelId="{B678721E-4714-4910-8B21-F8F152BA0D46}" type="presParOf" srcId="{BD325CB9-0C5D-43A5-B7DE-B04E9EA8981A}" destId="{92F5EDA9-998D-4869-B237-6B6D0E109CAC}" srcOrd="0" destOrd="0" presId="urn:microsoft.com/office/officeart/2005/8/layout/vList2"/>
    <dgm:cxn modelId="{9C81EC62-9540-42C8-BC81-214D44C06C53}" type="presParOf" srcId="{BD325CB9-0C5D-43A5-B7DE-B04E9EA8981A}" destId="{C435D792-9F9F-4D13-B909-0360B4EB6456}" srcOrd="1" destOrd="0" presId="urn:microsoft.com/office/officeart/2005/8/layout/vList2"/>
    <dgm:cxn modelId="{E0929F42-26B2-4531-BB09-CA506636460D}" type="presParOf" srcId="{BD325CB9-0C5D-43A5-B7DE-B04E9EA8981A}" destId="{E3DFA99D-7EEB-48D8-BFB9-31FDA3A57870}" srcOrd="2" destOrd="0" presId="urn:microsoft.com/office/officeart/2005/8/layout/vList2"/>
    <dgm:cxn modelId="{7C4A637A-7987-4000-98FC-2AB21A6FA00E}" type="presParOf" srcId="{BD325CB9-0C5D-43A5-B7DE-B04E9EA8981A}" destId="{0B389985-EBCC-43AB-BB98-49D3E89E2268}" srcOrd="3" destOrd="0" presId="urn:microsoft.com/office/officeart/2005/8/layout/vList2"/>
    <dgm:cxn modelId="{6B8B4A7E-34D0-48B0-9241-64FAEB17F935}" type="presParOf" srcId="{BD325CB9-0C5D-43A5-B7DE-B04E9EA8981A}" destId="{214E6DCC-4172-412A-A56E-989382293DD6}"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82B970A-343D-4CF1-ACD8-1E2928BB0BB1}" type="doc">
      <dgm:prSet loTypeId="urn:microsoft.com/office/officeart/2005/8/layout/lProcess2" loCatId="relationship" qsTypeId="urn:microsoft.com/office/officeart/2005/8/quickstyle/simple2" qsCatId="simple" csTypeId="urn:microsoft.com/office/officeart/2005/8/colors/accent4_2" csCatId="accent4" phldr="1"/>
      <dgm:spPr/>
      <dgm:t>
        <a:bodyPr/>
        <a:lstStyle/>
        <a:p>
          <a:endParaRPr lang="en-IN"/>
        </a:p>
      </dgm:t>
    </dgm:pt>
    <dgm:pt modelId="{50075DFF-BDD2-4B22-BB45-D72E355A0837}">
      <dgm:prSet phldrT="[Text]" custT="1"/>
      <dgm:spPr/>
      <dgm:t>
        <a:bodyPr/>
        <a:lstStyle/>
        <a:p>
          <a:pPr>
            <a:buNone/>
          </a:pPr>
          <a:r>
            <a:rPr lang="en-GB" sz="2400" noProof="0" dirty="0"/>
            <a:t>Hybrid Analysis - Interaction Diagram</a:t>
          </a:r>
        </a:p>
      </dgm:t>
    </dgm:pt>
    <dgm:pt modelId="{8EBEC8EE-1475-4134-9795-1AD1D3E69769}" type="parTrans" cxnId="{16815193-993C-4DD3-9052-FCC6BEFAB67F}">
      <dgm:prSet/>
      <dgm:spPr/>
      <dgm:t>
        <a:bodyPr/>
        <a:lstStyle/>
        <a:p>
          <a:endParaRPr lang="en-IN" sz="2400"/>
        </a:p>
      </dgm:t>
    </dgm:pt>
    <dgm:pt modelId="{0A9D0EF0-9EBE-48F2-82FB-8B164A14BE5E}" type="sibTrans" cxnId="{16815193-993C-4DD3-9052-FCC6BEFAB67F}">
      <dgm:prSet/>
      <dgm:spPr/>
      <dgm:t>
        <a:bodyPr/>
        <a:lstStyle/>
        <a:p>
          <a:endParaRPr lang="en-IN" sz="2400"/>
        </a:p>
      </dgm:t>
    </dgm:pt>
    <dgm:pt modelId="{0211A353-289D-4524-9D3F-247B3468225E}">
      <dgm:prSet phldrT="[Text]" custT="1"/>
      <dgm:spPr/>
      <dgm:t>
        <a:bodyPr/>
        <a:lstStyle/>
        <a:p>
          <a:pPr>
            <a:buNone/>
          </a:pPr>
          <a:r>
            <a:rPr lang="en-GB" sz="2400" noProof="0" dirty="0"/>
            <a:t>Static Code Structure</a:t>
          </a:r>
        </a:p>
      </dgm:t>
    </dgm:pt>
    <dgm:pt modelId="{C2F80ECA-2972-44EA-8274-BBC94B98BF8F}" type="parTrans" cxnId="{488FA463-4D2D-4F01-8629-5F245FEF84D9}">
      <dgm:prSet/>
      <dgm:spPr/>
      <dgm:t>
        <a:bodyPr/>
        <a:lstStyle/>
        <a:p>
          <a:endParaRPr lang="en-IN" sz="2400"/>
        </a:p>
      </dgm:t>
    </dgm:pt>
    <dgm:pt modelId="{7177C19B-DE9F-4C96-86E7-96571403DBE9}" type="sibTrans" cxnId="{488FA463-4D2D-4F01-8629-5F245FEF84D9}">
      <dgm:prSet/>
      <dgm:spPr/>
      <dgm:t>
        <a:bodyPr/>
        <a:lstStyle/>
        <a:p>
          <a:endParaRPr lang="en-IN" sz="2400"/>
        </a:p>
      </dgm:t>
    </dgm:pt>
    <dgm:pt modelId="{FA687220-3D64-4729-97B5-56C3B0CB4991}">
      <dgm:prSet phldrT="[Text]" custT="1"/>
      <dgm:spPr/>
      <dgm:t>
        <a:bodyPr/>
        <a:lstStyle/>
        <a:p>
          <a:r>
            <a:rPr lang="en-GB" sz="2400" noProof="0" dirty="0"/>
            <a:t>Runtime Traces</a:t>
          </a:r>
        </a:p>
      </dgm:t>
    </dgm:pt>
    <dgm:pt modelId="{50770C6B-5AEF-4BF8-8C77-2C95B4E196AA}" type="parTrans" cxnId="{7386F78F-1D2E-458D-BF2D-B78550D9070B}">
      <dgm:prSet/>
      <dgm:spPr/>
      <dgm:t>
        <a:bodyPr/>
        <a:lstStyle/>
        <a:p>
          <a:endParaRPr lang="en-IN" sz="2400"/>
        </a:p>
      </dgm:t>
    </dgm:pt>
    <dgm:pt modelId="{A68AE9DD-55CD-4847-ADCA-BACF42E16F3A}" type="sibTrans" cxnId="{7386F78F-1D2E-458D-BF2D-B78550D9070B}">
      <dgm:prSet/>
      <dgm:spPr/>
      <dgm:t>
        <a:bodyPr/>
        <a:lstStyle/>
        <a:p>
          <a:endParaRPr lang="en-IN" sz="2400"/>
        </a:p>
      </dgm:t>
    </dgm:pt>
    <dgm:pt modelId="{03A1301B-524C-46FD-A290-26EC95C02BD8}" type="pres">
      <dgm:prSet presAssocID="{282B970A-343D-4CF1-ACD8-1E2928BB0BB1}" presName="theList" presStyleCnt="0">
        <dgm:presLayoutVars>
          <dgm:dir/>
          <dgm:animLvl val="lvl"/>
          <dgm:resizeHandles val="exact"/>
        </dgm:presLayoutVars>
      </dgm:prSet>
      <dgm:spPr/>
    </dgm:pt>
    <dgm:pt modelId="{ECFB74FB-BE45-4FDD-8208-E10484F7434C}" type="pres">
      <dgm:prSet presAssocID="{50075DFF-BDD2-4B22-BB45-D72E355A0837}" presName="compNode" presStyleCnt="0"/>
      <dgm:spPr/>
    </dgm:pt>
    <dgm:pt modelId="{0F7F8C7F-6CB2-404E-97FF-7B8F9DC44EE3}" type="pres">
      <dgm:prSet presAssocID="{50075DFF-BDD2-4B22-BB45-D72E355A0837}" presName="aNode" presStyleLbl="bgShp" presStyleIdx="0" presStyleCnt="1"/>
      <dgm:spPr/>
    </dgm:pt>
    <dgm:pt modelId="{5A987722-A42D-4A0A-87AF-68ED8256B9A3}" type="pres">
      <dgm:prSet presAssocID="{50075DFF-BDD2-4B22-BB45-D72E355A0837}" presName="textNode" presStyleLbl="bgShp" presStyleIdx="0" presStyleCnt="1"/>
      <dgm:spPr/>
    </dgm:pt>
    <dgm:pt modelId="{1B43AE5E-3DFF-43BF-8C57-8B14F59AB127}" type="pres">
      <dgm:prSet presAssocID="{50075DFF-BDD2-4B22-BB45-D72E355A0837}" presName="compChildNode" presStyleCnt="0"/>
      <dgm:spPr/>
    </dgm:pt>
    <dgm:pt modelId="{5C47A2A9-5318-4926-8CCD-9DA6A157E81E}" type="pres">
      <dgm:prSet presAssocID="{50075DFF-BDD2-4B22-BB45-D72E355A0837}" presName="theInnerList" presStyleCnt="0"/>
      <dgm:spPr/>
    </dgm:pt>
    <dgm:pt modelId="{E18736DA-694F-466D-B344-12FB14467A38}" type="pres">
      <dgm:prSet presAssocID="{0211A353-289D-4524-9D3F-247B3468225E}" presName="childNode" presStyleLbl="node1" presStyleIdx="0" presStyleCnt="2">
        <dgm:presLayoutVars>
          <dgm:bulletEnabled val="1"/>
        </dgm:presLayoutVars>
      </dgm:prSet>
      <dgm:spPr/>
    </dgm:pt>
    <dgm:pt modelId="{306E7532-8809-441F-878C-26DC5D43DFB1}" type="pres">
      <dgm:prSet presAssocID="{0211A353-289D-4524-9D3F-247B3468225E}" presName="aSpace2" presStyleCnt="0"/>
      <dgm:spPr/>
    </dgm:pt>
    <dgm:pt modelId="{9A6884A8-4091-429F-9504-D196E5C98273}" type="pres">
      <dgm:prSet presAssocID="{FA687220-3D64-4729-97B5-56C3B0CB4991}" presName="childNode" presStyleLbl="node1" presStyleIdx="1" presStyleCnt="2">
        <dgm:presLayoutVars>
          <dgm:bulletEnabled val="1"/>
        </dgm:presLayoutVars>
      </dgm:prSet>
      <dgm:spPr/>
    </dgm:pt>
  </dgm:ptLst>
  <dgm:cxnLst>
    <dgm:cxn modelId="{2A057C25-EC88-44F2-8771-2A107228C342}" type="presOf" srcId="{50075DFF-BDD2-4B22-BB45-D72E355A0837}" destId="{0F7F8C7F-6CB2-404E-97FF-7B8F9DC44EE3}" srcOrd="0" destOrd="0" presId="urn:microsoft.com/office/officeart/2005/8/layout/lProcess2"/>
    <dgm:cxn modelId="{1B5B642F-2C97-498B-A6C0-BC7B5A918883}" type="presOf" srcId="{282B970A-343D-4CF1-ACD8-1E2928BB0BB1}" destId="{03A1301B-524C-46FD-A290-26EC95C02BD8}" srcOrd="0" destOrd="0" presId="urn:microsoft.com/office/officeart/2005/8/layout/lProcess2"/>
    <dgm:cxn modelId="{488FA463-4D2D-4F01-8629-5F245FEF84D9}" srcId="{50075DFF-BDD2-4B22-BB45-D72E355A0837}" destId="{0211A353-289D-4524-9D3F-247B3468225E}" srcOrd="0" destOrd="0" parTransId="{C2F80ECA-2972-44EA-8274-BBC94B98BF8F}" sibTransId="{7177C19B-DE9F-4C96-86E7-96571403DBE9}"/>
    <dgm:cxn modelId="{D8839147-FFCB-4C6F-8309-7584111FB1B1}" type="presOf" srcId="{50075DFF-BDD2-4B22-BB45-D72E355A0837}" destId="{5A987722-A42D-4A0A-87AF-68ED8256B9A3}" srcOrd="1" destOrd="0" presId="urn:microsoft.com/office/officeart/2005/8/layout/lProcess2"/>
    <dgm:cxn modelId="{7386F78F-1D2E-458D-BF2D-B78550D9070B}" srcId="{50075DFF-BDD2-4B22-BB45-D72E355A0837}" destId="{FA687220-3D64-4729-97B5-56C3B0CB4991}" srcOrd="1" destOrd="0" parTransId="{50770C6B-5AEF-4BF8-8C77-2C95B4E196AA}" sibTransId="{A68AE9DD-55CD-4847-ADCA-BACF42E16F3A}"/>
    <dgm:cxn modelId="{16815193-993C-4DD3-9052-FCC6BEFAB67F}" srcId="{282B970A-343D-4CF1-ACD8-1E2928BB0BB1}" destId="{50075DFF-BDD2-4B22-BB45-D72E355A0837}" srcOrd="0" destOrd="0" parTransId="{8EBEC8EE-1475-4134-9795-1AD1D3E69769}" sibTransId="{0A9D0EF0-9EBE-48F2-82FB-8B164A14BE5E}"/>
    <dgm:cxn modelId="{99B4B5B8-AB28-4E4D-B841-7911E4248DD3}" type="presOf" srcId="{FA687220-3D64-4729-97B5-56C3B0CB4991}" destId="{9A6884A8-4091-429F-9504-D196E5C98273}" srcOrd="0" destOrd="0" presId="urn:microsoft.com/office/officeart/2005/8/layout/lProcess2"/>
    <dgm:cxn modelId="{6CA519D0-C8FF-434E-9A75-ADBABBE89B9E}" type="presOf" srcId="{0211A353-289D-4524-9D3F-247B3468225E}" destId="{E18736DA-694F-466D-B344-12FB14467A38}" srcOrd="0" destOrd="0" presId="urn:microsoft.com/office/officeart/2005/8/layout/lProcess2"/>
    <dgm:cxn modelId="{416899E2-A8C0-4D74-9C77-8F202D23E5CA}" type="presParOf" srcId="{03A1301B-524C-46FD-A290-26EC95C02BD8}" destId="{ECFB74FB-BE45-4FDD-8208-E10484F7434C}" srcOrd="0" destOrd="0" presId="urn:microsoft.com/office/officeart/2005/8/layout/lProcess2"/>
    <dgm:cxn modelId="{4FD7FB62-3BF2-43ED-A0C9-B394A800E014}" type="presParOf" srcId="{ECFB74FB-BE45-4FDD-8208-E10484F7434C}" destId="{0F7F8C7F-6CB2-404E-97FF-7B8F9DC44EE3}" srcOrd="0" destOrd="0" presId="urn:microsoft.com/office/officeart/2005/8/layout/lProcess2"/>
    <dgm:cxn modelId="{DEE776E5-1A74-48EE-9119-818FC8F47E5F}" type="presParOf" srcId="{ECFB74FB-BE45-4FDD-8208-E10484F7434C}" destId="{5A987722-A42D-4A0A-87AF-68ED8256B9A3}" srcOrd="1" destOrd="0" presId="urn:microsoft.com/office/officeart/2005/8/layout/lProcess2"/>
    <dgm:cxn modelId="{FFE898BA-541D-4F1C-B222-7CB4DB60E108}" type="presParOf" srcId="{ECFB74FB-BE45-4FDD-8208-E10484F7434C}" destId="{1B43AE5E-3DFF-43BF-8C57-8B14F59AB127}" srcOrd="2" destOrd="0" presId="urn:microsoft.com/office/officeart/2005/8/layout/lProcess2"/>
    <dgm:cxn modelId="{2E23B769-8176-4637-8563-132823C95CF8}" type="presParOf" srcId="{1B43AE5E-3DFF-43BF-8C57-8B14F59AB127}" destId="{5C47A2A9-5318-4926-8CCD-9DA6A157E81E}" srcOrd="0" destOrd="0" presId="urn:microsoft.com/office/officeart/2005/8/layout/lProcess2"/>
    <dgm:cxn modelId="{2E59BEC8-43BB-43F6-B9EB-577567EACBEB}" type="presParOf" srcId="{5C47A2A9-5318-4926-8CCD-9DA6A157E81E}" destId="{E18736DA-694F-466D-B344-12FB14467A38}" srcOrd="0" destOrd="0" presId="urn:microsoft.com/office/officeart/2005/8/layout/lProcess2"/>
    <dgm:cxn modelId="{56B4065C-0B45-418C-8342-13A38A530614}" type="presParOf" srcId="{5C47A2A9-5318-4926-8CCD-9DA6A157E81E}" destId="{306E7532-8809-441F-878C-26DC5D43DFB1}" srcOrd="1" destOrd="0" presId="urn:microsoft.com/office/officeart/2005/8/layout/lProcess2"/>
    <dgm:cxn modelId="{2EEC211F-AD34-4BB8-AEC0-EA6B8F33B8DE}" type="presParOf" srcId="{5C47A2A9-5318-4926-8CCD-9DA6A157E81E}" destId="{9A6884A8-4091-429F-9504-D196E5C98273}" srcOrd="2" destOrd="0" presId="urn:microsoft.com/office/officeart/2005/8/layout/l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53C4FF3-511F-4F4E-8CBA-7957CD35A0FA}" type="doc">
      <dgm:prSet loTypeId="urn:microsoft.com/office/officeart/2005/8/layout/vList2" loCatId="list" qsTypeId="urn:microsoft.com/office/officeart/2005/8/quickstyle/simple1" qsCatId="simple" csTypeId="urn:microsoft.com/office/officeart/2005/8/colors/accent4_2" csCatId="accent4"/>
      <dgm:spPr/>
      <dgm:t>
        <a:bodyPr/>
        <a:lstStyle/>
        <a:p>
          <a:endParaRPr lang="en-US"/>
        </a:p>
      </dgm:t>
    </dgm:pt>
    <dgm:pt modelId="{21D771B0-D063-4F97-92EC-A6362D8AB3FA}">
      <dgm:prSet/>
      <dgm:spPr/>
      <dgm:t>
        <a:bodyPr/>
        <a:lstStyle/>
        <a:p>
          <a:r>
            <a:rPr lang="en-IN" dirty="0"/>
            <a:t>RQ1: How does combining static analysis and runtime traces improve accuracy and completeness of scenario-specific interaction model reconstruction? </a:t>
          </a:r>
          <a:endParaRPr lang="en-US" dirty="0"/>
        </a:p>
      </dgm:t>
    </dgm:pt>
    <dgm:pt modelId="{C3AF8761-29D2-4843-882F-0D6B1803A1E1}" type="parTrans" cxnId="{7ED06996-6CAE-4F22-802E-9C5488962F7B}">
      <dgm:prSet/>
      <dgm:spPr/>
      <dgm:t>
        <a:bodyPr/>
        <a:lstStyle/>
        <a:p>
          <a:endParaRPr lang="en-US"/>
        </a:p>
      </dgm:t>
    </dgm:pt>
    <dgm:pt modelId="{D0B0D6A3-AEE9-4B1B-9265-AEB4FFD9D734}" type="sibTrans" cxnId="{7ED06996-6CAE-4F22-802E-9C5488962F7B}">
      <dgm:prSet/>
      <dgm:spPr/>
      <dgm:t>
        <a:bodyPr/>
        <a:lstStyle/>
        <a:p>
          <a:endParaRPr lang="en-US"/>
        </a:p>
      </dgm:t>
    </dgm:pt>
    <dgm:pt modelId="{9214A3F3-BB67-4C6A-9DCC-A9BA12C575DB}">
      <dgm:prSet/>
      <dgm:spPr/>
      <dgm:t>
        <a:bodyPr/>
        <a:lstStyle/>
        <a:p>
          <a:r>
            <a:rPr lang="en-IN" dirty="0"/>
            <a:t>RQ2: </a:t>
          </a:r>
          <a:r>
            <a:rPr lang="en-GB" dirty="0"/>
            <a:t>How does guiding trace collection with the static call graph removes noise without losing scenario coverage</a:t>
          </a:r>
          <a:r>
            <a:rPr lang="en-IN" dirty="0"/>
            <a:t>?</a:t>
          </a:r>
          <a:endParaRPr lang="en-US" dirty="0"/>
        </a:p>
      </dgm:t>
    </dgm:pt>
    <dgm:pt modelId="{E1DA5E7F-8E3E-4350-A8B2-EA31388F36EC}" type="parTrans" cxnId="{FBF462FB-B86E-4833-BDB0-00AC77F6B0A4}">
      <dgm:prSet/>
      <dgm:spPr/>
      <dgm:t>
        <a:bodyPr/>
        <a:lstStyle/>
        <a:p>
          <a:endParaRPr lang="en-US"/>
        </a:p>
      </dgm:t>
    </dgm:pt>
    <dgm:pt modelId="{1C198FDD-B004-4D99-B339-943AC7AAD379}" type="sibTrans" cxnId="{FBF462FB-B86E-4833-BDB0-00AC77F6B0A4}">
      <dgm:prSet/>
      <dgm:spPr/>
      <dgm:t>
        <a:bodyPr/>
        <a:lstStyle/>
        <a:p>
          <a:endParaRPr lang="en-US"/>
        </a:p>
      </dgm:t>
    </dgm:pt>
    <dgm:pt modelId="{6C29C085-CFF0-4C10-B234-D5A256B9F609}">
      <dgm:prSet/>
      <dgm:spPr/>
      <dgm:t>
        <a:bodyPr/>
        <a:lstStyle/>
        <a:p>
          <a:r>
            <a:rPr lang="en-IN" dirty="0"/>
            <a:t>RQ3: </a:t>
          </a:r>
          <a:r>
            <a:rPr lang="en-GB" dirty="0"/>
            <a:t>How well does a reconstructed </a:t>
          </a:r>
          <a:r>
            <a:rPr lang="en-GB" dirty="0" err="1"/>
            <a:t>SysML</a:t>
          </a:r>
          <a:r>
            <a:rPr lang="en-GB" dirty="0"/>
            <a:t> v2 interaction diagram consolidate static and dynamic evidence into a single artifact sufficient for system behaviour comprehension</a:t>
          </a:r>
          <a:r>
            <a:rPr lang="en-IN" dirty="0"/>
            <a:t>?</a:t>
          </a:r>
          <a:endParaRPr lang="en-US" dirty="0"/>
        </a:p>
      </dgm:t>
    </dgm:pt>
    <dgm:pt modelId="{74A916C4-FCC7-4C86-A48C-E6B5C27F2E86}" type="parTrans" cxnId="{59CD6FB3-302D-4CA9-A88E-78C8B6BFCE61}">
      <dgm:prSet/>
      <dgm:spPr/>
      <dgm:t>
        <a:bodyPr/>
        <a:lstStyle/>
        <a:p>
          <a:endParaRPr lang="en-US"/>
        </a:p>
      </dgm:t>
    </dgm:pt>
    <dgm:pt modelId="{5A950125-52CE-4709-AB4A-6FD552E3EC58}" type="sibTrans" cxnId="{59CD6FB3-302D-4CA9-A88E-78C8B6BFCE61}">
      <dgm:prSet/>
      <dgm:spPr/>
      <dgm:t>
        <a:bodyPr/>
        <a:lstStyle/>
        <a:p>
          <a:endParaRPr lang="en-US"/>
        </a:p>
      </dgm:t>
    </dgm:pt>
    <dgm:pt modelId="{BD325CB9-0C5D-43A5-B7DE-B04E9EA8981A}" type="pres">
      <dgm:prSet presAssocID="{253C4FF3-511F-4F4E-8CBA-7957CD35A0FA}" presName="linear" presStyleCnt="0">
        <dgm:presLayoutVars>
          <dgm:animLvl val="lvl"/>
          <dgm:resizeHandles val="exact"/>
        </dgm:presLayoutVars>
      </dgm:prSet>
      <dgm:spPr/>
    </dgm:pt>
    <dgm:pt modelId="{92F5EDA9-998D-4869-B237-6B6D0E109CAC}" type="pres">
      <dgm:prSet presAssocID="{21D771B0-D063-4F97-92EC-A6362D8AB3FA}" presName="parentText" presStyleLbl="node1" presStyleIdx="0" presStyleCnt="3">
        <dgm:presLayoutVars>
          <dgm:chMax val="0"/>
          <dgm:bulletEnabled val="1"/>
        </dgm:presLayoutVars>
      </dgm:prSet>
      <dgm:spPr/>
    </dgm:pt>
    <dgm:pt modelId="{C435D792-9F9F-4D13-B909-0360B4EB6456}" type="pres">
      <dgm:prSet presAssocID="{D0B0D6A3-AEE9-4B1B-9265-AEB4FFD9D734}" presName="spacer" presStyleCnt="0"/>
      <dgm:spPr/>
    </dgm:pt>
    <dgm:pt modelId="{E3DFA99D-7EEB-48D8-BFB9-31FDA3A57870}" type="pres">
      <dgm:prSet presAssocID="{9214A3F3-BB67-4C6A-9DCC-A9BA12C575DB}" presName="parentText" presStyleLbl="node1" presStyleIdx="1" presStyleCnt="3">
        <dgm:presLayoutVars>
          <dgm:chMax val="0"/>
          <dgm:bulletEnabled val="1"/>
        </dgm:presLayoutVars>
      </dgm:prSet>
      <dgm:spPr/>
    </dgm:pt>
    <dgm:pt modelId="{0B389985-EBCC-43AB-BB98-49D3E89E2268}" type="pres">
      <dgm:prSet presAssocID="{1C198FDD-B004-4D99-B339-943AC7AAD379}" presName="spacer" presStyleCnt="0"/>
      <dgm:spPr/>
    </dgm:pt>
    <dgm:pt modelId="{214E6DCC-4172-412A-A56E-989382293DD6}" type="pres">
      <dgm:prSet presAssocID="{6C29C085-CFF0-4C10-B234-D5A256B9F609}" presName="parentText" presStyleLbl="node1" presStyleIdx="2" presStyleCnt="3">
        <dgm:presLayoutVars>
          <dgm:chMax val="0"/>
          <dgm:bulletEnabled val="1"/>
        </dgm:presLayoutVars>
      </dgm:prSet>
      <dgm:spPr/>
    </dgm:pt>
  </dgm:ptLst>
  <dgm:cxnLst>
    <dgm:cxn modelId="{51096F62-64DE-4BD3-80A5-2A7454805B54}" type="presOf" srcId="{21D771B0-D063-4F97-92EC-A6362D8AB3FA}" destId="{92F5EDA9-998D-4869-B237-6B6D0E109CAC}" srcOrd="0" destOrd="0" presId="urn:microsoft.com/office/officeart/2005/8/layout/vList2"/>
    <dgm:cxn modelId="{64EC4D83-AACE-45B4-A1E1-071EC40B6072}" type="presOf" srcId="{6C29C085-CFF0-4C10-B234-D5A256B9F609}" destId="{214E6DCC-4172-412A-A56E-989382293DD6}" srcOrd="0" destOrd="0" presId="urn:microsoft.com/office/officeart/2005/8/layout/vList2"/>
    <dgm:cxn modelId="{7ED06996-6CAE-4F22-802E-9C5488962F7B}" srcId="{253C4FF3-511F-4F4E-8CBA-7957CD35A0FA}" destId="{21D771B0-D063-4F97-92EC-A6362D8AB3FA}" srcOrd="0" destOrd="0" parTransId="{C3AF8761-29D2-4843-882F-0D6B1803A1E1}" sibTransId="{D0B0D6A3-AEE9-4B1B-9265-AEB4FFD9D734}"/>
    <dgm:cxn modelId="{93C57498-A9E3-464A-92F6-22769CF7047A}" type="presOf" srcId="{9214A3F3-BB67-4C6A-9DCC-A9BA12C575DB}" destId="{E3DFA99D-7EEB-48D8-BFB9-31FDA3A57870}" srcOrd="0" destOrd="0" presId="urn:microsoft.com/office/officeart/2005/8/layout/vList2"/>
    <dgm:cxn modelId="{1C24429E-3990-46C0-BD6E-8A3824126CA6}" type="presOf" srcId="{253C4FF3-511F-4F4E-8CBA-7957CD35A0FA}" destId="{BD325CB9-0C5D-43A5-B7DE-B04E9EA8981A}" srcOrd="0" destOrd="0" presId="urn:microsoft.com/office/officeart/2005/8/layout/vList2"/>
    <dgm:cxn modelId="{59CD6FB3-302D-4CA9-A88E-78C8B6BFCE61}" srcId="{253C4FF3-511F-4F4E-8CBA-7957CD35A0FA}" destId="{6C29C085-CFF0-4C10-B234-D5A256B9F609}" srcOrd="2" destOrd="0" parTransId="{74A916C4-FCC7-4C86-A48C-E6B5C27F2E86}" sibTransId="{5A950125-52CE-4709-AB4A-6FD552E3EC58}"/>
    <dgm:cxn modelId="{FBF462FB-B86E-4833-BDB0-00AC77F6B0A4}" srcId="{253C4FF3-511F-4F4E-8CBA-7957CD35A0FA}" destId="{9214A3F3-BB67-4C6A-9DCC-A9BA12C575DB}" srcOrd="1" destOrd="0" parTransId="{E1DA5E7F-8E3E-4350-A8B2-EA31388F36EC}" sibTransId="{1C198FDD-B004-4D99-B339-943AC7AAD379}"/>
    <dgm:cxn modelId="{B678721E-4714-4910-8B21-F8F152BA0D46}" type="presParOf" srcId="{BD325CB9-0C5D-43A5-B7DE-B04E9EA8981A}" destId="{92F5EDA9-998D-4869-B237-6B6D0E109CAC}" srcOrd="0" destOrd="0" presId="urn:microsoft.com/office/officeart/2005/8/layout/vList2"/>
    <dgm:cxn modelId="{9C81EC62-9540-42C8-BC81-214D44C06C53}" type="presParOf" srcId="{BD325CB9-0C5D-43A5-B7DE-B04E9EA8981A}" destId="{C435D792-9F9F-4D13-B909-0360B4EB6456}" srcOrd="1" destOrd="0" presId="urn:microsoft.com/office/officeart/2005/8/layout/vList2"/>
    <dgm:cxn modelId="{E0929F42-26B2-4531-BB09-CA506636460D}" type="presParOf" srcId="{BD325CB9-0C5D-43A5-B7DE-B04E9EA8981A}" destId="{E3DFA99D-7EEB-48D8-BFB9-31FDA3A57870}" srcOrd="2" destOrd="0" presId="urn:microsoft.com/office/officeart/2005/8/layout/vList2"/>
    <dgm:cxn modelId="{7C4A637A-7987-4000-98FC-2AB21A6FA00E}" type="presParOf" srcId="{BD325CB9-0C5D-43A5-B7DE-B04E9EA8981A}" destId="{0B389985-EBCC-43AB-BB98-49D3E89E2268}" srcOrd="3" destOrd="0" presId="urn:microsoft.com/office/officeart/2005/8/layout/vList2"/>
    <dgm:cxn modelId="{6B8B4A7E-34D0-48B0-9241-64FAEB17F935}" type="presParOf" srcId="{BD325CB9-0C5D-43A5-B7DE-B04E9EA8981A}" destId="{214E6DCC-4172-412A-A56E-989382293DD6}"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82B970A-343D-4CF1-ACD8-1E2928BB0BB1}" type="doc">
      <dgm:prSet loTypeId="urn:microsoft.com/office/officeart/2005/8/layout/lProcess2" loCatId="relationship" qsTypeId="urn:microsoft.com/office/officeart/2005/8/quickstyle/simple2" qsCatId="simple" csTypeId="urn:microsoft.com/office/officeart/2005/8/colors/accent4_2" csCatId="accent4" phldr="1"/>
      <dgm:spPr/>
      <dgm:t>
        <a:bodyPr/>
        <a:lstStyle/>
        <a:p>
          <a:endParaRPr lang="en-IN"/>
        </a:p>
      </dgm:t>
    </dgm:pt>
    <dgm:pt modelId="{50075DFF-BDD2-4B22-BB45-D72E355A0837}">
      <dgm:prSet phldrT="[Text]" custT="1"/>
      <dgm:spPr/>
      <dgm:t>
        <a:bodyPr/>
        <a:lstStyle/>
        <a:p>
          <a:pPr>
            <a:buNone/>
          </a:pPr>
          <a:r>
            <a:rPr lang="en-GB" sz="2400" noProof="0" dirty="0"/>
            <a:t>Hybrid Analysis - Interaction Diagram</a:t>
          </a:r>
        </a:p>
      </dgm:t>
    </dgm:pt>
    <dgm:pt modelId="{8EBEC8EE-1475-4134-9795-1AD1D3E69769}" type="parTrans" cxnId="{16815193-993C-4DD3-9052-FCC6BEFAB67F}">
      <dgm:prSet/>
      <dgm:spPr/>
      <dgm:t>
        <a:bodyPr/>
        <a:lstStyle/>
        <a:p>
          <a:endParaRPr lang="en-IN" sz="2400"/>
        </a:p>
      </dgm:t>
    </dgm:pt>
    <dgm:pt modelId="{0A9D0EF0-9EBE-48F2-82FB-8B164A14BE5E}" type="sibTrans" cxnId="{16815193-993C-4DD3-9052-FCC6BEFAB67F}">
      <dgm:prSet/>
      <dgm:spPr/>
      <dgm:t>
        <a:bodyPr/>
        <a:lstStyle/>
        <a:p>
          <a:endParaRPr lang="en-IN" sz="2400"/>
        </a:p>
      </dgm:t>
    </dgm:pt>
    <dgm:pt modelId="{0211A353-289D-4524-9D3F-247B3468225E}">
      <dgm:prSet phldrT="[Text]" custT="1"/>
      <dgm:spPr/>
      <dgm:t>
        <a:bodyPr/>
        <a:lstStyle/>
        <a:p>
          <a:pPr>
            <a:buNone/>
          </a:pPr>
          <a:r>
            <a:rPr lang="en-GB" sz="2400" noProof="0" dirty="0"/>
            <a:t>Static Code Structure</a:t>
          </a:r>
        </a:p>
      </dgm:t>
    </dgm:pt>
    <dgm:pt modelId="{C2F80ECA-2972-44EA-8274-BBC94B98BF8F}" type="parTrans" cxnId="{488FA463-4D2D-4F01-8629-5F245FEF84D9}">
      <dgm:prSet/>
      <dgm:spPr/>
      <dgm:t>
        <a:bodyPr/>
        <a:lstStyle/>
        <a:p>
          <a:endParaRPr lang="en-IN" sz="2400"/>
        </a:p>
      </dgm:t>
    </dgm:pt>
    <dgm:pt modelId="{7177C19B-DE9F-4C96-86E7-96571403DBE9}" type="sibTrans" cxnId="{488FA463-4D2D-4F01-8629-5F245FEF84D9}">
      <dgm:prSet/>
      <dgm:spPr/>
      <dgm:t>
        <a:bodyPr/>
        <a:lstStyle/>
        <a:p>
          <a:endParaRPr lang="en-IN" sz="2400"/>
        </a:p>
      </dgm:t>
    </dgm:pt>
    <dgm:pt modelId="{FA687220-3D64-4729-97B5-56C3B0CB4991}">
      <dgm:prSet phldrT="[Text]" custT="1"/>
      <dgm:spPr/>
      <dgm:t>
        <a:bodyPr/>
        <a:lstStyle/>
        <a:p>
          <a:r>
            <a:rPr lang="en-GB" sz="2400" noProof="0" dirty="0"/>
            <a:t>Runtime Traces</a:t>
          </a:r>
        </a:p>
      </dgm:t>
    </dgm:pt>
    <dgm:pt modelId="{50770C6B-5AEF-4BF8-8C77-2C95B4E196AA}" type="parTrans" cxnId="{7386F78F-1D2E-458D-BF2D-B78550D9070B}">
      <dgm:prSet/>
      <dgm:spPr/>
      <dgm:t>
        <a:bodyPr/>
        <a:lstStyle/>
        <a:p>
          <a:endParaRPr lang="en-IN" sz="2400"/>
        </a:p>
      </dgm:t>
    </dgm:pt>
    <dgm:pt modelId="{A68AE9DD-55CD-4847-ADCA-BACF42E16F3A}" type="sibTrans" cxnId="{7386F78F-1D2E-458D-BF2D-B78550D9070B}">
      <dgm:prSet/>
      <dgm:spPr/>
      <dgm:t>
        <a:bodyPr/>
        <a:lstStyle/>
        <a:p>
          <a:endParaRPr lang="en-IN" sz="2400"/>
        </a:p>
      </dgm:t>
    </dgm:pt>
    <dgm:pt modelId="{03A1301B-524C-46FD-A290-26EC95C02BD8}" type="pres">
      <dgm:prSet presAssocID="{282B970A-343D-4CF1-ACD8-1E2928BB0BB1}" presName="theList" presStyleCnt="0">
        <dgm:presLayoutVars>
          <dgm:dir/>
          <dgm:animLvl val="lvl"/>
          <dgm:resizeHandles val="exact"/>
        </dgm:presLayoutVars>
      </dgm:prSet>
      <dgm:spPr/>
    </dgm:pt>
    <dgm:pt modelId="{ECFB74FB-BE45-4FDD-8208-E10484F7434C}" type="pres">
      <dgm:prSet presAssocID="{50075DFF-BDD2-4B22-BB45-D72E355A0837}" presName="compNode" presStyleCnt="0"/>
      <dgm:spPr/>
    </dgm:pt>
    <dgm:pt modelId="{0F7F8C7F-6CB2-404E-97FF-7B8F9DC44EE3}" type="pres">
      <dgm:prSet presAssocID="{50075DFF-BDD2-4B22-BB45-D72E355A0837}" presName="aNode" presStyleLbl="bgShp" presStyleIdx="0" presStyleCnt="1"/>
      <dgm:spPr/>
    </dgm:pt>
    <dgm:pt modelId="{5A987722-A42D-4A0A-87AF-68ED8256B9A3}" type="pres">
      <dgm:prSet presAssocID="{50075DFF-BDD2-4B22-BB45-D72E355A0837}" presName="textNode" presStyleLbl="bgShp" presStyleIdx="0" presStyleCnt="1"/>
      <dgm:spPr/>
    </dgm:pt>
    <dgm:pt modelId="{1B43AE5E-3DFF-43BF-8C57-8B14F59AB127}" type="pres">
      <dgm:prSet presAssocID="{50075DFF-BDD2-4B22-BB45-D72E355A0837}" presName="compChildNode" presStyleCnt="0"/>
      <dgm:spPr/>
    </dgm:pt>
    <dgm:pt modelId="{5C47A2A9-5318-4926-8CCD-9DA6A157E81E}" type="pres">
      <dgm:prSet presAssocID="{50075DFF-BDD2-4B22-BB45-D72E355A0837}" presName="theInnerList" presStyleCnt="0"/>
      <dgm:spPr/>
    </dgm:pt>
    <dgm:pt modelId="{E18736DA-694F-466D-B344-12FB14467A38}" type="pres">
      <dgm:prSet presAssocID="{0211A353-289D-4524-9D3F-247B3468225E}" presName="childNode" presStyleLbl="node1" presStyleIdx="0" presStyleCnt="2">
        <dgm:presLayoutVars>
          <dgm:bulletEnabled val="1"/>
        </dgm:presLayoutVars>
      </dgm:prSet>
      <dgm:spPr/>
    </dgm:pt>
    <dgm:pt modelId="{306E7532-8809-441F-878C-26DC5D43DFB1}" type="pres">
      <dgm:prSet presAssocID="{0211A353-289D-4524-9D3F-247B3468225E}" presName="aSpace2" presStyleCnt="0"/>
      <dgm:spPr/>
    </dgm:pt>
    <dgm:pt modelId="{9A6884A8-4091-429F-9504-D196E5C98273}" type="pres">
      <dgm:prSet presAssocID="{FA687220-3D64-4729-97B5-56C3B0CB4991}" presName="childNode" presStyleLbl="node1" presStyleIdx="1" presStyleCnt="2">
        <dgm:presLayoutVars>
          <dgm:bulletEnabled val="1"/>
        </dgm:presLayoutVars>
      </dgm:prSet>
      <dgm:spPr/>
    </dgm:pt>
  </dgm:ptLst>
  <dgm:cxnLst>
    <dgm:cxn modelId="{2A057C25-EC88-44F2-8771-2A107228C342}" type="presOf" srcId="{50075DFF-BDD2-4B22-BB45-D72E355A0837}" destId="{0F7F8C7F-6CB2-404E-97FF-7B8F9DC44EE3}" srcOrd="0" destOrd="0" presId="urn:microsoft.com/office/officeart/2005/8/layout/lProcess2"/>
    <dgm:cxn modelId="{1B5B642F-2C97-498B-A6C0-BC7B5A918883}" type="presOf" srcId="{282B970A-343D-4CF1-ACD8-1E2928BB0BB1}" destId="{03A1301B-524C-46FD-A290-26EC95C02BD8}" srcOrd="0" destOrd="0" presId="urn:microsoft.com/office/officeart/2005/8/layout/lProcess2"/>
    <dgm:cxn modelId="{488FA463-4D2D-4F01-8629-5F245FEF84D9}" srcId="{50075DFF-BDD2-4B22-BB45-D72E355A0837}" destId="{0211A353-289D-4524-9D3F-247B3468225E}" srcOrd="0" destOrd="0" parTransId="{C2F80ECA-2972-44EA-8274-BBC94B98BF8F}" sibTransId="{7177C19B-DE9F-4C96-86E7-96571403DBE9}"/>
    <dgm:cxn modelId="{D8839147-FFCB-4C6F-8309-7584111FB1B1}" type="presOf" srcId="{50075DFF-BDD2-4B22-BB45-D72E355A0837}" destId="{5A987722-A42D-4A0A-87AF-68ED8256B9A3}" srcOrd="1" destOrd="0" presId="urn:microsoft.com/office/officeart/2005/8/layout/lProcess2"/>
    <dgm:cxn modelId="{7386F78F-1D2E-458D-BF2D-B78550D9070B}" srcId="{50075DFF-BDD2-4B22-BB45-D72E355A0837}" destId="{FA687220-3D64-4729-97B5-56C3B0CB4991}" srcOrd="1" destOrd="0" parTransId="{50770C6B-5AEF-4BF8-8C77-2C95B4E196AA}" sibTransId="{A68AE9DD-55CD-4847-ADCA-BACF42E16F3A}"/>
    <dgm:cxn modelId="{16815193-993C-4DD3-9052-FCC6BEFAB67F}" srcId="{282B970A-343D-4CF1-ACD8-1E2928BB0BB1}" destId="{50075DFF-BDD2-4B22-BB45-D72E355A0837}" srcOrd="0" destOrd="0" parTransId="{8EBEC8EE-1475-4134-9795-1AD1D3E69769}" sibTransId="{0A9D0EF0-9EBE-48F2-82FB-8B164A14BE5E}"/>
    <dgm:cxn modelId="{99B4B5B8-AB28-4E4D-B841-7911E4248DD3}" type="presOf" srcId="{FA687220-3D64-4729-97B5-56C3B0CB4991}" destId="{9A6884A8-4091-429F-9504-D196E5C98273}" srcOrd="0" destOrd="0" presId="urn:microsoft.com/office/officeart/2005/8/layout/lProcess2"/>
    <dgm:cxn modelId="{6CA519D0-C8FF-434E-9A75-ADBABBE89B9E}" type="presOf" srcId="{0211A353-289D-4524-9D3F-247B3468225E}" destId="{E18736DA-694F-466D-B344-12FB14467A38}" srcOrd="0" destOrd="0" presId="urn:microsoft.com/office/officeart/2005/8/layout/lProcess2"/>
    <dgm:cxn modelId="{416899E2-A8C0-4D74-9C77-8F202D23E5CA}" type="presParOf" srcId="{03A1301B-524C-46FD-A290-26EC95C02BD8}" destId="{ECFB74FB-BE45-4FDD-8208-E10484F7434C}" srcOrd="0" destOrd="0" presId="urn:microsoft.com/office/officeart/2005/8/layout/lProcess2"/>
    <dgm:cxn modelId="{4FD7FB62-3BF2-43ED-A0C9-B394A800E014}" type="presParOf" srcId="{ECFB74FB-BE45-4FDD-8208-E10484F7434C}" destId="{0F7F8C7F-6CB2-404E-97FF-7B8F9DC44EE3}" srcOrd="0" destOrd="0" presId="urn:microsoft.com/office/officeart/2005/8/layout/lProcess2"/>
    <dgm:cxn modelId="{DEE776E5-1A74-48EE-9119-818FC8F47E5F}" type="presParOf" srcId="{ECFB74FB-BE45-4FDD-8208-E10484F7434C}" destId="{5A987722-A42D-4A0A-87AF-68ED8256B9A3}" srcOrd="1" destOrd="0" presId="urn:microsoft.com/office/officeart/2005/8/layout/lProcess2"/>
    <dgm:cxn modelId="{FFE898BA-541D-4F1C-B222-7CB4DB60E108}" type="presParOf" srcId="{ECFB74FB-BE45-4FDD-8208-E10484F7434C}" destId="{1B43AE5E-3DFF-43BF-8C57-8B14F59AB127}" srcOrd="2" destOrd="0" presId="urn:microsoft.com/office/officeart/2005/8/layout/lProcess2"/>
    <dgm:cxn modelId="{2E23B769-8176-4637-8563-132823C95CF8}" type="presParOf" srcId="{1B43AE5E-3DFF-43BF-8C57-8B14F59AB127}" destId="{5C47A2A9-5318-4926-8CCD-9DA6A157E81E}" srcOrd="0" destOrd="0" presId="urn:microsoft.com/office/officeart/2005/8/layout/lProcess2"/>
    <dgm:cxn modelId="{2E59BEC8-43BB-43F6-B9EB-577567EACBEB}" type="presParOf" srcId="{5C47A2A9-5318-4926-8CCD-9DA6A157E81E}" destId="{E18736DA-694F-466D-B344-12FB14467A38}" srcOrd="0" destOrd="0" presId="urn:microsoft.com/office/officeart/2005/8/layout/lProcess2"/>
    <dgm:cxn modelId="{56B4065C-0B45-418C-8342-13A38A530614}" type="presParOf" srcId="{5C47A2A9-5318-4926-8CCD-9DA6A157E81E}" destId="{306E7532-8809-441F-878C-26DC5D43DFB1}" srcOrd="1" destOrd="0" presId="urn:microsoft.com/office/officeart/2005/8/layout/lProcess2"/>
    <dgm:cxn modelId="{2EEC211F-AD34-4BB8-AEC0-EA6B8F33B8DE}" type="presParOf" srcId="{5C47A2A9-5318-4926-8CCD-9DA6A157E81E}" destId="{9A6884A8-4091-429F-9504-D196E5C98273}" srcOrd="2" destOrd="0" presId="urn:microsoft.com/office/officeart/2005/8/layout/lProcess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BDBC4A5-8AF5-4E19-A5EA-FBDDCDAF20A5}" type="doc">
      <dgm:prSet loTypeId="urn:microsoft.com/office/officeart/2005/8/layout/process1" loCatId="process" qsTypeId="urn:microsoft.com/office/officeart/2005/8/quickstyle/simple1" qsCatId="simple" csTypeId="urn:microsoft.com/office/officeart/2005/8/colors/accent4_2" csCatId="accent4" phldr="1"/>
      <dgm:spPr/>
      <dgm:t>
        <a:bodyPr/>
        <a:lstStyle/>
        <a:p>
          <a:endParaRPr lang="en-GB"/>
        </a:p>
      </dgm:t>
    </dgm:pt>
    <dgm:pt modelId="{C3274065-0A1F-459F-AFF4-2A3D1DD1C65F}">
      <dgm:prSet phldrT="[Text]" custT="1"/>
      <dgm:spPr/>
      <dgm:t>
        <a:bodyPr/>
        <a:lstStyle/>
        <a:p>
          <a:r>
            <a:rPr lang="en-GB" sz="1600" b="1" i="0" dirty="0">
              <a:latin typeface="Calibri"/>
            </a:rPr>
            <a:t>Stage 1: Static Extraction</a:t>
          </a:r>
          <a:endParaRPr lang="en-GB" sz="1600" dirty="0"/>
        </a:p>
      </dgm:t>
    </dgm:pt>
    <dgm:pt modelId="{26E584AB-E257-48F9-ADD1-803E35FD3A90}" type="parTrans" cxnId="{D4EC62C3-E3B7-48DA-B3C3-2551C427029D}">
      <dgm:prSet/>
      <dgm:spPr/>
      <dgm:t>
        <a:bodyPr/>
        <a:lstStyle/>
        <a:p>
          <a:endParaRPr lang="en-GB" sz="1800"/>
        </a:p>
      </dgm:t>
    </dgm:pt>
    <dgm:pt modelId="{22B2FDDA-5E8A-4956-974E-F0499B128BDD}" type="sibTrans" cxnId="{D4EC62C3-E3B7-48DA-B3C3-2551C427029D}">
      <dgm:prSet custT="1"/>
      <dgm:spPr/>
      <dgm:t>
        <a:bodyPr/>
        <a:lstStyle/>
        <a:p>
          <a:endParaRPr lang="en-GB" sz="1100"/>
        </a:p>
      </dgm:t>
    </dgm:pt>
    <dgm:pt modelId="{AD0FA62B-BADF-4B17-B120-962B49CD5384}">
      <dgm:prSet phldrT="[Text]" custT="1"/>
      <dgm:spPr/>
      <dgm:t>
        <a:bodyPr/>
        <a:lstStyle/>
        <a:p>
          <a:r>
            <a:rPr lang="en-GB" sz="1600" b="1" i="0" dirty="0">
              <a:latin typeface="Calibri"/>
            </a:rPr>
            <a:t>Stage 2: Code graph query</a:t>
          </a:r>
          <a:endParaRPr lang="en-GB" sz="1600" dirty="0"/>
        </a:p>
      </dgm:t>
    </dgm:pt>
    <dgm:pt modelId="{4BD23385-C8AE-48B5-B984-015D4C8BBC55}" type="parTrans" cxnId="{3C876D11-E420-4475-B6F2-63970A1670FC}">
      <dgm:prSet/>
      <dgm:spPr/>
      <dgm:t>
        <a:bodyPr/>
        <a:lstStyle/>
        <a:p>
          <a:endParaRPr lang="en-GB" sz="1800"/>
        </a:p>
      </dgm:t>
    </dgm:pt>
    <dgm:pt modelId="{BF40DED0-FCD0-4AE9-B96B-2F8AFA7B4C19}" type="sibTrans" cxnId="{3C876D11-E420-4475-B6F2-63970A1670FC}">
      <dgm:prSet custT="1"/>
      <dgm:spPr/>
      <dgm:t>
        <a:bodyPr/>
        <a:lstStyle/>
        <a:p>
          <a:endParaRPr lang="en-GB" sz="1050"/>
        </a:p>
      </dgm:t>
    </dgm:pt>
    <dgm:pt modelId="{9C7C21CF-427D-4E60-8765-2148ECBDA3C0}">
      <dgm:prSet phldrT="[Text]" custT="1"/>
      <dgm:spPr/>
      <dgm:t>
        <a:bodyPr/>
        <a:lstStyle/>
        <a:p>
          <a:endParaRPr lang="en-GB" sz="1050" dirty="0"/>
        </a:p>
      </dgm:t>
    </dgm:pt>
    <dgm:pt modelId="{FCEFB17B-65FB-4DB4-8BD7-FEDCC4DBAB60}" type="parTrans" cxnId="{7EB99A4D-A322-439C-A982-F339A34B8660}">
      <dgm:prSet/>
      <dgm:spPr/>
      <dgm:t>
        <a:bodyPr/>
        <a:lstStyle/>
        <a:p>
          <a:endParaRPr lang="en-GB" sz="1800"/>
        </a:p>
      </dgm:t>
    </dgm:pt>
    <dgm:pt modelId="{F6796D09-D6AA-4760-A75A-A826703E9C67}" type="sibTrans" cxnId="{7EB99A4D-A322-439C-A982-F339A34B8660}">
      <dgm:prSet/>
      <dgm:spPr/>
      <dgm:t>
        <a:bodyPr/>
        <a:lstStyle/>
        <a:p>
          <a:endParaRPr lang="en-GB" sz="1800"/>
        </a:p>
      </dgm:t>
    </dgm:pt>
    <dgm:pt modelId="{C3F6AC9D-5CCC-4B8A-8B1E-1DA9AE6BB887}">
      <dgm:prSet phldrT="[Text]" custT="1"/>
      <dgm:spPr/>
      <dgm:t>
        <a:bodyPr/>
        <a:lstStyle/>
        <a:p>
          <a:endParaRPr lang="en-GB" sz="1050" dirty="0"/>
        </a:p>
      </dgm:t>
    </dgm:pt>
    <dgm:pt modelId="{14C83473-F688-4D55-B6DD-845C15FACA42}" type="parTrans" cxnId="{C304D478-DFA2-4C3F-8892-AA44A4BC7B4E}">
      <dgm:prSet/>
      <dgm:spPr/>
      <dgm:t>
        <a:bodyPr/>
        <a:lstStyle/>
        <a:p>
          <a:endParaRPr lang="en-GB" sz="1800"/>
        </a:p>
      </dgm:t>
    </dgm:pt>
    <dgm:pt modelId="{C415DD48-4D32-4716-BD0E-AF325216196A}" type="sibTrans" cxnId="{C304D478-DFA2-4C3F-8892-AA44A4BC7B4E}">
      <dgm:prSet/>
      <dgm:spPr/>
      <dgm:t>
        <a:bodyPr/>
        <a:lstStyle/>
        <a:p>
          <a:endParaRPr lang="en-GB" sz="1800"/>
        </a:p>
      </dgm:t>
    </dgm:pt>
    <dgm:pt modelId="{C86C6B43-58F6-4562-9A8B-86F45F628571}">
      <dgm:prSet phldrT="[Text]" custT="1"/>
      <dgm:spPr/>
      <dgm:t>
        <a:bodyPr/>
        <a:lstStyle/>
        <a:p>
          <a:r>
            <a:rPr lang="en-GB" sz="1600" b="1" i="0" dirty="0">
              <a:latin typeface="Calibri"/>
            </a:rPr>
            <a:t>Stage 3: Dependency</a:t>
          </a:r>
          <a:br>
            <a:rPr lang="en-GB" sz="1600" b="1" i="0" dirty="0">
              <a:latin typeface="Calibri"/>
            </a:rPr>
          </a:br>
          <a:r>
            <a:rPr lang="en-GB" sz="1600" b="1" i="0" dirty="0">
              <a:latin typeface="Calibri"/>
            </a:rPr>
            <a:t>Matrix  Extraction </a:t>
          </a:r>
          <a:endParaRPr lang="en-GB" sz="1600" dirty="0"/>
        </a:p>
      </dgm:t>
    </dgm:pt>
    <dgm:pt modelId="{3DDA3ADF-3F0A-41ED-8197-53C11A5E9F0D}" type="parTrans" cxnId="{B3E11DFE-FCC9-4B73-94A6-717F3B7576F4}">
      <dgm:prSet/>
      <dgm:spPr/>
      <dgm:t>
        <a:bodyPr/>
        <a:lstStyle/>
        <a:p>
          <a:endParaRPr lang="en-GB" sz="1800"/>
        </a:p>
      </dgm:t>
    </dgm:pt>
    <dgm:pt modelId="{17E0DFD4-7BA5-471C-9FEE-5D28C187C072}" type="sibTrans" cxnId="{B3E11DFE-FCC9-4B73-94A6-717F3B7576F4}">
      <dgm:prSet custT="1"/>
      <dgm:spPr/>
      <dgm:t>
        <a:bodyPr/>
        <a:lstStyle/>
        <a:p>
          <a:endParaRPr lang="en-GB" sz="1100"/>
        </a:p>
      </dgm:t>
    </dgm:pt>
    <dgm:pt modelId="{AD1115B5-B1E2-4009-B25E-A631D6E95913}">
      <dgm:prSet phldrT="[Text]" custT="1"/>
      <dgm:spPr/>
      <dgm:t>
        <a:bodyPr/>
        <a:lstStyle/>
        <a:p>
          <a:endParaRPr lang="en-GB" sz="1050" dirty="0"/>
        </a:p>
      </dgm:t>
    </dgm:pt>
    <dgm:pt modelId="{1B066A71-67CB-43F6-85BC-04142662FEF5}" type="parTrans" cxnId="{750B5CD3-E9CB-416F-8FED-10FC0BABF7E1}">
      <dgm:prSet/>
      <dgm:spPr/>
      <dgm:t>
        <a:bodyPr/>
        <a:lstStyle/>
        <a:p>
          <a:endParaRPr lang="en-GB" sz="1800"/>
        </a:p>
      </dgm:t>
    </dgm:pt>
    <dgm:pt modelId="{E9A62C97-D887-4C41-AD37-330E7925A3B4}" type="sibTrans" cxnId="{750B5CD3-E9CB-416F-8FED-10FC0BABF7E1}">
      <dgm:prSet/>
      <dgm:spPr/>
      <dgm:t>
        <a:bodyPr/>
        <a:lstStyle/>
        <a:p>
          <a:endParaRPr lang="en-GB" sz="1800"/>
        </a:p>
      </dgm:t>
    </dgm:pt>
    <dgm:pt modelId="{E901400C-1846-47ED-B571-7B2CFB95E77A}">
      <dgm:prSet phldrT="[Text]" custT="1"/>
      <dgm:spPr/>
      <dgm:t>
        <a:bodyPr/>
        <a:lstStyle/>
        <a:p>
          <a:r>
            <a:rPr lang="en-GB" sz="1600" b="1" i="0" dirty="0">
              <a:latin typeface="Calibri"/>
            </a:rPr>
            <a:t>Stage 5: Agentic Synthesis</a:t>
          </a:r>
          <a:endParaRPr lang="en-GB" sz="1600" dirty="0"/>
        </a:p>
      </dgm:t>
    </dgm:pt>
    <dgm:pt modelId="{EA0F044E-20C4-49DB-80F0-49AA63522245}" type="parTrans" cxnId="{0624177C-0DDE-4B30-AB92-8FF366E408A3}">
      <dgm:prSet/>
      <dgm:spPr/>
      <dgm:t>
        <a:bodyPr/>
        <a:lstStyle/>
        <a:p>
          <a:endParaRPr lang="en-GB" sz="1800"/>
        </a:p>
      </dgm:t>
    </dgm:pt>
    <dgm:pt modelId="{0B7C017A-A2E9-41B0-BA87-FA033BBB7856}" type="sibTrans" cxnId="{0624177C-0DDE-4B30-AB92-8FF366E408A3}">
      <dgm:prSet custT="1"/>
      <dgm:spPr/>
      <dgm:t>
        <a:bodyPr/>
        <a:lstStyle/>
        <a:p>
          <a:endParaRPr lang="en-GB" sz="1100"/>
        </a:p>
      </dgm:t>
    </dgm:pt>
    <dgm:pt modelId="{859870D0-3500-4658-A60C-8E64FA5E6171}">
      <dgm:prSet phldrT="[Text]" custT="1"/>
      <dgm:spPr/>
      <dgm:t>
        <a:bodyPr/>
        <a:lstStyle/>
        <a:p>
          <a:endParaRPr lang="en-GB" sz="1050" dirty="0"/>
        </a:p>
      </dgm:t>
    </dgm:pt>
    <dgm:pt modelId="{4F1FE82B-3E8F-47E2-95F3-40DD0ADAD241}" type="parTrans" cxnId="{7F6000D9-206E-4DFE-8A71-69A7A04A795E}">
      <dgm:prSet/>
      <dgm:spPr/>
      <dgm:t>
        <a:bodyPr/>
        <a:lstStyle/>
        <a:p>
          <a:endParaRPr lang="en-GB" sz="1800"/>
        </a:p>
      </dgm:t>
    </dgm:pt>
    <dgm:pt modelId="{8C633FD6-02E1-4EFB-A06B-4068A76B78E2}" type="sibTrans" cxnId="{7F6000D9-206E-4DFE-8A71-69A7A04A795E}">
      <dgm:prSet/>
      <dgm:spPr/>
      <dgm:t>
        <a:bodyPr/>
        <a:lstStyle/>
        <a:p>
          <a:endParaRPr lang="en-GB" sz="1800"/>
        </a:p>
      </dgm:t>
    </dgm:pt>
    <dgm:pt modelId="{756F4BDC-7501-45A6-8A20-FB23B75568C0}">
      <dgm:prSet phldrT="[Text]" custT="1"/>
      <dgm:spPr/>
      <dgm:t>
        <a:bodyPr/>
        <a:lstStyle/>
        <a:p>
          <a:r>
            <a:rPr lang="en-GB" sz="1600" b="1" i="0" dirty="0">
              <a:latin typeface="Calibri"/>
            </a:rPr>
            <a:t>Stage 6: </a:t>
          </a:r>
          <a:r>
            <a:rPr lang="en-GB" sz="1600" b="1" i="0" dirty="0" err="1">
              <a:latin typeface="Calibri"/>
            </a:rPr>
            <a:t>SysML</a:t>
          </a:r>
          <a:r>
            <a:rPr lang="en-GB" sz="1600" b="1" i="0" dirty="0">
              <a:latin typeface="Calibri"/>
            </a:rPr>
            <a:t> v2 Generation</a:t>
          </a:r>
          <a:endParaRPr lang="en-GB" sz="1600" dirty="0"/>
        </a:p>
      </dgm:t>
    </dgm:pt>
    <dgm:pt modelId="{494A6F96-C8DF-4571-9A7F-D6DF08F52960}" type="parTrans" cxnId="{CE37A8ED-FC23-4981-AB43-0631E4F2ADC6}">
      <dgm:prSet/>
      <dgm:spPr/>
      <dgm:t>
        <a:bodyPr/>
        <a:lstStyle/>
        <a:p>
          <a:endParaRPr lang="en-GB" sz="1800"/>
        </a:p>
      </dgm:t>
    </dgm:pt>
    <dgm:pt modelId="{F3F9127A-3301-4F39-945B-B953624ECF91}" type="sibTrans" cxnId="{CE37A8ED-FC23-4981-AB43-0631E4F2ADC6}">
      <dgm:prSet/>
      <dgm:spPr/>
      <dgm:t>
        <a:bodyPr/>
        <a:lstStyle/>
        <a:p>
          <a:endParaRPr lang="en-GB" sz="1800"/>
        </a:p>
      </dgm:t>
    </dgm:pt>
    <dgm:pt modelId="{F49D172F-48EF-4426-AC48-E7BA06098FC1}">
      <dgm:prSet phldrT="[Text]" custT="1"/>
      <dgm:spPr/>
      <dgm:t>
        <a:bodyPr/>
        <a:lstStyle/>
        <a:p>
          <a:endParaRPr lang="en-GB" sz="1050" dirty="0"/>
        </a:p>
      </dgm:t>
    </dgm:pt>
    <dgm:pt modelId="{CED42339-3DE4-4212-BEC9-8F5C69B27CC9}" type="parTrans" cxnId="{D36AFAA2-1492-4BC5-9D2D-555B51B6BF56}">
      <dgm:prSet/>
      <dgm:spPr/>
      <dgm:t>
        <a:bodyPr/>
        <a:lstStyle/>
        <a:p>
          <a:endParaRPr lang="en-GB" sz="1800"/>
        </a:p>
      </dgm:t>
    </dgm:pt>
    <dgm:pt modelId="{765816B4-4EA2-4AF5-BA51-B305B954227B}" type="sibTrans" cxnId="{D36AFAA2-1492-4BC5-9D2D-555B51B6BF56}">
      <dgm:prSet/>
      <dgm:spPr/>
      <dgm:t>
        <a:bodyPr/>
        <a:lstStyle/>
        <a:p>
          <a:endParaRPr lang="en-GB" sz="1800"/>
        </a:p>
      </dgm:t>
    </dgm:pt>
    <dgm:pt modelId="{7CD45E90-0B00-4D96-981B-CBDD9C022C4E}">
      <dgm:prSet phldrT="[Text]" custT="1"/>
      <dgm:spPr/>
      <dgm:t>
        <a:bodyPr/>
        <a:lstStyle/>
        <a:p>
          <a:pPr>
            <a:buNone/>
          </a:pPr>
          <a:r>
            <a:rPr lang="en-GB" sz="1600" b="1" i="0" dirty="0">
              <a:latin typeface="Calibri"/>
            </a:rPr>
            <a:t>Stage 4: </a:t>
          </a:r>
          <a:r>
            <a:rPr lang="en-GB" sz="1600" b="1" dirty="0">
              <a:latin typeface="Calibri"/>
            </a:rPr>
            <a:t>Trace Instrumentation &amp; collection</a:t>
          </a:r>
          <a:endParaRPr lang="en-GB" sz="1600" dirty="0"/>
        </a:p>
      </dgm:t>
    </dgm:pt>
    <dgm:pt modelId="{6B286B77-8FBF-4862-A34E-4A94F2FB0D14}" type="parTrans" cxnId="{060CA71D-A6EB-4E66-89B6-AE0E60E8F5F1}">
      <dgm:prSet/>
      <dgm:spPr/>
      <dgm:t>
        <a:bodyPr/>
        <a:lstStyle/>
        <a:p>
          <a:endParaRPr lang="en-GB" sz="1800"/>
        </a:p>
      </dgm:t>
    </dgm:pt>
    <dgm:pt modelId="{9EE097CF-AD0B-47FB-A94A-308E6E88FD9F}" type="sibTrans" cxnId="{060CA71D-A6EB-4E66-89B6-AE0E60E8F5F1}">
      <dgm:prSet custT="1"/>
      <dgm:spPr/>
      <dgm:t>
        <a:bodyPr/>
        <a:lstStyle/>
        <a:p>
          <a:endParaRPr lang="en-GB" sz="1100"/>
        </a:p>
      </dgm:t>
    </dgm:pt>
    <dgm:pt modelId="{10FFFE30-BB20-4655-932E-CFF51ADD1D69}">
      <dgm:prSet phldrT="[Text]" custT="1"/>
      <dgm:spPr/>
      <dgm:t>
        <a:bodyPr/>
        <a:lstStyle/>
        <a:p>
          <a:r>
            <a:rPr lang="en-GB" sz="1050" b="0" i="0" dirty="0">
              <a:latin typeface="Calibri"/>
            </a:rPr>
            <a:t>Renaissance C++ → Property graph</a:t>
          </a:r>
          <a:endParaRPr lang="en-GB" sz="1050" dirty="0"/>
        </a:p>
      </dgm:t>
    </dgm:pt>
    <dgm:pt modelId="{F5B81485-26B7-4E7E-BD29-3B1386C515BE}" type="parTrans" cxnId="{5F241E73-20EE-4DC1-9699-EF3773E0F58F}">
      <dgm:prSet/>
      <dgm:spPr/>
      <dgm:t>
        <a:bodyPr/>
        <a:lstStyle/>
        <a:p>
          <a:endParaRPr lang="en-GB"/>
        </a:p>
      </dgm:t>
    </dgm:pt>
    <dgm:pt modelId="{16FDC964-8BCE-4D41-9F98-3D1BC57940C3}" type="sibTrans" cxnId="{5F241E73-20EE-4DC1-9699-EF3773E0F58F}">
      <dgm:prSet/>
      <dgm:spPr/>
      <dgm:t>
        <a:bodyPr/>
        <a:lstStyle/>
        <a:p>
          <a:endParaRPr lang="en-GB"/>
        </a:p>
      </dgm:t>
    </dgm:pt>
    <dgm:pt modelId="{2E0DB888-DB7F-48E8-B72B-A92ACECDC2A8}">
      <dgm:prSet phldrT="[Text]" custT="1"/>
      <dgm:spPr/>
      <dgm:t>
        <a:bodyPr/>
        <a:lstStyle/>
        <a:p>
          <a:r>
            <a:rPr lang="it-IT" sz="1050" b="0" i="0" dirty="0">
              <a:latin typeface="Calibri"/>
            </a:rPr>
            <a:t>Property graph -&gt; scenario-specific subgraph</a:t>
          </a:r>
          <a:endParaRPr lang="en-GB" sz="1050" dirty="0"/>
        </a:p>
      </dgm:t>
    </dgm:pt>
    <dgm:pt modelId="{B906F711-196E-4DE9-9011-A0FD5B3EDD8D}" type="parTrans" cxnId="{60D65688-7ED6-4AD2-9792-BB8AD5F4C434}">
      <dgm:prSet/>
      <dgm:spPr/>
      <dgm:t>
        <a:bodyPr/>
        <a:lstStyle/>
        <a:p>
          <a:endParaRPr lang="en-GB"/>
        </a:p>
      </dgm:t>
    </dgm:pt>
    <dgm:pt modelId="{BB5D56B5-ECA8-49AC-8E05-5C8FEF084EB2}" type="sibTrans" cxnId="{60D65688-7ED6-4AD2-9792-BB8AD5F4C434}">
      <dgm:prSet/>
      <dgm:spPr/>
      <dgm:t>
        <a:bodyPr/>
        <a:lstStyle/>
        <a:p>
          <a:endParaRPr lang="en-GB"/>
        </a:p>
      </dgm:t>
    </dgm:pt>
    <dgm:pt modelId="{D17B7519-6F09-4CFF-889C-5DE26DF8D5C0}">
      <dgm:prSet phldrT="[Text]" custT="1"/>
      <dgm:spPr/>
      <dgm:t>
        <a:bodyPr/>
        <a:lstStyle/>
        <a:p>
          <a:r>
            <a:rPr lang="en-GB" sz="1050" b="0" i="0" dirty="0">
              <a:latin typeface="Calibri"/>
            </a:rPr>
            <a:t>Subgraphs -&gt; dependency matrix</a:t>
          </a:r>
          <a:endParaRPr lang="en-GB" sz="1050" dirty="0"/>
        </a:p>
      </dgm:t>
    </dgm:pt>
    <dgm:pt modelId="{BD9B3F03-CEDE-4E9A-AC8D-F54668CA2ABA}" type="parTrans" cxnId="{1D3FFAE8-0C23-4D34-927C-83F184D53517}">
      <dgm:prSet/>
      <dgm:spPr/>
      <dgm:t>
        <a:bodyPr/>
        <a:lstStyle/>
        <a:p>
          <a:endParaRPr lang="en-GB"/>
        </a:p>
      </dgm:t>
    </dgm:pt>
    <dgm:pt modelId="{A2623848-EA2D-48C9-811E-9B7E07CC046F}" type="sibTrans" cxnId="{1D3FFAE8-0C23-4D34-927C-83F184D53517}">
      <dgm:prSet/>
      <dgm:spPr/>
      <dgm:t>
        <a:bodyPr/>
        <a:lstStyle/>
        <a:p>
          <a:endParaRPr lang="en-GB"/>
        </a:p>
      </dgm:t>
    </dgm:pt>
    <dgm:pt modelId="{78BF0B33-EF9D-4BD6-BA72-FC7A97BB65AE}">
      <dgm:prSet custT="1"/>
      <dgm:spPr/>
      <dgm:t>
        <a:bodyPr/>
        <a:lstStyle/>
        <a:p>
          <a:r>
            <a:rPr lang="en-GB" sz="1050" dirty="0">
              <a:latin typeface="Calibri"/>
            </a:rPr>
            <a:t>Dependency matrix -&gt; Traces</a:t>
          </a:r>
          <a:endParaRPr lang="en-GB" sz="1050" dirty="0"/>
        </a:p>
      </dgm:t>
    </dgm:pt>
    <dgm:pt modelId="{295459E9-EB7F-4FC1-BE67-023B954B7335}" type="parTrans" cxnId="{5053296A-91BF-4AA9-96FF-2E42C560CBAF}">
      <dgm:prSet/>
      <dgm:spPr/>
      <dgm:t>
        <a:bodyPr/>
        <a:lstStyle/>
        <a:p>
          <a:endParaRPr lang="en-GB"/>
        </a:p>
      </dgm:t>
    </dgm:pt>
    <dgm:pt modelId="{371C4A34-F221-4226-B3A0-FCECC98B60F4}" type="sibTrans" cxnId="{5053296A-91BF-4AA9-96FF-2E42C560CBAF}">
      <dgm:prSet/>
      <dgm:spPr/>
      <dgm:t>
        <a:bodyPr/>
        <a:lstStyle/>
        <a:p>
          <a:endParaRPr lang="en-GB"/>
        </a:p>
      </dgm:t>
    </dgm:pt>
    <dgm:pt modelId="{4AE5FA8E-AE8A-412B-B434-8F57A5C63E50}">
      <dgm:prSet phldrT="[Text]" custT="1"/>
      <dgm:spPr/>
      <dgm:t>
        <a:bodyPr/>
        <a:lstStyle/>
        <a:p>
          <a:r>
            <a:rPr lang="nl-NL" sz="1050" b="0" i="0" dirty="0">
              <a:latin typeface="Calibri"/>
            </a:rPr>
            <a:t>Dependency Matrix + Traces -&gt; Elements + Traces complete list</a:t>
          </a:r>
          <a:endParaRPr lang="en-GB" sz="1050" dirty="0"/>
        </a:p>
      </dgm:t>
    </dgm:pt>
    <dgm:pt modelId="{A231D500-FEED-4E77-8E78-D5499C2CD4B0}" type="parTrans" cxnId="{9037B11B-0A34-453D-A7AA-64CEE3AEA92D}">
      <dgm:prSet/>
      <dgm:spPr/>
      <dgm:t>
        <a:bodyPr/>
        <a:lstStyle/>
        <a:p>
          <a:endParaRPr lang="en-GB"/>
        </a:p>
      </dgm:t>
    </dgm:pt>
    <dgm:pt modelId="{1B649B38-E80C-4A43-AEAC-FBEFCBB532F2}" type="sibTrans" cxnId="{9037B11B-0A34-453D-A7AA-64CEE3AEA92D}">
      <dgm:prSet/>
      <dgm:spPr/>
      <dgm:t>
        <a:bodyPr/>
        <a:lstStyle/>
        <a:p>
          <a:endParaRPr lang="en-GB"/>
        </a:p>
      </dgm:t>
    </dgm:pt>
    <dgm:pt modelId="{67C2C281-27E0-4154-AE54-D8CE8ED2488A}">
      <dgm:prSet phldrT="[Text]" custT="1"/>
      <dgm:spPr/>
      <dgm:t>
        <a:bodyPr/>
        <a:lstStyle/>
        <a:p>
          <a:r>
            <a:rPr lang="en-GB" sz="1050" b="0" i="0" dirty="0">
              <a:latin typeface="Calibri"/>
            </a:rPr>
            <a:t>Scenario diagram</a:t>
          </a:r>
          <a:endParaRPr lang="en-GB" sz="1050" dirty="0"/>
        </a:p>
      </dgm:t>
    </dgm:pt>
    <dgm:pt modelId="{E95FCABB-56F6-4C4C-8CAD-54AAD6C4534A}" type="parTrans" cxnId="{ADE70FF8-EF8F-4CDE-9966-0ECC8E2EDF8F}">
      <dgm:prSet/>
      <dgm:spPr/>
      <dgm:t>
        <a:bodyPr/>
        <a:lstStyle/>
        <a:p>
          <a:endParaRPr lang="en-GB"/>
        </a:p>
      </dgm:t>
    </dgm:pt>
    <dgm:pt modelId="{3CEFAAEB-6E85-4B86-B09B-83B81D2D82BE}" type="sibTrans" cxnId="{ADE70FF8-EF8F-4CDE-9966-0ECC8E2EDF8F}">
      <dgm:prSet/>
      <dgm:spPr/>
      <dgm:t>
        <a:bodyPr/>
        <a:lstStyle/>
        <a:p>
          <a:endParaRPr lang="en-GB"/>
        </a:p>
      </dgm:t>
    </dgm:pt>
    <dgm:pt modelId="{C1806615-40BA-4660-A41A-187A59204E8F}" type="pres">
      <dgm:prSet presAssocID="{ABDBC4A5-8AF5-4E19-A5EA-FBDDCDAF20A5}" presName="Name0" presStyleCnt="0">
        <dgm:presLayoutVars>
          <dgm:dir/>
          <dgm:resizeHandles val="exact"/>
        </dgm:presLayoutVars>
      </dgm:prSet>
      <dgm:spPr/>
    </dgm:pt>
    <dgm:pt modelId="{0022B9DC-0CDE-4DFB-AAA1-B656F0CC10B6}" type="pres">
      <dgm:prSet presAssocID="{C3274065-0A1F-459F-AFF4-2A3D1DD1C65F}" presName="node" presStyleLbl="node1" presStyleIdx="0" presStyleCnt="6">
        <dgm:presLayoutVars>
          <dgm:bulletEnabled val="1"/>
        </dgm:presLayoutVars>
      </dgm:prSet>
      <dgm:spPr/>
    </dgm:pt>
    <dgm:pt modelId="{B27437C1-D631-4A3A-999B-C7A091344474}" type="pres">
      <dgm:prSet presAssocID="{22B2FDDA-5E8A-4956-974E-F0499B128BDD}" presName="sibTrans" presStyleLbl="sibTrans2D1" presStyleIdx="0" presStyleCnt="5"/>
      <dgm:spPr/>
    </dgm:pt>
    <dgm:pt modelId="{53883148-81E0-46BB-94E1-6F0EBB3151C1}" type="pres">
      <dgm:prSet presAssocID="{22B2FDDA-5E8A-4956-974E-F0499B128BDD}" presName="connectorText" presStyleLbl="sibTrans2D1" presStyleIdx="0" presStyleCnt="5"/>
      <dgm:spPr/>
    </dgm:pt>
    <dgm:pt modelId="{A19FD24E-4789-43FD-9A75-FA90DE1985B5}" type="pres">
      <dgm:prSet presAssocID="{AD0FA62B-BADF-4B17-B120-962B49CD5384}" presName="node" presStyleLbl="node1" presStyleIdx="1" presStyleCnt="6" custLinFactNeighborX="14873">
        <dgm:presLayoutVars>
          <dgm:bulletEnabled val="1"/>
        </dgm:presLayoutVars>
      </dgm:prSet>
      <dgm:spPr/>
    </dgm:pt>
    <dgm:pt modelId="{F7C48118-4999-49CB-B2B2-CBA1D350C0A1}" type="pres">
      <dgm:prSet presAssocID="{BF40DED0-FCD0-4AE9-B96B-2F8AFA7B4C19}" presName="sibTrans" presStyleLbl="sibTrans2D1" presStyleIdx="1" presStyleCnt="5" custScaleX="134641" custScaleY="70284"/>
      <dgm:spPr/>
    </dgm:pt>
    <dgm:pt modelId="{91D29A1E-BB7D-4D92-9846-1720105F4433}" type="pres">
      <dgm:prSet presAssocID="{BF40DED0-FCD0-4AE9-B96B-2F8AFA7B4C19}" presName="connectorText" presStyleLbl="sibTrans2D1" presStyleIdx="1" presStyleCnt="5"/>
      <dgm:spPr/>
    </dgm:pt>
    <dgm:pt modelId="{DC185D3F-FE77-461B-999F-AFC7EEAF69C5}" type="pres">
      <dgm:prSet presAssocID="{C86C6B43-58F6-4562-9A8B-86F45F628571}" presName="node" presStyleLbl="node1" presStyleIdx="2" presStyleCnt="6" custLinFactNeighborX="-3155" custLinFactNeighborY="558">
        <dgm:presLayoutVars>
          <dgm:bulletEnabled val="1"/>
        </dgm:presLayoutVars>
      </dgm:prSet>
      <dgm:spPr/>
    </dgm:pt>
    <dgm:pt modelId="{61237FC0-7F09-4D1C-B8A4-6D914D38C66D}" type="pres">
      <dgm:prSet presAssocID="{17E0DFD4-7BA5-471C-9FEE-5D28C187C072}" presName="sibTrans" presStyleLbl="sibTrans2D1" presStyleIdx="2" presStyleCnt="5" custAng="10800000" custFlipHor="1" custScaleX="110096" custLinFactNeighborX="4701" custLinFactNeighborY="3248"/>
      <dgm:spPr/>
    </dgm:pt>
    <dgm:pt modelId="{32B8E9F6-0C83-4724-AC32-EEBA285A8D16}" type="pres">
      <dgm:prSet presAssocID="{17E0DFD4-7BA5-471C-9FEE-5D28C187C072}" presName="connectorText" presStyleLbl="sibTrans2D1" presStyleIdx="2" presStyleCnt="5"/>
      <dgm:spPr/>
    </dgm:pt>
    <dgm:pt modelId="{4F9FA3B5-74BC-45BD-9D4E-D91CC0D80D1E}" type="pres">
      <dgm:prSet presAssocID="{7CD45E90-0B00-4D96-981B-CBDD9C022C4E}" presName="node" presStyleLbl="node1" presStyleIdx="3" presStyleCnt="6">
        <dgm:presLayoutVars>
          <dgm:bulletEnabled val="1"/>
        </dgm:presLayoutVars>
      </dgm:prSet>
      <dgm:spPr/>
    </dgm:pt>
    <dgm:pt modelId="{0791AAA8-67FC-4B7D-8999-3A8F71CEC2AC}" type="pres">
      <dgm:prSet presAssocID="{9EE097CF-AD0B-47FB-A94A-308E6E88FD9F}" presName="sibTrans" presStyleLbl="sibTrans2D1" presStyleIdx="3" presStyleCnt="5"/>
      <dgm:spPr/>
    </dgm:pt>
    <dgm:pt modelId="{F2B835A3-4C33-423B-A0AE-F42856A7C4A4}" type="pres">
      <dgm:prSet presAssocID="{9EE097CF-AD0B-47FB-A94A-308E6E88FD9F}" presName="connectorText" presStyleLbl="sibTrans2D1" presStyleIdx="3" presStyleCnt="5"/>
      <dgm:spPr/>
    </dgm:pt>
    <dgm:pt modelId="{2B1E9E0B-87D3-4A2F-89AB-0D56BED2E797}" type="pres">
      <dgm:prSet presAssocID="{E901400C-1846-47ED-B571-7B2CFB95E77A}" presName="node" presStyleLbl="node1" presStyleIdx="4" presStyleCnt="6" custLinFactNeighborX="38676" custLinFactNeighborY="-558">
        <dgm:presLayoutVars>
          <dgm:bulletEnabled val="1"/>
        </dgm:presLayoutVars>
      </dgm:prSet>
      <dgm:spPr/>
    </dgm:pt>
    <dgm:pt modelId="{B4057DCE-652F-4C30-B5F1-E49CAFB92499}" type="pres">
      <dgm:prSet presAssocID="{0B7C017A-A2E9-41B0-BA87-FA033BBB7856}" presName="sibTrans" presStyleLbl="sibTrans2D1" presStyleIdx="4" presStyleCnt="5" custScaleX="173231" custScaleY="91129"/>
      <dgm:spPr/>
    </dgm:pt>
    <dgm:pt modelId="{092613AD-1222-4529-9439-A1F9EEE3F19D}" type="pres">
      <dgm:prSet presAssocID="{0B7C017A-A2E9-41B0-BA87-FA033BBB7856}" presName="connectorText" presStyleLbl="sibTrans2D1" presStyleIdx="4" presStyleCnt="5"/>
      <dgm:spPr/>
    </dgm:pt>
    <dgm:pt modelId="{06365A47-A6B6-444D-A588-E92406961CDB}" type="pres">
      <dgm:prSet presAssocID="{756F4BDC-7501-45A6-8A20-FB23B75568C0}" presName="node" presStyleLbl="node1" presStyleIdx="5" presStyleCnt="6" custLinFactX="1899" custLinFactNeighborX="100000" custLinFactNeighborY="-2116">
        <dgm:presLayoutVars>
          <dgm:bulletEnabled val="1"/>
        </dgm:presLayoutVars>
      </dgm:prSet>
      <dgm:spPr/>
    </dgm:pt>
  </dgm:ptLst>
  <dgm:cxnLst>
    <dgm:cxn modelId="{EDAA2B00-8249-449D-8711-3D9A98A28070}" type="presOf" srcId="{C3274065-0A1F-459F-AFF4-2A3D1DD1C65F}" destId="{0022B9DC-0CDE-4DFB-AAA1-B656F0CC10B6}" srcOrd="0" destOrd="0" presId="urn:microsoft.com/office/officeart/2005/8/layout/process1"/>
    <dgm:cxn modelId="{76E31E04-62B4-42CD-9F4B-1CB20E738A22}" type="presOf" srcId="{AD0FA62B-BADF-4B17-B120-962B49CD5384}" destId="{A19FD24E-4789-43FD-9A75-FA90DE1985B5}" srcOrd="0" destOrd="0" presId="urn:microsoft.com/office/officeart/2005/8/layout/process1"/>
    <dgm:cxn modelId="{2CBC660A-9E96-4F6C-827D-107B03D24BD3}" type="presOf" srcId="{2E0DB888-DB7F-48E8-B72B-A92ACECDC2A8}" destId="{A19FD24E-4789-43FD-9A75-FA90DE1985B5}" srcOrd="0" destOrd="2" presId="urn:microsoft.com/office/officeart/2005/8/layout/process1"/>
    <dgm:cxn modelId="{3C876D11-E420-4475-B6F2-63970A1670FC}" srcId="{ABDBC4A5-8AF5-4E19-A5EA-FBDDCDAF20A5}" destId="{AD0FA62B-BADF-4B17-B120-962B49CD5384}" srcOrd="1" destOrd="0" parTransId="{4BD23385-C8AE-48B5-B984-015D4C8BBC55}" sibTransId="{BF40DED0-FCD0-4AE9-B96B-2F8AFA7B4C19}"/>
    <dgm:cxn modelId="{1FFB3717-36EA-4CFF-AFA6-82BEA1BE7838}" type="presOf" srcId="{0B7C017A-A2E9-41B0-BA87-FA033BBB7856}" destId="{092613AD-1222-4529-9439-A1F9EEE3F19D}" srcOrd="1" destOrd="0" presId="urn:microsoft.com/office/officeart/2005/8/layout/process1"/>
    <dgm:cxn modelId="{9037B11B-0A34-453D-A7AA-64CEE3AEA92D}" srcId="{E901400C-1846-47ED-B571-7B2CFB95E77A}" destId="{4AE5FA8E-AE8A-412B-B434-8F57A5C63E50}" srcOrd="1" destOrd="0" parTransId="{A231D500-FEED-4E77-8E78-D5499C2CD4B0}" sibTransId="{1B649B38-E80C-4A43-AEAC-FBEFCBB532F2}"/>
    <dgm:cxn modelId="{060CA71D-A6EB-4E66-89B6-AE0E60E8F5F1}" srcId="{ABDBC4A5-8AF5-4E19-A5EA-FBDDCDAF20A5}" destId="{7CD45E90-0B00-4D96-981B-CBDD9C022C4E}" srcOrd="3" destOrd="0" parTransId="{6B286B77-8FBF-4862-A34E-4A94F2FB0D14}" sibTransId="{9EE097CF-AD0B-47FB-A94A-308E6E88FD9F}"/>
    <dgm:cxn modelId="{94DC1C24-5EA4-4E9D-9EA5-2134AF800053}" type="presOf" srcId="{9EE097CF-AD0B-47FB-A94A-308E6E88FD9F}" destId="{0791AAA8-67FC-4B7D-8999-3A8F71CEC2AC}" srcOrd="0" destOrd="0" presId="urn:microsoft.com/office/officeart/2005/8/layout/process1"/>
    <dgm:cxn modelId="{BC8BD736-99B9-4D33-8C2B-F06576C83AFC}" type="presOf" srcId="{ABDBC4A5-8AF5-4E19-A5EA-FBDDCDAF20A5}" destId="{C1806615-40BA-4660-A41A-187A59204E8F}" srcOrd="0" destOrd="0" presId="urn:microsoft.com/office/officeart/2005/8/layout/process1"/>
    <dgm:cxn modelId="{DCB6BB38-1508-4B8B-B994-09E338639ED8}" type="presOf" srcId="{67C2C281-27E0-4154-AE54-D8CE8ED2488A}" destId="{06365A47-A6B6-444D-A588-E92406961CDB}" srcOrd="0" destOrd="2" presId="urn:microsoft.com/office/officeart/2005/8/layout/process1"/>
    <dgm:cxn modelId="{5AFB1B3A-5D48-475A-A356-A9806A269D73}" type="presOf" srcId="{BF40DED0-FCD0-4AE9-B96B-2F8AFA7B4C19}" destId="{91D29A1E-BB7D-4D92-9846-1720105F4433}" srcOrd="1" destOrd="0" presId="urn:microsoft.com/office/officeart/2005/8/layout/process1"/>
    <dgm:cxn modelId="{577EA640-97D7-426A-9B34-92073FCB1EC0}" type="presOf" srcId="{0B7C017A-A2E9-41B0-BA87-FA033BBB7856}" destId="{B4057DCE-652F-4C30-B5F1-E49CAFB92499}" srcOrd="0" destOrd="0" presId="urn:microsoft.com/office/officeart/2005/8/layout/process1"/>
    <dgm:cxn modelId="{3973B149-0835-42EC-96F1-70E6625B1600}" type="presOf" srcId="{AD1115B5-B1E2-4009-B25E-A631D6E95913}" destId="{DC185D3F-FE77-461B-999F-AFC7EEAF69C5}" srcOrd="0" destOrd="1" presId="urn:microsoft.com/office/officeart/2005/8/layout/process1"/>
    <dgm:cxn modelId="{5053296A-91BF-4AA9-96FF-2E42C560CBAF}" srcId="{7CD45E90-0B00-4D96-981B-CBDD9C022C4E}" destId="{78BF0B33-EF9D-4BD6-BA72-FC7A97BB65AE}" srcOrd="0" destOrd="0" parTransId="{295459E9-EB7F-4FC1-BE67-023B954B7335}" sibTransId="{371C4A34-F221-4226-B3A0-FCECC98B60F4}"/>
    <dgm:cxn modelId="{7EB99A4D-A322-439C-A982-F339A34B8660}" srcId="{AD0FA62B-BADF-4B17-B120-962B49CD5384}" destId="{9C7C21CF-427D-4E60-8765-2148ECBDA3C0}" srcOrd="0" destOrd="0" parTransId="{FCEFB17B-65FB-4DB4-8BD7-FEDCC4DBAB60}" sibTransId="{F6796D09-D6AA-4760-A75A-A826703E9C67}"/>
    <dgm:cxn modelId="{D702B14F-8273-4F3B-AB50-DCD92BD202BE}" type="presOf" srcId="{C86C6B43-58F6-4562-9A8B-86F45F628571}" destId="{DC185D3F-FE77-461B-999F-AFC7EEAF69C5}" srcOrd="0" destOrd="0" presId="urn:microsoft.com/office/officeart/2005/8/layout/process1"/>
    <dgm:cxn modelId="{5F241E73-20EE-4DC1-9699-EF3773E0F58F}" srcId="{C3274065-0A1F-459F-AFF4-2A3D1DD1C65F}" destId="{10FFFE30-BB20-4655-932E-CFF51ADD1D69}" srcOrd="1" destOrd="0" parTransId="{F5B81485-26B7-4E7E-BD29-3B1386C515BE}" sibTransId="{16FDC964-8BCE-4D41-9F98-3D1BC57940C3}"/>
    <dgm:cxn modelId="{E39FC857-4724-40DA-BC56-0CC738F0CEC7}" type="presOf" srcId="{859870D0-3500-4658-A60C-8E64FA5E6171}" destId="{2B1E9E0B-87D3-4A2F-89AB-0D56BED2E797}" srcOrd="0" destOrd="1" presId="urn:microsoft.com/office/officeart/2005/8/layout/process1"/>
    <dgm:cxn modelId="{C304D478-DFA2-4C3F-8892-AA44A4BC7B4E}" srcId="{C3274065-0A1F-459F-AFF4-2A3D1DD1C65F}" destId="{C3F6AC9D-5CCC-4B8A-8B1E-1DA9AE6BB887}" srcOrd="0" destOrd="0" parTransId="{14C83473-F688-4D55-B6DD-845C15FACA42}" sibTransId="{C415DD48-4D32-4716-BD0E-AF325216196A}"/>
    <dgm:cxn modelId="{9FF0B359-2B14-43AD-BFF4-B36DBFC3F912}" type="presOf" srcId="{D17B7519-6F09-4CFF-889C-5DE26DF8D5C0}" destId="{DC185D3F-FE77-461B-999F-AFC7EEAF69C5}" srcOrd="0" destOrd="2" presId="urn:microsoft.com/office/officeart/2005/8/layout/process1"/>
    <dgm:cxn modelId="{0624177C-0DDE-4B30-AB92-8FF366E408A3}" srcId="{ABDBC4A5-8AF5-4E19-A5EA-FBDDCDAF20A5}" destId="{E901400C-1846-47ED-B571-7B2CFB95E77A}" srcOrd="4" destOrd="0" parTransId="{EA0F044E-20C4-49DB-80F0-49AA63522245}" sibTransId="{0B7C017A-A2E9-41B0-BA87-FA033BBB7856}"/>
    <dgm:cxn modelId="{60D65688-7ED6-4AD2-9792-BB8AD5F4C434}" srcId="{AD0FA62B-BADF-4B17-B120-962B49CD5384}" destId="{2E0DB888-DB7F-48E8-B72B-A92ACECDC2A8}" srcOrd="1" destOrd="0" parTransId="{B906F711-196E-4DE9-9011-A0FD5B3EDD8D}" sibTransId="{BB5D56B5-ECA8-49AC-8E05-5C8FEF084EB2}"/>
    <dgm:cxn modelId="{1B4F1E8B-A00B-436A-A2E5-B8CC4D228649}" type="presOf" srcId="{22B2FDDA-5E8A-4956-974E-F0499B128BDD}" destId="{B27437C1-D631-4A3A-999B-C7A091344474}" srcOrd="0" destOrd="0" presId="urn:microsoft.com/office/officeart/2005/8/layout/process1"/>
    <dgm:cxn modelId="{E4492E90-562D-4D2E-84FC-E68CC7DC17FA}" type="presOf" srcId="{9EE097CF-AD0B-47FB-A94A-308E6E88FD9F}" destId="{F2B835A3-4C33-423B-A0AE-F42856A7C4A4}" srcOrd="1" destOrd="0" presId="urn:microsoft.com/office/officeart/2005/8/layout/process1"/>
    <dgm:cxn modelId="{D36AFAA2-1492-4BC5-9D2D-555B51B6BF56}" srcId="{756F4BDC-7501-45A6-8A20-FB23B75568C0}" destId="{F49D172F-48EF-4426-AC48-E7BA06098FC1}" srcOrd="0" destOrd="0" parTransId="{CED42339-3DE4-4212-BEC9-8F5C69B27CC9}" sibTransId="{765816B4-4EA2-4AF5-BA51-B305B954227B}"/>
    <dgm:cxn modelId="{C0D6B2A6-BC97-4E08-B3D2-5806B06D8186}" type="presOf" srcId="{17E0DFD4-7BA5-471C-9FEE-5D28C187C072}" destId="{61237FC0-7F09-4D1C-B8A4-6D914D38C66D}" srcOrd="0" destOrd="0" presId="urn:microsoft.com/office/officeart/2005/8/layout/process1"/>
    <dgm:cxn modelId="{78D6E7AD-E9D5-4E56-B2ED-1D45B8CCAFFC}" type="presOf" srcId="{9C7C21CF-427D-4E60-8765-2148ECBDA3C0}" destId="{A19FD24E-4789-43FD-9A75-FA90DE1985B5}" srcOrd="0" destOrd="1" presId="urn:microsoft.com/office/officeart/2005/8/layout/process1"/>
    <dgm:cxn modelId="{E63260B2-72B5-4D40-9567-C01D1D6A0AAB}" type="presOf" srcId="{F49D172F-48EF-4426-AC48-E7BA06098FC1}" destId="{06365A47-A6B6-444D-A588-E92406961CDB}" srcOrd="0" destOrd="1" presId="urn:microsoft.com/office/officeart/2005/8/layout/process1"/>
    <dgm:cxn modelId="{EDFFCCB2-6541-4647-BDFE-5CD1038C58EE}" type="presOf" srcId="{C3F6AC9D-5CCC-4B8A-8B1E-1DA9AE6BB887}" destId="{0022B9DC-0CDE-4DFB-AAA1-B656F0CC10B6}" srcOrd="0" destOrd="1" presId="urn:microsoft.com/office/officeart/2005/8/layout/process1"/>
    <dgm:cxn modelId="{D6FF00B7-8AC6-4795-8FD0-E48D3F3726D7}" type="presOf" srcId="{78BF0B33-EF9D-4BD6-BA72-FC7A97BB65AE}" destId="{4F9FA3B5-74BC-45BD-9D4E-D91CC0D80D1E}" srcOrd="0" destOrd="1" presId="urn:microsoft.com/office/officeart/2005/8/layout/process1"/>
    <dgm:cxn modelId="{B9678BC2-685B-44CB-AC5F-F038B2A320C0}" type="presOf" srcId="{4AE5FA8E-AE8A-412B-B434-8F57A5C63E50}" destId="{2B1E9E0B-87D3-4A2F-89AB-0D56BED2E797}" srcOrd="0" destOrd="2" presId="urn:microsoft.com/office/officeart/2005/8/layout/process1"/>
    <dgm:cxn modelId="{D4EC62C3-E3B7-48DA-B3C3-2551C427029D}" srcId="{ABDBC4A5-8AF5-4E19-A5EA-FBDDCDAF20A5}" destId="{C3274065-0A1F-459F-AFF4-2A3D1DD1C65F}" srcOrd="0" destOrd="0" parTransId="{26E584AB-E257-48F9-ADD1-803E35FD3A90}" sibTransId="{22B2FDDA-5E8A-4956-974E-F0499B128BDD}"/>
    <dgm:cxn modelId="{B7A230C7-D300-47AD-839D-CED1B6865FD7}" type="presOf" srcId="{E901400C-1846-47ED-B571-7B2CFB95E77A}" destId="{2B1E9E0B-87D3-4A2F-89AB-0D56BED2E797}" srcOrd="0" destOrd="0" presId="urn:microsoft.com/office/officeart/2005/8/layout/process1"/>
    <dgm:cxn modelId="{05109CD0-7B38-414C-9791-2D590115FF94}" type="presOf" srcId="{22B2FDDA-5E8A-4956-974E-F0499B128BDD}" destId="{53883148-81E0-46BB-94E1-6F0EBB3151C1}" srcOrd="1" destOrd="0" presId="urn:microsoft.com/office/officeart/2005/8/layout/process1"/>
    <dgm:cxn modelId="{750B5CD3-E9CB-416F-8FED-10FC0BABF7E1}" srcId="{C86C6B43-58F6-4562-9A8B-86F45F628571}" destId="{AD1115B5-B1E2-4009-B25E-A631D6E95913}" srcOrd="0" destOrd="0" parTransId="{1B066A71-67CB-43F6-85BC-04142662FEF5}" sibTransId="{E9A62C97-D887-4C41-AD37-330E7925A3B4}"/>
    <dgm:cxn modelId="{7F6000D9-206E-4DFE-8A71-69A7A04A795E}" srcId="{E901400C-1846-47ED-B571-7B2CFB95E77A}" destId="{859870D0-3500-4658-A60C-8E64FA5E6171}" srcOrd="0" destOrd="0" parTransId="{4F1FE82B-3E8F-47E2-95F3-40DD0ADAD241}" sibTransId="{8C633FD6-02E1-4EFB-A06B-4068A76B78E2}"/>
    <dgm:cxn modelId="{361580DD-FF86-4FE8-878B-64822BDA2688}" type="presOf" srcId="{756F4BDC-7501-45A6-8A20-FB23B75568C0}" destId="{06365A47-A6B6-444D-A588-E92406961CDB}" srcOrd="0" destOrd="0" presId="urn:microsoft.com/office/officeart/2005/8/layout/process1"/>
    <dgm:cxn modelId="{5C5894DE-878D-4326-AC8A-BCEEEE64E516}" type="presOf" srcId="{10FFFE30-BB20-4655-932E-CFF51ADD1D69}" destId="{0022B9DC-0CDE-4DFB-AAA1-B656F0CC10B6}" srcOrd="0" destOrd="2" presId="urn:microsoft.com/office/officeart/2005/8/layout/process1"/>
    <dgm:cxn modelId="{D2DBEFDE-C4D2-47FB-B58A-001C0A711C0D}" type="presOf" srcId="{17E0DFD4-7BA5-471C-9FEE-5D28C187C072}" destId="{32B8E9F6-0C83-4724-AC32-EEBA285A8D16}" srcOrd="1" destOrd="0" presId="urn:microsoft.com/office/officeart/2005/8/layout/process1"/>
    <dgm:cxn modelId="{271F15E2-3878-43C1-BC1A-7ADC8FC7A6A2}" type="presOf" srcId="{7CD45E90-0B00-4D96-981B-CBDD9C022C4E}" destId="{4F9FA3B5-74BC-45BD-9D4E-D91CC0D80D1E}" srcOrd="0" destOrd="0" presId="urn:microsoft.com/office/officeart/2005/8/layout/process1"/>
    <dgm:cxn modelId="{1D3FFAE8-0C23-4D34-927C-83F184D53517}" srcId="{C86C6B43-58F6-4562-9A8B-86F45F628571}" destId="{D17B7519-6F09-4CFF-889C-5DE26DF8D5C0}" srcOrd="1" destOrd="0" parTransId="{BD9B3F03-CEDE-4E9A-AC8D-F54668CA2ABA}" sibTransId="{A2623848-EA2D-48C9-811E-9B7E07CC046F}"/>
    <dgm:cxn modelId="{CE37A8ED-FC23-4981-AB43-0631E4F2ADC6}" srcId="{ABDBC4A5-8AF5-4E19-A5EA-FBDDCDAF20A5}" destId="{756F4BDC-7501-45A6-8A20-FB23B75568C0}" srcOrd="5" destOrd="0" parTransId="{494A6F96-C8DF-4571-9A7F-D6DF08F52960}" sibTransId="{F3F9127A-3301-4F39-945B-B953624ECF91}"/>
    <dgm:cxn modelId="{ADE70FF8-EF8F-4CDE-9966-0ECC8E2EDF8F}" srcId="{756F4BDC-7501-45A6-8A20-FB23B75568C0}" destId="{67C2C281-27E0-4154-AE54-D8CE8ED2488A}" srcOrd="1" destOrd="0" parTransId="{E95FCABB-56F6-4C4C-8CAD-54AAD6C4534A}" sibTransId="{3CEFAAEB-6E85-4B86-B09B-83B81D2D82BE}"/>
    <dgm:cxn modelId="{36E64AFB-4F95-4897-8907-D4DB40BBBA75}" type="presOf" srcId="{BF40DED0-FCD0-4AE9-B96B-2F8AFA7B4C19}" destId="{F7C48118-4999-49CB-B2B2-CBA1D350C0A1}" srcOrd="0" destOrd="0" presId="urn:microsoft.com/office/officeart/2005/8/layout/process1"/>
    <dgm:cxn modelId="{B3E11DFE-FCC9-4B73-94A6-717F3B7576F4}" srcId="{ABDBC4A5-8AF5-4E19-A5EA-FBDDCDAF20A5}" destId="{C86C6B43-58F6-4562-9A8B-86F45F628571}" srcOrd="2" destOrd="0" parTransId="{3DDA3ADF-3F0A-41ED-8197-53C11A5E9F0D}" sibTransId="{17E0DFD4-7BA5-471C-9FEE-5D28C187C072}"/>
    <dgm:cxn modelId="{7CFFCEBE-5FBC-493F-AD06-93B011E06C40}" type="presParOf" srcId="{C1806615-40BA-4660-A41A-187A59204E8F}" destId="{0022B9DC-0CDE-4DFB-AAA1-B656F0CC10B6}" srcOrd="0" destOrd="0" presId="urn:microsoft.com/office/officeart/2005/8/layout/process1"/>
    <dgm:cxn modelId="{A4D66504-E2CD-4733-ACA0-7C75060E129D}" type="presParOf" srcId="{C1806615-40BA-4660-A41A-187A59204E8F}" destId="{B27437C1-D631-4A3A-999B-C7A091344474}" srcOrd="1" destOrd="0" presId="urn:microsoft.com/office/officeart/2005/8/layout/process1"/>
    <dgm:cxn modelId="{8F38962E-6402-42B9-8CA5-BDBFD617DBB3}" type="presParOf" srcId="{B27437C1-D631-4A3A-999B-C7A091344474}" destId="{53883148-81E0-46BB-94E1-6F0EBB3151C1}" srcOrd="0" destOrd="0" presId="urn:microsoft.com/office/officeart/2005/8/layout/process1"/>
    <dgm:cxn modelId="{F58FDC44-7C3A-4A8A-8248-D62C34143D91}" type="presParOf" srcId="{C1806615-40BA-4660-A41A-187A59204E8F}" destId="{A19FD24E-4789-43FD-9A75-FA90DE1985B5}" srcOrd="2" destOrd="0" presId="urn:microsoft.com/office/officeart/2005/8/layout/process1"/>
    <dgm:cxn modelId="{155381AD-8DD2-4364-9CEE-69248DAE06CE}" type="presParOf" srcId="{C1806615-40BA-4660-A41A-187A59204E8F}" destId="{F7C48118-4999-49CB-B2B2-CBA1D350C0A1}" srcOrd="3" destOrd="0" presId="urn:microsoft.com/office/officeart/2005/8/layout/process1"/>
    <dgm:cxn modelId="{BA342841-6183-4436-8A36-DCCA37037B2D}" type="presParOf" srcId="{F7C48118-4999-49CB-B2B2-CBA1D350C0A1}" destId="{91D29A1E-BB7D-4D92-9846-1720105F4433}" srcOrd="0" destOrd="0" presId="urn:microsoft.com/office/officeart/2005/8/layout/process1"/>
    <dgm:cxn modelId="{DEDF369E-01A4-4D4B-BAAB-4FF9CCDDFD3B}" type="presParOf" srcId="{C1806615-40BA-4660-A41A-187A59204E8F}" destId="{DC185D3F-FE77-461B-999F-AFC7EEAF69C5}" srcOrd="4" destOrd="0" presId="urn:microsoft.com/office/officeart/2005/8/layout/process1"/>
    <dgm:cxn modelId="{6A8C2142-BE2C-464B-8E91-54D480B7EEF3}" type="presParOf" srcId="{C1806615-40BA-4660-A41A-187A59204E8F}" destId="{61237FC0-7F09-4D1C-B8A4-6D914D38C66D}" srcOrd="5" destOrd="0" presId="urn:microsoft.com/office/officeart/2005/8/layout/process1"/>
    <dgm:cxn modelId="{1C1F149F-0273-4513-843D-4466D51074CC}" type="presParOf" srcId="{61237FC0-7F09-4D1C-B8A4-6D914D38C66D}" destId="{32B8E9F6-0C83-4724-AC32-EEBA285A8D16}" srcOrd="0" destOrd="0" presId="urn:microsoft.com/office/officeart/2005/8/layout/process1"/>
    <dgm:cxn modelId="{3D051E93-1E7D-484E-A34E-695740819E3A}" type="presParOf" srcId="{C1806615-40BA-4660-A41A-187A59204E8F}" destId="{4F9FA3B5-74BC-45BD-9D4E-D91CC0D80D1E}" srcOrd="6" destOrd="0" presId="urn:microsoft.com/office/officeart/2005/8/layout/process1"/>
    <dgm:cxn modelId="{B51B0F66-F3C4-409B-92FC-CE937CE69DE0}" type="presParOf" srcId="{C1806615-40BA-4660-A41A-187A59204E8F}" destId="{0791AAA8-67FC-4B7D-8999-3A8F71CEC2AC}" srcOrd="7" destOrd="0" presId="urn:microsoft.com/office/officeart/2005/8/layout/process1"/>
    <dgm:cxn modelId="{0BEDB08B-F760-4061-AE31-08DB72558E73}" type="presParOf" srcId="{0791AAA8-67FC-4B7D-8999-3A8F71CEC2AC}" destId="{F2B835A3-4C33-423B-A0AE-F42856A7C4A4}" srcOrd="0" destOrd="0" presId="urn:microsoft.com/office/officeart/2005/8/layout/process1"/>
    <dgm:cxn modelId="{17D6214B-51CB-4B63-85E3-A07991170E4E}" type="presParOf" srcId="{C1806615-40BA-4660-A41A-187A59204E8F}" destId="{2B1E9E0B-87D3-4A2F-89AB-0D56BED2E797}" srcOrd="8" destOrd="0" presId="urn:microsoft.com/office/officeart/2005/8/layout/process1"/>
    <dgm:cxn modelId="{69FCDDA6-91BC-44BF-8348-9CDB9D39D142}" type="presParOf" srcId="{C1806615-40BA-4660-A41A-187A59204E8F}" destId="{B4057DCE-652F-4C30-B5F1-E49CAFB92499}" srcOrd="9" destOrd="0" presId="urn:microsoft.com/office/officeart/2005/8/layout/process1"/>
    <dgm:cxn modelId="{0F953FF7-48E2-484F-BBD3-4C4BBC857315}" type="presParOf" srcId="{B4057DCE-652F-4C30-B5F1-E49CAFB92499}" destId="{092613AD-1222-4529-9439-A1F9EEE3F19D}" srcOrd="0" destOrd="0" presId="urn:microsoft.com/office/officeart/2005/8/layout/process1"/>
    <dgm:cxn modelId="{D6F7F93D-C799-4625-BBE5-F3EAD6592216}" type="presParOf" srcId="{C1806615-40BA-4660-A41A-187A59204E8F}" destId="{06365A47-A6B6-444D-A588-E92406961CDB}"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82B970A-343D-4CF1-ACD8-1E2928BB0BB1}" type="doc">
      <dgm:prSet loTypeId="urn:microsoft.com/office/officeart/2005/8/layout/radial4" loCatId="relationship" qsTypeId="urn:microsoft.com/office/officeart/2005/8/quickstyle/simple2" qsCatId="simple" csTypeId="urn:microsoft.com/office/officeart/2005/8/colors/accent4_2" csCatId="accent4" phldr="1"/>
      <dgm:spPr/>
      <dgm:t>
        <a:bodyPr/>
        <a:lstStyle/>
        <a:p>
          <a:endParaRPr lang="en-IN"/>
        </a:p>
      </dgm:t>
    </dgm:pt>
    <dgm:pt modelId="{50075DFF-BDD2-4B22-BB45-D72E355A0837}">
      <dgm:prSet phldrT="[Text]" custT="1"/>
      <dgm:spPr/>
      <dgm:t>
        <a:bodyPr/>
        <a:lstStyle/>
        <a:p>
          <a:pPr>
            <a:buNone/>
          </a:pPr>
          <a:r>
            <a:rPr lang="en-GB" sz="3500" noProof="0" dirty="0"/>
            <a:t>Hybrid Analysis - Interaction Diagram</a:t>
          </a:r>
        </a:p>
      </dgm:t>
    </dgm:pt>
    <dgm:pt modelId="{8EBEC8EE-1475-4134-9795-1AD1D3E69769}" type="parTrans" cxnId="{16815193-993C-4DD3-9052-FCC6BEFAB67F}">
      <dgm:prSet/>
      <dgm:spPr/>
      <dgm:t>
        <a:bodyPr/>
        <a:lstStyle/>
        <a:p>
          <a:endParaRPr lang="en-IN"/>
        </a:p>
      </dgm:t>
    </dgm:pt>
    <dgm:pt modelId="{0A9D0EF0-9EBE-48F2-82FB-8B164A14BE5E}" type="sibTrans" cxnId="{16815193-993C-4DD3-9052-FCC6BEFAB67F}">
      <dgm:prSet/>
      <dgm:spPr/>
      <dgm:t>
        <a:bodyPr/>
        <a:lstStyle/>
        <a:p>
          <a:endParaRPr lang="en-IN"/>
        </a:p>
      </dgm:t>
    </dgm:pt>
    <dgm:pt modelId="{0211A353-289D-4524-9D3F-247B3468225E}">
      <dgm:prSet phldrT="[Text]"/>
      <dgm:spPr/>
      <dgm:t>
        <a:bodyPr/>
        <a:lstStyle/>
        <a:p>
          <a:pPr>
            <a:buNone/>
          </a:pPr>
          <a:r>
            <a:rPr lang="en-GB" noProof="0" dirty="0"/>
            <a:t>Static Code Structure</a:t>
          </a:r>
        </a:p>
      </dgm:t>
    </dgm:pt>
    <dgm:pt modelId="{C2F80ECA-2972-44EA-8274-BBC94B98BF8F}" type="parTrans" cxnId="{488FA463-4D2D-4F01-8629-5F245FEF84D9}">
      <dgm:prSet/>
      <dgm:spPr/>
      <dgm:t>
        <a:bodyPr/>
        <a:lstStyle/>
        <a:p>
          <a:endParaRPr lang="en-IN"/>
        </a:p>
      </dgm:t>
    </dgm:pt>
    <dgm:pt modelId="{7177C19B-DE9F-4C96-86E7-96571403DBE9}" type="sibTrans" cxnId="{488FA463-4D2D-4F01-8629-5F245FEF84D9}">
      <dgm:prSet/>
      <dgm:spPr/>
      <dgm:t>
        <a:bodyPr/>
        <a:lstStyle/>
        <a:p>
          <a:endParaRPr lang="en-IN"/>
        </a:p>
      </dgm:t>
    </dgm:pt>
    <dgm:pt modelId="{FA687220-3D64-4729-97B5-56C3B0CB4991}">
      <dgm:prSet phldrT="[Text]"/>
      <dgm:spPr/>
      <dgm:t>
        <a:bodyPr/>
        <a:lstStyle/>
        <a:p>
          <a:r>
            <a:rPr lang="en-GB" noProof="0" dirty="0"/>
            <a:t>Runtime Traces</a:t>
          </a:r>
        </a:p>
      </dgm:t>
    </dgm:pt>
    <dgm:pt modelId="{50770C6B-5AEF-4BF8-8C77-2C95B4E196AA}" type="parTrans" cxnId="{7386F78F-1D2E-458D-BF2D-B78550D9070B}">
      <dgm:prSet/>
      <dgm:spPr/>
      <dgm:t>
        <a:bodyPr/>
        <a:lstStyle/>
        <a:p>
          <a:endParaRPr lang="en-IN"/>
        </a:p>
      </dgm:t>
    </dgm:pt>
    <dgm:pt modelId="{A68AE9DD-55CD-4847-ADCA-BACF42E16F3A}" type="sibTrans" cxnId="{7386F78F-1D2E-458D-BF2D-B78550D9070B}">
      <dgm:prSet/>
      <dgm:spPr/>
      <dgm:t>
        <a:bodyPr/>
        <a:lstStyle/>
        <a:p>
          <a:endParaRPr lang="en-IN"/>
        </a:p>
      </dgm:t>
    </dgm:pt>
    <dgm:pt modelId="{82E91E0B-8AC0-4C2B-8161-BBAF5DB50A07}" type="pres">
      <dgm:prSet presAssocID="{282B970A-343D-4CF1-ACD8-1E2928BB0BB1}" presName="cycle" presStyleCnt="0">
        <dgm:presLayoutVars>
          <dgm:chMax val="1"/>
          <dgm:dir/>
          <dgm:animLvl val="ctr"/>
          <dgm:resizeHandles val="exact"/>
        </dgm:presLayoutVars>
      </dgm:prSet>
      <dgm:spPr/>
    </dgm:pt>
    <dgm:pt modelId="{E6E6520F-46AA-4630-9440-F84329110735}" type="pres">
      <dgm:prSet presAssocID="{50075DFF-BDD2-4B22-BB45-D72E355A0837}" presName="centerShape" presStyleLbl="node0" presStyleIdx="0" presStyleCnt="1" custScaleX="124053" custScaleY="126718"/>
      <dgm:spPr/>
    </dgm:pt>
    <dgm:pt modelId="{B8ACAC19-9BEB-4097-ADE6-D47CB3C1FDF8}" type="pres">
      <dgm:prSet presAssocID="{C2F80ECA-2972-44EA-8274-BBC94B98BF8F}" presName="parTrans" presStyleLbl="bgSibTrans2D1" presStyleIdx="0" presStyleCnt="2"/>
      <dgm:spPr/>
    </dgm:pt>
    <dgm:pt modelId="{E76856CA-843E-4B14-9B79-40084004CF3F}" type="pres">
      <dgm:prSet presAssocID="{0211A353-289D-4524-9D3F-247B3468225E}" presName="node" presStyleLbl="node1" presStyleIdx="0" presStyleCnt="2">
        <dgm:presLayoutVars>
          <dgm:bulletEnabled val="1"/>
        </dgm:presLayoutVars>
      </dgm:prSet>
      <dgm:spPr/>
    </dgm:pt>
    <dgm:pt modelId="{76CBC3C4-A747-4381-B8A5-1715FFDFC7F8}" type="pres">
      <dgm:prSet presAssocID="{50770C6B-5AEF-4BF8-8C77-2C95B4E196AA}" presName="parTrans" presStyleLbl="bgSibTrans2D1" presStyleIdx="1" presStyleCnt="2"/>
      <dgm:spPr/>
    </dgm:pt>
    <dgm:pt modelId="{259CC2E9-93BA-4ED4-A047-1AE3733F2CB5}" type="pres">
      <dgm:prSet presAssocID="{FA687220-3D64-4729-97B5-56C3B0CB4991}" presName="node" presStyleLbl="node1" presStyleIdx="1" presStyleCnt="2">
        <dgm:presLayoutVars>
          <dgm:bulletEnabled val="1"/>
        </dgm:presLayoutVars>
      </dgm:prSet>
      <dgm:spPr/>
    </dgm:pt>
  </dgm:ptLst>
  <dgm:cxnLst>
    <dgm:cxn modelId="{6283F10D-7F95-44CC-8320-B0B7C2BF51AF}" type="presOf" srcId="{FA687220-3D64-4729-97B5-56C3B0CB4991}" destId="{259CC2E9-93BA-4ED4-A047-1AE3733F2CB5}" srcOrd="0" destOrd="0" presId="urn:microsoft.com/office/officeart/2005/8/layout/radial4"/>
    <dgm:cxn modelId="{4DF85910-F88B-4685-BEE8-F04BD5478403}" type="presOf" srcId="{50770C6B-5AEF-4BF8-8C77-2C95B4E196AA}" destId="{76CBC3C4-A747-4381-B8A5-1715FFDFC7F8}" srcOrd="0" destOrd="0" presId="urn:microsoft.com/office/officeart/2005/8/layout/radial4"/>
    <dgm:cxn modelId="{488FA463-4D2D-4F01-8629-5F245FEF84D9}" srcId="{50075DFF-BDD2-4B22-BB45-D72E355A0837}" destId="{0211A353-289D-4524-9D3F-247B3468225E}" srcOrd="0" destOrd="0" parTransId="{C2F80ECA-2972-44EA-8274-BBC94B98BF8F}" sibTransId="{7177C19B-DE9F-4C96-86E7-96571403DBE9}"/>
    <dgm:cxn modelId="{86907D47-B84E-4805-9D79-215ABC31FB83}" type="presOf" srcId="{0211A353-289D-4524-9D3F-247B3468225E}" destId="{E76856CA-843E-4B14-9B79-40084004CF3F}" srcOrd="0" destOrd="0" presId="urn:microsoft.com/office/officeart/2005/8/layout/radial4"/>
    <dgm:cxn modelId="{7386F78F-1D2E-458D-BF2D-B78550D9070B}" srcId="{50075DFF-BDD2-4B22-BB45-D72E355A0837}" destId="{FA687220-3D64-4729-97B5-56C3B0CB4991}" srcOrd="1" destOrd="0" parTransId="{50770C6B-5AEF-4BF8-8C77-2C95B4E196AA}" sibTransId="{A68AE9DD-55CD-4847-ADCA-BACF42E16F3A}"/>
    <dgm:cxn modelId="{16815193-993C-4DD3-9052-FCC6BEFAB67F}" srcId="{282B970A-343D-4CF1-ACD8-1E2928BB0BB1}" destId="{50075DFF-BDD2-4B22-BB45-D72E355A0837}" srcOrd="0" destOrd="0" parTransId="{8EBEC8EE-1475-4134-9795-1AD1D3E69769}" sibTransId="{0A9D0EF0-9EBE-48F2-82FB-8B164A14BE5E}"/>
    <dgm:cxn modelId="{01A819B5-1592-4536-9FC5-7E476C656FBD}" type="presOf" srcId="{C2F80ECA-2972-44EA-8274-BBC94B98BF8F}" destId="{B8ACAC19-9BEB-4097-ADE6-D47CB3C1FDF8}" srcOrd="0" destOrd="0" presId="urn:microsoft.com/office/officeart/2005/8/layout/radial4"/>
    <dgm:cxn modelId="{F90622DF-7892-4921-B5AA-793A3C722ED0}" type="presOf" srcId="{282B970A-343D-4CF1-ACD8-1E2928BB0BB1}" destId="{82E91E0B-8AC0-4C2B-8161-BBAF5DB50A07}" srcOrd="0" destOrd="0" presId="urn:microsoft.com/office/officeart/2005/8/layout/radial4"/>
    <dgm:cxn modelId="{600F0AE8-A23C-4F7B-9D5C-F09DD9C5D52E}" type="presOf" srcId="{50075DFF-BDD2-4B22-BB45-D72E355A0837}" destId="{E6E6520F-46AA-4630-9440-F84329110735}" srcOrd="0" destOrd="0" presId="urn:microsoft.com/office/officeart/2005/8/layout/radial4"/>
    <dgm:cxn modelId="{DD358A00-28E4-463B-BB00-D2038B55C48F}" type="presParOf" srcId="{82E91E0B-8AC0-4C2B-8161-BBAF5DB50A07}" destId="{E6E6520F-46AA-4630-9440-F84329110735}" srcOrd="0" destOrd="0" presId="urn:microsoft.com/office/officeart/2005/8/layout/radial4"/>
    <dgm:cxn modelId="{40DC9475-6556-4EAD-8AD4-9D6D82F71BD5}" type="presParOf" srcId="{82E91E0B-8AC0-4C2B-8161-BBAF5DB50A07}" destId="{B8ACAC19-9BEB-4097-ADE6-D47CB3C1FDF8}" srcOrd="1" destOrd="0" presId="urn:microsoft.com/office/officeart/2005/8/layout/radial4"/>
    <dgm:cxn modelId="{A45E9887-4F57-4AD3-B090-544EFF98194C}" type="presParOf" srcId="{82E91E0B-8AC0-4C2B-8161-BBAF5DB50A07}" destId="{E76856CA-843E-4B14-9B79-40084004CF3F}" srcOrd="2" destOrd="0" presId="urn:microsoft.com/office/officeart/2005/8/layout/radial4"/>
    <dgm:cxn modelId="{2B33A4EC-6F98-453B-9D04-A61AD5672B65}" type="presParOf" srcId="{82E91E0B-8AC0-4C2B-8161-BBAF5DB50A07}" destId="{76CBC3C4-A747-4381-B8A5-1715FFDFC7F8}" srcOrd="3" destOrd="0" presId="urn:microsoft.com/office/officeart/2005/8/layout/radial4"/>
    <dgm:cxn modelId="{396128FF-F9A9-4A45-B224-F71282ECDC70}" type="presParOf" srcId="{82E91E0B-8AC0-4C2B-8161-BBAF5DB50A07}" destId="{259CC2E9-93BA-4ED4-A047-1AE3733F2CB5}" srcOrd="4" destOrd="0" presId="urn:microsoft.com/office/officeart/2005/8/layout/radial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65AB167-C5F2-4B06-98B2-0C690836CB92}" type="doc">
      <dgm:prSet loTypeId="urn:microsoft.com/office/officeart/2005/8/layout/process1" loCatId="process" qsTypeId="urn:microsoft.com/office/officeart/2005/8/quickstyle/simple1" qsCatId="simple" csTypeId="urn:microsoft.com/office/officeart/2005/8/colors/accent4_2" csCatId="accent4" phldr="1"/>
      <dgm:spPr/>
      <dgm:t>
        <a:bodyPr/>
        <a:lstStyle/>
        <a:p>
          <a:endParaRPr lang="en-GB"/>
        </a:p>
      </dgm:t>
    </dgm:pt>
    <dgm:pt modelId="{BDB8574A-EB20-4CBF-A2CB-822783CC6FC0}">
      <dgm:prSet phldrT="[Text]"/>
      <dgm:spPr/>
      <dgm:t>
        <a:bodyPr/>
        <a:lstStyle/>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C++ Source Code</a:t>
          </a:r>
          <a:endParaRPr lang="en-GB" noProof="0" dirty="0"/>
        </a:p>
      </dgm:t>
    </dgm:pt>
    <dgm:pt modelId="{DD69CB6C-D04D-4C90-8B7C-387472BEC3AA}" type="parTrans" cxnId="{E647244A-6564-4575-9CE9-2871755F72C7}">
      <dgm:prSet/>
      <dgm:spPr/>
      <dgm:t>
        <a:bodyPr/>
        <a:lstStyle/>
        <a:p>
          <a:endParaRPr lang="en-GB"/>
        </a:p>
      </dgm:t>
    </dgm:pt>
    <dgm:pt modelId="{C4F8E8CA-E2D3-4875-9D7A-1398837A2BEF}" type="sibTrans" cxnId="{E647244A-6564-4575-9CE9-2871755F72C7}">
      <dgm:prSet/>
      <dgm:spPr/>
      <dgm:t>
        <a:bodyPr/>
        <a:lstStyle/>
        <a:p>
          <a:endParaRPr lang="en-GB" noProof="0" dirty="0"/>
        </a:p>
      </dgm:t>
    </dgm:pt>
    <dgm:pt modelId="{7027F2C2-AEE3-41B4-8725-046FC24C1EF2}">
      <dgm:prSet phldrT="[Text]" custT="1"/>
      <dgm:spPr/>
      <dgm:t>
        <a:bodyPr/>
        <a:lstStyle/>
        <a:p>
          <a:pPr algn="l"/>
          <a:r>
            <a:rPr lang="en-GB" sz="1200"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Neo4j Property Graph (via Renaissance tool)</a:t>
          </a:r>
        </a:p>
        <a:p>
          <a:pPr algn="l"/>
          <a:r>
            <a:rPr lang="en-GB" sz="1050" b="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Typed Nodes: Components, Functions, Namespaces</a:t>
          </a:r>
        </a:p>
        <a:p>
          <a:pPr algn="l"/>
          <a:r>
            <a:rPr lang="en-GB" sz="1050" b="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Typed Edges: CALLS, INCLUDES, INHERITS, USES</a:t>
          </a:r>
          <a:endParaRPr lang="en-GB" sz="1050" b="0" noProof="0" dirty="0"/>
        </a:p>
      </dgm:t>
    </dgm:pt>
    <dgm:pt modelId="{87368B0A-3CA2-4BE2-869B-EBFF9029E1EA}" type="parTrans" cxnId="{DEDC84B8-94FD-4585-AFE9-83C2E7E837A6}">
      <dgm:prSet/>
      <dgm:spPr/>
      <dgm:t>
        <a:bodyPr/>
        <a:lstStyle/>
        <a:p>
          <a:endParaRPr lang="en-GB"/>
        </a:p>
      </dgm:t>
    </dgm:pt>
    <dgm:pt modelId="{6D110883-3BAA-498D-833F-ADCFCAE10163}" type="sibTrans" cxnId="{DEDC84B8-94FD-4585-AFE9-83C2E7E837A6}">
      <dgm:prSet/>
      <dgm:spPr/>
      <dgm:t>
        <a:bodyPr/>
        <a:lstStyle/>
        <a:p>
          <a:endParaRPr lang="en-GB" noProof="0" dirty="0"/>
        </a:p>
      </dgm:t>
    </dgm:pt>
    <dgm:pt modelId="{9591F37E-12CA-42D6-A4F7-B4D581FBB5D1}">
      <dgm:prSet phldrT="[Text]" custT="1"/>
      <dgm:spPr/>
      <dgm:t>
        <a:bodyPr/>
        <a:lstStyle/>
        <a:p>
          <a:pPr algn="l"/>
          <a:r>
            <a:rPr lang="en-GB" sz="1200"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LLM Agent Skill Pipeline (Cypher-based queries)</a:t>
          </a:r>
          <a:br>
            <a:rPr lang="en-GB" sz="1200"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Natural language to graph queries</a:t>
          </a:r>
          <a:br>
            <a:rPr lang="en-GB" sz="1200" b="0" noProof="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Dependency and sequence tables as intermediate output</a:t>
          </a:r>
          <a:endParaRPr lang="en-GB" sz="1200" b="0" noProof="0" dirty="0"/>
        </a:p>
      </dgm:t>
    </dgm:pt>
    <dgm:pt modelId="{3EB9097F-BBB2-4306-895E-E16C7A9FCEF9}" type="parTrans" cxnId="{704AA0B0-0EBA-4199-843B-7357A594BE39}">
      <dgm:prSet/>
      <dgm:spPr/>
      <dgm:t>
        <a:bodyPr/>
        <a:lstStyle/>
        <a:p>
          <a:endParaRPr lang="en-GB"/>
        </a:p>
      </dgm:t>
    </dgm:pt>
    <dgm:pt modelId="{0B620B68-784F-4A73-B2E5-133E9F824831}" type="sibTrans" cxnId="{704AA0B0-0EBA-4199-843B-7357A594BE39}">
      <dgm:prSet/>
      <dgm:spPr/>
      <dgm:t>
        <a:bodyPr/>
        <a:lstStyle/>
        <a:p>
          <a:endParaRPr lang="en-GB"/>
        </a:p>
      </dgm:t>
    </dgm:pt>
    <dgm:pt modelId="{A272EFE1-2756-4AF9-BB32-BE479D503D6D}" type="pres">
      <dgm:prSet presAssocID="{165AB167-C5F2-4B06-98B2-0C690836CB92}" presName="Name0" presStyleCnt="0">
        <dgm:presLayoutVars>
          <dgm:dir/>
          <dgm:resizeHandles val="exact"/>
        </dgm:presLayoutVars>
      </dgm:prSet>
      <dgm:spPr/>
    </dgm:pt>
    <dgm:pt modelId="{44A4F49B-0B09-4A8D-AA48-48B502AA87C6}" type="pres">
      <dgm:prSet presAssocID="{BDB8574A-EB20-4CBF-A2CB-822783CC6FC0}" presName="node" presStyleLbl="node1" presStyleIdx="0" presStyleCnt="3">
        <dgm:presLayoutVars>
          <dgm:bulletEnabled val="1"/>
        </dgm:presLayoutVars>
      </dgm:prSet>
      <dgm:spPr/>
    </dgm:pt>
    <dgm:pt modelId="{C9E69455-77D6-4BD6-AC14-C1D1A836281F}" type="pres">
      <dgm:prSet presAssocID="{C4F8E8CA-E2D3-4875-9D7A-1398837A2BEF}" presName="sibTrans" presStyleLbl="sibTrans2D1" presStyleIdx="0" presStyleCnt="2"/>
      <dgm:spPr/>
    </dgm:pt>
    <dgm:pt modelId="{7EFBE86A-4E48-4D55-9E44-2E77F9B884BE}" type="pres">
      <dgm:prSet presAssocID="{C4F8E8CA-E2D3-4875-9D7A-1398837A2BEF}" presName="connectorText" presStyleLbl="sibTrans2D1" presStyleIdx="0" presStyleCnt="2"/>
      <dgm:spPr/>
    </dgm:pt>
    <dgm:pt modelId="{95AF53A0-7079-4D35-B093-70A4818D75BD}" type="pres">
      <dgm:prSet presAssocID="{7027F2C2-AEE3-41B4-8725-046FC24C1EF2}" presName="node" presStyleLbl="node1" presStyleIdx="1" presStyleCnt="3">
        <dgm:presLayoutVars>
          <dgm:bulletEnabled val="1"/>
        </dgm:presLayoutVars>
      </dgm:prSet>
      <dgm:spPr/>
    </dgm:pt>
    <dgm:pt modelId="{BC03A217-2A36-4F1E-A41D-5A8C72F9E858}" type="pres">
      <dgm:prSet presAssocID="{6D110883-3BAA-498D-833F-ADCFCAE10163}" presName="sibTrans" presStyleLbl="sibTrans2D1" presStyleIdx="1" presStyleCnt="2"/>
      <dgm:spPr/>
    </dgm:pt>
    <dgm:pt modelId="{C37F1163-3AF3-4B97-8B70-24AE87DEBD5F}" type="pres">
      <dgm:prSet presAssocID="{6D110883-3BAA-498D-833F-ADCFCAE10163}" presName="connectorText" presStyleLbl="sibTrans2D1" presStyleIdx="1" presStyleCnt="2"/>
      <dgm:spPr/>
    </dgm:pt>
    <dgm:pt modelId="{384453D8-600E-4A39-9DEC-DAB537E5667B}" type="pres">
      <dgm:prSet presAssocID="{9591F37E-12CA-42D6-A4F7-B4D581FBB5D1}" presName="node" presStyleLbl="node1" presStyleIdx="2" presStyleCnt="3">
        <dgm:presLayoutVars>
          <dgm:bulletEnabled val="1"/>
        </dgm:presLayoutVars>
      </dgm:prSet>
      <dgm:spPr/>
    </dgm:pt>
  </dgm:ptLst>
  <dgm:cxnLst>
    <dgm:cxn modelId="{889A0702-65EA-452D-BF5C-7FA81F1A86B2}" type="presOf" srcId="{C4F8E8CA-E2D3-4875-9D7A-1398837A2BEF}" destId="{C9E69455-77D6-4BD6-AC14-C1D1A836281F}" srcOrd="0" destOrd="0" presId="urn:microsoft.com/office/officeart/2005/8/layout/process1"/>
    <dgm:cxn modelId="{DD3C7032-A896-4400-9DE4-7799245F82C9}" type="presOf" srcId="{165AB167-C5F2-4B06-98B2-0C690836CB92}" destId="{A272EFE1-2756-4AF9-BB32-BE479D503D6D}" srcOrd="0" destOrd="0" presId="urn:microsoft.com/office/officeart/2005/8/layout/process1"/>
    <dgm:cxn modelId="{E647244A-6564-4575-9CE9-2871755F72C7}" srcId="{165AB167-C5F2-4B06-98B2-0C690836CB92}" destId="{BDB8574A-EB20-4CBF-A2CB-822783CC6FC0}" srcOrd="0" destOrd="0" parTransId="{DD69CB6C-D04D-4C90-8B7C-387472BEC3AA}" sibTransId="{C4F8E8CA-E2D3-4875-9D7A-1398837A2BEF}"/>
    <dgm:cxn modelId="{FAD2EF4C-E2EA-4CE8-A069-A2E3C41A4A91}" type="presOf" srcId="{7027F2C2-AEE3-41B4-8725-046FC24C1EF2}" destId="{95AF53A0-7079-4D35-B093-70A4818D75BD}" srcOrd="0" destOrd="0" presId="urn:microsoft.com/office/officeart/2005/8/layout/process1"/>
    <dgm:cxn modelId="{A0A4737C-B8D0-4062-9886-3F8FB29F4BCE}" type="presOf" srcId="{C4F8E8CA-E2D3-4875-9D7A-1398837A2BEF}" destId="{7EFBE86A-4E48-4D55-9E44-2E77F9B884BE}" srcOrd="1" destOrd="0" presId="urn:microsoft.com/office/officeart/2005/8/layout/process1"/>
    <dgm:cxn modelId="{704AA0B0-0EBA-4199-843B-7357A594BE39}" srcId="{165AB167-C5F2-4B06-98B2-0C690836CB92}" destId="{9591F37E-12CA-42D6-A4F7-B4D581FBB5D1}" srcOrd="2" destOrd="0" parTransId="{3EB9097F-BBB2-4306-895E-E16C7A9FCEF9}" sibTransId="{0B620B68-784F-4A73-B2E5-133E9F824831}"/>
    <dgm:cxn modelId="{820DA0B5-EE74-4F0B-BDA6-D4A7157D346F}" type="presOf" srcId="{9591F37E-12CA-42D6-A4F7-B4D581FBB5D1}" destId="{384453D8-600E-4A39-9DEC-DAB537E5667B}" srcOrd="0" destOrd="0" presId="urn:microsoft.com/office/officeart/2005/8/layout/process1"/>
    <dgm:cxn modelId="{DEDC84B8-94FD-4585-AFE9-83C2E7E837A6}" srcId="{165AB167-C5F2-4B06-98B2-0C690836CB92}" destId="{7027F2C2-AEE3-41B4-8725-046FC24C1EF2}" srcOrd="1" destOrd="0" parTransId="{87368B0A-3CA2-4BE2-869B-EBFF9029E1EA}" sibTransId="{6D110883-3BAA-498D-833F-ADCFCAE10163}"/>
    <dgm:cxn modelId="{91A8EBCD-5FEE-445D-BA28-D1E934238608}" type="presOf" srcId="{BDB8574A-EB20-4CBF-A2CB-822783CC6FC0}" destId="{44A4F49B-0B09-4A8D-AA48-48B502AA87C6}" srcOrd="0" destOrd="0" presId="urn:microsoft.com/office/officeart/2005/8/layout/process1"/>
    <dgm:cxn modelId="{C7CB43E9-83C3-4C61-A6CE-630064F681FF}" type="presOf" srcId="{6D110883-3BAA-498D-833F-ADCFCAE10163}" destId="{C37F1163-3AF3-4B97-8B70-24AE87DEBD5F}" srcOrd="1" destOrd="0" presId="urn:microsoft.com/office/officeart/2005/8/layout/process1"/>
    <dgm:cxn modelId="{9978B8F5-E2F3-4668-ACC8-AC28A35836A4}" type="presOf" srcId="{6D110883-3BAA-498D-833F-ADCFCAE10163}" destId="{BC03A217-2A36-4F1E-A41D-5A8C72F9E858}" srcOrd="0" destOrd="0" presId="urn:microsoft.com/office/officeart/2005/8/layout/process1"/>
    <dgm:cxn modelId="{251B3D5C-B78A-4B9D-B9D9-390FEDFE2972}" type="presParOf" srcId="{A272EFE1-2756-4AF9-BB32-BE479D503D6D}" destId="{44A4F49B-0B09-4A8D-AA48-48B502AA87C6}" srcOrd="0" destOrd="0" presId="urn:microsoft.com/office/officeart/2005/8/layout/process1"/>
    <dgm:cxn modelId="{53236339-28A4-4AC8-B747-5BDCDFCE2DB0}" type="presParOf" srcId="{A272EFE1-2756-4AF9-BB32-BE479D503D6D}" destId="{C9E69455-77D6-4BD6-AC14-C1D1A836281F}" srcOrd="1" destOrd="0" presId="urn:microsoft.com/office/officeart/2005/8/layout/process1"/>
    <dgm:cxn modelId="{426B7DF6-1F54-482D-9BE3-83CAFFA81A95}" type="presParOf" srcId="{C9E69455-77D6-4BD6-AC14-C1D1A836281F}" destId="{7EFBE86A-4E48-4D55-9E44-2E77F9B884BE}" srcOrd="0" destOrd="0" presId="urn:microsoft.com/office/officeart/2005/8/layout/process1"/>
    <dgm:cxn modelId="{7DCB5E01-3B77-4CF9-9B93-5E808D86F267}" type="presParOf" srcId="{A272EFE1-2756-4AF9-BB32-BE479D503D6D}" destId="{95AF53A0-7079-4D35-B093-70A4818D75BD}" srcOrd="2" destOrd="0" presId="urn:microsoft.com/office/officeart/2005/8/layout/process1"/>
    <dgm:cxn modelId="{DF5CEF9F-CFDF-494D-9B5B-8F4E0173CB1C}" type="presParOf" srcId="{A272EFE1-2756-4AF9-BB32-BE479D503D6D}" destId="{BC03A217-2A36-4F1E-A41D-5A8C72F9E858}" srcOrd="3" destOrd="0" presId="urn:microsoft.com/office/officeart/2005/8/layout/process1"/>
    <dgm:cxn modelId="{2180B94A-C950-43C1-99D5-1AE2D8ABE5B9}" type="presParOf" srcId="{BC03A217-2A36-4F1E-A41D-5A8C72F9E858}" destId="{C37F1163-3AF3-4B97-8B70-24AE87DEBD5F}" srcOrd="0" destOrd="0" presId="urn:microsoft.com/office/officeart/2005/8/layout/process1"/>
    <dgm:cxn modelId="{C8F6F114-F041-431B-A596-A3480FA4F618}" type="presParOf" srcId="{A272EFE1-2756-4AF9-BB32-BE479D503D6D}" destId="{384453D8-600E-4A39-9DEC-DAB537E5667B}"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F5EDA9-998D-4869-B237-6B6D0E109CAC}">
      <dsp:nvSpPr>
        <dsp:cNvPr id="0" name=""/>
        <dsp:cNvSpPr/>
      </dsp:nvSpPr>
      <dsp:spPr>
        <a:xfrm>
          <a:off x="0" y="409795"/>
          <a:ext cx="6800491" cy="103194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kern="1200" dirty="0"/>
            <a:t>RQ1: How does combining static analysis and runtime traces improve accuracy and completeness of scenario-specific interaction model reconstruction? </a:t>
          </a:r>
          <a:endParaRPr lang="en-US" sz="1800" kern="1200" dirty="0"/>
        </a:p>
      </dsp:txBody>
      <dsp:txXfrm>
        <a:off x="50375" y="460170"/>
        <a:ext cx="6699741" cy="931190"/>
      </dsp:txXfrm>
    </dsp:sp>
    <dsp:sp modelId="{E3DFA99D-7EEB-48D8-BFB9-31FDA3A57870}">
      <dsp:nvSpPr>
        <dsp:cNvPr id="0" name=""/>
        <dsp:cNvSpPr/>
      </dsp:nvSpPr>
      <dsp:spPr>
        <a:xfrm>
          <a:off x="0" y="1493575"/>
          <a:ext cx="6800491" cy="103194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kern="1200" dirty="0"/>
            <a:t>RQ2: </a:t>
          </a:r>
          <a:r>
            <a:rPr lang="en-GB" sz="1800" kern="1200" dirty="0"/>
            <a:t>How does guiding trace collection with the static call graph remove noise without losing scenario coverage</a:t>
          </a:r>
          <a:r>
            <a:rPr lang="en-IN" sz="1800" kern="1200" dirty="0"/>
            <a:t>?</a:t>
          </a:r>
          <a:endParaRPr lang="en-US" sz="1800" kern="1200" dirty="0"/>
        </a:p>
      </dsp:txBody>
      <dsp:txXfrm>
        <a:off x="50375" y="1543950"/>
        <a:ext cx="6699741" cy="931190"/>
      </dsp:txXfrm>
    </dsp:sp>
    <dsp:sp modelId="{214E6DCC-4172-412A-A56E-989382293DD6}">
      <dsp:nvSpPr>
        <dsp:cNvPr id="0" name=""/>
        <dsp:cNvSpPr/>
      </dsp:nvSpPr>
      <dsp:spPr>
        <a:xfrm>
          <a:off x="0" y="2577355"/>
          <a:ext cx="6800491" cy="103194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kern="1200" dirty="0"/>
            <a:t>RQ3: </a:t>
          </a:r>
          <a:r>
            <a:rPr lang="en-GB" sz="1800" kern="1200" dirty="0"/>
            <a:t>How well do reconstructed </a:t>
          </a:r>
          <a:r>
            <a:rPr lang="en-GB" sz="1800" kern="1200" dirty="0" err="1"/>
            <a:t>SysML</a:t>
          </a:r>
          <a:r>
            <a:rPr lang="en-GB" sz="1800" kern="1200" dirty="0"/>
            <a:t> v2 interaction (interconnection and sequence) diagrams consolidate static and dynamic evidence into abstract artifacts sufficient for system </a:t>
          </a:r>
          <a:r>
            <a:rPr lang="en-GB" sz="1800" kern="1200" dirty="0" err="1"/>
            <a:t>behavior</a:t>
          </a:r>
          <a:r>
            <a:rPr lang="en-GB" sz="1800" kern="1200" dirty="0"/>
            <a:t> comprehension</a:t>
          </a:r>
          <a:r>
            <a:rPr lang="en-IN" sz="1800" kern="1200" dirty="0"/>
            <a:t>?</a:t>
          </a:r>
          <a:endParaRPr lang="en-US" sz="1800" kern="1200" dirty="0"/>
        </a:p>
      </dsp:txBody>
      <dsp:txXfrm>
        <a:off x="50375" y="2627730"/>
        <a:ext cx="6699741" cy="9311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7F8C7F-6CB2-404E-97FF-7B8F9DC44EE3}">
      <dsp:nvSpPr>
        <dsp:cNvPr id="0" name=""/>
        <dsp:cNvSpPr/>
      </dsp:nvSpPr>
      <dsp:spPr>
        <a:xfrm>
          <a:off x="0" y="0"/>
          <a:ext cx="3433313" cy="4019097"/>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noProof="0" dirty="0"/>
            <a:t>Hybrid Analysis - Interaction Diagram</a:t>
          </a:r>
        </a:p>
      </dsp:txBody>
      <dsp:txXfrm>
        <a:off x="0" y="0"/>
        <a:ext cx="3433313" cy="1205729"/>
      </dsp:txXfrm>
    </dsp:sp>
    <dsp:sp modelId="{E18736DA-694F-466D-B344-12FB14467A38}">
      <dsp:nvSpPr>
        <dsp:cNvPr id="0" name=""/>
        <dsp:cNvSpPr/>
      </dsp:nvSpPr>
      <dsp:spPr>
        <a:xfrm>
          <a:off x="343331" y="1206906"/>
          <a:ext cx="2746650" cy="1211812"/>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GB" sz="2400" kern="1200" noProof="0" dirty="0"/>
            <a:t>Static Code Structure</a:t>
          </a:r>
        </a:p>
      </dsp:txBody>
      <dsp:txXfrm>
        <a:off x="378824" y="1242399"/>
        <a:ext cx="2675664" cy="1140826"/>
      </dsp:txXfrm>
    </dsp:sp>
    <dsp:sp modelId="{9A6884A8-4091-429F-9504-D196E5C98273}">
      <dsp:nvSpPr>
        <dsp:cNvPr id="0" name=""/>
        <dsp:cNvSpPr/>
      </dsp:nvSpPr>
      <dsp:spPr>
        <a:xfrm>
          <a:off x="343331" y="2605151"/>
          <a:ext cx="2746650" cy="1211812"/>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GB" sz="2400" kern="1200" noProof="0" dirty="0"/>
            <a:t>Runtime Traces</a:t>
          </a:r>
        </a:p>
      </dsp:txBody>
      <dsp:txXfrm>
        <a:off x="378824" y="2640644"/>
        <a:ext cx="2675664" cy="114082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F5EDA9-998D-4869-B237-6B6D0E109CAC}">
      <dsp:nvSpPr>
        <dsp:cNvPr id="0" name=""/>
        <dsp:cNvSpPr/>
      </dsp:nvSpPr>
      <dsp:spPr>
        <a:xfrm>
          <a:off x="0" y="232045"/>
          <a:ext cx="6800491" cy="114660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dirty="0"/>
            <a:t>RQ1: How does combining static analysis and runtime traces improve accuracy and completeness of scenario-specific interaction model reconstruction? </a:t>
          </a:r>
          <a:endParaRPr lang="en-US" sz="2000" kern="1200" dirty="0"/>
        </a:p>
      </dsp:txBody>
      <dsp:txXfrm>
        <a:off x="55972" y="288017"/>
        <a:ext cx="6688547" cy="1034656"/>
      </dsp:txXfrm>
    </dsp:sp>
    <dsp:sp modelId="{E3DFA99D-7EEB-48D8-BFB9-31FDA3A57870}">
      <dsp:nvSpPr>
        <dsp:cNvPr id="0" name=""/>
        <dsp:cNvSpPr/>
      </dsp:nvSpPr>
      <dsp:spPr>
        <a:xfrm>
          <a:off x="0" y="1436245"/>
          <a:ext cx="6800491" cy="114660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dirty="0"/>
            <a:t>RQ2: </a:t>
          </a:r>
          <a:r>
            <a:rPr lang="en-GB" sz="2000" kern="1200" dirty="0"/>
            <a:t>How does guiding trace collection with the static call graph removes noise without losing scenario coverage</a:t>
          </a:r>
          <a:r>
            <a:rPr lang="en-IN" sz="2000" kern="1200" dirty="0"/>
            <a:t>?</a:t>
          </a:r>
          <a:endParaRPr lang="en-US" sz="2000" kern="1200" dirty="0"/>
        </a:p>
      </dsp:txBody>
      <dsp:txXfrm>
        <a:off x="55972" y="1492217"/>
        <a:ext cx="6688547" cy="1034656"/>
      </dsp:txXfrm>
    </dsp:sp>
    <dsp:sp modelId="{214E6DCC-4172-412A-A56E-989382293DD6}">
      <dsp:nvSpPr>
        <dsp:cNvPr id="0" name=""/>
        <dsp:cNvSpPr/>
      </dsp:nvSpPr>
      <dsp:spPr>
        <a:xfrm>
          <a:off x="0" y="2640445"/>
          <a:ext cx="6800491" cy="114660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dirty="0"/>
            <a:t>RQ3: </a:t>
          </a:r>
          <a:r>
            <a:rPr lang="en-GB" sz="2000" kern="1200" dirty="0"/>
            <a:t>How well does a reconstructed </a:t>
          </a:r>
          <a:r>
            <a:rPr lang="en-GB" sz="2000" kern="1200" dirty="0" err="1"/>
            <a:t>SysML</a:t>
          </a:r>
          <a:r>
            <a:rPr lang="en-GB" sz="2000" kern="1200" dirty="0"/>
            <a:t> v2 interaction diagram consolidate static and dynamic evidence into a single artifact sufficient for system behaviour comprehension</a:t>
          </a:r>
          <a:r>
            <a:rPr lang="en-IN" sz="2000" kern="1200" dirty="0"/>
            <a:t>?</a:t>
          </a:r>
          <a:endParaRPr lang="en-US" sz="2000" kern="1200" dirty="0"/>
        </a:p>
      </dsp:txBody>
      <dsp:txXfrm>
        <a:off x="55972" y="2696417"/>
        <a:ext cx="6688547" cy="103465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7F8C7F-6CB2-404E-97FF-7B8F9DC44EE3}">
      <dsp:nvSpPr>
        <dsp:cNvPr id="0" name=""/>
        <dsp:cNvSpPr/>
      </dsp:nvSpPr>
      <dsp:spPr>
        <a:xfrm>
          <a:off x="0" y="0"/>
          <a:ext cx="3433313" cy="4019097"/>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noProof="0" dirty="0"/>
            <a:t>Hybrid Analysis - Interaction Diagram</a:t>
          </a:r>
        </a:p>
      </dsp:txBody>
      <dsp:txXfrm>
        <a:off x="0" y="0"/>
        <a:ext cx="3433313" cy="1205729"/>
      </dsp:txXfrm>
    </dsp:sp>
    <dsp:sp modelId="{E18736DA-694F-466D-B344-12FB14467A38}">
      <dsp:nvSpPr>
        <dsp:cNvPr id="0" name=""/>
        <dsp:cNvSpPr/>
      </dsp:nvSpPr>
      <dsp:spPr>
        <a:xfrm>
          <a:off x="343331" y="1206906"/>
          <a:ext cx="2746650" cy="1211812"/>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GB" sz="2400" kern="1200" noProof="0" dirty="0"/>
            <a:t>Static Code Structure</a:t>
          </a:r>
        </a:p>
      </dsp:txBody>
      <dsp:txXfrm>
        <a:off x="378824" y="1242399"/>
        <a:ext cx="2675664" cy="1140826"/>
      </dsp:txXfrm>
    </dsp:sp>
    <dsp:sp modelId="{9A6884A8-4091-429F-9504-D196E5C98273}">
      <dsp:nvSpPr>
        <dsp:cNvPr id="0" name=""/>
        <dsp:cNvSpPr/>
      </dsp:nvSpPr>
      <dsp:spPr>
        <a:xfrm>
          <a:off x="343331" y="2605151"/>
          <a:ext cx="2746650" cy="1211812"/>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GB" sz="2400" kern="1200" noProof="0" dirty="0"/>
            <a:t>Runtime Traces</a:t>
          </a:r>
        </a:p>
      </dsp:txBody>
      <dsp:txXfrm>
        <a:off x="378824" y="2640644"/>
        <a:ext cx="2675664" cy="114082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22B9DC-0CDE-4DFB-AAA1-B656F0CC10B6}">
      <dsp:nvSpPr>
        <dsp:cNvPr id="0" name=""/>
        <dsp:cNvSpPr/>
      </dsp:nvSpPr>
      <dsp:spPr>
        <a:xfrm>
          <a:off x="5150" y="752866"/>
          <a:ext cx="1317354" cy="173433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b="1" i="0" kern="1200" dirty="0">
              <a:latin typeface="Calibri"/>
            </a:rPr>
            <a:t>Stage 1: Static Extraction</a:t>
          </a:r>
          <a:endParaRPr lang="en-GB" sz="1600" kern="1200" dirty="0"/>
        </a:p>
        <a:p>
          <a:pPr marL="57150" lvl="1" indent="-57150" algn="l" defTabSz="466725">
            <a:lnSpc>
              <a:spcPct val="90000"/>
            </a:lnSpc>
            <a:spcBef>
              <a:spcPct val="0"/>
            </a:spcBef>
            <a:spcAft>
              <a:spcPct val="15000"/>
            </a:spcAft>
            <a:buChar char="•"/>
          </a:pPr>
          <a:endParaRPr lang="en-GB" sz="1050" kern="1200" dirty="0"/>
        </a:p>
        <a:p>
          <a:pPr marL="57150" lvl="1" indent="-57150" algn="l" defTabSz="466725">
            <a:lnSpc>
              <a:spcPct val="90000"/>
            </a:lnSpc>
            <a:spcBef>
              <a:spcPct val="0"/>
            </a:spcBef>
            <a:spcAft>
              <a:spcPct val="15000"/>
            </a:spcAft>
            <a:buChar char="•"/>
          </a:pPr>
          <a:r>
            <a:rPr lang="en-GB" sz="1050" b="0" i="0" kern="1200" dirty="0">
              <a:latin typeface="Calibri"/>
            </a:rPr>
            <a:t>Renaissance C++ → Property graph</a:t>
          </a:r>
          <a:endParaRPr lang="en-GB" sz="1050" kern="1200" dirty="0"/>
        </a:p>
      </dsp:txBody>
      <dsp:txXfrm>
        <a:off x="43734" y="791450"/>
        <a:ext cx="1240186" cy="1657167"/>
      </dsp:txXfrm>
    </dsp:sp>
    <dsp:sp modelId="{B27437C1-D631-4A3A-999B-C7A091344474}">
      <dsp:nvSpPr>
        <dsp:cNvPr id="0" name=""/>
        <dsp:cNvSpPr/>
      </dsp:nvSpPr>
      <dsp:spPr>
        <a:xfrm>
          <a:off x="1468793" y="1456682"/>
          <a:ext cx="310129" cy="326703"/>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1468793" y="1522023"/>
        <a:ext cx="217090" cy="196021"/>
      </dsp:txXfrm>
    </dsp:sp>
    <dsp:sp modelId="{A19FD24E-4789-43FD-9A75-FA90DE1985B5}">
      <dsp:nvSpPr>
        <dsp:cNvPr id="0" name=""/>
        <dsp:cNvSpPr/>
      </dsp:nvSpPr>
      <dsp:spPr>
        <a:xfrm>
          <a:off x="1907655" y="752866"/>
          <a:ext cx="1317354" cy="173433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b="1" i="0" kern="1200" dirty="0">
              <a:latin typeface="Calibri"/>
            </a:rPr>
            <a:t>Stage 2: Code graph query</a:t>
          </a:r>
          <a:endParaRPr lang="en-GB" sz="1600" kern="1200" dirty="0"/>
        </a:p>
        <a:p>
          <a:pPr marL="57150" lvl="1" indent="-57150" algn="l" defTabSz="466725">
            <a:lnSpc>
              <a:spcPct val="90000"/>
            </a:lnSpc>
            <a:spcBef>
              <a:spcPct val="0"/>
            </a:spcBef>
            <a:spcAft>
              <a:spcPct val="15000"/>
            </a:spcAft>
            <a:buChar char="•"/>
          </a:pPr>
          <a:endParaRPr lang="en-GB" sz="1050" kern="1200" dirty="0"/>
        </a:p>
        <a:p>
          <a:pPr marL="57150" lvl="1" indent="-57150" algn="l" defTabSz="466725">
            <a:lnSpc>
              <a:spcPct val="90000"/>
            </a:lnSpc>
            <a:spcBef>
              <a:spcPct val="0"/>
            </a:spcBef>
            <a:spcAft>
              <a:spcPct val="15000"/>
            </a:spcAft>
            <a:buChar char="•"/>
          </a:pPr>
          <a:r>
            <a:rPr lang="it-IT" sz="1050" b="0" i="0" kern="1200" dirty="0">
              <a:latin typeface="Calibri"/>
            </a:rPr>
            <a:t>Property graph -&gt; scenario-specific subgraph</a:t>
          </a:r>
          <a:endParaRPr lang="en-GB" sz="1050" kern="1200" dirty="0"/>
        </a:p>
      </dsp:txBody>
      <dsp:txXfrm>
        <a:off x="1946239" y="791450"/>
        <a:ext cx="1240186" cy="1657167"/>
      </dsp:txXfrm>
    </dsp:sp>
    <dsp:sp modelId="{F7C48118-4999-49CB-B2B2-CBA1D350C0A1}">
      <dsp:nvSpPr>
        <dsp:cNvPr id="0" name=""/>
        <dsp:cNvSpPr/>
      </dsp:nvSpPr>
      <dsp:spPr>
        <a:xfrm rot="18785">
          <a:off x="3296773" y="1510100"/>
          <a:ext cx="323716" cy="229620"/>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66725">
            <a:lnSpc>
              <a:spcPct val="90000"/>
            </a:lnSpc>
            <a:spcBef>
              <a:spcPct val="0"/>
            </a:spcBef>
            <a:spcAft>
              <a:spcPct val="35000"/>
            </a:spcAft>
            <a:buNone/>
          </a:pPr>
          <a:endParaRPr lang="en-GB" sz="1050" kern="1200"/>
        </a:p>
      </dsp:txBody>
      <dsp:txXfrm>
        <a:off x="3296774" y="1555836"/>
        <a:ext cx="254830" cy="137772"/>
      </dsp:txXfrm>
    </dsp:sp>
    <dsp:sp modelId="{DC185D3F-FE77-461B-999F-AFC7EEAF69C5}">
      <dsp:nvSpPr>
        <dsp:cNvPr id="0" name=""/>
        <dsp:cNvSpPr/>
      </dsp:nvSpPr>
      <dsp:spPr>
        <a:xfrm>
          <a:off x="3678643" y="762544"/>
          <a:ext cx="1317354" cy="173433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b="1" i="0" kern="1200" dirty="0">
              <a:latin typeface="Calibri"/>
            </a:rPr>
            <a:t>Stage 3: Dependency</a:t>
          </a:r>
          <a:br>
            <a:rPr lang="en-GB" sz="1600" b="1" i="0" kern="1200" dirty="0">
              <a:latin typeface="Calibri"/>
            </a:rPr>
          </a:br>
          <a:r>
            <a:rPr lang="en-GB" sz="1600" b="1" i="0" kern="1200" dirty="0">
              <a:latin typeface="Calibri"/>
            </a:rPr>
            <a:t>Matrix  Extraction </a:t>
          </a:r>
          <a:endParaRPr lang="en-GB" sz="1600" kern="1200" dirty="0"/>
        </a:p>
        <a:p>
          <a:pPr marL="57150" lvl="1" indent="-57150" algn="l" defTabSz="466725">
            <a:lnSpc>
              <a:spcPct val="90000"/>
            </a:lnSpc>
            <a:spcBef>
              <a:spcPct val="0"/>
            </a:spcBef>
            <a:spcAft>
              <a:spcPct val="15000"/>
            </a:spcAft>
            <a:buChar char="•"/>
          </a:pPr>
          <a:endParaRPr lang="en-GB" sz="1050" kern="1200" dirty="0"/>
        </a:p>
        <a:p>
          <a:pPr marL="57150" lvl="1" indent="-57150" algn="l" defTabSz="466725">
            <a:lnSpc>
              <a:spcPct val="90000"/>
            </a:lnSpc>
            <a:spcBef>
              <a:spcPct val="0"/>
            </a:spcBef>
            <a:spcAft>
              <a:spcPct val="15000"/>
            </a:spcAft>
            <a:buChar char="•"/>
          </a:pPr>
          <a:r>
            <a:rPr lang="en-GB" sz="1050" b="0" i="0" kern="1200" dirty="0">
              <a:latin typeface="Calibri"/>
            </a:rPr>
            <a:t>Subgraphs -&gt; dependency matrix</a:t>
          </a:r>
          <a:endParaRPr lang="en-GB" sz="1050" kern="1200" dirty="0"/>
        </a:p>
      </dsp:txBody>
      <dsp:txXfrm>
        <a:off x="3717227" y="801128"/>
        <a:ext cx="1240186" cy="1657167"/>
      </dsp:txXfrm>
    </dsp:sp>
    <dsp:sp modelId="{61237FC0-7F09-4D1C-B8A4-6D914D38C66D}">
      <dsp:nvSpPr>
        <dsp:cNvPr id="0" name=""/>
        <dsp:cNvSpPr/>
      </dsp:nvSpPr>
      <dsp:spPr>
        <a:xfrm rot="10817892" flipH="1">
          <a:off x="5130510" y="1472090"/>
          <a:ext cx="316290" cy="326703"/>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5130511" y="1537184"/>
        <a:ext cx="221403" cy="196021"/>
      </dsp:txXfrm>
    </dsp:sp>
    <dsp:sp modelId="{4F9FA3B5-74BC-45BD-9D4E-D91CC0D80D1E}">
      <dsp:nvSpPr>
        <dsp:cNvPr id="0" name=""/>
        <dsp:cNvSpPr/>
      </dsp:nvSpPr>
      <dsp:spPr>
        <a:xfrm>
          <a:off x="5538040" y="752866"/>
          <a:ext cx="1317354" cy="173433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b="1" i="0" kern="1200" dirty="0">
              <a:latin typeface="Calibri"/>
            </a:rPr>
            <a:t>Stage 4: </a:t>
          </a:r>
          <a:r>
            <a:rPr lang="en-GB" sz="1600" b="1" kern="1200" dirty="0">
              <a:latin typeface="Calibri"/>
            </a:rPr>
            <a:t>Trace Instrumentation &amp; collection</a:t>
          </a:r>
          <a:endParaRPr lang="en-GB" sz="1600" kern="1200" dirty="0"/>
        </a:p>
        <a:p>
          <a:pPr marL="57150" lvl="1" indent="-57150" algn="l" defTabSz="466725">
            <a:lnSpc>
              <a:spcPct val="90000"/>
            </a:lnSpc>
            <a:spcBef>
              <a:spcPct val="0"/>
            </a:spcBef>
            <a:spcAft>
              <a:spcPct val="15000"/>
            </a:spcAft>
            <a:buChar char="•"/>
          </a:pPr>
          <a:r>
            <a:rPr lang="en-GB" sz="1050" kern="1200" dirty="0">
              <a:latin typeface="Calibri"/>
            </a:rPr>
            <a:t>Dependency matrix -&gt; Traces</a:t>
          </a:r>
          <a:endParaRPr lang="en-GB" sz="1050" kern="1200" dirty="0"/>
        </a:p>
      </dsp:txBody>
      <dsp:txXfrm>
        <a:off x="5576624" y="791450"/>
        <a:ext cx="1240186" cy="1657167"/>
      </dsp:txXfrm>
    </dsp:sp>
    <dsp:sp modelId="{0791AAA8-67FC-4B7D-8999-3A8F71CEC2AC}">
      <dsp:nvSpPr>
        <dsp:cNvPr id="0" name=""/>
        <dsp:cNvSpPr/>
      </dsp:nvSpPr>
      <dsp:spPr>
        <a:xfrm rot="21583043">
          <a:off x="7016540" y="1451796"/>
          <a:ext cx="341635" cy="326703"/>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7016541" y="1517379"/>
        <a:ext cx="243624" cy="196021"/>
      </dsp:txXfrm>
    </dsp:sp>
    <dsp:sp modelId="{2B1E9E0B-87D3-4A2F-89AB-0D56BED2E797}">
      <dsp:nvSpPr>
        <dsp:cNvPr id="0" name=""/>
        <dsp:cNvSpPr/>
      </dsp:nvSpPr>
      <dsp:spPr>
        <a:xfrm>
          <a:off x="7499984" y="743188"/>
          <a:ext cx="1317354" cy="173433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b="1" i="0" kern="1200" dirty="0">
              <a:latin typeface="Calibri"/>
            </a:rPr>
            <a:t>Stage 5: Agentic Synthesis</a:t>
          </a:r>
          <a:endParaRPr lang="en-GB" sz="1600" kern="1200" dirty="0"/>
        </a:p>
        <a:p>
          <a:pPr marL="57150" lvl="1" indent="-57150" algn="l" defTabSz="466725">
            <a:lnSpc>
              <a:spcPct val="90000"/>
            </a:lnSpc>
            <a:spcBef>
              <a:spcPct val="0"/>
            </a:spcBef>
            <a:spcAft>
              <a:spcPct val="15000"/>
            </a:spcAft>
            <a:buChar char="•"/>
          </a:pPr>
          <a:endParaRPr lang="en-GB" sz="1050" kern="1200" dirty="0"/>
        </a:p>
        <a:p>
          <a:pPr marL="57150" lvl="1" indent="-57150" algn="l" defTabSz="466725">
            <a:lnSpc>
              <a:spcPct val="90000"/>
            </a:lnSpc>
            <a:spcBef>
              <a:spcPct val="0"/>
            </a:spcBef>
            <a:spcAft>
              <a:spcPct val="15000"/>
            </a:spcAft>
            <a:buChar char="•"/>
          </a:pPr>
          <a:r>
            <a:rPr lang="nl-NL" sz="1050" b="0" i="0" kern="1200" dirty="0">
              <a:latin typeface="Calibri"/>
            </a:rPr>
            <a:t>Dependency Matrix + Traces -&gt; Elements + Traces complete list</a:t>
          </a:r>
          <a:endParaRPr lang="en-GB" sz="1050" kern="1200" dirty="0"/>
        </a:p>
      </dsp:txBody>
      <dsp:txXfrm>
        <a:off x="7538568" y="781772"/>
        <a:ext cx="1240186" cy="1657167"/>
      </dsp:txXfrm>
    </dsp:sp>
    <dsp:sp modelId="{B4057DCE-652F-4C30-B5F1-E49CAFB92499}">
      <dsp:nvSpPr>
        <dsp:cNvPr id="0" name=""/>
        <dsp:cNvSpPr/>
      </dsp:nvSpPr>
      <dsp:spPr>
        <a:xfrm rot="21546366">
          <a:off x="8840498" y="1447888"/>
          <a:ext cx="380559" cy="297722"/>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8840503" y="1508129"/>
        <a:ext cx="291242" cy="178634"/>
      </dsp:txXfrm>
    </dsp:sp>
    <dsp:sp modelId="{06365A47-A6B6-444D-A588-E92406961CDB}">
      <dsp:nvSpPr>
        <dsp:cNvPr id="0" name=""/>
        <dsp:cNvSpPr/>
      </dsp:nvSpPr>
      <dsp:spPr>
        <a:xfrm>
          <a:off x="9231785" y="716167"/>
          <a:ext cx="1317354" cy="173433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b="1" i="0" kern="1200" dirty="0">
              <a:latin typeface="Calibri"/>
            </a:rPr>
            <a:t>Stage 6: </a:t>
          </a:r>
          <a:r>
            <a:rPr lang="en-GB" sz="1600" b="1" i="0" kern="1200" dirty="0" err="1">
              <a:latin typeface="Calibri"/>
            </a:rPr>
            <a:t>SysML</a:t>
          </a:r>
          <a:r>
            <a:rPr lang="en-GB" sz="1600" b="1" i="0" kern="1200" dirty="0">
              <a:latin typeface="Calibri"/>
            </a:rPr>
            <a:t> v2 Generation</a:t>
          </a:r>
          <a:endParaRPr lang="en-GB" sz="1600" kern="1200" dirty="0"/>
        </a:p>
        <a:p>
          <a:pPr marL="57150" lvl="1" indent="-57150" algn="l" defTabSz="466725">
            <a:lnSpc>
              <a:spcPct val="90000"/>
            </a:lnSpc>
            <a:spcBef>
              <a:spcPct val="0"/>
            </a:spcBef>
            <a:spcAft>
              <a:spcPct val="15000"/>
            </a:spcAft>
            <a:buChar char="•"/>
          </a:pPr>
          <a:endParaRPr lang="en-GB" sz="1050" kern="1200" dirty="0"/>
        </a:p>
        <a:p>
          <a:pPr marL="57150" lvl="1" indent="-57150" algn="l" defTabSz="466725">
            <a:lnSpc>
              <a:spcPct val="90000"/>
            </a:lnSpc>
            <a:spcBef>
              <a:spcPct val="0"/>
            </a:spcBef>
            <a:spcAft>
              <a:spcPct val="15000"/>
            </a:spcAft>
            <a:buChar char="•"/>
          </a:pPr>
          <a:r>
            <a:rPr lang="en-GB" sz="1050" b="0" i="0" kern="1200" dirty="0">
              <a:latin typeface="Calibri"/>
            </a:rPr>
            <a:t>Scenario diagram</a:t>
          </a:r>
          <a:endParaRPr lang="en-GB" sz="1050" kern="1200" dirty="0"/>
        </a:p>
      </dsp:txBody>
      <dsp:txXfrm>
        <a:off x="9270369" y="754751"/>
        <a:ext cx="1240186" cy="165716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E6520F-46AA-4630-9440-F84329110735}">
      <dsp:nvSpPr>
        <dsp:cNvPr id="0" name=""/>
        <dsp:cNvSpPr/>
      </dsp:nvSpPr>
      <dsp:spPr>
        <a:xfrm>
          <a:off x="3153488" y="1289570"/>
          <a:ext cx="3176387" cy="3244625"/>
        </a:xfrm>
        <a:prstGeom prst="ellipse">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2225" tIns="22225" rIns="22225" bIns="22225" numCol="1" spcCol="1270" anchor="ctr" anchorCtr="0">
          <a:noAutofit/>
        </a:bodyPr>
        <a:lstStyle/>
        <a:p>
          <a:pPr marL="0" lvl="0" indent="0" algn="ctr" defTabSz="1555750">
            <a:lnSpc>
              <a:spcPct val="90000"/>
            </a:lnSpc>
            <a:spcBef>
              <a:spcPct val="0"/>
            </a:spcBef>
            <a:spcAft>
              <a:spcPct val="35000"/>
            </a:spcAft>
            <a:buNone/>
          </a:pPr>
          <a:r>
            <a:rPr lang="en-GB" sz="3500" kern="1200" noProof="0" dirty="0"/>
            <a:t>Hybrid Analysis - Interaction Diagram</a:t>
          </a:r>
        </a:p>
      </dsp:txBody>
      <dsp:txXfrm>
        <a:off x="3618659" y="1764734"/>
        <a:ext cx="2246045" cy="2294297"/>
      </dsp:txXfrm>
    </dsp:sp>
    <dsp:sp modelId="{B8ACAC19-9BEB-4097-ADE6-D47CB3C1FDF8}">
      <dsp:nvSpPr>
        <dsp:cNvPr id="0" name=""/>
        <dsp:cNvSpPr/>
      </dsp:nvSpPr>
      <dsp:spPr>
        <a:xfrm rot="12900000">
          <a:off x="1551153" y="1000770"/>
          <a:ext cx="1964538" cy="729744"/>
        </a:xfrm>
        <a:prstGeom prst="lef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E76856CA-843E-4B14-9B79-40084004CF3F}">
      <dsp:nvSpPr>
        <dsp:cNvPr id="0" name=""/>
        <dsp:cNvSpPr/>
      </dsp:nvSpPr>
      <dsp:spPr>
        <a:xfrm>
          <a:off x="512552" y="-170757"/>
          <a:ext cx="2432483" cy="1945986"/>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4295" tIns="74295" rIns="74295" bIns="74295" numCol="1" spcCol="1270" anchor="ctr" anchorCtr="0">
          <a:noAutofit/>
        </a:bodyPr>
        <a:lstStyle/>
        <a:p>
          <a:pPr marL="0" lvl="0" indent="0" algn="ctr" defTabSz="1733550">
            <a:lnSpc>
              <a:spcPct val="90000"/>
            </a:lnSpc>
            <a:spcBef>
              <a:spcPct val="0"/>
            </a:spcBef>
            <a:spcAft>
              <a:spcPct val="35000"/>
            </a:spcAft>
            <a:buNone/>
          </a:pPr>
          <a:r>
            <a:rPr lang="en-GB" sz="3900" kern="1200" noProof="0" dirty="0"/>
            <a:t>Static Code Structure</a:t>
          </a:r>
        </a:p>
      </dsp:txBody>
      <dsp:txXfrm>
        <a:off x="569548" y="-113761"/>
        <a:ext cx="2318491" cy="1831994"/>
      </dsp:txXfrm>
    </dsp:sp>
    <dsp:sp modelId="{76CBC3C4-A747-4381-B8A5-1715FFDFC7F8}">
      <dsp:nvSpPr>
        <dsp:cNvPr id="0" name=""/>
        <dsp:cNvSpPr/>
      </dsp:nvSpPr>
      <dsp:spPr>
        <a:xfrm rot="19500000">
          <a:off x="5967672" y="1000770"/>
          <a:ext cx="1964538" cy="729744"/>
        </a:xfrm>
        <a:prstGeom prst="lef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259CC2E9-93BA-4ED4-A047-1AE3733F2CB5}">
      <dsp:nvSpPr>
        <dsp:cNvPr id="0" name=""/>
        <dsp:cNvSpPr/>
      </dsp:nvSpPr>
      <dsp:spPr>
        <a:xfrm>
          <a:off x="6538328" y="-170757"/>
          <a:ext cx="2432483" cy="1945986"/>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4295" tIns="74295" rIns="74295" bIns="74295" numCol="1" spcCol="1270" anchor="ctr" anchorCtr="0">
          <a:noAutofit/>
        </a:bodyPr>
        <a:lstStyle/>
        <a:p>
          <a:pPr marL="0" lvl="0" indent="0" algn="ctr" defTabSz="1733550">
            <a:lnSpc>
              <a:spcPct val="90000"/>
            </a:lnSpc>
            <a:spcBef>
              <a:spcPct val="0"/>
            </a:spcBef>
            <a:spcAft>
              <a:spcPct val="35000"/>
            </a:spcAft>
            <a:buNone/>
          </a:pPr>
          <a:r>
            <a:rPr lang="en-GB" sz="3900" kern="1200" noProof="0" dirty="0"/>
            <a:t>Runtime Traces</a:t>
          </a:r>
        </a:p>
      </dsp:txBody>
      <dsp:txXfrm>
        <a:off x="6595324" y="-113761"/>
        <a:ext cx="2318491" cy="183199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A4F49B-0B09-4A8D-AA48-48B502AA87C6}">
      <dsp:nvSpPr>
        <dsp:cNvPr id="0" name=""/>
        <dsp:cNvSpPr/>
      </dsp:nvSpPr>
      <dsp:spPr>
        <a:xfrm>
          <a:off x="9503" y="0"/>
          <a:ext cx="2840439" cy="252337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b="1"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C++ Source Code</a:t>
          </a:r>
          <a:endParaRPr lang="en-GB" sz="2500" kern="1200" noProof="0" dirty="0"/>
        </a:p>
      </dsp:txBody>
      <dsp:txXfrm>
        <a:off x="83410" y="73907"/>
        <a:ext cx="2692625" cy="2375556"/>
      </dsp:txXfrm>
    </dsp:sp>
    <dsp:sp modelId="{C9E69455-77D6-4BD6-AC14-C1D1A836281F}">
      <dsp:nvSpPr>
        <dsp:cNvPr id="0" name=""/>
        <dsp:cNvSpPr/>
      </dsp:nvSpPr>
      <dsp:spPr>
        <a:xfrm>
          <a:off x="3133986" y="909470"/>
          <a:ext cx="602173" cy="704428"/>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GB" sz="2000" kern="1200" noProof="0" dirty="0"/>
        </a:p>
      </dsp:txBody>
      <dsp:txXfrm>
        <a:off x="3133986" y="1050356"/>
        <a:ext cx="421521" cy="422656"/>
      </dsp:txXfrm>
    </dsp:sp>
    <dsp:sp modelId="{95AF53A0-7079-4D35-B093-70A4818D75BD}">
      <dsp:nvSpPr>
        <dsp:cNvPr id="0" name=""/>
        <dsp:cNvSpPr/>
      </dsp:nvSpPr>
      <dsp:spPr>
        <a:xfrm>
          <a:off x="3986118" y="0"/>
          <a:ext cx="2840439" cy="252337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GB" sz="1200" b="1"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Neo4j Property Graph (via Renaissance tool)</a:t>
          </a:r>
        </a:p>
        <a:p>
          <a:pPr marL="0" lvl="0" indent="0" algn="l" defTabSz="533400">
            <a:lnSpc>
              <a:spcPct val="90000"/>
            </a:lnSpc>
            <a:spcBef>
              <a:spcPct val="0"/>
            </a:spcBef>
            <a:spcAft>
              <a:spcPct val="35000"/>
            </a:spcAft>
            <a:buNone/>
          </a:pPr>
          <a:r>
            <a:rPr lang="en-GB" sz="1050" b="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Typed Nodes: Components, Functions, Namespaces</a:t>
          </a:r>
        </a:p>
        <a:p>
          <a:pPr marL="0" lvl="0" indent="0" algn="l" defTabSz="533400">
            <a:lnSpc>
              <a:spcPct val="90000"/>
            </a:lnSpc>
            <a:spcBef>
              <a:spcPct val="0"/>
            </a:spcBef>
            <a:spcAft>
              <a:spcPct val="35000"/>
            </a:spcAft>
            <a:buNone/>
          </a:pPr>
          <a:r>
            <a:rPr lang="en-GB" sz="1050" b="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Typed Edges: CALLS, INCLUDES, INHERITS, USES</a:t>
          </a:r>
          <a:endParaRPr lang="en-GB" sz="1050" b="0" kern="1200" noProof="0" dirty="0"/>
        </a:p>
      </dsp:txBody>
      <dsp:txXfrm>
        <a:off x="4060025" y="73907"/>
        <a:ext cx="2692625" cy="2375556"/>
      </dsp:txXfrm>
    </dsp:sp>
    <dsp:sp modelId="{BC03A217-2A36-4F1E-A41D-5A8C72F9E858}">
      <dsp:nvSpPr>
        <dsp:cNvPr id="0" name=""/>
        <dsp:cNvSpPr/>
      </dsp:nvSpPr>
      <dsp:spPr>
        <a:xfrm>
          <a:off x="7110601" y="909470"/>
          <a:ext cx="602173" cy="704428"/>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GB" sz="2000" kern="1200" noProof="0" dirty="0"/>
        </a:p>
      </dsp:txBody>
      <dsp:txXfrm>
        <a:off x="7110601" y="1050356"/>
        <a:ext cx="421521" cy="422656"/>
      </dsp:txXfrm>
    </dsp:sp>
    <dsp:sp modelId="{384453D8-600E-4A39-9DEC-DAB537E5667B}">
      <dsp:nvSpPr>
        <dsp:cNvPr id="0" name=""/>
        <dsp:cNvSpPr/>
      </dsp:nvSpPr>
      <dsp:spPr>
        <a:xfrm>
          <a:off x="7962733" y="0"/>
          <a:ext cx="2840439" cy="252337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GB" sz="1200" b="1"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LLM Agent Skill Pipeline (Cypher-based queries)</a:t>
          </a:r>
          <a:br>
            <a:rPr lang="en-GB" sz="1200" b="1"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Natural language to graph queries</a:t>
          </a:r>
          <a:br>
            <a:rPr lang="en-GB" sz="1200" b="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Dependency and sequence tables as intermediate output</a:t>
          </a:r>
          <a:endParaRPr lang="en-GB" sz="1200" b="0" kern="1200" noProof="0" dirty="0"/>
        </a:p>
      </dsp:txBody>
      <dsp:txXfrm>
        <a:off x="8036640" y="73907"/>
        <a:ext cx="2692625" cy="237555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B440F78-2C9E-4C7F-818C-B40BB19D3AB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ED3FB98-80B9-4155-809A-82659D34A01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818EB1-FF96-47AA-9A30-F1BFF2FFD1F7}" type="datetimeFigureOut">
              <a:rPr lang="en-US" smtClean="0"/>
              <a:t>7/21/2026</a:t>
            </a:fld>
            <a:endParaRPr lang="en-US" dirty="0"/>
          </a:p>
        </p:txBody>
      </p:sp>
      <p:sp>
        <p:nvSpPr>
          <p:cNvPr id="4" name="Footer Placeholder 3">
            <a:extLst>
              <a:ext uri="{FF2B5EF4-FFF2-40B4-BE49-F238E27FC236}">
                <a16:creationId xmlns:a16="http://schemas.microsoft.com/office/drawing/2014/main" id="{D8DEF847-3492-4888-9C23-1504238536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9E48C54-2332-4748-9C65-6A27E550C1F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F75FB2-D12E-4669-8522-D3E2C7E6DC97}" type="slidenum">
              <a:rPr lang="en-US" smtClean="0"/>
              <a:t>‹#›</a:t>
            </a:fld>
            <a:endParaRPr lang="en-US" dirty="0"/>
          </a:p>
        </p:txBody>
      </p:sp>
    </p:spTree>
    <p:extLst>
      <p:ext uri="{BB962C8B-B14F-4D97-AF65-F5344CB8AC3E}">
        <p14:creationId xmlns:p14="http://schemas.microsoft.com/office/powerpoint/2010/main" val="19969918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E4A361-7934-4769-9B16-8A939698742C}" type="datetimeFigureOut">
              <a:rPr lang="en-US" smtClean="0"/>
              <a:t>7/21/2026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18E0B9-48E4-499D-93B2-B07D00395BAC}" type="slidenum">
              <a:rPr lang="en-US" smtClean="0"/>
              <a:t>‹#›</a:t>
            </a:fld>
            <a:endParaRPr lang="en-US" dirty="0"/>
          </a:p>
        </p:txBody>
      </p:sp>
    </p:spTree>
    <p:extLst>
      <p:ext uri="{BB962C8B-B14F-4D97-AF65-F5344CB8AC3E}">
        <p14:creationId xmlns:p14="http://schemas.microsoft.com/office/powerpoint/2010/main" val="3914043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EEFF7-1636-98CA-6C7A-9E028EEDCA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161075-4DAE-56D9-0EB8-70D9A26523B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5708B6C-AB1B-38E8-7698-35F8AB75BA7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research is all about creating a tool that can create - </a:t>
            </a:r>
            <a:r>
              <a:rPr lang="en-US" b="1" dirty="0"/>
              <a:t>more complete and more accurate Interaction Diagrams in an EDS – by utilizing a hybrid static-trace analysis approach.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key idea is </a:t>
            </a:r>
            <a:r>
              <a:rPr lang="en-US" b="1" dirty="0"/>
              <a:t>to improve scenario-specific understanding of system behavior as the runtime traces are incomplete.</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work is supervised jointly by the university and TNO.</a:t>
            </a:r>
            <a:endParaRPr lang="en-IN" sz="1200" i="0" dirty="0"/>
          </a:p>
        </p:txBody>
      </p:sp>
      <p:sp>
        <p:nvSpPr>
          <p:cNvPr id="4" name="Slide Number Placeholder 3">
            <a:extLst>
              <a:ext uri="{FF2B5EF4-FFF2-40B4-BE49-F238E27FC236}">
                <a16:creationId xmlns:a16="http://schemas.microsoft.com/office/drawing/2014/main" id="{8A10BCFA-BF2C-7637-53E3-45363481DF3D}"/>
              </a:ext>
            </a:extLst>
          </p:cNvPr>
          <p:cNvSpPr>
            <a:spLocks noGrp="1"/>
          </p:cNvSpPr>
          <p:nvPr>
            <p:ph type="sldNum" sz="quarter" idx="5"/>
          </p:nvPr>
        </p:nvSpPr>
        <p:spPr/>
        <p:txBody>
          <a:bodyPr/>
          <a:lstStyle/>
          <a:p>
            <a:fld id="{8D18E0B9-48E4-499D-93B2-B07D00395BAC}" type="slidenum">
              <a:rPr lang="en-US" smtClean="0"/>
              <a:t>1</a:t>
            </a:fld>
            <a:endParaRPr lang="en-US" dirty="0"/>
          </a:p>
        </p:txBody>
      </p:sp>
    </p:spTree>
    <p:extLst>
      <p:ext uri="{BB962C8B-B14F-4D97-AF65-F5344CB8AC3E}">
        <p14:creationId xmlns:p14="http://schemas.microsoft.com/office/powerpoint/2010/main" val="32880768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A3206-887B-C5BE-F7AA-724FBA314B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5CC060-B0C4-8412-2649-7AC58BF3357E}"/>
              </a:ext>
            </a:extLst>
          </p:cNvPr>
          <p:cNvSpPr>
            <a:spLocks noGrp="1" noRot="1" noChangeAspect="1"/>
          </p:cNvSpPr>
          <p:nvPr>
            <p:ph type="sldImg" idx="2"/>
          </p:nvPr>
        </p:nvSpPr>
        <p:spPr/>
        <p:txBody>
          <a:bodyPr/>
          <a:lstStyle/>
          <a:p>
            <a:endParaRPr lang="en-GB"/>
          </a:p>
        </p:txBody>
      </p:sp>
      <p:sp>
        <p:nvSpPr>
          <p:cNvPr id="3" name="Notes Placeholder 2">
            <a:extLst>
              <a:ext uri="{FF2B5EF4-FFF2-40B4-BE49-F238E27FC236}">
                <a16:creationId xmlns:a16="http://schemas.microsoft.com/office/drawing/2014/main" id="{5821050D-643E-BEF8-B6B0-03C5D14298E7}"/>
              </a:ext>
            </a:extLst>
          </p:cNvPr>
          <p:cNvSpPr>
            <a:spLocks noGrp="1"/>
          </p:cNvSpPr>
          <p:nvPr>
            <p:ph type="body" sz="quarter" idx="3"/>
          </p:nvPr>
        </p:nvSpPr>
        <p:spPr/>
        <p:txBody>
          <a:bodyPr/>
          <a:lstStyle/>
          <a:p>
            <a:r>
              <a:t>[0:30] Here's the roadmap. I'll start with the motivation and the concrete</a:t>
            </a:r>
          </a:p>
          <a:p>
            <a:r>
              <a:t>problem, state my three research questions, then walk through the approach —</a:t>
            </a:r>
          </a:p>
          <a:p>
            <a:r>
              <a:t>the pipeline and the shared property graph. After a quick look at the case</a:t>
            </a:r>
          </a:p>
          <a:p>
            <a:r>
              <a:t>study, CPSCore, I'll present the three experiments and their results, and close</a:t>
            </a:r>
          </a:p>
          <a:p>
            <a:r>
              <a:t>with contributions, limitations, and conclusions.</a:t>
            </a:r>
          </a:p>
        </p:txBody>
      </p:sp>
      <p:sp>
        <p:nvSpPr>
          <p:cNvPr id="4" name="Slide Number Placeholder 3">
            <a:extLst>
              <a:ext uri="{FF2B5EF4-FFF2-40B4-BE49-F238E27FC236}">
                <a16:creationId xmlns:a16="http://schemas.microsoft.com/office/drawing/2014/main" id="{149CA72E-3D65-62BB-9497-A6794753B648}"/>
              </a:ext>
            </a:extLst>
          </p:cNvPr>
          <p:cNvSpPr>
            <a:spLocks noGrp="1"/>
          </p:cNvSpPr>
          <p:nvPr>
            <p:ph type="sldNum" sz="quarter" idx="5"/>
          </p:nvPr>
        </p:nvSpPr>
        <p:spPr/>
        <p:txBody>
          <a:bodyPr/>
          <a:lstStyle/>
          <a:p>
            <a:endParaRPr lang="en-GB"/>
          </a:p>
        </p:txBody>
      </p:sp>
    </p:spTree>
    <p:extLst>
      <p:ext uri="{BB962C8B-B14F-4D97-AF65-F5344CB8AC3E}">
        <p14:creationId xmlns:p14="http://schemas.microsoft.com/office/powerpoint/2010/main" val="2454633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43B0B-781C-1312-DD43-A447DF02ED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EE7BEA-7352-C307-9705-0AC0099FC35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5A8F143-5F04-CAF9-06D0-A34ABFBD37CD}"/>
              </a:ext>
            </a:extLst>
          </p:cNvPr>
          <p:cNvSpPr>
            <a:spLocks noGrp="1"/>
          </p:cNvSpPr>
          <p:nvPr>
            <p:ph type="body" idx="1"/>
          </p:nvPr>
        </p:nvSpPr>
        <p:spPr/>
        <p:txBody>
          <a:bodyPr/>
          <a:lstStyle/>
          <a:p>
            <a:r>
              <a:rPr lang="en-GB" sz="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Interaction diagrams support developers in understanding the runtime </a:t>
            </a:r>
            <a:r>
              <a:rPr lang="en-GB" sz="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behavior</a:t>
            </a:r>
            <a:r>
              <a:rPr lang="en-GB" sz="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of event-driven systems. </a:t>
            </a:r>
          </a:p>
          <a:p>
            <a:br>
              <a:rPr lang="en-GB" sz="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But in industry they are typically reverse-engineered manually. A process that is costly and hard to keep consistent with the evolving implementation.</a:t>
            </a:r>
          </a:p>
          <a:p>
            <a:endParaRPr lang="en-GB" sz="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Existing automated techniques rely on either static analysis or trace analysis, each capturing only part of the system's true interaction </a:t>
            </a:r>
            <a:r>
              <a:rPr lang="en-GB" sz="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behavior</a:t>
            </a:r>
            <a:r>
              <a:rPr lang="en-GB" sz="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t>
            </a:r>
          </a:p>
          <a:p>
            <a:endParaRPr lang="en-US" dirty="0"/>
          </a:p>
          <a:p>
            <a:r>
              <a:rPr lang="en-US" b="1" dirty="0"/>
              <a:t>Goal is to understand the system behavior accurately under certain scenarios </a:t>
            </a:r>
            <a:r>
              <a:rPr lang="en-US" dirty="0"/>
              <a:t>– to then be </a:t>
            </a:r>
            <a:r>
              <a:rPr lang="en-US" b="1" dirty="0"/>
              <a:t>able to take architectural calls / refactoring decisions / fix the bugs, etc.</a:t>
            </a:r>
          </a:p>
          <a:p>
            <a:r>
              <a:rPr lang="en-US" dirty="0"/>
              <a:t>Because these </a:t>
            </a:r>
            <a:r>
              <a:rPr lang="en-US" b="1" dirty="0"/>
              <a:t>mission critical systems require proper understanding of the nuances of things </a:t>
            </a:r>
            <a:r>
              <a:rPr lang="en-US" dirty="0"/>
              <a:t>– like what all components are interacting</a:t>
            </a:r>
          </a:p>
          <a:p>
            <a:r>
              <a:rPr lang="en-US" dirty="0"/>
              <a:t>With each other and what orchestration is happening under the hood – then be able to isolate those part of the code and refactor it / add more tests and increase its long-term maintainability</a:t>
            </a:r>
            <a:endParaRPr lang="en-IN" dirty="0"/>
          </a:p>
        </p:txBody>
      </p:sp>
      <p:sp>
        <p:nvSpPr>
          <p:cNvPr id="4" name="Slide Number Placeholder 3">
            <a:extLst>
              <a:ext uri="{FF2B5EF4-FFF2-40B4-BE49-F238E27FC236}">
                <a16:creationId xmlns:a16="http://schemas.microsoft.com/office/drawing/2014/main" id="{E120E998-4A19-AEF0-1573-79402DB1E633}"/>
              </a:ext>
            </a:extLst>
          </p:cNvPr>
          <p:cNvSpPr>
            <a:spLocks noGrp="1"/>
          </p:cNvSpPr>
          <p:nvPr>
            <p:ph type="sldNum" sz="quarter" idx="5"/>
          </p:nvPr>
        </p:nvSpPr>
        <p:spPr/>
        <p:txBody>
          <a:bodyPr/>
          <a:lstStyle/>
          <a:p>
            <a:fld id="{8D18E0B9-48E4-499D-93B2-B07D00395BAC}" type="slidenum">
              <a:rPr lang="en-US" smtClean="0"/>
              <a:t>3</a:t>
            </a:fld>
            <a:endParaRPr lang="en-US" dirty="0"/>
          </a:p>
        </p:txBody>
      </p:sp>
    </p:spTree>
    <p:extLst>
      <p:ext uri="{BB962C8B-B14F-4D97-AF65-F5344CB8AC3E}">
        <p14:creationId xmlns:p14="http://schemas.microsoft.com/office/powerpoint/2010/main" val="2233911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0457D-FC9F-EDE3-8224-E6ABF93205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919C88-FE97-D661-C400-72174C157FF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3993487-CBF9-6460-98F6-44DB2ECF8CAF}"/>
              </a:ext>
            </a:extLst>
          </p:cNvPr>
          <p:cNvSpPr>
            <a:spLocks noGrp="1"/>
          </p:cNvSpPr>
          <p:nvPr>
            <p:ph type="body" idx="1"/>
          </p:nvPr>
        </p:nvSpPr>
        <p:spPr/>
        <p:txBody>
          <a:bodyPr/>
          <a:lstStyle/>
          <a:p>
            <a:r>
              <a:rPr lang="en-US" dirty="0"/>
              <a:t>Traces are often instrumentation-limited (logs, </a:t>
            </a:r>
            <a:r>
              <a:rPr lang="en-IN" dirty="0"/>
              <a:t>performance constraints) </a:t>
            </a:r>
            <a:r>
              <a:rPr lang="en-US" dirty="0"/>
              <a:t>overheads, access constraints, and cost.</a:t>
            </a:r>
          </a:p>
          <a:p>
            <a:br>
              <a:rPr lang="en-US" dirty="0"/>
            </a:br>
            <a:r>
              <a:rPr lang="en-US" dirty="0"/>
              <a:t>Static code analysis shows all the possible behaviors possible, but often lacks information about execution order and runtime conditions.</a:t>
            </a:r>
          </a:p>
          <a:p>
            <a:endParaRPr lang="en-US" dirty="0"/>
          </a:p>
          <a:p>
            <a:r>
              <a:rPr lang="en-US" dirty="0"/>
              <a:t>Hybrid approach is what we are going to perform – previously there has been some work done – but their goals and objectives have been different. Some used it to reduce logging and runtime  instrumentation, other used it understand if they had control-flow loops in the execution path - such as repeated method invocations</a:t>
            </a:r>
          </a:p>
          <a:p>
            <a:endParaRPr lang="en-US" dirty="0"/>
          </a:p>
          <a:p>
            <a:r>
              <a:rPr lang="en-US" dirty="0"/>
              <a:t>Existing work either relies on traces, static structure, or uses hybrid analysis for other goals. </a:t>
            </a:r>
          </a:p>
          <a:p>
            <a:r>
              <a:rPr lang="en-US" dirty="0"/>
              <a:t>None focus on synthesizing interaction diagrams for a specific scenario when traces are incomplete.</a:t>
            </a:r>
          </a:p>
          <a:p>
            <a:endParaRPr lang="en-US" dirty="0"/>
          </a:p>
          <a:p>
            <a:r>
              <a:rPr lang="en-US" dirty="0"/>
              <a:t>Goal is to create a more richer, more accurate and more complete interaction diagrams – which can assist the engineers in taking architectural decisions </a:t>
            </a:r>
          </a:p>
          <a:p>
            <a:endParaRPr lang="en-US" dirty="0"/>
          </a:p>
          <a:p>
            <a:r>
              <a:rPr lang="en-US" dirty="0"/>
              <a:t>In contrast, this thesis assumes that runtime traces are incomplete and uses static call graphs to not only enrich observed behavior, but to infer unobserved interactions within a bounded scenario.</a:t>
            </a:r>
          </a:p>
        </p:txBody>
      </p:sp>
      <p:sp>
        <p:nvSpPr>
          <p:cNvPr id="4" name="Slide Number Placeholder 3">
            <a:extLst>
              <a:ext uri="{FF2B5EF4-FFF2-40B4-BE49-F238E27FC236}">
                <a16:creationId xmlns:a16="http://schemas.microsoft.com/office/drawing/2014/main" id="{C1448FF3-6CA7-2797-0246-2B8159357895}"/>
              </a:ext>
            </a:extLst>
          </p:cNvPr>
          <p:cNvSpPr>
            <a:spLocks noGrp="1"/>
          </p:cNvSpPr>
          <p:nvPr>
            <p:ph type="sldNum" sz="quarter" idx="5"/>
          </p:nvPr>
        </p:nvSpPr>
        <p:spPr/>
        <p:txBody>
          <a:bodyPr/>
          <a:lstStyle/>
          <a:p>
            <a:fld id="{8D18E0B9-48E4-499D-93B2-B07D00395BAC}" type="slidenum">
              <a:rPr lang="en-US" smtClean="0"/>
              <a:t>4</a:t>
            </a:fld>
            <a:endParaRPr lang="en-US" dirty="0"/>
          </a:p>
        </p:txBody>
      </p:sp>
    </p:spTree>
    <p:extLst>
      <p:ext uri="{BB962C8B-B14F-4D97-AF65-F5344CB8AC3E}">
        <p14:creationId xmlns:p14="http://schemas.microsoft.com/office/powerpoint/2010/main" val="39777803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315E1-89C5-CFFB-A324-47E82D1BA3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AB0250-2858-A5DE-5822-8DA5C414CDB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E2DF488-A2F5-348F-44EE-CFE0C590A02D}"/>
              </a:ext>
            </a:extLst>
          </p:cNvPr>
          <p:cNvSpPr>
            <a:spLocks noGrp="1"/>
          </p:cNvSpPr>
          <p:nvPr>
            <p:ph type="body" idx="1"/>
          </p:nvPr>
        </p:nvSpPr>
        <p:spPr/>
        <p:txBody>
          <a:bodyPr/>
          <a:lstStyle/>
          <a:p>
            <a:r>
              <a:rPr lang="en-IN" dirty="0"/>
              <a:t>BDD – Block Definition Diagram - </a:t>
            </a:r>
            <a:r>
              <a:rPr lang="en-US" dirty="0"/>
              <a:t>Components (Blocks) Dependencies Associations Hierarchical relationships Composition relationships</a:t>
            </a:r>
            <a:endParaRPr lang="en-IN" dirty="0"/>
          </a:p>
          <a:p>
            <a:r>
              <a:rPr lang="en-IN" dirty="0"/>
              <a:t>IBD – Internal Block Diagram - Parts (instances of blocks) Ports Connectors Internal communication paths</a:t>
            </a:r>
          </a:p>
          <a:p>
            <a:endParaRPr lang="en-IN" dirty="0"/>
          </a:p>
          <a:p>
            <a:r>
              <a:rPr lang="en-IN" dirty="0"/>
              <a:t>IBD – to understand How these components communicate. BDD - These components exist.</a:t>
            </a:r>
          </a:p>
          <a:p>
            <a:r>
              <a:rPr lang="en-US" b="0" dirty="0"/>
              <a:t>Sequence Diagram </a:t>
            </a:r>
            <a:r>
              <a:rPr lang="en-US" b="1" dirty="0"/>
              <a:t>- </a:t>
            </a:r>
            <a:r>
              <a:rPr lang="en-US" dirty="0"/>
              <a:t>What happens during execution and in what order?</a:t>
            </a:r>
          </a:p>
          <a:p>
            <a:endParaRPr lang="en-IN" dirty="0"/>
          </a:p>
        </p:txBody>
      </p:sp>
      <p:sp>
        <p:nvSpPr>
          <p:cNvPr id="4" name="Slide Number Placeholder 3">
            <a:extLst>
              <a:ext uri="{FF2B5EF4-FFF2-40B4-BE49-F238E27FC236}">
                <a16:creationId xmlns:a16="http://schemas.microsoft.com/office/drawing/2014/main" id="{AA51CDA5-B963-2BB8-D676-7AE56AA1F0DC}"/>
              </a:ext>
            </a:extLst>
          </p:cNvPr>
          <p:cNvSpPr>
            <a:spLocks noGrp="1"/>
          </p:cNvSpPr>
          <p:nvPr>
            <p:ph type="sldNum" sz="quarter" idx="5"/>
          </p:nvPr>
        </p:nvSpPr>
        <p:spPr/>
        <p:txBody>
          <a:bodyPr/>
          <a:lstStyle/>
          <a:p>
            <a:fld id="{8D18E0B9-48E4-499D-93B2-B07D00395BAC}" type="slidenum">
              <a:rPr lang="en-US" smtClean="0"/>
              <a:t>7</a:t>
            </a:fld>
            <a:endParaRPr lang="en-US" dirty="0"/>
          </a:p>
        </p:txBody>
      </p:sp>
    </p:spTree>
    <p:extLst>
      <p:ext uri="{BB962C8B-B14F-4D97-AF65-F5344CB8AC3E}">
        <p14:creationId xmlns:p14="http://schemas.microsoft.com/office/powerpoint/2010/main" val="41357737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kern="1200" dirty="0">
                <a:solidFill>
                  <a:schemeClr val="tx1"/>
                </a:solidFill>
                <a:effectLst/>
                <a:latin typeface="+mn-lt"/>
                <a:ea typeface="+mn-ea"/>
                <a:cs typeface="+mn-cs"/>
              </a:rPr>
              <a:t>S2 (Configuration property mapping)</a:t>
            </a:r>
            <a:r>
              <a:rPr lang="en-GB" sz="1200" b="0" i="0" kern="1200" dirty="0">
                <a:solidFill>
                  <a:schemeClr val="tx1"/>
                </a:solidFill>
                <a:effectLst/>
                <a:latin typeface="+mn-lt"/>
                <a:ea typeface="+mn-ea"/>
                <a:cs typeface="+mn-cs"/>
              </a:rPr>
              <a:t> — selected as the </a:t>
            </a:r>
            <a:r>
              <a:rPr lang="en-GB" sz="1200" b="1" i="0" kern="1200" dirty="0">
                <a:solidFill>
                  <a:schemeClr val="tx1"/>
                </a:solidFill>
                <a:effectLst/>
                <a:latin typeface="+mn-lt"/>
                <a:ea typeface="+mn-ea"/>
                <a:cs typeface="+mn-cs"/>
              </a:rPr>
              <a:t>easy-case baseline</a:t>
            </a:r>
            <a:r>
              <a:rPr lang="en-GB" sz="1200" b="0" i="0" kern="1200" dirty="0">
                <a:solidFill>
                  <a:schemeClr val="tx1"/>
                </a:solidFill>
                <a:effectLst/>
                <a:latin typeface="+mn-lt"/>
                <a:ea typeface="+mn-ea"/>
                <a:cs typeface="+mn-cs"/>
              </a:rPr>
              <a:t>: a mostly-static, linear chain expected to be reconstructed well even by static-only analysis.</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S1 - </a:t>
            </a:r>
            <a:r>
              <a:rPr lang="en-GB" sz="1200" b="0" kern="1200" dirty="0">
                <a:solidFill>
                  <a:schemeClr val="tx1"/>
                </a:solidFill>
                <a:effectLst/>
                <a:latin typeface="+mn-lt"/>
                <a:ea typeface="+mn-ea"/>
                <a:cs typeface="+mn-cs"/>
              </a:rPr>
              <a:t>Exercises the synchronization pattern: shared-memory coordination between master and runner threads, and the runner's dependency on the Aggregation component to retrieve runnable objects.</a:t>
            </a:r>
          </a:p>
          <a:p>
            <a:endParaRPr lang="en-GB"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i="0" kern="1200" dirty="0">
                <a:solidFill>
                  <a:schemeClr val="tx1"/>
                </a:solidFill>
                <a:effectLst/>
                <a:latin typeface="+mn-lt"/>
                <a:ea typeface="+mn-ea"/>
                <a:cs typeface="+mn-cs"/>
              </a:rPr>
              <a:t>S3 (Multi-component runner orchestration)</a:t>
            </a:r>
            <a:r>
              <a:rPr lang="en-GB" sz="1200" b="0" i="0" kern="1200" dirty="0">
                <a:solidFill>
                  <a:schemeClr val="tx1"/>
                </a:solidFill>
                <a:effectLst/>
                <a:latin typeface="+mn-lt"/>
                <a:ea typeface="+mn-ea"/>
                <a:cs typeface="+mn-cs"/>
              </a:rPr>
              <a:t> — </a:t>
            </a:r>
            <a:r>
              <a:rPr lang="en-GB" sz="1200" b="0" kern="1200" dirty="0">
                <a:solidFill>
                  <a:schemeClr val="tx1"/>
                </a:solidFill>
                <a:effectLst/>
                <a:latin typeface="+mn-lt"/>
                <a:ea typeface="+mn-ea"/>
                <a:cs typeface="+mn-cs"/>
              </a:rPr>
              <a:t>Fan-out from a single orchestrator to multiple independent subsystems</a:t>
            </a:r>
          </a:p>
          <a:p>
            <a:r>
              <a:rPr lang="en-GB" sz="1200" b="0" i="0" kern="1200" dirty="0">
                <a:solidFill>
                  <a:schemeClr val="tx1"/>
                </a:solidFill>
                <a:effectLst/>
                <a:latin typeface="+mn-lt"/>
                <a:ea typeface="+mn-ea"/>
                <a:cs typeface="+mn-cs"/>
              </a:rPr>
              <a:t>selected as the </a:t>
            </a:r>
            <a:r>
              <a:rPr lang="en-GB" sz="1200" b="1" i="0" kern="1200" dirty="0">
                <a:solidFill>
                  <a:schemeClr val="tx1"/>
                </a:solidFill>
                <a:effectLst/>
                <a:latin typeface="+mn-lt"/>
                <a:ea typeface="+mn-ea"/>
                <a:cs typeface="+mn-cs"/>
              </a:rPr>
              <a:t>hardest case for static analysis</a:t>
            </a:r>
            <a:r>
              <a:rPr lang="en-GB" sz="1200" b="0" i="0" kern="1200" dirty="0">
                <a:solidFill>
                  <a:schemeClr val="tx1"/>
                </a:solidFill>
                <a:effectLst/>
                <a:latin typeface="+mn-lt"/>
                <a:ea typeface="+mn-ea"/>
                <a:cs typeface="+mn-cs"/>
              </a:rPr>
              <a:t>: fan-out to multiple subsystems where call targets are resolved via template dispatch only at runtime, producing static false positives. It tests whether agentic synthesis can recover genuine trace-only edges that strict intersection would otherwise throw away for lacking static corroboration.</a:t>
            </a:r>
          </a:p>
          <a:p>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S4 – A classic pub-sub event – Where </a:t>
            </a:r>
            <a:r>
              <a:rPr lang="en-GB" sz="1200" b="0" kern="1200" dirty="0" err="1">
                <a:solidFill>
                  <a:schemeClr val="tx1"/>
                </a:solidFill>
                <a:effectLst/>
                <a:latin typeface="+mn-lt"/>
                <a:ea typeface="+mn-ea"/>
                <a:cs typeface="+mn-cs"/>
              </a:rPr>
              <a:t>StageEventBridge</a:t>
            </a:r>
            <a:r>
              <a:rPr lang="en-GB" sz="1200" b="0" i="0" kern="1200" dirty="0">
                <a:solidFill>
                  <a:schemeClr val="tx1"/>
                </a:solidFill>
                <a:effectLst/>
                <a:latin typeface="+mn-lt"/>
                <a:ea typeface="+mn-ea"/>
                <a:cs typeface="+mn-cs"/>
              </a:rPr>
              <a:t> publishes a stage-completion event over a runtime dependency binding of </a:t>
            </a:r>
            <a:r>
              <a:rPr lang="en-GB" sz="1200" b="0" kern="1200" dirty="0">
                <a:solidFill>
                  <a:schemeClr val="tx1"/>
                </a:solidFill>
                <a:effectLst/>
                <a:latin typeface="+mn-lt"/>
                <a:ea typeface="+mn-ea"/>
                <a:cs typeface="+mn-cs"/>
              </a:rPr>
              <a:t>boost::signals2::signal</a:t>
            </a:r>
            <a:r>
              <a:rPr lang="en-GB" sz="1200" b="0" i="0" kern="1200" dirty="0">
                <a:solidFill>
                  <a:schemeClr val="tx1"/>
                </a:solidFill>
                <a:effectLst/>
                <a:latin typeface="+mn-lt"/>
                <a:ea typeface="+mn-ea"/>
                <a:cs typeface="+mn-cs"/>
              </a:rPr>
              <a:t>; </a:t>
            </a:r>
            <a:br>
              <a:rPr lang="en-GB" sz="1200" b="0" i="0" kern="1200" dirty="0">
                <a:solidFill>
                  <a:schemeClr val="tx1"/>
                </a:solidFill>
                <a:effectLst/>
                <a:latin typeface="+mn-lt"/>
                <a:ea typeface="+mn-ea"/>
                <a:cs typeface="+mn-cs"/>
              </a:rPr>
            </a:br>
            <a:r>
              <a:rPr lang="en-GB" sz="1200" b="0" kern="1200" dirty="0" err="1">
                <a:solidFill>
                  <a:schemeClr val="tx1"/>
                </a:solidFill>
                <a:effectLst/>
                <a:latin typeface="+mn-lt"/>
                <a:ea typeface="+mn-ea"/>
                <a:cs typeface="+mn-cs"/>
              </a:rPr>
              <a:t>StageEventListener</a:t>
            </a:r>
            <a:r>
              <a:rPr lang="en-GB" sz="1200" b="0" i="0" kern="1200" dirty="0">
                <a:solidFill>
                  <a:schemeClr val="tx1"/>
                </a:solidFill>
                <a:effectLst/>
                <a:latin typeface="+mn-lt"/>
                <a:ea typeface="+mn-ea"/>
                <a:cs typeface="+mn-cs"/>
              </a:rPr>
              <a:t> connects </a:t>
            </a:r>
            <a:r>
              <a:rPr lang="en-GB" sz="1200" b="0" kern="1200" dirty="0" err="1">
                <a:solidFill>
                  <a:schemeClr val="tx1"/>
                </a:solidFill>
                <a:effectLst/>
                <a:latin typeface="+mn-lt"/>
                <a:ea typeface="+mn-ea"/>
                <a:cs typeface="+mn-cs"/>
              </a:rPr>
              <a:t>onStageEvent</a:t>
            </a:r>
            <a:r>
              <a:rPr lang="en-GB" sz="1200" b="0" i="0" kern="1200" dirty="0">
                <a:solidFill>
                  <a:schemeClr val="tx1"/>
                </a:solidFill>
                <a:effectLst/>
                <a:latin typeface="+mn-lt"/>
                <a:ea typeface="+mn-ea"/>
                <a:cs typeface="+mn-cs"/>
              </a:rPr>
              <a:t> as a slot with </a:t>
            </a:r>
            <a:r>
              <a:rPr lang="en-GB" sz="1200" b="1" i="0" kern="1200" dirty="0">
                <a:solidFill>
                  <a:schemeClr val="tx1"/>
                </a:solidFill>
                <a:effectLst/>
                <a:latin typeface="+mn-lt"/>
                <a:ea typeface="+mn-ea"/>
                <a:cs typeface="+mn-cs"/>
              </a:rPr>
              <a:t>no static call site anywhere in the codebase</a:t>
            </a:r>
            <a:r>
              <a:rPr lang="en-GB" sz="1200" b="0" i="0" kern="1200" dirty="0">
                <a:solidFill>
                  <a:schemeClr val="tx1"/>
                </a:solidFill>
                <a:effectLst/>
                <a:latin typeface="+mn-lt"/>
                <a:ea typeface="+mn-ea"/>
                <a:cs typeface="+mn-cs"/>
              </a:rPr>
              <a:t>. </a:t>
            </a:r>
          </a:p>
          <a:p>
            <a:endParaRPr lang="en-GB" dirty="0"/>
          </a:p>
        </p:txBody>
      </p:sp>
      <p:sp>
        <p:nvSpPr>
          <p:cNvPr id="4" name="Slide Number Placeholder 3"/>
          <p:cNvSpPr>
            <a:spLocks noGrp="1"/>
          </p:cNvSpPr>
          <p:nvPr>
            <p:ph type="sldNum" sz="quarter" idx="5"/>
          </p:nvPr>
        </p:nvSpPr>
        <p:spPr/>
        <p:txBody>
          <a:bodyPr/>
          <a:lstStyle/>
          <a:p>
            <a:fld id="{8D18E0B9-48E4-499D-93B2-B07D00395BAC}" type="slidenum">
              <a:rPr lang="en-US" smtClean="0"/>
              <a:t>8</a:t>
            </a:fld>
            <a:endParaRPr lang="en-US" dirty="0"/>
          </a:p>
        </p:txBody>
      </p:sp>
    </p:spTree>
    <p:extLst>
      <p:ext uri="{BB962C8B-B14F-4D97-AF65-F5344CB8AC3E}">
        <p14:creationId xmlns:p14="http://schemas.microsoft.com/office/powerpoint/2010/main" val="2400059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kern="1200" dirty="0">
                <a:solidFill>
                  <a:schemeClr val="tx1"/>
                </a:solidFill>
                <a:effectLst/>
                <a:latin typeface="+mn-lt"/>
                <a:ea typeface="+mn-ea"/>
                <a:cs typeface="+mn-cs"/>
              </a:rPr>
              <a:t>S2 (Configuration property mapping)</a:t>
            </a:r>
            <a:r>
              <a:rPr lang="en-GB" sz="1200" b="0" i="0" kern="1200" dirty="0">
                <a:solidFill>
                  <a:schemeClr val="tx1"/>
                </a:solidFill>
                <a:effectLst/>
                <a:latin typeface="+mn-lt"/>
                <a:ea typeface="+mn-ea"/>
                <a:cs typeface="+mn-cs"/>
              </a:rPr>
              <a:t> — selected as the </a:t>
            </a:r>
            <a:r>
              <a:rPr lang="en-GB" sz="1200" b="1" i="0" kern="1200" dirty="0">
                <a:solidFill>
                  <a:schemeClr val="tx1"/>
                </a:solidFill>
                <a:effectLst/>
                <a:latin typeface="+mn-lt"/>
                <a:ea typeface="+mn-ea"/>
                <a:cs typeface="+mn-cs"/>
              </a:rPr>
              <a:t>easy-case baseline</a:t>
            </a:r>
            <a:r>
              <a:rPr lang="en-GB" sz="1200" b="0" i="0" kern="1200" dirty="0">
                <a:solidFill>
                  <a:schemeClr val="tx1"/>
                </a:solidFill>
                <a:effectLst/>
                <a:latin typeface="+mn-lt"/>
                <a:ea typeface="+mn-ea"/>
                <a:cs typeface="+mn-cs"/>
              </a:rPr>
              <a:t>: a mostly-static, linear chain expected to be reconstructed well even by static-only analysis.</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S1 - </a:t>
            </a:r>
            <a:r>
              <a:rPr lang="en-GB" sz="1200" b="0" kern="1200" dirty="0">
                <a:solidFill>
                  <a:schemeClr val="tx1"/>
                </a:solidFill>
                <a:effectLst/>
                <a:latin typeface="+mn-lt"/>
                <a:ea typeface="+mn-ea"/>
                <a:cs typeface="+mn-cs"/>
              </a:rPr>
              <a:t>Exercises the synchronization pattern: shared-memory coordination between master and runner threads, and the runner's dependency on the Aggregation component to retrieve runnable objects.</a:t>
            </a:r>
          </a:p>
          <a:p>
            <a:endParaRPr lang="en-GB"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i="0" kern="1200" dirty="0">
                <a:solidFill>
                  <a:schemeClr val="tx1"/>
                </a:solidFill>
                <a:effectLst/>
                <a:latin typeface="+mn-lt"/>
                <a:ea typeface="+mn-ea"/>
                <a:cs typeface="+mn-cs"/>
              </a:rPr>
              <a:t>S3 (Multi-component runner orchestration)</a:t>
            </a:r>
            <a:r>
              <a:rPr lang="en-GB" sz="1200" b="0" i="0" kern="1200" dirty="0">
                <a:solidFill>
                  <a:schemeClr val="tx1"/>
                </a:solidFill>
                <a:effectLst/>
                <a:latin typeface="+mn-lt"/>
                <a:ea typeface="+mn-ea"/>
                <a:cs typeface="+mn-cs"/>
              </a:rPr>
              <a:t> — </a:t>
            </a:r>
            <a:r>
              <a:rPr lang="en-GB" sz="1200" b="0" kern="1200" dirty="0">
                <a:solidFill>
                  <a:schemeClr val="tx1"/>
                </a:solidFill>
                <a:effectLst/>
                <a:latin typeface="+mn-lt"/>
                <a:ea typeface="+mn-ea"/>
                <a:cs typeface="+mn-cs"/>
              </a:rPr>
              <a:t>Fan-out from a single orchestrator to multiple independent subsystems</a:t>
            </a:r>
          </a:p>
          <a:p>
            <a:r>
              <a:rPr lang="en-GB" sz="1200" b="0" i="0" kern="1200" dirty="0">
                <a:solidFill>
                  <a:schemeClr val="tx1"/>
                </a:solidFill>
                <a:effectLst/>
                <a:latin typeface="+mn-lt"/>
                <a:ea typeface="+mn-ea"/>
                <a:cs typeface="+mn-cs"/>
              </a:rPr>
              <a:t>selected as the </a:t>
            </a:r>
            <a:r>
              <a:rPr lang="en-GB" sz="1200" b="1" i="0" kern="1200" dirty="0">
                <a:solidFill>
                  <a:schemeClr val="tx1"/>
                </a:solidFill>
                <a:effectLst/>
                <a:latin typeface="+mn-lt"/>
                <a:ea typeface="+mn-ea"/>
                <a:cs typeface="+mn-cs"/>
              </a:rPr>
              <a:t>hardest case for static analysis</a:t>
            </a:r>
            <a:r>
              <a:rPr lang="en-GB" sz="1200" b="0" i="0" kern="1200" dirty="0">
                <a:solidFill>
                  <a:schemeClr val="tx1"/>
                </a:solidFill>
                <a:effectLst/>
                <a:latin typeface="+mn-lt"/>
                <a:ea typeface="+mn-ea"/>
                <a:cs typeface="+mn-cs"/>
              </a:rPr>
              <a:t>: fan-out to multiple subsystems where call targets are resolved via template dispatch only at runtime, producing static false positives. It tests whether agentic synthesis can recover genuine trace-only edges that strict intersection would otherwise throw away for lacking static corroboration.</a:t>
            </a:r>
          </a:p>
          <a:p>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S4 – A classic pub-sub event – Where </a:t>
            </a:r>
            <a:r>
              <a:rPr lang="en-GB" sz="1200" b="0" kern="1200" dirty="0" err="1">
                <a:solidFill>
                  <a:schemeClr val="tx1"/>
                </a:solidFill>
                <a:effectLst/>
                <a:latin typeface="+mn-lt"/>
                <a:ea typeface="+mn-ea"/>
                <a:cs typeface="+mn-cs"/>
              </a:rPr>
              <a:t>StageEventBridge</a:t>
            </a:r>
            <a:r>
              <a:rPr lang="en-GB" sz="1200" b="0" i="0" kern="1200" dirty="0">
                <a:solidFill>
                  <a:schemeClr val="tx1"/>
                </a:solidFill>
                <a:effectLst/>
                <a:latin typeface="+mn-lt"/>
                <a:ea typeface="+mn-ea"/>
                <a:cs typeface="+mn-cs"/>
              </a:rPr>
              <a:t> publishes a stage-completion event over a runtime dependency binding of </a:t>
            </a:r>
            <a:r>
              <a:rPr lang="en-GB" sz="1200" b="0" kern="1200" dirty="0">
                <a:solidFill>
                  <a:schemeClr val="tx1"/>
                </a:solidFill>
                <a:effectLst/>
                <a:latin typeface="+mn-lt"/>
                <a:ea typeface="+mn-ea"/>
                <a:cs typeface="+mn-cs"/>
              </a:rPr>
              <a:t>boost::signals2::signal</a:t>
            </a:r>
            <a:r>
              <a:rPr lang="en-GB" sz="1200" b="0" i="0" kern="1200" dirty="0">
                <a:solidFill>
                  <a:schemeClr val="tx1"/>
                </a:solidFill>
                <a:effectLst/>
                <a:latin typeface="+mn-lt"/>
                <a:ea typeface="+mn-ea"/>
                <a:cs typeface="+mn-cs"/>
              </a:rPr>
              <a:t>; </a:t>
            </a:r>
            <a:br>
              <a:rPr lang="en-GB" sz="1200" b="0" i="0" kern="1200" dirty="0">
                <a:solidFill>
                  <a:schemeClr val="tx1"/>
                </a:solidFill>
                <a:effectLst/>
                <a:latin typeface="+mn-lt"/>
                <a:ea typeface="+mn-ea"/>
                <a:cs typeface="+mn-cs"/>
              </a:rPr>
            </a:br>
            <a:r>
              <a:rPr lang="en-GB" sz="1200" b="0" kern="1200" dirty="0" err="1">
                <a:solidFill>
                  <a:schemeClr val="tx1"/>
                </a:solidFill>
                <a:effectLst/>
                <a:latin typeface="+mn-lt"/>
                <a:ea typeface="+mn-ea"/>
                <a:cs typeface="+mn-cs"/>
              </a:rPr>
              <a:t>StageEventListener</a:t>
            </a:r>
            <a:r>
              <a:rPr lang="en-GB" sz="1200" b="0" i="0" kern="1200" dirty="0">
                <a:solidFill>
                  <a:schemeClr val="tx1"/>
                </a:solidFill>
                <a:effectLst/>
                <a:latin typeface="+mn-lt"/>
                <a:ea typeface="+mn-ea"/>
                <a:cs typeface="+mn-cs"/>
              </a:rPr>
              <a:t> connects </a:t>
            </a:r>
            <a:r>
              <a:rPr lang="en-GB" sz="1200" b="0" kern="1200" dirty="0" err="1">
                <a:solidFill>
                  <a:schemeClr val="tx1"/>
                </a:solidFill>
                <a:effectLst/>
                <a:latin typeface="+mn-lt"/>
                <a:ea typeface="+mn-ea"/>
                <a:cs typeface="+mn-cs"/>
              </a:rPr>
              <a:t>onStageEvent</a:t>
            </a:r>
            <a:r>
              <a:rPr lang="en-GB" sz="1200" b="0" i="0" kern="1200" dirty="0">
                <a:solidFill>
                  <a:schemeClr val="tx1"/>
                </a:solidFill>
                <a:effectLst/>
                <a:latin typeface="+mn-lt"/>
                <a:ea typeface="+mn-ea"/>
                <a:cs typeface="+mn-cs"/>
              </a:rPr>
              <a:t> as a slot with </a:t>
            </a:r>
            <a:r>
              <a:rPr lang="en-GB" sz="1200" b="1" i="0" kern="1200" dirty="0">
                <a:solidFill>
                  <a:schemeClr val="tx1"/>
                </a:solidFill>
                <a:effectLst/>
                <a:latin typeface="+mn-lt"/>
                <a:ea typeface="+mn-ea"/>
                <a:cs typeface="+mn-cs"/>
              </a:rPr>
              <a:t>no static call site anywhere in the codebase</a:t>
            </a:r>
            <a:r>
              <a:rPr lang="en-GB" sz="1200" b="0" i="0" kern="1200" dirty="0">
                <a:solidFill>
                  <a:schemeClr val="tx1"/>
                </a:solidFill>
                <a:effectLst/>
                <a:latin typeface="+mn-lt"/>
                <a:ea typeface="+mn-ea"/>
                <a:cs typeface="+mn-cs"/>
              </a:rPr>
              <a:t>. </a:t>
            </a:r>
          </a:p>
          <a:p>
            <a:endParaRPr lang="en-GB" dirty="0"/>
          </a:p>
          <a:p>
            <a:endParaRPr lang="en-GB" dirty="0"/>
          </a:p>
        </p:txBody>
      </p:sp>
      <p:sp>
        <p:nvSpPr>
          <p:cNvPr id="4" name="Slide Number Placeholder 3"/>
          <p:cNvSpPr>
            <a:spLocks noGrp="1"/>
          </p:cNvSpPr>
          <p:nvPr>
            <p:ph type="sldNum" sz="quarter" idx="5"/>
          </p:nvPr>
        </p:nvSpPr>
        <p:spPr/>
        <p:txBody>
          <a:bodyPr/>
          <a:lstStyle/>
          <a:p>
            <a:fld id="{8D18E0B9-48E4-499D-93B2-B07D00395BAC}" type="slidenum">
              <a:rPr lang="en-US" smtClean="0"/>
              <a:t>9</a:t>
            </a:fld>
            <a:endParaRPr lang="en-US" dirty="0"/>
          </a:p>
        </p:txBody>
      </p:sp>
    </p:spTree>
    <p:extLst>
      <p:ext uri="{BB962C8B-B14F-4D97-AF65-F5344CB8AC3E}">
        <p14:creationId xmlns:p14="http://schemas.microsoft.com/office/powerpoint/2010/main" val="23062481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E158A-1D31-0F79-12BC-B3600469B8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B8D2E4-4D75-D2D5-2C39-A5C0661131F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75B681A-33A1-8DAA-23F0-22F85B7A45B8}"/>
              </a:ext>
            </a:extLst>
          </p:cNvPr>
          <p:cNvSpPr>
            <a:spLocks noGrp="1"/>
          </p:cNvSpPr>
          <p:nvPr>
            <p:ph type="body" idx="1"/>
          </p:nvPr>
        </p:nvSpPr>
        <p:spPr/>
        <p:txBody>
          <a:bodyPr/>
          <a:lstStyle/>
          <a:p>
            <a:r>
              <a:rPr lang="en-US" b="1" dirty="0"/>
              <a:t>Scenario Definition</a:t>
            </a:r>
          </a:p>
          <a:p>
            <a:r>
              <a:rPr lang="en-US" dirty="0"/>
              <a:t>“We start by clearly defining a single functionality or algorithm as the scenario of interest. </a:t>
            </a:r>
            <a:r>
              <a:rPr lang="en-US" b="1" dirty="0"/>
              <a:t>This keeps the scope focused and narrow </a:t>
            </a:r>
            <a:r>
              <a:rPr lang="en-US" dirty="0"/>
              <a:t>and avoids over-generalizing the system’s behavior.”</a:t>
            </a:r>
          </a:p>
          <a:p>
            <a:r>
              <a:rPr lang="en-US" b="1" dirty="0"/>
              <a:t>Static Analysis</a:t>
            </a:r>
          </a:p>
          <a:p>
            <a:r>
              <a:rPr lang="en-US" dirty="0"/>
              <a:t>“We provide scenario specific cypher query to get the </a:t>
            </a:r>
            <a:r>
              <a:rPr lang="en-US" b="1" dirty="0"/>
              <a:t>scenario-relevant subgraph.</a:t>
            </a:r>
            <a:r>
              <a:rPr lang="en-US" dirty="0"/>
              <a:t> This prunes irrelevant code paths and constrains </a:t>
            </a:r>
            <a:r>
              <a:rPr lang="en-US" b="1" dirty="0"/>
              <a:t>what interactions are theoretically possible.”</a:t>
            </a:r>
          </a:p>
          <a:p>
            <a:r>
              <a:rPr lang="en-US" b="1" dirty="0"/>
              <a:t>Runtime Trace Collection</a:t>
            </a:r>
          </a:p>
          <a:p>
            <a:r>
              <a:rPr lang="en-US" dirty="0"/>
              <a:t>“Next</a:t>
            </a:r>
            <a:r>
              <a:rPr lang="en-US" b="1" dirty="0"/>
              <a:t>, Global query of all cross-component </a:t>
            </a:r>
            <a:r>
              <a:rPr lang="en-US" b="1" dirty="0" err="1"/>
              <a:t>CppCalls</a:t>
            </a:r>
            <a:r>
              <a:rPr lang="en-US" b="1" dirty="0"/>
              <a:t> subgraph. We then collect timestamped runtime events corresponding to all the possible trace events that can happen across the codebase. We do this by the tool we developed - </a:t>
            </a:r>
            <a:r>
              <a:rPr lang="en-IN" sz="1200" b="0" i="0" kern="1200" dirty="0">
                <a:solidFill>
                  <a:schemeClr val="tx1"/>
                </a:solidFill>
                <a:effectLst/>
                <a:latin typeface="+mn-lt"/>
                <a:ea typeface="+mn-ea"/>
                <a:cs typeface="+mn-cs"/>
              </a:rPr>
              <a:t>AST-pattern search and replace tool for C++. Parses a CSP pattern into a Clang AST (via </a:t>
            </a:r>
            <a:r>
              <a:rPr lang="en-IN" sz="1200" b="0" i="0" kern="1200" dirty="0" err="1">
                <a:solidFill>
                  <a:schemeClr val="tx1"/>
                </a:solidFill>
                <a:effectLst/>
                <a:latin typeface="+mn-lt"/>
                <a:ea typeface="+mn-ea"/>
                <a:cs typeface="+mn-cs"/>
              </a:rPr>
              <a:t>LibTooling</a:t>
            </a:r>
            <a:r>
              <a:rPr lang="en-IN" sz="1200" b="0" i="0" kern="1200" dirty="0">
                <a:solidFill>
                  <a:schemeClr val="tx1"/>
                </a:solidFill>
                <a:effectLst/>
                <a:latin typeface="+mn-lt"/>
                <a:ea typeface="+mn-ea"/>
                <a:cs typeface="+mn-cs"/>
              </a:rPr>
              <a:t>), emits </a:t>
            </a:r>
            <a:r>
              <a:rPr lang="en-IN" sz="1200" b="0" i="0" kern="1200" dirty="0" err="1">
                <a:solidFill>
                  <a:schemeClr val="tx1"/>
                </a:solidFill>
                <a:effectLst/>
                <a:latin typeface="+mn-lt"/>
                <a:ea typeface="+mn-ea"/>
                <a:cs typeface="+mn-cs"/>
              </a:rPr>
              <a:t>ASTMatcher</a:t>
            </a:r>
            <a:r>
              <a:rPr lang="en-IN" sz="1200" b="0" i="0" kern="1200" dirty="0">
                <a:solidFill>
                  <a:schemeClr val="tx1"/>
                </a:solidFill>
                <a:effectLst/>
                <a:latin typeface="+mn-lt"/>
                <a:ea typeface="+mn-ea"/>
                <a:cs typeface="+mn-cs"/>
              </a:rPr>
              <a:t> DSL, runs it against target files, and optionally rewrites matched code. </a:t>
            </a:r>
            <a:r>
              <a:rPr lang="en-IN" sz="1200" b="1" i="0" kern="1200" dirty="0">
                <a:solidFill>
                  <a:schemeClr val="tx1"/>
                </a:solidFill>
                <a:effectLst/>
                <a:latin typeface="+mn-lt"/>
                <a:ea typeface="+mn-ea"/>
                <a:cs typeface="+mn-cs"/>
              </a:rPr>
              <a:t>communicating sequential processes (CSP</a:t>
            </a:r>
            <a:r>
              <a:rPr lang="en-IN" sz="1200" b="0" i="0" kern="1200" dirty="0">
                <a:solidFill>
                  <a:schemeClr val="tx1"/>
                </a:solidFill>
                <a:effectLst/>
                <a:latin typeface="+mn-lt"/>
                <a:ea typeface="+mn-ea"/>
                <a:cs typeface="+mn-cs"/>
              </a:rPr>
              <a:t>) </a:t>
            </a:r>
            <a:endParaRPr lang="en-US" dirty="0"/>
          </a:p>
          <a:p>
            <a:r>
              <a:rPr lang="en-US" b="1" dirty="0"/>
              <a:t>Hybrid Reconstruction</a:t>
            </a:r>
          </a:p>
          <a:p>
            <a:r>
              <a:rPr lang="en-US" dirty="0"/>
              <a:t>“</a:t>
            </a:r>
            <a:r>
              <a:rPr lang="en-US" b="1" dirty="0"/>
              <a:t>Static and dynamic information are then aligned through trace-to-code mapping</a:t>
            </a:r>
            <a:r>
              <a:rPr lang="en-US" dirty="0"/>
              <a:t>. Static reachability analysis is used to infer missing interactions, but only when they are consistent with both code structure and observed traces.”</a:t>
            </a:r>
          </a:p>
          <a:p>
            <a:r>
              <a:rPr lang="en-US" b="1" dirty="0" err="1"/>
              <a:t>SysML</a:t>
            </a:r>
            <a:r>
              <a:rPr lang="en-US" b="1" dirty="0"/>
              <a:t> v2 Interaction Diagram</a:t>
            </a:r>
          </a:p>
          <a:p>
            <a:r>
              <a:rPr lang="en-US" dirty="0"/>
              <a:t>“Finally, </a:t>
            </a:r>
            <a:r>
              <a:rPr lang="en-US" b="1" dirty="0"/>
              <a:t>the reconstructed interactions are exported as </a:t>
            </a:r>
            <a:r>
              <a:rPr lang="en-US" b="1" dirty="0" err="1"/>
              <a:t>SysML</a:t>
            </a:r>
            <a:r>
              <a:rPr lang="en-US" b="1" dirty="0"/>
              <a:t> v2 interaction diagrams</a:t>
            </a:r>
            <a:r>
              <a:rPr lang="en-US" dirty="0"/>
              <a:t>. These diagrams are scenario-specific, human-readable, and suitable for engineers and stakeholders.”</a:t>
            </a:r>
          </a:p>
          <a:p>
            <a:endParaRPr lang="en-US" dirty="0"/>
          </a:p>
          <a:p>
            <a:r>
              <a:rPr lang="en-IN" b="1" dirty="0" err="1"/>
              <a:t>SysML</a:t>
            </a:r>
            <a:r>
              <a:rPr lang="en-IN" b="1" dirty="0"/>
              <a:t> v2 (Systems </a:t>
            </a:r>
            <a:r>
              <a:rPr lang="en-IN" b="1" dirty="0" err="1"/>
              <a:t>Modeling</a:t>
            </a:r>
            <a:r>
              <a:rPr lang="en-IN" b="1" dirty="0"/>
              <a:t> Language v2)</a:t>
            </a:r>
            <a:r>
              <a:rPr lang="en-IN" dirty="0"/>
              <a:t> is a next-gen textual </a:t>
            </a:r>
            <a:r>
              <a:rPr lang="en-IN" b="1" dirty="0"/>
              <a:t>modern, formal systems </a:t>
            </a:r>
            <a:r>
              <a:rPr lang="en-IN" b="1" dirty="0" err="1"/>
              <a:t>modeling</a:t>
            </a:r>
            <a:r>
              <a:rPr lang="en-IN" b="1" dirty="0"/>
              <a:t> language</a:t>
            </a:r>
            <a:r>
              <a:rPr lang="en-IN" dirty="0"/>
              <a:t> – which has its own textual syntax and formal semantics</a:t>
            </a:r>
            <a:endParaRPr lang="en-US" dirty="0"/>
          </a:p>
          <a:p>
            <a:r>
              <a:rPr lang="en-US" dirty="0" err="1"/>
              <a:t>SysML</a:t>
            </a:r>
            <a:r>
              <a:rPr lang="en-US" dirty="0"/>
              <a:t> v2 provides formal semantics and a textual representation, making it suitable for automated generation and analysis. In this work, </a:t>
            </a:r>
            <a:r>
              <a:rPr lang="en-US" dirty="0" err="1"/>
              <a:t>SysML</a:t>
            </a:r>
            <a:r>
              <a:rPr lang="en-US" dirty="0"/>
              <a:t> v2 is used as the output representation to express reconstructed, scenario-specific interactions inferred from static code and runtime traces.</a:t>
            </a:r>
          </a:p>
        </p:txBody>
      </p:sp>
      <p:sp>
        <p:nvSpPr>
          <p:cNvPr id="4" name="Slide Number Placeholder 3">
            <a:extLst>
              <a:ext uri="{FF2B5EF4-FFF2-40B4-BE49-F238E27FC236}">
                <a16:creationId xmlns:a16="http://schemas.microsoft.com/office/drawing/2014/main" id="{2465A7BF-D1D0-FFDF-5299-1D6609A50B51}"/>
              </a:ext>
            </a:extLst>
          </p:cNvPr>
          <p:cNvSpPr>
            <a:spLocks noGrp="1"/>
          </p:cNvSpPr>
          <p:nvPr>
            <p:ph type="sldNum" sz="quarter" idx="5"/>
          </p:nvPr>
        </p:nvSpPr>
        <p:spPr/>
        <p:txBody>
          <a:bodyPr/>
          <a:lstStyle/>
          <a:p>
            <a:fld id="{8D18E0B9-48E4-499D-93B2-B07D00395BAC}" type="slidenum">
              <a:rPr lang="en-US" smtClean="0"/>
              <a:t>10</a:t>
            </a:fld>
            <a:endParaRPr lang="en-US" dirty="0"/>
          </a:p>
        </p:txBody>
      </p:sp>
    </p:spTree>
    <p:extLst>
      <p:ext uri="{BB962C8B-B14F-4D97-AF65-F5344CB8AC3E}">
        <p14:creationId xmlns:p14="http://schemas.microsoft.com/office/powerpoint/2010/main" val="4423426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C1 — LLM-only (source code)</a:t>
            </a:r>
          </a:p>
          <a:p>
            <a:pPr lvl="1"/>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C2 — Static graph only - The scenario-scoped static call graph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CppCalls</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edges from Renaissance/Neo4j) alone. Sees everything reachable in source, whether or not it actually runs.</a:t>
            </a:r>
          </a:p>
          <a:p>
            <a:pPr lvl="1"/>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C3 — Runtime traces only - The guided runtime traces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csp_matcher</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instrumentation) alone. Sees only what actually executed during the test, nothing more. F</a:t>
            </a:r>
            <a:r>
              <a:rPr lang="en-GB" sz="1200" b="0" i="0" kern="1200" dirty="0">
                <a:solidFill>
                  <a:schemeClr val="tx1"/>
                </a:solidFill>
                <a:effectLst/>
                <a:latin typeface="+mn-lt"/>
                <a:ea typeface="+mn-ea"/>
                <a:cs typeface="+mn-cs"/>
              </a:rPr>
              <a:t>iltered to scenario-relevant events</a:t>
            </a:r>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lvl="1"/>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C4 — Static ∪ Dynamic (raw union) - Every edge either C2 or C3 reports, pooled together with no filtering. Inherits both sources' false positives along with their true positives</a:t>
            </a:r>
          </a:p>
          <a:p>
            <a:pPr lvl="1"/>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C5 — Intersection (Static ∩ Dynamic) - Only edges both C2 and C3 independently report. Pure set algebra. This case cancels each source's own false positives, but at the cost of dropping any true edge only one source sees.</a:t>
            </a:r>
          </a:p>
          <a:p>
            <a:pPr lvl="1"/>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C6 — Full pipeline (C4 + agent synthesis / pruning false positives - </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An LLM gets C2 and C3 and code snippets as separately-labelled evidence (not pre-merged) and it reasons about corroboration, suppression and indirect dispatch and judges each disputed single-source edge by provenance, plus orders the reconstructed sequence.</a:t>
            </a:r>
            <a:endParaRPr lang="en-GB" dirty="0"/>
          </a:p>
        </p:txBody>
      </p:sp>
      <p:sp>
        <p:nvSpPr>
          <p:cNvPr id="4" name="Slide Number Placeholder 3"/>
          <p:cNvSpPr>
            <a:spLocks noGrp="1"/>
          </p:cNvSpPr>
          <p:nvPr>
            <p:ph type="sldNum" sz="quarter" idx="5"/>
          </p:nvPr>
        </p:nvSpPr>
        <p:spPr/>
        <p:txBody>
          <a:bodyPr/>
          <a:lstStyle/>
          <a:p>
            <a:fld id="{8D18E0B9-48E4-499D-93B2-B07D00395BAC}" type="slidenum">
              <a:rPr lang="en-US" smtClean="0"/>
              <a:t>11</a:t>
            </a:fld>
            <a:endParaRPr lang="en-US" dirty="0"/>
          </a:p>
        </p:txBody>
      </p:sp>
    </p:spTree>
    <p:extLst>
      <p:ext uri="{BB962C8B-B14F-4D97-AF65-F5344CB8AC3E}">
        <p14:creationId xmlns:p14="http://schemas.microsoft.com/office/powerpoint/2010/main" val="259154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True Positive: a triple the reference expects </a:t>
            </a:r>
            <a:r>
              <a:rPr lang="en-GB" sz="1200" b="0" i="1" kern="1200" dirty="0">
                <a:solidFill>
                  <a:schemeClr val="tx1"/>
                </a:solidFill>
                <a:effectLst/>
                <a:latin typeface="+mn-lt"/>
                <a:ea typeface="+mn-ea"/>
                <a:cs typeface="+mn-cs"/>
              </a:rPr>
              <a:t>and</a:t>
            </a:r>
            <a:r>
              <a:rPr lang="en-GB" sz="1200" b="0" i="0" kern="1200" dirty="0">
                <a:solidFill>
                  <a:schemeClr val="tx1"/>
                </a:solidFill>
                <a:effectLst/>
                <a:latin typeface="+mn-lt"/>
                <a:ea typeface="+mn-ea"/>
                <a:cs typeface="+mn-cs"/>
              </a:rPr>
              <a:t> the generated file has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False Positive: a triple the generated file has that isn't in the reference — an invented edge (GEN − REF)</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False Negative: a triple the reference expects that the generated file is missing (REF − GEN)</a:t>
            </a:r>
          </a:p>
          <a:p>
            <a:r>
              <a:rPr lang="en-GB" sz="1200" b="1" i="0" kern="1200" dirty="0">
                <a:solidFill>
                  <a:schemeClr val="tx1"/>
                </a:solidFill>
                <a:effectLst/>
                <a:latin typeface="+mn-lt"/>
                <a:ea typeface="+mn-ea"/>
                <a:cs typeface="+mn-cs"/>
              </a:rPr>
              <a:t>P = Precision</a:t>
            </a:r>
            <a:r>
              <a:rPr lang="en-GB" sz="1200" b="0" i="0" kern="1200" dirty="0">
                <a:solidFill>
                  <a:schemeClr val="tx1"/>
                </a:solidFill>
                <a:effectLst/>
                <a:latin typeface="+mn-lt"/>
                <a:ea typeface="+mn-ea"/>
                <a:cs typeface="+mn-cs"/>
              </a:rPr>
              <a:t> — of everything the condition </a:t>
            </a:r>
            <a:r>
              <a:rPr lang="en-GB" sz="1200" b="0" i="1" kern="1200" dirty="0">
                <a:solidFill>
                  <a:schemeClr val="tx1"/>
                </a:solidFill>
                <a:effectLst/>
                <a:latin typeface="+mn-lt"/>
                <a:ea typeface="+mn-ea"/>
                <a:cs typeface="+mn-cs"/>
              </a:rPr>
              <a:t>generated</a:t>
            </a:r>
            <a:r>
              <a:rPr lang="en-GB" sz="1200" b="0" i="0" kern="1200" dirty="0">
                <a:solidFill>
                  <a:schemeClr val="tx1"/>
                </a:solidFill>
                <a:effectLst/>
                <a:latin typeface="+mn-lt"/>
                <a:ea typeface="+mn-ea"/>
                <a:cs typeface="+mn-cs"/>
              </a:rPr>
              <a:t>, what fraction was actually correct (in GT)? Penalizes over-generation (false positives). </a:t>
            </a:r>
          </a:p>
          <a:p>
            <a:r>
              <a:rPr lang="en-GB" sz="1200" b="1" i="0" kern="1200" dirty="0">
                <a:solidFill>
                  <a:schemeClr val="tx1"/>
                </a:solidFill>
                <a:effectLst/>
                <a:latin typeface="+mn-lt"/>
                <a:ea typeface="+mn-ea"/>
                <a:cs typeface="+mn-cs"/>
              </a:rPr>
              <a:t>R = Recall</a:t>
            </a:r>
            <a:r>
              <a:rPr lang="en-GB" sz="1200" b="0" i="0" kern="1200" dirty="0">
                <a:solidFill>
                  <a:schemeClr val="tx1"/>
                </a:solidFill>
                <a:effectLst/>
                <a:latin typeface="+mn-lt"/>
                <a:ea typeface="+mn-ea"/>
                <a:cs typeface="+mn-cs"/>
              </a:rPr>
              <a:t> — of everything that's actually in the </a:t>
            </a:r>
            <a:r>
              <a:rPr lang="en-GB" sz="1200" b="0" i="1" kern="1200" dirty="0">
                <a:solidFill>
                  <a:schemeClr val="tx1"/>
                </a:solidFill>
                <a:effectLst/>
                <a:latin typeface="+mn-lt"/>
                <a:ea typeface="+mn-ea"/>
                <a:cs typeface="+mn-cs"/>
              </a:rPr>
              <a:t>ground truth</a:t>
            </a:r>
            <a:r>
              <a:rPr lang="en-GB" sz="1200" b="0" i="0" kern="1200" dirty="0">
                <a:solidFill>
                  <a:schemeClr val="tx1"/>
                </a:solidFill>
                <a:effectLst/>
                <a:latin typeface="+mn-lt"/>
                <a:ea typeface="+mn-ea"/>
                <a:cs typeface="+mn-cs"/>
              </a:rPr>
              <a:t>, what fraction did the condition find? Penalizes missed items (false negatives). </a:t>
            </a:r>
          </a:p>
          <a:p>
            <a:r>
              <a:rPr lang="en-GB" sz="1200" b="1" i="0" kern="1200" dirty="0">
                <a:solidFill>
                  <a:schemeClr val="tx1"/>
                </a:solidFill>
                <a:effectLst/>
                <a:latin typeface="+mn-lt"/>
                <a:ea typeface="+mn-ea"/>
                <a:cs typeface="+mn-cs"/>
              </a:rPr>
              <a:t>F1</a:t>
            </a:r>
            <a:r>
              <a:rPr lang="en-GB" sz="1200" b="0" i="0" kern="1200" dirty="0">
                <a:solidFill>
                  <a:schemeClr val="tx1"/>
                </a:solidFill>
                <a:effectLst/>
                <a:latin typeface="+mn-lt"/>
                <a:ea typeface="+mn-ea"/>
                <a:cs typeface="+mn-cs"/>
              </a:rPr>
              <a:t> — harmonic mean of P and R: F1 = 2·P·R / (P+R). A single balanced score — you can't get a high F1 by only maximizing one of P or R.</a:t>
            </a:r>
            <a:endParaRPr lang="en-GB" sz="1200" b="1" i="0" kern="1200" dirty="0">
              <a:solidFill>
                <a:schemeClr val="tx1"/>
              </a:solidFill>
              <a:effectLst/>
              <a:latin typeface="+mn-lt"/>
              <a:ea typeface="+mn-ea"/>
              <a:cs typeface="+mn-cs"/>
            </a:endParaRPr>
          </a:p>
          <a:p>
            <a:endParaRPr lang="en-GB" dirty="0"/>
          </a:p>
          <a:p>
            <a:r>
              <a:rPr lang="en-GB" sz="1200" b="0" i="0" kern="1200" dirty="0">
                <a:solidFill>
                  <a:schemeClr val="tx1"/>
                </a:solidFill>
                <a:effectLst/>
                <a:latin typeface="+mn-lt"/>
                <a:ea typeface="+mn-ea"/>
                <a:cs typeface="+mn-cs"/>
              </a:rPr>
              <a:t>Precision asks "of what I generated, how much was right"; recall asks "of what should be there, how much did I find"</a:t>
            </a:r>
            <a:endParaRPr lang="en-GB" dirty="0"/>
          </a:p>
          <a:p>
            <a:endParaRPr lang="en-GB" dirty="0"/>
          </a:p>
        </p:txBody>
      </p:sp>
      <p:sp>
        <p:nvSpPr>
          <p:cNvPr id="4" name="Slide Number Placeholder 3"/>
          <p:cNvSpPr>
            <a:spLocks noGrp="1"/>
          </p:cNvSpPr>
          <p:nvPr>
            <p:ph type="sldNum" sz="quarter" idx="5"/>
          </p:nvPr>
        </p:nvSpPr>
        <p:spPr/>
        <p:txBody>
          <a:bodyPr/>
          <a:lstStyle/>
          <a:p>
            <a:fld id="{8D18E0B9-48E4-499D-93B2-B07D00395BAC}" type="slidenum">
              <a:rPr lang="en-US" smtClean="0"/>
              <a:t>12</a:t>
            </a:fld>
            <a:endParaRPr lang="en-US" dirty="0"/>
          </a:p>
        </p:txBody>
      </p:sp>
    </p:spTree>
    <p:extLst>
      <p:ext uri="{BB962C8B-B14F-4D97-AF65-F5344CB8AC3E}">
        <p14:creationId xmlns:p14="http://schemas.microsoft.com/office/powerpoint/2010/main" val="1735695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i="0" kern="1200" dirty="0">
                <a:solidFill>
                  <a:schemeClr val="tx1"/>
                </a:solidFill>
                <a:effectLst/>
                <a:latin typeface="+mn-lt"/>
                <a:ea typeface="+mn-ea"/>
                <a:cs typeface="+mn-cs"/>
              </a:rPr>
              <a:t>Interactions F1 (does the condition find the right </a:t>
            </a:r>
            <a:r>
              <a:rPr lang="en-GB" sz="1200" b="1" i="1" kern="1200" dirty="0">
                <a:solidFill>
                  <a:schemeClr val="tx1"/>
                </a:solidFill>
                <a:effectLst/>
                <a:latin typeface="+mn-lt"/>
                <a:ea typeface="+mn-ea"/>
                <a:cs typeface="+mn-cs"/>
              </a:rPr>
              <a:t>set</a:t>
            </a:r>
            <a:r>
              <a:rPr lang="en-GB" sz="1200" b="1" i="0" kern="1200" dirty="0">
                <a:solidFill>
                  <a:schemeClr val="tx1"/>
                </a:solidFill>
                <a:effectLst/>
                <a:latin typeface="+mn-lt"/>
                <a:ea typeface="+mn-ea"/>
                <a:cs typeface="+mn-cs"/>
              </a:rPr>
              <a:t> of cross-component calls?)- </a:t>
            </a:r>
            <a:r>
              <a:rPr lang="en-GB" sz="1200" b="0" i="0" kern="1200" dirty="0">
                <a:solidFill>
                  <a:schemeClr val="tx1"/>
                </a:solidFill>
                <a:effectLst/>
                <a:latin typeface="+mn-lt"/>
                <a:ea typeface="+mn-ea"/>
                <a:cs typeface="+mn-cs"/>
              </a:rPr>
              <a:t>so intersecting the two cancels both out (2 FPs – 1 from static, 1 from dynamic) and leaves only what's genuinely confirmed by two independent evidence types.</a:t>
            </a:r>
            <a:endParaRPr lang="en-GB"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i="0" kern="1200" dirty="0">
                <a:solidFill>
                  <a:schemeClr val="tx1"/>
                </a:solidFill>
                <a:effectLst/>
                <a:latin typeface="+mn-lt"/>
                <a:ea typeface="+mn-ea"/>
                <a:cs typeface="+mn-cs"/>
              </a:rPr>
              <a:t>Sequence LCS F1 (does the condition get the right </a:t>
            </a:r>
            <a:r>
              <a:rPr lang="en-GB" sz="1200" b="1" i="1" kern="1200" dirty="0">
                <a:solidFill>
                  <a:schemeClr val="tx1"/>
                </a:solidFill>
                <a:effectLst/>
                <a:latin typeface="+mn-lt"/>
                <a:ea typeface="+mn-ea"/>
                <a:cs typeface="+mn-cs"/>
              </a:rPr>
              <a:t>order and repetition</a:t>
            </a:r>
            <a:r>
              <a:rPr lang="en-GB" sz="1200" b="1" i="0" kern="1200" dirty="0">
                <a:solidFill>
                  <a:schemeClr val="tx1"/>
                </a:solidFill>
                <a:effectLst/>
                <a:latin typeface="+mn-lt"/>
                <a:ea typeface="+mn-ea"/>
                <a:cs typeface="+mn-cs"/>
              </a:rPr>
              <a:t> of calls?) - </a:t>
            </a:r>
            <a:r>
              <a:rPr lang="en-GB" sz="1200" b="0" i="0" kern="1200" dirty="0">
                <a:solidFill>
                  <a:schemeClr val="tx1"/>
                </a:solidFill>
                <a:effectLst/>
                <a:latin typeface="+mn-lt"/>
                <a:ea typeface="+mn-ea"/>
                <a:cs typeface="+mn-cs"/>
              </a:rPr>
              <a:t>C6 wins here. As C5 mechanically removing "unconfirmed" events also removes real ordering information it depended on.</a:t>
            </a:r>
            <a:endParaRPr lang="en-GB" sz="1200" b="1" i="0" kern="1200" dirty="0">
              <a:solidFill>
                <a:schemeClr val="tx1"/>
              </a:solidFill>
              <a:effectLst/>
              <a:latin typeface="+mn-lt"/>
              <a:ea typeface="+mn-ea"/>
              <a:cs typeface="+mn-cs"/>
            </a:endParaRPr>
          </a:p>
          <a:p>
            <a:endParaRPr lang="en-GB" sz="1200" b="1" i="0" kern="1200" dirty="0">
              <a:solidFill>
                <a:schemeClr val="tx1"/>
              </a:solidFill>
              <a:effectLst/>
              <a:latin typeface="+mn-lt"/>
              <a:ea typeface="+mn-ea"/>
              <a:cs typeface="+mn-cs"/>
            </a:endParaRPr>
          </a:p>
          <a:p>
            <a:endParaRPr lang="en-GB" sz="1200" b="1"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Effect of guided vs. full instrumentation on macro F1 - </a:t>
            </a:r>
            <a:r>
              <a:rPr lang="en-GB" sz="1200" b="0" i="0" kern="1200" dirty="0">
                <a:solidFill>
                  <a:schemeClr val="tx1"/>
                </a:solidFill>
                <a:effectLst/>
                <a:latin typeface="+mn-lt"/>
                <a:ea typeface="+mn-ea"/>
                <a:cs typeface="+mn-cs"/>
              </a:rPr>
              <a:t>filtering with architectural knowledge </a:t>
            </a:r>
            <a:r>
              <a:rPr lang="en-GB" sz="1200" b="0" i="1" kern="1200" dirty="0">
                <a:solidFill>
                  <a:schemeClr val="tx1"/>
                </a:solidFill>
                <a:effectLst/>
                <a:latin typeface="+mn-lt"/>
                <a:ea typeface="+mn-ea"/>
                <a:cs typeface="+mn-cs"/>
              </a:rPr>
              <a:t>as per the scenario </a:t>
            </a:r>
            <a:r>
              <a:rPr lang="en-GB" sz="1200" b="0" i="0" kern="1200" dirty="0">
                <a:solidFill>
                  <a:schemeClr val="tx1"/>
                </a:solidFill>
                <a:effectLst/>
                <a:latin typeface="+mn-lt"/>
                <a:ea typeface="+mn-ea"/>
                <a:cs typeface="+mn-cs"/>
              </a:rPr>
              <a:t>is a more effective and cheaper noise-reduction strategy.</a:t>
            </a:r>
            <a:endParaRPr lang="en-GB" sz="1200" b="1" i="0" kern="1200" dirty="0">
              <a:solidFill>
                <a:schemeClr val="tx1"/>
              </a:solidFill>
              <a:effectLst/>
              <a:latin typeface="+mn-lt"/>
              <a:ea typeface="+mn-ea"/>
              <a:cs typeface="+mn-cs"/>
            </a:endParaRPr>
          </a:p>
          <a:p>
            <a:endParaRPr lang="en-GB"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Precision asks "of what I generated, how much was right"; recall asks "of what should be there, how much did I find"</a:t>
            </a:r>
            <a:endParaRPr lang="en-GB" dirty="0"/>
          </a:p>
          <a:p>
            <a:endParaRPr lang="en-GB" sz="1200" b="1"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Macro F1</a:t>
            </a:r>
            <a:r>
              <a:rPr lang="en-GB" sz="1200" b="0" i="0" kern="1200" dirty="0">
                <a:solidFill>
                  <a:schemeClr val="tx1"/>
                </a:solidFill>
                <a:effectLst/>
                <a:latin typeface="+mn-lt"/>
                <a:ea typeface="+mn-ea"/>
                <a:cs typeface="+mn-cs"/>
              </a:rPr>
              <a:t> — the average of the </a:t>
            </a:r>
            <a:r>
              <a:rPr lang="en-GB" sz="1200" b="0" i="1" kern="1200" dirty="0">
                <a:solidFill>
                  <a:schemeClr val="tx1"/>
                </a:solidFill>
                <a:effectLst/>
                <a:latin typeface="+mn-lt"/>
                <a:ea typeface="+mn-ea"/>
                <a:cs typeface="+mn-cs"/>
              </a:rPr>
              <a:t>per-scenario</a:t>
            </a:r>
            <a:r>
              <a:rPr lang="en-GB" sz="1200" b="0" i="0" kern="1200" dirty="0">
                <a:solidFill>
                  <a:schemeClr val="tx1"/>
                </a:solidFill>
                <a:effectLst/>
                <a:latin typeface="+mn-lt"/>
                <a:ea typeface="+mn-ea"/>
                <a:cs typeface="+mn-cs"/>
              </a:rPr>
              <a:t> F1 scores</a:t>
            </a: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For Interactions (set F1):</a:t>
            </a:r>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TP = GT edge also in generated set</a:t>
            </a:r>
          </a:p>
          <a:p>
            <a:r>
              <a:rPr lang="en-GB" sz="1200" b="0" i="0" kern="1200" dirty="0">
                <a:solidFill>
                  <a:schemeClr val="tx1"/>
                </a:solidFill>
                <a:effectLst/>
                <a:latin typeface="+mn-lt"/>
                <a:ea typeface="+mn-ea"/>
                <a:cs typeface="+mn-cs"/>
              </a:rPr>
              <a:t>FP = generated edge not in GT</a:t>
            </a:r>
          </a:p>
          <a:p>
            <a:r>
              <a:rPr lang="en-GB" sz="1200" b="0" i="0" kern="1200" dirty="0">
                <a:solidFill>
                  <a:schemeClr val="tx1"/>
                </a:solidFill>
                <a:effectLst/>
                <a:latin typeface="+mn-lt"/>
                <a:ea typeface="+mn-ea"/>
                <a:cs typeface="+mn-cs"/>
              </a:rPr>
              <a:t>FN = GT edge missing from generated set</a:t>
            </a:r>
          </a:p>
          <a:p>
            <a:r>
              <a:rPr lang="en-GB" sz="1200" b="0" i="0" kern="1200" dirty="0">
                <a:solidFill>
                  <a:schemeClr val="tx1"/>
                </a:solidFill>
                <a:effectLst/>
                <a:latin typeface="+mn-lt"/>
                <a:ea typeface="+mn-ea"/>
                <a:cs typeface="+mn-cs"/>
              </a:rPr>
              <a:t>P = TP / (TP + FP)</a:t>
            </a:r>
          </a:p>
          <a:p>
            <a:r>
              <a:rPr lang="en-GB" sz="1200" b="0" i="0" kern="1200" dirty="0">
                <a:solidFill>
                  <a:schemeClr val="tx1"/>
                </a:solidFill>
                <a:effectLst/>
                <a:latin typeface="+mn-lt"/>
                <a:ea typeface="+mn-ea"/>
                <a:cs typeface="+mn-cs"/>
              </a:rPr>
              <a:t>R = TP / (TP + FN)</a:t>
            </a:r>
          </a:p>
          <a:p>
            <a:endParaRPr lang="en-GB" sz="1200" b="0" i="0" kern="1200" dirty="0">
              <a:solidFill>
                <a:schemeClr val="tx1"/>
              </a:solidFill>
              <a:effectLst/>
              <a:latin typeface="+mn-lt"/>
              <a:ea typeface="+mn-ea"/>
              <a:cs typeface="+mn-cs"/>
            </a:endParaRP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For Sequence (LCS F1):</a:t>
            </a:r>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LCS = longest common subsequence between generated and GT ordered lists</a:t>
            </a:r>
          </a:p>
          <a:p>
            <a:r>
              <a:rPr lang="en-GB" sz="1200" b="0" i="0" kern="1200" dirty="0">
                <a:solidFill>
                  <a:schemeClr val="tx1"/>
                </a:solidFill>
                <a:effectLst/>
                <a:latin typeface="+mn-lt"/>
                <a:ea typeface="+mn-ea"/>
                <a:cs typeface="+mn-cs"/>
              </a:rPr>
              <a:t>P = |LCS| / |generated|   — penalizes extra/noisy events</a:t>
            </a:r>
          </a:p>
          <a:p>
            <a:r>
              <a:rPr lang="en-GB" sz="1200" b="0" i="0" kern="1200" dirty="0">
                <a:solidFill>
                  <a:schemeClr val="tx1"/>
                </a:solidFill>
                <a:effectLst/>
                <a:latin typeface="+mn-lt"/>
                <a:ea typeface="+mn-ea"/>
                <a:cs typeface="+mn-cs"/>
              </a:rPr>
              <a:t>R = |LCS| / |GT|          — penalizes missing events</a:t>
            </a:r>
          </a:p>
          <a:p>
            <a:endParaRPr lang="en-GB" dirty="0"/>
          </a:p>
        </p:txBody>
      </p:sp>
      <p:sp>
        <p:nvSpPr>
          <p:cNvPr id="4" name="Slide Number Placeholder 3"/>
          <p:cNvSpPr>
            <a:spLocks noGrp="1"/>
          </p:cNvSpPr>
          <p:nvPr>
            <p:ph type="sldNum" sz="quarter" idx="5"/>
          </p:nvPr>
        </p:nvSpPr>
        <p:spPr/>
        <p:txBody>
          <a:bodyPr/>
          <a:lstStyle/>
          <a:p>
            <a:fld id="{8D18E0B9-48E4-499D-93B2-B07D00395BAC}" type="slidenum">
              <a:rPr lang="en-US" smtClean="0"/>
              <a:t>13</a:t>
            </a:fld>
            <a:endParaRPr lang="en-US" dirty="0"/>
          </a:p>
        </p:txBody>
      </p:sp>
    </p:spTree>
    <p:extLst>
      <p:ext uri="{BB962C8B-B14F-4D97-AF65-F5344CB8AC3E}">
        <p14:creationId xmlns:p14="http://schemas.microsoft.com/office/powerpoint/2010/main" val="32825322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Full instrumentation (probe everything, filter after) vs. Guided (slice first, probe only scenario-relevant call sites), on S1–S3.</a:t>
            </a:r>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15</a:t>
            </a:fld>
            <a:endParaRPr lang="en-US" dirty="0"/>
          </a:p>
        </p:txBody>
      </p:sp>
    </p:spTree>
    <p:extLst>
      <p:ext uri="{BB962C8B-B14F-4D97-AF65-F5344CB8AC3E}">
        <p14:creationId xmlns:p14="http://schemas.microsoft.com/office/powerpoint/2010/main" val="6243750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29D15-8DA8-572B-D97A-2A9FA34A75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19B5F2-BE9B-83C4-E9BE-C144C90AAE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018904-F8CF-F2A2-162A-AC0ABFEC527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D3AE316-201A-F6AD-8122-B757D410AD1D}"/>
              </a:ext>
            </a:extLst>
          </p:cNvPr>
          <p:cNvSpPr>
            <a:spLocks noGrp="1"/>
          </p:cNvSpPr>
          <p:nvPr>
            <p:ph type="sldNum" sz="quarter" idx="5"/>
          </p:nvPr>
        </p:nvSpPr>
        <p:spPr/>
        <p:txBody>
          <a:bodyPr/>
          <a:lstStyle/>
          <a:p>
            <a:fld id="{8D18E0B9-48E4-499D-93B2-B07D00395BAC}" type="slidenum">
              <a:rPr lang="en-US" smtClean="0"/>
              <a:t>16</a:t>
            </a:fld>
            <a:endParaRPr lang="en-US" dirty="0"/>
          </a:p>
        </p:txBody>
      </p:sp>
    </p:spTree>
    <p:extLst>
      <p:ext uri="{BB962C8B-B14F-4D97-AF65-F5344CB8AC3E}">
        <p14:creationId xmlns:p14="http://schemas.microsoft.com/office/powerpoint/2010/main" val="11115826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3-part task (list components, list interactions as Source → Target : Method, explain the flow in 3–5 sentences), varying only the evidence attached — source, trace, diagram, or combinations — across all five conditions and four scenarios. The response is then scored against ground truth for component recall, interaction recall and completeness.</a:t>
            </a:r>
            <a:endParaRPr lang="en-GB" dirty="0"/>
          </a:p>
        </p:txBody>
      </p:sp>
      <p:sp>
        <p:nvSpPr>
          <p:cNvPr id="4" name="Slide Number Placeholder 3"/>
          <p:cNvSpPr>
            <a:spLocks noGrp="1"/>
          </p:cNvSpPr>
          <p:nvPr>
            <p:ph type="sldNum" sz="quarter" idx="5"/>
          </p:nvPr>
        </p:nvSpPr>
        <p:spPr/>
        <p:txBody>
          <a:bodyPr/>
          <a:lstStyle/>
          <a:p>
            <a:fld id="{8D18E0B9-48E4-499D-93B2-B07D00395BAC}" type="slidenum">
              <a:rPr lang="en-US" smtClean="0"/>
              <a:t>17</a:t>
            </a:fld>
            <a:endParaRPr lang="en-US" dirty="0"/>
          </a:p>
        </p:txBody>
      </p:sp>
    </p:spTree>
    <p:extLst>
      <p:ext uri="{BB962C8B-B14F-4D97-AF65-F5344CB8AC3E}">
        <p14:creationId xmlns:p14="http://schemas.microsoft.com/office/powerpoint/2010/main" val="2991232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B20FD-56F1-B89A-249E-1983907C6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BFD8FD-B53F-7AF1-561F-B56CDF3E207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533607E-3EDB-E868-2985-3C854E0BE1C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Block Definition Diagram (BDD) describes the static structure of the system by showing components and their relationships. An Internal Block Diagram (IBD) refines those components by showing their ports, interfaces, and connectors, explaining how they interact internally. In my project, dependency extraction is used to generate BDDs, while function-level interaction analysis is used to infer ports and generate IBDs.</a:t>
            </a:r>
            <a:r>
              <a:rPr lang="en-IN" dirty="0"/>
              <a:t> IBD – to understand How these components communicate. BDD - These components exist.</a:t>
            </a:r>
          </a:p>
        </p:txBody>
      </p:sp>
      <p:sp>
        <p:nvSpPr>
          <p:cNvPr id="4" name="Slide Number Placeholder 3">
            <a:extLst>
              <a:ext uri="{FF2B5EF4-FFF2-40B4-BE49-F238E27FC236}">
                <a16:creationId xmlns:a16="http://schemas.microsoft.com/office/drawing/2014/main" id="{96477D6B-DFD9-541E-3E2A-04145D3F2FF2}"/>
              </a:ext>
            </a:extLst>
          </p:cNvPr>
          <p:cNvSpPr>
            <a:spLocks noGrp="1"/>
          </p:cNvSpPr>
          <p:nvPr>
            <p:ph type="sldNum" sz="quarter" idx="5"/>
          </p:nvPr>
        </p:nvSpPr>
        <p:spPr/>
        <p:txBody>
          <a:bodyPr/>
          <a:lstStyle/>
          <a:p>
            <a:fld id="{8D18E0B9-48E4-499D-93B2-B07D00395BAC}" type="slidenum">
              <a:rPr lang="en-US" smtClean="0"/>
              <a:t>18</a:t>
            </a:fld>
            <a:endParaRPr lang="en-US" dirty="0"/>
          </a:p>
        </p:txBody>
      </p:sp>
    </p:spTree>
    <p:extLst>
      <p:ext uri="{BB962C8B-B14F-4D97-AF65-F5344CB8AC3E}">
        <p14:creationId xmlns:p14="http://schemas.microsoft.com/office/powerpoint/2010/main" val="905771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F8EAF-942D-3A3B-40BE-330C566FDA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EB5FFC-E5D0-96A0-7E69-4293E39EDD7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53FBCE6-2938-ACB9-1473-B297A73DD698}"/>
              </a:ext>
            </a:extLst>
          </p:cNvPr>
          <p:cNvSpPr>
            <a:spLocks noGrp="1"/>
          </p:cNvSpPr>
          <p:nvPr>
            <p:ph type="body" idx="1"/>
          </p:nvPr>
        </p:nvSpPr>
        <p:spPr/>
        <p:txBody>
          <a:bodyPr/>
          <a:lstStyle/>
          <a:p>
            <a:r>
              <a:rPr lang="en-US" dirty="0"/>
              <a:t>A Block Definition Diagram (BDD) describes the static structure of the system by showing components and their relationships. An Internal Block Diagram (IBD) refines those components by showing their ports, interfaces, and connectors, explaining how they interact internally. In my project, dependency extraction is used to generate BDDs, while function-level interaction analysis is used to infer ports and generate IBDs.</a:t>
            </a:r>
            <a:endParaRPr lang="en-IN" dirty="0"/>
          </a:p>
        </p:txBody>
      </p:sp>
      <p:sp>
        <p:nvSpPr>
          <p:cNvPr id="4" name="Slide Number Placeholder 3">
            <a:extLst>
              <a:ext uri="{FF2B5EF4-FFF2-40B4-BE49-F238E27FC236}">
                <a16:creationId xmlns:a16="http://schemas.microsoft.com/office/drawing/2014/main" id="{3ACC3725-EB4D-EB7F-A46D-782738425285}"/>
              </a:ext>
            </a:extLst>
          </p:cNvPr>
          <p:cNvSpPr>
            <a:spLocks noGrp="1"/>
          </p:cNvSpPr>
          <p:nvPr>
            <p:ph type="sldNum" sz="quarter" idx="5"/>
          </p:nvPr>
        </p:nvSpPr>
        <p:spPr/>
        <p:txBody>
          <a:bodyPr/>
          <a:lstStyle/>
          <a:p>
            <a:fld id="{8D18E0B9-48E4-499D-93B2-B07D00395BAC}" type="slidenum">
              <a:rPr lang="en-US" smtClean="0"/>
              <a:t>20</a:t>
            </a:fld>
            <a:endParaRPr lang="en-US" dirty="0"/>
          </a:p>
        </p:txBody>
      </p:sp>
    </p:spTree>
    <p:extLst>
      <p:ext uri="{BB962C8B-B14F-4D97-AF65-F5344CB8AC3E}">
        <p14:creationId xmlns:p14="http://schemas.microsoft.com/office/powerpoint/2010/main" val="18578974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22</a:t>
            </a:fld>
            <a:endParaRPr lang="en-US" dirty="0"/>
          </a:p>
        </p:txBody>
      </p:sp>
    </p:spTree>
    <p:extLst>
      <p:ext uri="{BB962C8B-B14F-4D97-AF65-F5344CB8AC3E}">
        <p14:creationId xmlns:p14="http://schemas.microsoft.com/office/powerpoint/2010/main" val="14910498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106A8-AF1A-DD7B-5DE2-466DCF4F1F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EB6EE2-0D38-9489-37BD-64C88B73477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28BFB02-6E56-089E-B4A2-B10D0C78FC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F11D33-9221-C463-DCB0-C3FA5152F75D}"/>
              </a:ext>
            </a:extLst>
          </p:cNvPr>
          <p:cNvSpPr>
            <a:spLocks noGrp="1"/>
          </p:cNvSpPr>
          <p:nvPr>
            <p:ph type="sldNum" sz="quarter" idx="5"/>
          </p:nvPr>
        </p:nvSpPr>
        <p:spPr/>
        <p:txBody>
          <a:bodyPr/>
          <a:lstStyle/>
          <a:p>
            <a:fld id="{8D18E0B9-48E4-499D-93B2-B07D00395BAC}" type="slidenum">
              <a:rPr lang="en-US" smtClean="0"/>
              <a:t>24</a:t>
            </a:fld>
            <a:endParaRPr lang="en-US" dirty="0"/>
          </a:p>
        </p:txBody>
      </p:sp>
    </p:spTree>
    <p:extLst>
      <p:ext uri="{BB962C8B-B14F-4D97-AF65-F5344CB8AC3E}">
        <p14:creationId xmlns:p14="http://schemas.microsoft.com/office/powerpoint/2010/main" val="14557532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CD7DE-D931-65DB-1BA0-34A2EE51C6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CB58A0-69BE-B594-B01B-8C9B559AC57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F2013E7-D54B-338D-5106-D886F75A1BD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True Positive: a triple the reference expects </a:t>
            </a:r>
            <a:r>
              <a:rPr lang="en-GB" sz="1200" b="0" i="1" kern="1200" dirty="0">
                <a:solidFill>
                  <a:schemeClr val="tx1"/>
                </a:solidFill>
                <a:effectLst/>
                <a:latin typeface="+mn-lt"/>
                <a:ea typeface="+mn-ea"/>
                <a:cs typeface="+mn-cs"/>
              </a:rPr>
              <a:t>and</a:t>
            </a:r>
            <a:r>
              <a:rPr lang="en-GB" sz="1200" b="0" i="0" kern="1200" dirty="0">
                <a:solidFill>
                  <a:schemeClr val="tx1"/>
                </a:solidFill>
                <a:effectLst/>
                <a:latin typeface="+mn-lt"/>
                <a:ea typeface="+mn-ea"/>
                <a:cs typeface="+mn-cs"/>
              </a:rPr>
              <a:t> the generated file has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False Positive: a triple the generated file has that isn't in the reference — an invented edge (GEN − REF)</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False Negative: a triple the reference expects that the generated file is missing (REF − GEN)</a:t>
            </a:r>
          </a:p>
          <a:p>
            <a:endParaRPr lang="en-GB" dirty="0"/>
          </a:p>
          <a:p>
            <a:r>
              <a:rPr lang="en-GB" sz="1200" b="0" i="0" kern="1200" dirty="0">
                <a:solidFill>
                  <a:schemeClr val="tx1"/>
                </a:solidFill>
                <a:effectLst/>
                <a:latin typeface="+mn-lt"/>
                <a:ea typeface="+mn-ea"/>
                <a:cs typeface="+mn-cs"/>
              </a:rPr>
              <a:t>Precision asks "of what I generated, how much was right"; recall asks "of what should be there, how much did I find"</a:t>
            </a:r>
            <a:endParaRPr lang="en-GB" dirty="0"/>
          </a:p>
        </p:txBody>
      </p:sp>
      <p:sp>
        <p:nvSpPr>
          <p:cNvPr id="4" name="Slide Number Placeholder 3">
            <a:extLst>
              <a:ext uri="{FF2B5EF4-FFF2-40B4-BE49-F238E27FC236}">
                <a16:creationId xmlns:a16="http://schemas.microsoft.com/office/drawing/2014/main" id="{ABAB9A7F-BF1F-F13E-E616-3BBBB158EB3C}"/>
              </a:ext>
            </a:extLst>
          </p:cNvPr>
          <p:cNvSpPr>
            <a:spLocks noGrp="1"/>
          </p:cNvSpPr>
          <p:nvPr>
            <p:ph type="sldNum" sz="quarter" idx="5"/>
          </p:nvPr>
        </p:nvSpPr>
        <p:spPr/>
        <p:txBody>
          <a:bodyPr/>
          <a:lstStyle/>
          <a:p>
            <a:fld id="{8D18E0B9-48E4-499D-93B2-B07D00395BAC}" type="slidenum">
              <a:rPr lang="en-US" smtClean="0"/>
              <a:t>25</a:t>
            </a:fld>
            <a:endParaRPr lang="en-US" dirty="0"/>
          </a:p>
        </p:txBody>
      </p:sp>
    </p:spTree>
    <p:extLst>
      <p:ext uri="{BB962C8B-B14F-4D97-AF65-F5344CB8AC3E}">
        <p14:creationId xmlns:p14="http://schemas.microsoft.com/office/powerpoint/2010/main" val="28465808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research is all about creating a tool that can create - </a:t>
            </a:r>
            <a:r>
              <a:rPr lang="en-US" b="1" dirty="0"/>
              <a:t>more complete and more accurate Interaction Diagrams in an EDS – by utilizing a hybrid static-trace analysis approach.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key idea is </a:t>
            </a:r>
            <a:r>
              <a:rPr lang="en-US" b="1" dirty="0"/>
              <a:t>to improve scenario-specific understanding of system behavior as the runtime traces are incomplete.</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work is supervised jointly by the university and TNO.</a:t>
            </a:r>
            <a:endParaRPr lang="en-IN" sz="1200" i="0" dirty="0"/>
          </a:p>
        </p:txBody>
      </p:sp>
      <p:sp>
        <p:nvSpPr>
          <p:cNvPr id="4" name="Slide Number Placeholder 3"/>
          <p:cNvSpPr>
            <a:spLocks noGrp="1"/>
          </p:cNvSpPr>
          <p:nvPr>
            <p:ph type="sldNum" sz="quarter" idx="5"/>
          </p:nvPr>
        </p:nvSpPr>
        <p:spPr/>
        <p:txBody>
          <a:bodyPr/>
          <a:lstStyle/>
          <a:p>
            <a:fld id="{8D18E0B9-48E4-499D-93B2-B07D00395BAC}" type="slidenum">
              <a:rPr lang="en-US" smtClean="0"/>
              <a:t>27</a:t>
            </a:fld>
            <a:endParaRPr lang="en-US" dirty="0"/>
          </a:p>
        </p:txBody>
      </p:sp>
    </p:spTree>
    <p:extLst>
      <p:ext uri="{BB962C8B-B14F-4D97-AF65-F5344CB8AC3E}">
        <p14:creationId xmlns:p14="http://schemas.microsoft.com/office/powerpoint/2010/main" val="6784613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GB"/>
          </a:p>
        </p:txBody>
      </p:sp>
      <p:sp>
        <p:nvSpPr>
          <p:cNvPr id="3" name="Notes Placeholder 2"/>
          <p:cNvSpPr>
            <a:spLocks noGrp="1"/>
          </p:cNvSpPr>
          <p:nvPr>
            <p:ph type="body" sz="quarter" idx="3"/>
          </p:nvPr>
        </p:nvSpPr>
        <p:spPr/>
        <p:txBody>
          <a:bodyPr/>
          <a:lstStyle/>
          <a:p>
            <a:r>
              <a:t>[0:30] Here's the roadmap. I'll start with the motivation and the concrete</a:t>
            </a:r>
          </a:p>
          <a:p>
            <a:r>
              <a:t>problem, state my three research questions, then walk through the approach —</a:t>
            </a:r>
          </a:p>
          <a:p>
            <a:r>
              <a:t>the pipeline and the shared property graph. After a quick look at the case</a:t>
            </a:r>
          </a:p>
          <a:p>
            <a:r>
              <a:t>study, CPSCore, I'll present the three experiments and their results, and close</a:t>
            </a:r>
          </a:p>
          <a:p>
            <a:r>
              <a:t>with contributions, limitations, and conclusions.</a:t>
            </a:r>
          </a:p>
        </p:txBody>
      </p:sp>
      <p:sp>
        <p:nvSpPr>
          <p:cNvPr id="4" name="Slide Number Placeholder 3"/>
          <p:cNvSpPr>
            <a:spLocks noGrp="1"/>
          </p:cNvSpPr>
          <p:nvPr>
            <p:ph type="sldNum" sz="quarter" idx="5"/>
          </p:nvPr>
        </p:nvSpPr>
        <p:spPr/>
        <p:txBody>
          <a:bodyPr/>
          <a:lstStyle/>
          <a:p>
            <a:endParaRPr lang="en-GB"/>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sz="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Interaction diagrams support developers in understanding the runtime </a:t>
            </a:r>
            <a:r>
              <a:rPr lang="en-GB" sz="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behavior</a:t>
            </a:r>
            <a:r>
              <a:rPr lang="en-GB" sz="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of event-driven systems. </a:t>
            </a:r>
          </a:p>
          <a:p>
            <a:br>
              <a:rPr lang="en-GB" sz="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But in industry they are typically reverse-engineered manually. A process that is costly and hard to keep consistent with the evolving implementation.</a:t>
            </a:r>
          </a:p>
          <a:p>
            <a:endParaRPr lang="en-GB" sz="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Existing automated techniques rely on either static analysis or trace analysis, each capturing only part of the system's true interaction </a:t>
            </a:r>
            <a:r>
              <a:rPr lang="en-GB" sz="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behavior</a:t>
            </a:r>
            <a:r>
              <a:rPr lang="en-GB" sz="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t>
            </a:r>
          </a:p>
          <a:p>
            <a:endParaRPr lang="en-US" dirty="0"/>
          </a:p>
          <a:p>
            <a:r>
              <a:rPr lang="en-US" b="1" dirty="0"/>
              <a:t>Goal is to understand the system behavior accurately under certain scenarios </a:t>
            </a:r>
            <a:r>
              <a:rPr lang="en-US" dirty="0"/>
              <a:t>– to then be </a:t>
            </a:r>
            <a:r>
              <a:rPr lang="en-US" b="1" dirty="0"/>
              <a:t>able to take architectural calls / refactoring decisions / fix the bugs, etc.</a:t>
            </a:r>
          </a:p>
          <a:p>
            <a:r>
              <a:rPr lang="en-US" dirty="0"/>
              <a:t>Because these </a:t>
            </a:r>
            <a:r>
              <a:rPr lang="en-US" b="1" dirty="0"/>
              <a:t>mission critical systems require proper understanding of the nuances of things </a:t>
            </a:r>
            <a:r>
              <a:rPr lang="en-US" dirty="0"/>
              <a:t>– like what all components are interacting</a:t>
            </a:r>
          </a:p>
          <a:p>
            <a:r>
              <a:rPr lang="en-US" dirty="0"/>
              <a:t>With each other and what orchestration is happening under the hood – then be able to isolate those part of the code and refactor it / add more tests and increase its long-term maintainability</a:t>
            </a:r>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29</a:t>
            </a:fld>
            <a:endParaRPr lang="en-US" dirty="0"/>
          </a:p>
        </p:txBody>
      </p:sp>
    </p:spTree>
    <p:extLst>
      <p:ext uri="{BB962C8B-B14F-4D97-AF65-F5344CB8AC3E}">
        <p14:creationId xmlns:p14="http://schemas.microsoft.com/office/powerpoint/2010/main" val="6123703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Traces are often instrumentation-limited (logs, </a:t>
            </a:r>
            <a:r>
              <a:rPr lang="en-IN" dirty="0"/>
              <a:t>performance constraints) </a:t>
            </a:r>
            <a:r>
              <a:rPr lang="en-US" dirty="0"/>
              <a:t>overheads, access constraints, and cost.</a:t>
            </a:r>
          </a:p>
          <a:p>
            <a:br>
              <a:rPr lang="en-US" dirty="0"/>
            </a:br>
            <a:r>
              <a:rPr lang="en-US" dirty="0"/>
              <a:t>Static code analysis shows all the possible behaviors possible, but often lacks information about execution order and runtime conditions.</a:t>
            </a:r>
          </a:p>
          <a:p>
            <a:endParaRPr lang="en-US" dirty="0"/>
          </a:p>
          <a:p>
            <a:r>
              <a:rPr lang="en-US" dirty="0"/>
              <a:t>Hybrid approach is what we are going to perform – previously there has been some work done – but their goals and objectives have been different. Some used it to reduce logging and runtime  instrumentation, other used it understand if they had control-flow loops in the execution path - such as repeated method invocations</a:t>
            </a:r>
          </a:p>
          <a:p>
            <a:endParaRPr lang="en-US" dirty="0"/>
          </a:p>
          <a:p>
            <a:r>
              <a:rPr lang="en-US" dirty="0"/>
              <a:t>Existing work either relies on traces, static structure, or uses hybrid analysis for other goals. </a:t>
            </a:r>
          </a:p>
          <a:p>
            <a:r>
              <a:rPr lang="en-US" dirty="0"/>
              <a:t>None focus on synthesizing interaction diagrams for a specific scenario when traces are incomplete.</a:t>
            </a:r>
          </a:p>
          <a:p>
            <a:endParaRPr lang="en-US" dirty="0"/>
          </a:p>
          <a:p>
            <a:r>
              <a:rPr lang="en-US" dirty="0"/>
              <a:t>Goal is to create a more richer, more accurate and more complete interaction diagrams – which can assist the engineers in taking architectural decisions </a:t>
            </a:r>
          </a:p>
          <a:p>
            <a:endParaRPr lang="en-US" dirty="0"/>
          </a:p>
          <a:p>
            <a:r>
              <a:rPr lang="en-US" dirty="0"/>
              <a:t>In contrast, this thesis assumes that runtime traces are incomplete and uses static call graphs to not only enrich observed behavior, but to infer unobserved interactions within a bounded scenario.</a:t>
            </a:r>
          </a:p>
        </p:txBody>
      </p:sp>
      <p:sp>
        <p:nvSpPr>
          <p:cNvPr id="4" name="Slide Number Placeholder 3"/>
          <p:cNvSpPr>
            <a:spLocks noGrp="1"/>
          </p:cNvSpPr>
          <p:nvPr>
            <p:ph type="sldNum" sz="quarter" idx="5"/>
          </p:nvPr>
        </p:nvSpPr>
        <p:spPr/>
        <p:txBody>
          <a:bodyPr/>
          <a:lstStyle/>
          <a:p>
            <a:fld id="{8D18E0B9-48E4-499D-93B2-B07D00395BAC}" type="slidenum">
              <a:rPr lang="en-US" smtClean="0"/>
              <a:t>30</a:t>
            </a:fld>
            <a:endParaRPr lang="en-US" dirty="0"/>
          </a:p>
        </p:txBody>
      </p:sp>
    </p:spTree>
    <p:extLst>
      <p:ext uri="{BB962C8B-B14F-4D97-AF65-F5344CB8AC3E}">
        <p14:creationId xmlns:p14="http://schemas.microsoft.com/office/powerpoint/2010/main" val="5858058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IN" dirty="0"/>
              <a:t>BDD – Block Definition Diagram - </a:t>
            </a:r>
            <a:r>
              <a:rPr lang="en-US" dirty="0"/>
              <a:t>Components (Blocks) Dependencies Associations Hierarchical relationships Composition relationships</a:t>
            </a:r>
            <a:endParaRPr lang="en-IN" dirty="0"/>
          </a:p>
          <a:p>
            <a:r>
              <a:rPr lang="en-IN" dirty="0"/>
              <a:t>IBD – Internal Block Diagram - Parts (instances of blocks) Ports Connectors Internal communication paths</a:t>
            </a:r>
          </a:p>
          <a:p>
            <a:endParaRPr lang="en-IN" dirty="0"/>
          </a:p>
          <a:p>
            <a:r>
              <a:rPr lang="en-IN" dirty="0"/>
              <a:t>IBD – to understand How these components communicate. BDD - These components exist.</a:t>
            </a:r>
          </a:p>
          <a:p>
            <a:r>
              <a:rPr lang="en-US" b="0" dirty="0"/>
              <a:t>Sequence Diagram </a:t>
            </a:r>
            <a:r>
              <a:rPr lang="en-US" b="1" dirty="0"/>
              <a:t>- </a:t>
            </a:r>
            <a:r>
              <a:rPr lang="en-US" dirty="0"/>
              <a:t>What happens during execution and in what order?</a:t>
            </a:r>
          </a:p>
          <a:p>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33</a:t>
            </a:fld>
            <a:endParaRPr lang="en-US" dirty="0"/>
          </a:p>
        </p:txBody>
      </p:sp>
    </p:spTree>
    <p:extLst>
      <p:ext uri="{BB962C8B-B14F-4D97-AF65-F5344CB8AC3E}">
        <p14:creationId xmlns:p14="http://schemas.microsoft.com/office/powerpoint/2010/main" val="17755792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6978E-72E1-5293-E29A-E35287ADE4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448577-3193-9A23-77DD-2104E1586CD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89B86CD-8096-F50A-7DC3-8693C9506579}"/>
              </a:ext>
            </a:extLst>
          </p:cNvPr>
          <p:cNvSpPr>
            <a:spLocks noGrp="1"/>
          </p:cNvSpPr>
          <p:nvPr>
            <p:ph type="body" idx="1"/>
          </p:nvPr>
        </p:nvSpPr>
        <p:spPr/>
        <p:txBody>
          <a:bodyPr/>
          <a:lstStyle/>
          <a:p>
            <a:r>
              <a:rPr lang="en-US" b="1" dirty="0"/>
              <a:t>Scenario Definition</a:t>
            </a:r>
          </a:p>
          <a:p>
            <a:r>
              <a:rPr lang="en-US" dirty="0"/>
              <a:t>“We start by clearly defining a single functionality or algorithm as the scenario of interest. </a:t>
            </a:r>
            <a:r>
              <a:rPr lang="en-US" b="1" dirty="0"/>
              <a:t>This keeps the scope focused and narrow </a:t>
            </a:r>
            <a:r>
              <a:rPr lang="en-US" dirty="0"/>
              <a:t>and avoids over-generalizing the system’s behavior.”</a:t>
            </a:r>
          </a:p>
          <a:p>
            <a:r>
              <a:rPr lang="en-US" b="1" dirty="0"/>
              <a:t>Static Analysis</a:t>
            </a:r>
          </a:p>
          <a:p>
            <a:r>
              <a:rPr lang="en-US" dirty="0"/>
              <a:t>“We then apply </a:t>
            </a:r>
            <a:r>
              <a:rPr lang="en-US" b="1" dirty="0"/>
              <a:t>dependency-based slicing on the code to retain only scenario-relevant components.</a:t>
            </a:r>
            <a:r>
              <a:rPr lang="en-US" dirty="0"/>
              <a:t> This prunes irrelevant code paths and constrains </a:t>
            </a:r>
            <a:r>
              <a:rPr lang="en-US" b="1" dirty="0"/>
              <a:t>what interactions are theoretically possible.”</a:t>
            </a:r>
          </a:p>
          <a:p>
            <a:r>
              <a:rPr lang="en-US" b="1" dirty="0"/>
              <a:t>Runtime Trace Collection</a:t>
            </a:r>
          </a:p>
          <a:p>
            <a:r>
              <a:rPr lang="en-US" dirty="0"/>
              <a:t>“Next</a:t>
            </a:r>
            <a:r>
              <a:rPr lang="en-US" b="1" dirty="0"/>
              <a:t>, we collect timestamped runtime events corresponding to the scenario execution. </a:t>
            </a:r>
            <a:r>
              <a:rPr lang="en-US" dirty="0"/>
              <a:t>Although these traces may be incomplete, they </a:t>
            </a:r>
            <a:r>
              <a:rPr lang="en-US" b="1" dirty="0"/>
              <a:t>still provide concrete evidence and the order of execution information</a:t>
            </a:r>
            <a:r>
              <a:rPr lang="en-US" dirty="0"/>
              <a:t>.”</a:t>
            </a:r>
          </a:p>
          <a:p>
            <a:r>
              <a:rPr lang="en-US" b="1" dirty="0"/>
              <a:t>Hybrid Reconstruction</a:t>
            </a:r>
          </a:p>
          <a:p>
            <a:r>
              <a:rPr lang="en-US" dirty="0"/>
              <a:t>“</a:t>
            </a:r>
            <a:r>
              <a:rPr lang="en-US" b="1" dirty="0"/>
              <a:t>Static and dynamic information are then aligned through trace-to-code mapping</a:t>
            </a:r>
            <a:r>
              <a:rPr lang="en-US" dirty="0"/>
              <a:t>. Static reachability analysis is used to infer missing interactions, but only when they are consistent with both code structure and observed traces.”</a:t>
            </a:r>
          </a:p>
          <a:p>
            <a:r>
              <a:rPr lang="en-US" b="1" dirty="0" err="1"/>
              <a:t>SysML</a:t>
            </a:r>
            <a:r>
              <a:rPr lang="en-US" b="1" dirty="0"/>
              <a:t> v2 Interaction Diagram</a:t>
            </a:r>
          </a:p>
          <a:p>
            <a:r>
              <a:rPr lang="en-US" dirty="0"/>
              <a:t>“Finally, </a:t>
            </a:r>
            <a:r>
              <a:rPr lang="en-US" b="1" dirty="0"/>
              <a:t>the reconstructed interactions are exported as </a:t>
            </a:r>
            <a:r>
              <a:rPr lang="en-US" b="1" dirty="0" err="1"/>
              <a:t>SysML</a:t>
            </a:r>
            <a:r>
              <a:rPr lang="en-US" b="1" dirty="0"/>
              <a:t> v2 interaction diagrams</a:t>
            </a:r>
            <a:r>
              <a:rPr lang="en-US" dirty="0"/>
              <a:t>. These diagrams are scenario-specific, human-readable, and suitable for engineers and stakeholders.”</a:t>
            </a:r>
          </a:p>
          <a:p>
            <a:endParaRPr lang="en-US" dirty="0"/>
          </a:p>
          <a:p>
            <a:r>
              <a:rPr lang="en-IN" b="1" dirty="0" err="1"/>
              <a:t>SysML</a:t>
            </a:r>
            <a:r>
              <a:rPr lang="en-IN" b="1" dirty="0"/>
              <a:t> v2 (Systems </a:t>
            </a:r>
            <a:r>
              <a:rPr lang="en-IN" b="1" dirty="0" err="1"/>
              <a:t>Modeling</a:t>
            </a:r>
            <a:r>
              <a:rPr lang="en-IN" b="1" dirty="0"/>
              <a:t> Language v2)</a:t>
            </a:r>
            <a:r>
              <a:rPr lang="en-IN" dirty="0"/>
              <a:t> is a next-gen textual </a:t>
            </a:r>
            <a:r>
              <a:rPr lang="en-IN" b="1" dirty="0"/>
              <a:t>modern, formal systems </a:t>
            </a:r>
            <a:r>
              <a:rPr lang="en-IN" b="1" dirty="0" err="1"/>
              <a:t>modeling</a:t>
            </a:r>
            <a:r>
              <a:rPr lang="en-IN" b="1" dirty="0"/>
              <a:t> language</a:t>
            </a:r>
            <a:r>
              <a:rPr lang="en-IN" dirty="0"/>
              <a:t> – which has its own textual syntax </a:t>
            </a:r>
            <a:r>
              <a:rPr lang="en-IN"/>
              <a:t>and formal </a:t>
            </a:r>
            <a:r>
              <a:rPr lang="en-IN" dirty="0"/>
              <a:t>semantics</a:t>
            </a:r>
            <a:endParaRPr lang="en-US" dirty="0"/>
          </a:p>
          <a:p>
            <a:r>
              <a:rPr lang="en-US" dirty="0" err="1"/>
              <a:t>SysML</a:t>
            </a:r>
            <a:r>
              <a:rPr lang="en-US" dirty="0"/>
              <a:t> v2 provides formal semantics and a textual representation, making it suitable for automated generation and analysis. In this work, </a:t>
            </a:r>
            <a:r>
              <a:rPr lang="en-US" dirty="0" err="1"/>
              <a:t>SysML</a:t>
            </a:r>
            <a:r>
              <a:rPr lang="en-US" dirty="0"/>
              <a:t> v2 is used as the output representation to express reconstructed, scenario-specific interactions inferred from static code and runtime traces.</a:t>
            </a:r>
          </a:p>
        </p:txBody>
      </p:sp>
      <p:sp>
        <p:nvSpPr>
          <p:cNvPr id="4" name="Slide Number Placeholder 3">
            <a:extLst>
              <a:ext uri="{FF2B5EF4-FFF2-40B4-BE49-F238E27FC236}">
                <a16:creationId xmlns:a16="http://schemas.microsoft.com/office/drawing/2014/main" id="{A2927251-9043-1EE3-EE49-394932D00365}"/>
              </a:ext>
            </a:extLst>
          </p:cNvPr>
          <p:cNvSpPr>
            <a:spLocks noGrp="1"/>
          </p:cNvSpPr>
          <p:nvPr>
            <p:ph type="sldNum" sz="quarter" idx="5"/>
          </p:nvPr>
        </p:nvSpPr>
        <p:spPr/>
        <p:txBody>
          <a:bodyPr/>
          <a:lstStyle/>
          <a:p>
            <a:fld id="{8D18E0B9-48E4-499D-93B2-B07D00395BAC}" type="slidenum">
              <a:rPr lang="en-US" smtClean="0"/>
              <a:t>37</a:t>
            </a:fld>
            <a:endParaRPr lang="en-US" dirty="0"/>
          </a:p>
        </p:txBody>
      </p:sp>
    </p:spTree>
    <p:extLst>
      <p:ext uri="{BB962C8B-B14F-4D97-AF65-F5344CB8AC3E}">
        <p14:creationId xmlns:p14="http://schemas.microsoft.com/office/powerpoint/2010/main" val="7268716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The pipeline turns raw C++ into a scenario-specific </a:t>
            </a:r>
            <a:r>
              <a:rPr lang="en-GB" sz="120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v2 diagram in six steps — extract the codebase into a property graph, scope it to the scenario, flatten it into a static call table, cross-check that against a real instrumented run, reconcile the two into </a:t>
            </a:r>
            <a:r>
              <a:rPr lang="en-GB" sz="1200" dirty="0" err="1">
                <a:latin typeface="Sans Serif Collection" panose="020B0502040504020204" pitchFamily="34" charset="0"/>
                <a:ea typeface="Sans Serif Collection" panose="020B0502040504020204" pitchFamily="34" charset="0"/>
                <a:cs typeface="Sans Serif Collection" panose="020B0502040504020204" pitchFamily="34" charset="0"/>
              </a:rPr>
              <a:t>elements.json</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GB" sz="1200" dirty="0" err="1">
                <a:latin typeface="Sans Serif Collection" panose="020B0502040504020204" pitchFamily="34" charset="0"/>
                <a:ea typeface="Sans Serif Collection" panose="020B0502040504020204" pitchFamily="34" charset="0"/>
                <a:cs typeface="Sans Serif Collection" panose="020B0502040504020204" pitchFamily="34" charset="0"/>
              </a:rPr>
              <a:t>sequence.json</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using agent synthesis single LLM judgment call, then render the result. Five of the six steps are deterministic tooling; the LLM only ever sees evidence that's already been gathered and filtered for it</a:t>
            </a:r>
            <a:endParaRPr lang="en-GB" sz="1100" b="1" i="0" dirty="0">
              <a:solidFill>
                <a:srgbClr val="44546A"/>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dirty="0"/>
          </a:p>
        </p:txBody>
      </p:sp>
      <p:sp>
        <p:nvSpPr>
          <p:cNvPr id="4" name="Slide Number Placeholder 3"/>
          <p:cNvSpPr>
            <a:spLocks noGrp="1"/>
          </p:cNvSpPr>
          <p:nvPr>
            <p:ph type="sldNum" sz="quarter" idx="5"/>
          </p:nvPr>
        </p:nvSpPr>
        <p:spPr/>
        <p:txBody>
          <a:bodyPr/>
          <a:lstStyle/>
          <a:p>
            <a:fld id="{8D18E0B9-48E4-499D-93B2-B07D00395BAC}" type="slidenum">
              <a:rPr lang="en-US" smtClean="0"/>
              <a:t>44</a:t>
            </a:fld>
            <a:endParaRPr lang="en-US" dirty="0"/>
          </a:p>
        </p:txBody>
      </p:sp>
    </p:spTree>
    <p:extLst>
      <p:ext uri="{BB962C8B-B14F-4D97-AF65-F5344CB8AC3E}">
        <p14:creationId xmlns:p14="http://schemas.microsoft.com/office/powerpoint/2010/main" val="42882402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True Positive: a triple the reference expects </a:t>
            </a:r>
            <a:r>
              <a:rPr lang="en-GB" sz="1200" b="0" i="1" kern="1200" dirty="0">
                <a:solidFill>
                  <a:schemeClr val="tx1"/>
                </a:solidFill>
                <a:effectLst/>
                <a:latin typeface="+mn-lt"/>
                <a:ea typeface="+mn-ea"/>
                <a:cs typeface="+mn-cs"/>
              </a:rPr>
              <a:t>and</a:t>
            </a:r>
            <a:r>
              <a:rPr lang="en-GB" sz="1200" b="0" i="0" kern="1200" dirty="0">
                <a:solidFill>
                  <a:schemeClr val="tx1"/>
                </a:solidFill>
                <a:effectLst/>
                <a:latin typeface="+mn-lt"/>
                <a:ea typeface="+mn-ea"/>
                <a:cs typeface="+mn-cs"/>
              </a:rPr>
              <a:t> the generated file has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False Positive: a triple the generated file has that isn't in the reference — an invented edge (GEN − REF)</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False Negative: a triple the reference expects that the generated file is missing (REF − GEN)</a:t>
            </a:r>
          </a:p>
          <a:p>
            <a:endParaRPr lang="en-GB" dirty="0"/>
          </a:p>
          <a:p>
            <a:r>
              <a:rPr lang="en-GB" sz="1200" b="0" i="0" kern="1200" dirty="0">
                <a:solidFill>
                  <a:schemeClr val="tx1"/>
                </a:solidFill>
                <a:effectLst/>
                <a:latin typeface="+mn-lt"/>
                <a:ea typeface="+mn-ea"/>
                <a:cs typeface="+mn-cs"/>
              </a:rPr>
              <a:t>Precision asks "of what I generated, how much was right"; recall asks "of what should be there, how much did I find"</a:t>
            </a:r>
            <a:endParaRPr lang="en-GB" dirty="0"/>
          </a:p>
        </p:txBody>
      </p:sp>
      <p:sp>
        <p:nvSpPr>
          <p:cNvPr id="4" name="Slide Number Placeholder 3"/>
          <p:cNvSpPr>
            <a:spLocks noGrp="1"/>
          </p:cNvSpPr>
          <p:nvPr>
            <p:ph type="sldNum" sz="quarter" idx="5"/>
          </p:nvPr>
        </p:nvSpPr>
        <p:spPr/>
        <p:txBody>
          <a:bodyPr/>
          <a:lstStyle/>
          <a:p>
            <a:fld id="{8D18E0B9-48E4-499D-93B2-B07D00395BAC}" type="slidenum">
              <a:rPr lang="en-US" smtClean="0"/>
              <a:t>45</a:t>
            </a:fld>
            <a:endParaRPr lang="en-US" dirty="0"/>
          </a:p>
        </p:txBody>
      </p:sp>
    </p:spTree>
    <p:extLst>
      <p:ext uri="{BB962C8B-B14F-4D97-AF65-F5344CB8AC3E}">
        <p14:creationId xmlns:p14="http://schemas.microsoft.com/office/powerpoint/2010/main" val="8974997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D18E0B9-48E4-499D-93B2-B07D00395BAC}" type="slidenum">
              <a:rPr lang="en-US" smtClean="0"/>
              <a:t>58</a:t>
            </a:fld>
            <a:endParaRPr lang="en-US" dirty="0"/>
          </a:p>
        </p:txBody>
      </p:sp>
    </p:spTree>
    <p:extLst>
      <p:ext uri="{BB962C8B-B14F-4D97-AF65-F5344CB8AC3E}">
        <p14:creationId xmlns:p14="http://schemas.microsoft.com/office/powerpoint/2010/main" val="4655576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Block Definition Diagram (BDD) describes the static structure of the system by showing components and their relationships. An Internal Block Diagram (IBD) refines those components by showing their ports, interfaces, and connectors, explaining how they interact internally. In my project, dependency extraction is used to generate BDDs, while function-level interaction analysis is used to infer ports and generate IBDs.</a:t>
            </a:r>
            <a:r>
              <a:rPr lang="en-IN" dirty="0"/>
              <a:t> IBD – to understand How these components communicate. BDD - These components exist.</a:t>
            </a:r>
          </a:p>
        </p:txBody>
      </p:sp>
      <p:sp>
        <p:nvSpPr>
          <p:cNvPr id="4" name="Slide Number Placeholder 3"/>
          <p:cNvSpPr>
            <a:spLocks noGrp="1"/>
          </p:cNvSpPr>
          <p:nvPr>
            <p:ph type="sldNum" sz="quarter" idx="5"/>
          </p:nvPr>
        </p:nvSpPr>
        <p:spPr/>
        <p:txBody>
          <a:bodyPr/>
          <a:lstStyle/>
          <a:p>
            <a:fld id="{8D18E0B9-48E4-499D-93B2-B07D00395BAC}" type="slidenum">
              <a:rPr lang="en-US" smtClean="0"/>
              <a:t>60</a:t>
            </a:fld>
            <a:endParaRPr lang="en-US" dirty="0"/>
          </a:p>
        </p:txBody>
      </p:sp>
    </p:spTree>
    <p:extLst>
      <p:ext uri="{BB962C8B-B14F-4D97-AF65-F5344CB8AC3E}">
        <p14:creationId xmlns:p14="http://schemas.microsoft.com/office/powerpoint/2010/main" val="26647843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A Block Definition Diagram (BDD) describes the static structure of the system by showing components and their relationships. An Internal Block Diagram (IBD) refines those components by showing their ports, interfaces, and connectors, explaining how they interact internally. In my project, dependency extraction is used to generate BDDs, while function-level interaction analysis is used to infer ports and generate IBDs.</a:t>
            </a:r>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62</a:t>
            </a:fld>
            <a:endParaRPr lang="en-US" dirty="0"/>
          </a:p>
        </p:txBody>
      </p:sp>
    </p:spTree>
    <p:extLst>
      <p:ext uri="{BB962C8B-B14F-4D97-AF65-F5344CB8AC3E}">
        <p14:creationId xmlns:p14="http://schemas.microsoft.com/office/powerpoint/2010/main" val="980252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t>66</a:t>
            </a:fld>
            <a:endParaRPr lang="en-US" dirty="0"/>
          </a:p>
        </p:txBody>
      </p:sp>
    </p:spTree>
    <p:extLst>
      <p:ext uri="{BB962C8B-B14F-4D97-AF65-F5344CB8AC3E}">
        <p14:creationId xmlns:p14="http://schemas.microsoft.com/office/powerpoint/2010/main" val="2181297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The goal is to combine static code structure and incomplete runtime traces to synthesize a scenario-specific interaction diagram in </a:t>
            </a:r>
            <a:r>
              <a:rPr lang="en-US" dirty="0" err="1"/>
              <a:t>SysML</a:t>
            </a:r>
            <a:r>
              <a:rPr lang="en-US" dirty="0"/>
              <a:t> v2</a:t>
            </a:r>
          </a:p>
          <a:p>
            <a:endParaRPr lang="en-US" dirty="0"/>
          </a:p>
          <a:p>
            <a:r>
              <a:rPr lang="en-US" dirty="0"/>
              <a:t>How can we filter both code and traces so we only focus on behavior relevant to a given scenario?</a:t>
            </a:r>
          </a:p>
          <a:p>
            <a:r>
              <a:rPr lang="en-US" dirty="0"/>
              <a:t>What kind of graph can meaningfully combine static call relationships with timestamped runtime events?</a:t>
            </a:r>
          </a:p>
          <a:p>
            <a:r>
              <a:rPr lang="en-US" dirty="0"/>
              <a:t>Does combining both actually improve completeness and accuracy compared to static-only or trace-only approaches?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Static and dynamic information are then aligned through </a:t>
            </a:r>
            <a:r>
              <a:rPr lang="en-US" b="1" dirty="0"/>
              <a:t>trace-to-code mapping</a:t>
            </a:r>
            <a:r>
              <a:rPr lang="en-US" dirty="0"/>
              <a:t>. </a:t>
            </a:r>
          </a:p>
          <a:p>
            <a:endParaRPr lang="en-IN" dirty="0"/>
          </a:p>
          <a:p>
            <a:r>
              <a:rPr lang="en-US" dirty="0"/>
              <a:t>who talks to whom, in what order, under which conditions</a:t>
            </a:r>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68</a:t>
            </a:fld>
            <a:endParaRPr lang="en-US" dirty="0"/>
          </a:p>
        </p:txBody>
      </p:sp>
    </p:spTree>
    <p:extLst>
      <p:ext uri="{BB962C8B-B14F-4D97-AF65-F5344CB8AC3E}">
        <p14:creationId xmlns:p14="http://schemas.microsoft.com/office/powerpoint/2010/main" val="20439926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GB"/>
          </a:p>
        </p:txBody>
      </p:sp>
      <p:sp>
        <p:nvSpPr>
          <p:cNvPr id="3" name="Notes Placeholder 2"/>
          <p:cNvSpPr>
            <a:spLocks noGrp="1"/>
          </p:cNvSpPr>
          <p:nvPr>
            <p:ph type="body" sz="quarter" idx="3"/>
          </p:nvPr>
        </p:nvSpPr>
        <p:spPr/>
        <p:txBody>
          <a:bodyPr/>
          <a:lstStyle/>
          <a:p>
            <a:r>
              <a:t>[2:00] The systems I care about are long-lived and safety-critical — think</a:t>
            </a:r>
          </a:p>
          <a:p>
            <a:r>
              <a:t>medical imaging or industrial automation. Their behaviour is supposed to be</a:t>
            </a:r>
          </a:p>
          <a:p>
            <a:r>
              <a:t>captured in interaction models, i.e. sequence diagrams. But in practice those</a:t>
            </a:r>
          </a:p>
          <a:p>
            <a:r>
              <a:t>diagrams drift out of sync as the code evolves, so engineers end up</a:t>
            </a:r>
          </a:p>
          <a:p>
            <a:r>
              <a:t>reconstructing behaviour by hand — slow and expertise-dependent. Event-driven</a:t>
            </a:r>
          </a:p>
          <a:p>
            <a:r>
              <a:t>systems make it harder because async callbacks and pub/sub hide who talks to</a:t>
            </a:r>
          </a:p>
          <a:p>
            <a:r>
              <a:t>whom.</a:t>
            </a:r>
          </a:p>
          <a:p>
            <a:r>
              <a:t>On the right is a real, previously-resolved defect that motivated the work: a</a:t>
            </a:r>
          </a:p>
          <a:p>
            <a:r>
              <a:t>stale proxy was never freed because a reset call was missing, and after a</a:t>
            </a:r>
          </a:p>
          <a:p>
            <a:r>
              <a:t>restart the system silently stopped delivering notifications. It was only</a:t>
            </a:r>
          </a:p>
          <a:p>
            <a:r>
              <a:t>visible by tracing an implicit event chain that no diagram showed — exactly the</a:t>
            </a:r>
          </a:p>
          <a:p>
            <a:r>
              <a:t>kind of model this thesis reconstructs automatically.</a:t>
            </a:r>
          </a:p>
        </p:txBody>
      </p:sp>
      <p:sp>
        <p:nvSpPr>
          <p:cNvPr id="4" name="Slide Number Placeholder 3"/>
          <p:cNvSpPr>
            <a:spLocks noGrp="1"/>
          </p:cNvSpPr>
          <p:nvPr>
            <p:ph type="sldNum" sz="quarter" idx="5"/>
          </p:nvPr>
        </p:nvSpPr>
        <p:spPr/>
        <p:txBody>
          <a:bodyPr/>
          <a:lstStyle/>
          <a:p>
            <a:endParaRPr lang="en-GB"/>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We compare trace-only diagrams with hybrid diagrams to show improvements in completeness and clarity.</a:t>
            </a:r>
          </a:p>
          <a:p>
            <a:endParaRPr lang="en-US" dirty="0"/>
          </a:p>
          <a:p>
            <a:r>
              <a:rPr lang="en-US" dirty="0"/>
              <a:t>The evaluation focuses on qualitative completeness and structural accuracy metrics rather than raw performance.</a:t>
            </a:r>
          </a:p>
          <a:p>
            <a:endParaRPr lang="en-US" dirty="0"/>
          </a:p>
          <a:p>
            <a:r>
              <a:rPr lang="en-US" dirty="0"/>
              <a:t>We compare interaction diagrams generated using trace-only, static-only, and hybrid approaches. The expectation is that the hybrid method produces more complete flows without introducing excessive over-approximation. The outcome includes a working prototype and comparative evaluation results.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Goal is to create a more richer, more accurate and more complete interaction diagrams </a:t>
            </a:r>
            <a:r>
              <a:rPr lang="en-US" dirty="0"/>
              <a:t>– which can assist the engineers in taking architectural decisions </a:t>
            </a:r>
          </a:p>
          <a:p>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74</a:t>
            </a:fld>
            <a:endParaRPr lang="en-US" dirty="0"/>
          </a:p>
        </p:txBody>
      </p:sp>
    </p:spTree>
    <p:extLst>
      <p:ext uri="{BB962C8B-B14F-4D97-AF65-F5344CB8AC3E}">
        <p14:creationId xmlns:p14="http://schemas.microsoft.com/office/powerpoint/2010/main" val="37865303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015DB-4223-6413-6CCE-02D6E2D039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747051-55F6-D765-6287-FB7453E1423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00D6548-8D09-CCB0-A1E1-7AC6637A38F0}"/>
              </a:ext>
            </a:extLst>
          </p:cNvPr>
          <p:cNvSpPr>
            <a:spLocks noGrp="1"/>
          </p:cNvSpPr>
          <p:nvPr>
            <p:ph type="body" idx="1"/>
          </p:nvPr>
        </p:nvSpPr>
        <p:spPr/>
        <p:txBody>
          <a:bodyPr/>
          <a:lstStyle/>
          <a:p>
            <a:r>
              <a:rPr lang="en-US" dirty="0"/>
              <a:t>The scope is intentionally limited to one scenario to ensure feasibility within the 22-week timeline. </a:t>
            </a:r>
          </a:p>
          <a:p>
            <a:r>
              <a:rPr lang="en-US" dirty="0"/>
              <a:t>✓ Single scenario ✓ Single industrial system ✓ Proof-of-concept focus</a:t>
            </a:r>
          </a:p>
          <a:p>
            <a:endParaRPr lang="en-US" dirty="0"/>
          </a:p>
          <a:p>
            <a:r>
              <a:rPr lang="en-US" dirty="0"/>
              <a:t>Point out it’s </a:t>
            </a:r>
            <a:r>
              <a:rPr lang="en-US" b="1" dirty="0"/>
              <a:t>incremental</a:t>
            </a:r>
            <a:endParaRPr lang="en-US" dirty="0"/>
          </a:p>
          <a:p>
            <a:r>
              <a:rPr lang="en-US" dirty="0"/>
              <a:t>Early risk is handled early (literature + static analysis)</a:t>
            </a:r>
          </a:p>
          <a:p>
            <a:r>
              <a:rPr lang="en-US" dirty="0"/>
              <a:t>Buffer included → realistic planning</a:t>
            </a:r>
          </a:p>
          <a:p>
            <a:r>
              <a:rPr lang="en-US" dirty="0"/>
              <a:t>Optional reassurance:</a:t>
            </a:r>
          </a:p>
          <a:p>
            <a:r>
              <a:rPr lang="en-US" b="1" dirty="0"/>
              <a:t>“Each phase produces intermediate artifacts, reducing project risk.”</a:t>
            </a:r>
          </a:p>
          <a:p>
            <a:endParaRPr lang="en-US" dirty="0"/>
          </a:p>
        </p:txBody>
      </p:sp>
      <p:sp>
        <p:nvSpPr>
          <p:cNvPr id="4" name="Slide Number Placeholder 3">
            <a:extLst>
              <a:ext uri="{FF2B5EF4-FFF2-40B4-BE49-F238E27FC236}">
                <a16:creationId xmlns:a16="http://schemas.microsoft.com/office/drawing/2014/main" id="{8C2BEA63-8E9D-D6A0-3669-015CF0F58824}"/>
              </a:ext>
            </a:extLst>
          </p:cNvPr>
          <p:cNvSpPr>
            <a:spLocks noGrp="1"/>
          </p:cNvSpPr>
          <p:nvPr>
            <p:ph type="sldNum" sz="quarter" idx="5"/>
          </p:nvPr>
        </p:nvSpPr>
        <p:spPr/>
        <p:txBody>
          <a:bodyPr/>
          <a:lstStyle/>
          <a:p>
            <a:fld id="{8D18E0B9-48E4-499D-93B2-B07D00395BAC}" type="slidenum">
              <a:rPr lang="en-US" smtClean="0"/>
              <a:t>75</a:t>
            </a:fld>
            <a:endParaRPr lang="en-US" dirty="0"/>
          </a:p>
        </p:txBody>
      </p:sp>
    </p:spTree>
    <p:extLst>
      <p:ext uri="{BB962C8B-B14F-4D97-AF65-F5344CB8AC3E}">
        <p14:creationId xmlns:p14="http://schemas.microsoft.com/office/powerpoint/2010/main" val="3131678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CA39D92-9919-A80E-44FF-6B912E850733}"/>
              </a:ext>
            </a:extLst>
          </p:cNvPr>
          <p:cNvSpPr>
            <a:spLocks noGrp="1"/>
          </p:cNvSpPr>
          <p:nvPr>
            <p:ph type="pic" sz="quarter" idx="10" hasCustomPrompt="1"/>
          </p:nvPr>
        </p:nvSpPr>
        <p:spPr>
          <a:xfrm>
            <a:off x="458788" y="457200"/>
            <a:ext cx="11274425" cy="5943600"/>
          </a:xfrm>
        </p:spPr>
        <p:txBody>
          <a:bodyPr>
            <a:normAutofit/>
          </a:bodyPr>
          <a:lstStyle>
            <a:lvl1pPr marL="0" indent="0">
              <a:buNone/>
              <a:defRPr sz="2000"/>
            </a:lvl1pPr>
          </a:lstStyle>
          <a:p>
            <a:r>
              <a:rPr lang="en-US" dirty="0"/>
              <a:t>Click icon to insert picture</a:t>
            </a:r>
          </a:p>
        </p:txBody>
      </p:sp>
      <p:sp>
        <p:nvSpPr>
          <p:cNvPr id="6" name="Title 5">
            <a:extLst>
              <a:ext uri="{FF2B5EF4-FFF2-40B4-BE49-F238E27FC236}">
                <a16:creationId xmlns:a16="http://schemas.microsoft.com/office/drawing/2014/main" id="{B62FF34D-C8F8-1796-647D-D17056A27E11}"/>
              </a:ext>
            </a:extLst>
          </p:cNvPr>
          <p:cNvSpPr>
            <a:spLocks noGrp="1"/>
          </p:cNvSpPr>
          <p:nvPr>
            <p:ph type="title" hasCustomPrompt="1"/>
          </p:nvPr>
        </p:nvSpPr>
        <p:spPr>
          <a:xfrm>
            <a:off x="6581955" y="612475"/>
            <a:ext cx="4701904" cy="3079029"/>
          </a:xfrm>
        </p:spPr>
        <p:txBody>
          <a:bodyPr anchor="b">
            <a:normAutofit/>
          </a:bodyPr>
          <a:lstStyle>
            <a:lvl1pPr algn="r">
              <a:defRPr sz="4800">
                <a:solidFill>
                  <a:schemeClr val="tx1"/>
                </a:solidFill>
              </a:defRPr>
            </a:lvl1pPr>
          </a:lstStyle>
          <a:p>
            <a:r>
              <a:rPr lang="en-US" dirty="0"/>
              <a:t>Click to add title</a:t>
            </a:r>
          </a:p>
        </p:txBody>
      </p:sp>
    </p:spTree>
    <p:extLst>
      <p:ext uri="{BB962C8B-B14F-4D97-AF65-F5344CB8AC3E}">
        <p14:creationId xmlns:p14="http://schemas.microsoft.com/office/powerpoint/2010/main" val="907688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C229E2-8757-94D8-A1B6-702189DCCBF2}"/>
              </a:ext>
              <a:ext uri="{C183D7F6-B498-43B3-948B-1728B52AA6E4}">
                <adec:decorative xmlns:adec="http://schemas.microsoft.com/office/drawing/2017/decorative" val="1"/>
              </a:ext>
            </a:extLst>
          </p:cNvPr>
          <p:cNvSpPr/>
          <p:nvPr userDrawn="1"/>
        </p:nvSpPr>
        <p:spPr>
          <a:xfrm>
            <a:off x="6096000" y="3249"/>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A77143C8-CDFF-B937-C00C-5E7B5093991E}"/>
              </a:ext>
            </a:extLst>
          </p:cNvPr>
          <p:cNvSpPr>
            <a:spLocks noGrp="1"/>
          </p:cNvSpPr>
          <p:nvPr>
            <p:ph type="title" hasCustomPrompt="1"/>
          </p:nvPr>
        </p:nvSpPr>
        <p:spPr>
          <a:xfrm>
            <a:off x="914400" y="883920"/>
            <a:ext cx="4114800" cy="5059680"/>
          </a:xfrm>
        </p:spPr>
        <p:txBody>
          <a:bodyPr>
            <a:normAutofit/>
          </a:bodyPr>
          <a:lstStyle>
            <a:lvl1pPr>
              <a:defRPr sz="3600">
                <a:solidFill>
                  <a:schemeClr val="tx1">
                    <a:lumMod val="75000"/>
                    <a:lumOff val="25000"/>
                  </a:schemeClr>
                </a:solidFill>
              </a:defRPr>
            </a:lvl1pPr>
          </a:lstStyle>
          <a:p>
            <a:r>
              <a:rPr lang="en-US" dirty="0"/>
              <a:t>Click to add title</a:t>
            </a:r>
          </a:p>
        </p:txBody>
      </p:sp>
      <p:sp>
        <p:nvSpPr>
          <p:cNvPr id="10" name="Content Placeholder 9">
            <a:extLst>
              <a:ext uri="{FF2B5EF4-FFF2-40B4-BE49-F238E27FC236}">
                <a16:creationId xmlns:a16="http://schemas.microsoft.com/office/drawing/2014/main" id="{F82637A1-1BB4-AF51-24C3-6FE78DD45D99}"/>
              </a:ext>
            </a:extLst>
          </p:cNvPr>
          <p:cNvSpPr>
            <a:spLocks noGrp="1"/>
          </p:cNvSpPr>
          <p:nvPr>
            <p:ph sz="quarter" idx="10" hasCustomPrompt="1"/>
          </p:nvPr>
        </p:nvSpPr>
        <p:spPr>
          <a:xfrm>
            <a:off x="6475413" y="2438400"/>
            <a:ext cx="4799012" cy="3505200"/>
          </a:xfrm>
        </p:spPr>
        <p:txBody>
          <a:bodyPr>
            <a:normAutofit/>
          </a:bodyPr>
          <a:lstStyle>
            <a:lvl1pPr marL="0" indent="0">
              <a:lnSpc>
                <a:spcPct val="125000"/>
              </a:lnSpc>
              <a:buNone/>
              <a:defRPr sz="1800"/>
            </a:lvl1pPr>
            <a:lvl2pPr marL="457200" indent="0">
              <a:lnSpc>
                <a:spcPct val="125000"/>
              </a:lnSpc>
              <a:buNone/>
              <a:defRPr sz="1600"/>
            </a:lvl2pPr>
            <a:lvl3pPr marL="914400" indent="0">
              <a:lnSpc>
                <a:spcPct val="125000"/>
              </a:lnSpc>
              <a:buNone/>
              <a:defRPr sz="1400"/>
            </a:lvl3pPr>
            <a:lvl4pPr marL="1371600" indent="0">
              <a:lnSpc>
                <a:spcPct val="125000"/>
              </a:lnSpc>
              <a:buNone/>
              <a:defRPr sz="1200"/>
            </a:lvl4pPr>
            <a:lvl5pPr marL="1828800" indent="0">
              <a:lnSpc>
                <a:spcPct val="125000"/>
              </a:lnSpc>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3" name="Frame 2">
            <a:extLst>
              <a:ext uri="{FF2B5EF4-FFF2-40B4-BE49-F238E27FC236}">
                <a16:creationId xmlns:a16="http://schemas.microsoft.com/office/drawing/2014/main" id="{56F59DF2-AB3C-B7B3-826A-636B8CC5AB31}"/>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457687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737016-0B2B-9F81-7A77-63223C4864D8}"/>
              </a:ext>
              <a:ext uri="{C183D7F6-B498-43B3-948B-1728B52AA6E4}">
                <adec:decorative xmlns:adec="http://schemas.microsoft.com/office/drawing/2017/decorative" val="1"/>
              </a:ext>
            </a:extLst>
          </p:cNvPr>
          <p:cNvSpPr/>
          <p:nvPr userDrawn="1"/>
        </p:nvSpPr>
        <p:spPr>
          <a:xfrm>
            <a:off x="386316" y="347329"/>
            <a:ext cx="11419368" cy="6152707"/>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1134E572-08FE-0439-A460-8DFE1183A605}"/>
              </a:ext>
            </a:extLst>
          </p:cNvPr>
          <p:cNvSpPr>
            <a:spLocks noGrp="1"/>
          </p:cNvSpPr>
          <p:nvPr>
            <p:ph type="title" hasCustomPrompt="1"/>
          </p:nvPr>
        </p:nvSpPr>
        <p:spPr>
          <a:xfrm>
            <a:off x="6478742" y="914399"/>
            <a:ext cx="4798858" cy="5029199"/>
          </a:xfrm>
        </p:spPr>
        <p:txBody>
          <a:bodyPr>
            <a:normAutofit/>
          </a:bodyPr>
          <a:lstStyle>
            <a:lvl1pPr>
              <a:defRPr sz="4800"/>
            </a:lvl1pPr>
          </a:lstStyle>
          <a:p>
            <a:r>
              <a:rPr lang="en-US" dirty="0"/>
              <a:t>Click to add title</a:t>
            </a:r>
          </a:p>
        </p:txBody>
      </p:sp>
      <p:sp>
        <p:nvSpPr>
          <p:cNvPr id="9" name="Picture Placeholder 8">
            <a:extLst>
              <a:ext uri="{FF2B5EF4-FFF2-40B4-BE49-F238E27FC236}">
                <a16:creationId xmlns:a16="http://schemas.microsoft.com/office/drawing/2014/main" id="{01EB46EC-087C-B8FF-2363-B99FAE983B02}"/>
              </a:ext>
            </a:extLst>
          </p:cNvPr>
          <p:cNvSpPr>
            <a:spLocks noGrp="1"/>
          </p:cNvSpPr>
          <p:nvPr>
            <p:ph type="pic" sz="quarter" idx="10"/>
          </p:nvPr>
        </p:nvSpPr>
        <p:spPr>
          <a:xfrm>
            <a:off x="0" y="914400"/>
            <a:ext cx="5713413" cy="5029200"/>
          </a:xfrm>
        </p:spPr>
        <p:txBody>
          <a:bodyPr>
            <a:normAutofit/>
          </a:bodyPr>
          <a:lstStyle>
            <a:lvl1pPr marL="0" indent="0" algn="ctr">
              <a:buNone/>
              <a:defRPr sz="2000"/>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819926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text and imag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1D49246-C641-C3BA-F07B-89FFC6CDAEB8}"/>
              </a:ext>
            </a:extLst>
          </p:cNvPr>
          <p:cNvSpPr>
            <a:spLocks noGrp="1"/>
          </p:cNvSpPr>
          <p:nvPr>
            <p:ph type="title" hasCustomPrompt="1"/>
          </p:nvPr>
        </p:nvSpPr>
        <p:spPr>
          <a:xfrm>
            <a:off x="914399" y="853439"/>
            <a:ext cx="4802373" cy="2833689"/>
          </a:xfrm>
        </p:spPr>
        <p:txBody>
          <a:bodyPr rIns="914400" anchor="b"/>
          <a:lstStyle>
            <a:lvl1pPr>
              <a:defRPr sz="4800"/>
            </a:lvl1pPr>
          </a:lstStyle>
          <a:p>
            <a:r>
              <a:rPr lang="en-US" dirty="0"/>
              <a:t>Click to add title</a:t>
            </a:r>
          </a:p>
        </p:txBody>
      </p:sp>
      <p:sp>
        <p:nvSpPr>
          <p:cNvPr id="11" name="Content Placeholder 10">
            <a:extLst>
              <a:ext uri="{FF2B5EF4-FFF2-40B4-BE49-F238E27FC236}">
                <a16:creationId xmlns:a16="http://schemas.microsoft.com/office/drawing/2014/main" id="{5BE7E1DF-A70C-8F79-9B76-72B2A7B4DC71}"/>
              </a:ext>
            </a:extLst>
          </p:cNvPr>
          <p:cNvSpPr>
            <a:spLocks noGrp="1"/>
          </p:cNvSpPr>
          <p:nvPr>
            <p:ph sz="quarter" idx="11" hasCustomPrompt="1"/>
          </p:nvPr>
        </p:nvSpPr>
        <p:spPr>
          <a:xfrm>
            <a:off x="914400" y="3931919"/>
            <a:ext cx="4802735" cy="2072641"/>
          </a:xfrm>
        </p:spPr>
        <p:txBody>
          <a:bodyPr>
            <a:normAutofit/>
          </a:bodyPr>
          <a:lstStyle>
            <a:lvl1pPr marL="0" indent="0">
              <a:lnSpc>
                <a:spcPct val="125000"/>
              </a:lnSpc>
              <a:spcBef>
                <a:spcPts val="0"/>
              </a:spcBef>
              <a:buNone/>
              <a:defRPr sz="1800"/>
            </a:lvl1pPr>
            <a:lvl2pPr marL="457200" indent="0">
              <a:lnSpc>
                <a:spcPct val="125000"/>
              </a:lnSpc>
              <a:spcBef>
                <a:spcPts val="0"/>
              </a:spcBef>
              <a:buNone/>
              <a:defRPr sz="1600"/>
            </a:lvl2pPr>
            <a:lvl3pPr marL="914400" indent="0">
              <a:lnSpc>
                <a:spcPct val="125000"/>
              </a:lnSpc>
              <a:spcBef>
                <a:spcPts val="0"/>
              </a:spcBef>
              <a:buNone/>
              <a:defRPr sz="1400"/>
            </a:lvl3pPr>
            <a:lvl4pPr marL="1371600" indent="0">
              <a:lnSpc>
                <a:spcPct val="125000"/>
              </a:lnSpc>
              <a:spcBef>
                <a:spcPts val="0"/>
              </a:spcBef>
              <a:buNone/>
              <a:defRPr sz="1200"/>
            </a:lvl4pPr>
            <a:lvl5pPr marL="1828800" indent="0">
              <a:lnSpc>
                <a:spcPct val="125000"/>
              </a:lnSpc>
              <a:spcBef>
                <a:spcPts val="0"/>
              </a:spcBef>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1CD5F637-DFBF-7FED-7CD5-F46A26E5CD15}"/>
              </a:ext>
            </a:extLst>
          </p:cNvPr>
          <p:cNvSpPr>
            <a:spLocks noGrp="1"/>
          </p:cNvSpPr>
          <p:nvPr>
            <p:ph type="pic" sz="quarter" idx="10"/>
          </p:nvPr>
        </p:nvSpPr>
        <p:spPr>
          <a:xfrm>
            <a:off x="6478587" y="921230"/>
            <a:ext cx="5713413" cy="5029200"/>
          </a:xfrm>
          <a:custGeom>
            <a:avLst/>
            <a:gdLst>
              <a:gd name="connsiteX0" fmla="*/ 5327097 w 5713413"/>
              <a:gd name="connsiteY0" fmla="*/ 0 h 5029200"/>
              <a:gd name="connsiteX1" fmla="*/ 5713413 w 5713413"/>
              <a:gd name="connsiteY1" fmla="*/ 0 h 5029200"/>
              <a:gd name="connsiteX2" fmla="*/ 5713413 w 5713413"/>
              <a:gd name="connsiteY2" fmla="*/ 5029200 h 5029200"/>
              <a:gd name="connsiteX3" fmla="*/ 5327097 w 5713413"/>
              <a:gd name="connsiteY3" fmla="*/ 5029200 h 5029200"/>
              <a:gd name="connsiteX4" fmla="*/ 0 w 5713413"/>
              <a:gd name="connsiteY4" fmla="*/ 0 h 5029200"/>
              <a:gd name="connsiteX5" fmla="*/ 5313743 w 5713413"/>
              <a:gd name="connsiteY5" fmla="*/ 0 h 5029200"/>
              <a:gd name="connsiteX6" fmla="*/ 5313743 w 5713413"/>
              <a:gd name="connsiteY6" fmla="*/ 5029200 h 5029200"/>
              <a:gd name="connsiteX7" fmla="*/ 0 w 5713413"/>
              <a:gd name="connsiteY7" fmla="*/ 5029200 h 502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3413" h="5029200">
                <a:moveTo>
                  <a:pt x="5327097" y="0"/>
                </a:moveTo>
                <a:lnTo>
                  <a:pt x="5713413" y="0"/>
                </a:lnTo>
                <a:lnTo>
                  <a:pt x="5713413" y="5029200"/>
                </a:lnTo>
                <a:lnTo>
                  <a:pt x="5327097" y="5029200"/>
                </a:lnTo>
                <a:close/>
                <a:moveTo>
                  <a:pt x="0" y="0"/>
                </a:moveTo>
                <a:lnTo>
                  <a:pt x="5313743" y="0"/>
                </a:lnTo>
                <a:lnTo>
                  <a:pt x="5313743" y="5029200"/>
                </a:lnTo>
                <a:lnTo>
                  <a:pt x="0" y="5029200"/>
                </a:lnTo>
                <a:close/>
              </a:path>
            </a:pathLst>
          </a:custGeom>
        </p:spPr>
        <p:txBody>
          <a:bodyPr wrap="square">
            <a:noAutofit/>
          </a:bodyPr>
          <a:lstStyle>
            <a:lvl1pPr marL="0" indent="0" algn="ctr">
              <a:buNone/>
              <a:defRPr sz="2000"/>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13" name="Frame 12">
            <a:extLst>
              <a:ext uri="{FF2B5EF4-FFF2-40B4-BE49-F238E27FC236}">
                <a16:creationId xmlns:a16="http://schemas.microsoft.com/office/drawing/2014/main" id="{33E3B934-3E16-21AF-8F5A-9EFD93255705}"/>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278050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D872928-B479-F7C5-9C83-C448FBA36175}"/>
              </a:ext>
            </a:extLst>
          </p:cNvPr>
          <p:cNvSpPr>
            <a:spLocks noGrp="1"/>
          </p:cNvSpPr>
          <p:nvPr>
            <p:ph type="title" hasCustomPrompt="1"/>
          </p:nvPr>
        </p:nvSpPr>
        <p:spPr>
          <a:xfrm>
            <a:off x="914400" y="1020445"/>
            <a:ext cx="4114800" cy="5029200"/>
          </a:xfrm>
        </p:spPr>
        <p:txBody>
          <a:bodyPr>
            <a:normAutofit/>
          </a:bodyPr>
          <a:lstStyle>
            <a:lvl1pPr>
              <a:defRPr sz="3600"/>
            </a:lvl1pPr>
          </a:lstStyle>
          <a:p>
            <a:r>
              <a:rPr lang="en-US" dirty="0"/>
              <a:t>Click to add title</a:t>
            </a:r>
          </a:p>
        </p:txBody>
      </p:sp>
      <p:sp>
        <p:nvSpPr>
          <p:cNvPr id="9" name="Content Placeholder 10">
            <a:extLst>
              <a:ext uri="{FF2B5EF4-FFF2-40B4-BE49-F238E27FC236}">
                <a16:creationId xmlns:a16="http://schemas.microsoft.com/office/drawing/2014/main" id="{61E3771A-E1EB-0CBE-828C-2C5E1F2AE6CF}"/>
              </a:ext>
            </a:extLst>
          </p:cNvPr>
          <p:cNvSpPr>
            <a:spLocks noGrp="1"/>
          </p:cNvSpPr>
          <p:nvPr>
            <p:ph sz="quarter" idx="11" hasCustomPrompt="1"/>
          </p:nvPr>
        </p:nvSpPr>
        <p:spPr>
          <a:xfrm>
            <a:off x="6475227" y="1020445"/>
            <a:ext cx="4802735" cy="5029200"/>
          </a:xfrm>
        </p:spPr>
        <p:txBody>
          <a:bodyPr anchor="ctr">
            <a:normAutofit/>
          </a:bodyPr>
          <a:lstStyle>
            <a:lvl1pPr marL="228600" indent="-228600">
              <a:lnSpc>
                <a:spcPct val="125000"/>
              </a:lnSpc>
              <a:spcBef>
                <a:spcPts val="0"/>
              </a:spcBef>
              <a:spcAft>
                <a:spcPts val="1200"/>
              </a:spcAft>
              <a:buFont typeface="Arial" panose="020B0604020202020204" pitchFamily="34" charset="0"/>
              <a:buChar char="•"/>
              <a:defRPr sz="1800"/>
            </a:lvl1pPr>
            <a:lvl2pPr marL="411480" indent="-228600">
              <a:lnSpc>
                <a:spcPct val="125000"/>
              </a:lnSpc>
              <a:spcBef>
                <a:spcPts val="0"/>
              </a:spcBef>
              <a:spcAft>
                <a:spcPts val="1200"/>
              </a:spcAft>
              <a:buFont typeface="Arial" panose="020B0604020202020204" pitchFamily="34" charset="0"/>
              <a:buChar char="•"/>
              <a:defRPr sz="1600"/>
            </a:lvl2pPr>
            <a:lvl3pPr marL="594360" indent="-228600">
              <a:lnSpc>
                <a:spcPct val="125000"/>
              </a:lnSpc>
              <a:spcBef>
                <a:spcPts val="0"/>
              </a:spcBef>
              <a:spcAft>
                <a:spcPts val="1200"/>
              </a:spcAft>
              <a:buFont typeface="Arial" panose="020B0604020202020204" pitchFamily="34" charset="0"/>
              <a:buChar char="•"/>
              <a:defRPr sz="1400"/>
            </a:lvl3pPr>
            <a:lvl4pPr marL="777240" indent="-228600">
              <a:lnSpc>
                <a:spcPct val="125000"/>
              </a:lnSpc>
              <a:spcBef>
                <a:spcPts val="0"/>
              </a:spcBef>
              <a:spcAft>
                <a:spcPts val="1200"/>
              </a:spcAft>
              <a:buFont typeface="Arial" panose="020B0604020202020204" pitchFamily="34" charset="0"/>
              <a:buChar char="•"/>
              <a:defRPr sz="1200"/>
            </a:lvl4pPr>
            <a:lvl5pPr marL="960120" indent="-228600">
              <a:lnSpc>
                <a:spcPct val="125000"/>
              </a:lnSpc>
              <a:spcBef>
                <a:spcPts val="0"/>
              </a:spcBef>
              <a:spcAft>
                <a:spcPts val="1200"/>
              </a:spcAft>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Rectangle 1">
            <a:extLst>
              <a:ext uri="{FF2B5EF4-FFF2-40B4-BE49-F238E27FC236}">
                <a16:creationId xmlns:a16="http://schemas.microsoft.com/office/drawing/2014/main" id="{62A1635D-96F0-769B-4ECB-70502770ABBC}"/>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ame 5">
            <a:extLst>
              <a:ext uri="{FF2B5EF4-FFF2-40B4-BE49-F238E27FC236}">
                <a16:creationId xmlns:a16="http://schemas.microsoft.com/office/drawing/2014/main" id="{4F877767-0342-A344-0462-A0D877FF68F8}"/>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297152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21F215D-0D9E-64B3-1F66-E90B87932A89}"/>
              </a:ext>
            </a:extLst>
          </p:cNvPr>
          <p:cNvSpPr>
            <a:spLocks noGrp="1"/>
          </p:cNvSpPr>
          <p:nvPr>
            <p:ph type="title" hasCustomPrompt="1"/>
          </p:nvPr>
        </p:nvSpPr>
        <p:spPr>
          <a:xfrm>
            <a:off x="914400" y="900741"/>
            <a:ext cx="4802372" cy="2788919"/>
          </a:xfrm>
        </p:spPr>
        <p:txBody>
          <a:bodyPr anchor="b">
            <a:normAutofit/>
          </a:bodyPr>
          <a:lstStyle>
            <a:lvl1pPr>
              <a:defRPr sz="4800"/>
            </a:lvl1pPr>
          </a:lstStyle>
          <a:p>
            <a:r>
              <a:rPr lang="en-US" dirty="0"/>
              <a:t>Click to add title</a:t>
            </a:r>
          </a:p>
        </p:txBody>
      </p:sp>
      <p:sp>
        <p:nvSpPr>
          <p:cNvPr id="9" name="Content Placeholder 10">
            <a:extLst>
              <a:ext uri="{FF2B5EF4-FFF2-40B4-BE49-F238E27FC236}">
                <a16:creationId xmlns:a16="http://schemas.microsoft.com/office/drawing/2014/main" id="{E86A4459-11C2-44C6-0173-C666D5AADC1E}"/>
              </a:ext>
            </a:extLst>
          </p:cNvPr>
          <p:cNvSpPr>
            <a:spLocks noGrp="1"/>
          </p:cNvSpPr>
          <p:nvPr>
            <p:ph sz="quarter" idx="11" hasCustomPrompt="1"/>
          </p:nvPr>
        </p:nvSpPr>
        <p:spPr>
          <a:xfrm>
            <a:off x="914400" y="3825239"/>
            <a:ext cx="4802735" cy="2072641"/>
          </a:xfrm>
        </p:spPr>
        <p:txBody>
          <a:bodyPr>
            <a:normAutofit/>
          </a:bodyPr>
          <a:lstStyle>
            <a:lvl1pPr marL="0" indent="0">
              <a:lnSpc>
                <a:spcPct val="125000"/>
              </a:lnSpc>
              <a:spcBef>
                <a:spcPts val="0"/>
              </a:spcBef>
              <a:buNone/>
              <a:defRPr sz="1800"/>
            </a:lvl1pPr>
            <a:lvl2pPr marL="457200" indent="0">
              <a:lnSpc>
                <a:spcPct val="125000"/>
              </a:lnSpc>
              <a:spcBef>
                <a:spcPts val="0"/>
              </a:spcBef>
              <a:buNone/>
              <a:defRPr sz="1600"/>
            </a:lvl2pPr>
            <a:lvl3pPr marL="914400" indent="0">
              <a:lnSpc>
                <a:spcPct val="125000"/>
              </a:lnSpc>
              <a:spcBef>
                <a:spcPts val="0"/>
              </a:spcBef>
              <a:buNone/>
              <a:defRPr sz="1400"/>
            </a:lvl3pPr>
            <a:lvl4pPr marL="1371600" indent="0">
              <a:lnSpc>
                <a:spcPct val="125000"/>
              </a:lnSpc>
              <a:spcBef>
                <a:spcPts val="0"/>
              </a:spcBef>
              <a:buNone/>
              <a:defRPr sz="1200"/>
            </a:lvl4pPr>
            <a:lvl5pPr marL="1828800" indent="0">
              <a:lnSpc>
                <a:spcPct val="125000"/>
              </a:lnSpc>
              <a:spcBef>
                <a:spcPts val="0"/>
              </a:spcBef>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2">
            <a:extLst>
              <a:ext uri="{FF2B5EF4-FFF2-40B4-BE49-F238E27FC236}">
                <a16:creationId xmlns:a16="http://schemas.microsoft.com/office/drawing/2014/main" id="{9284EF14-0982-D931-9DD6-ECFE61D5B0F6}"/>
              </a:ext>
            </a:extLst>
          </p:cNvPr>
          <p:cNvSpPr>
            <a:spLocks noGrp="1"/>
          </p:cNvSpPr>
          <p:nvPr>
            <p:ph type="pic" sz="quarter" idx="10"/>
          </p:nvPr>
        </p:nvSpPr>
        <p:spPr>
          <a:xfrm>
            <a:off x="6478587" y="921230"/>
            <a:ext cx="5713413" cy="5029200"/>
          </a:xfrm>
          <a:custGeom>
            <a:avLst/>
            <a:gdLst>
              <a:gd name="connsiteX0" fmla="*/ 5327097 w 5713413"/>
              <a:gd name="connsiteY0" fmla="*/ 0 h 5029200"/>
              <a:gd name="connsiteX1" fmla="*/ 5713413 w 5713413"/>
              <a:gd name="connsiteY1" fmla="*/ 0 h 5029200"/>
              <a:gd name="connsiteX2" fmla="*/ 5713413 w 5713413"/>
              <a:gd name="connsiteY2" fmla="*/ 5029200 h 5029200"/>
              <a:gd name="connsiteX3" fmla="*/ 5327097 w 5713413"/>
              <a:gd name="connsiteY3" fmla="*/ 5029200 h 5029200"/>
              <a:gd name="connsiteX4" fmla="*/ 0 w 5713413"/>
              <a:gd name="connsiteY4" fmla="*/ 0 h 5029200"/>
              <a:gd name="connsiteX5" fmla="*/ 5313743 w 5713413"/>
              <a:gd name="connsiteY5" fmla="*/ 0 h 5029200"/>
              <a:gd name="connsiteX6" fmla="*/ 5313743 w 5713413"/>
              <a:gd name="connsiteY6" fmla="*/ 5029200 h 5029200"/>
              <a:gd name="connsiteX7" fmla="*/ 0 w 5713413"/>
              <a:gd name="connsiteY7" fmla="*/ 5029200 h 502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3413" h="5029200">
                <a:moveTo>
                  <a:pt x="5327097" y="0"/>
                </a:moveTo>
                <a:lnTo>
                  <a:pt x="5713413" y="0"/>
                </a:lnTo>
                <a:lnTo>
                  <a:pt x="5713413" y="5029200"/>
                </a:lnTo>
                <a:lnTo>
                  <a:pt x="5327097" y="5029200"/>
                </a:lnTo>
                <a:close/>
                <a:moveTo>
                  <a:pt x="0" y="0"/>
                </a:moveTo>
                <a:lnTo>
                  <a:pt x="5313743" y="0"/>
                </a:lnTo>
                <a:lnTo>
                  <a:pt x="5313743" y="5029200"/>
                </a:lnTo>
                <a:lnTo>
                  <a:pt x="0" y="5029200"/>
                </a:lnTo>
                <a:close/>
              </a:path>
            </a:pathLst>
          </a:custGeom>
        </p:spPr>
        <p:txBody>
          <a:bodyPr wrap="square">
            <a:noAutofit/>
          </a:bodyPr>
          <a:lstStyle>
            <a:lvl1pPr marL="0" indent="0" algn="ctr">
              <a:buNone/>
              <a:defRPr sz="2000"/>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6" name="Frame 5">
            <a:extLst>
              <a:ext uri="{FF2B5EF4-FFF2-40B4-BE49-F238E27FC236}">
                <a16:creationId xmlns:a16="http://schemas.microsoft.com/office/drawing/2014/main" id="{7D7E927E-4F73-5579-4F1D-E13899DEEA04}"/>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849067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lumn layout 1">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515600" cy="1531525"/>
          </a:xfrm>
        </p:spPr>
        <p:txBody>
          <a:bodyPr>
            <a:normAutofit/>
          </a:bodyPr>
          <a:lstStyle>
            <a:lvl1pPr>
              <a:defRPr sz="3600"/>
            </a:lvl1pPr>
          </a:lstStyle>
          <a:p>
            <a:r>
              <a:rPr lang="en-US" dirty="0"/>
              <a:t>Click to add title</a:t>
            </a:r>
          </a:p>
        </p:txBody>
      </p:sp>
      <p:sp>
        <p:nvSpPr>
          <p:cNvPr id="7" name="Rectangle 6">
            <a:extLst>
              <a:ext uri="{FF2B5EF4-FFF2-40B4-BE49-F238E27FC236}">
                <a16:creationId xmlns:a16="http://schemas.microsoft.com/office/drawing/2014/main" id="{10F349F3-2C28-5A44-EDFC-75FD6CA95EAD}"/>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11">
            <a:extLst>
              <a:ext uri="{FF2B5EF4-FFF2-40B4-BE49-F238E27FC236}">
                <a16:creationId xmlns:a16="http://schemas.microsoft.com/office/drawing/2014/main" id="{634FD449-C6E0-CF8A-82B2-52438C952C07}"/>
              </a:ext>
            </a:extLst>
          </p:cNvPr>
          <p:cNvSpPr>
            <a:spLocks noGrp="1"/>
          </p:cNvSpPr>
          <p:nvPr>
            <p:ph sz="quarter" idx="10" hasCustomPrompt="1"/>
          </p:nvPr>
        </p:nvSpPr>
        <p:spPr>
          <a:xfrm>
            <a:off x="929640" y="2153285"/>
            <a:ext cx="4953001" cy="3500438"/>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1">
            <a:extLst>
              <a:ext uri="{FF2B5EF4-FFF2-40B4-BE49-F238E27FC236}">
                <a16:creationId xmlns:a16="http://schemas.microsoft.com/office/drawing/2014/main" id="{F971E741-6253-D410-B562-50CA5976207A}"/>
              </a:ext>
            </a:extLst>
          </p:cNvPr>
          <p:cNvSpPr>
            <a:spLocks noGrp="1"/>
          </p:cNvSpPr>
          <p:nvPr>
            <p:ph sz="quarter" idx="11" hasCustomPrompt="1"/>
          </p:nvPr>
        </p:nvSpPr>
        <p:spPr>
          <a:xfrm>
            <a:off x="6309360" y="2153285"/>
            <a:ext cx="5135880" cy="3500438"/>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55D7E8F5-692D-24DD-0F8C-9563BA74AAF4}"/>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519435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lumn layout 2">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515600" cy="1531525"/>
          </a:xfrm>
        </p:spPr>
        <p:txBody>
          <a:bodyPr>
            <a:normAutofit/>
          </a:bodyPr>
          <a:lstStyle>
            <a:lvl1pPr>
              <a:defRPr sz="3600"/>
            </a:lvl1pPr>
          </a:lstStyle>
          <a:p>
            <a:r>
              <a:rPr lang="en-US" dirty="0"/>
              <a:t>Click to add title</a:t>
            </a:r>
          </a:p>
        </p:txBody>
      </p:sp>
      <p:sp>
        <p:nvSpPr>
          <p:cNvPr id="7" name="Rectangle 6">
            <a:extLst>
              <a:ext uri="{FF2B5EF4-FFF2-40B4-BE49-F238E27FC236}">
                <a16:creationId xmlns:a16="http://schemas.microsoft.com/office/drawing/2014/main" id="{10F349F3-2C28-5A44-EDFC-75FD6CA95EAD}"/>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11">
            <a:extLst>
              <a:ext uri="{FF2B5EF4-FFF2-40B4-BE49-F238E27FC236}">
                <a16:creationId xmlns:a16="http://schemas.microsoft.com/office/drawing/2014/main" id="{634FD449-C6E0-CF8A-82B2-52438C952C07}"/>
              </a:ext>
            </a:extLst>
          </p:cNvPr>
          <p:cNvSpPr>
            <a:spLocks noGrp="1"/>
          </p:cNvSpPr>
          <p:nvPr>
            <p:ph sz="quarter" idx="10" hasCustomPrompt="1"/>
          </p:nvPr>
        </p:nvSpPr>
        <p:spPr>
          <a:xfrm>
            <a:off x="929641" y="2153285"/>
            <a:ext cx="3261359" cy="3500438"/>
          </a:xfrm>
        </p:spPr>
        <p:txBody>
          <a:bodyPr lIns="91440">
            <a:normAutofit/>
          </a:bodyPr>
          <a:lstStyle>
            <a:lvl1pPr>
              <a:spcBef>
                <a:spcPts val="1000"/>
              </a:spcBef>
              <a:spcAft>
                <a:spcPts val="1200"/>
              </a:spcAft>
              <a:defRPr sz="1800" b="1"/>
            </a:lvl1pPr>
            <a:lvl2pPr>
              <a:spcBef>
                <a:spcPts val="1000"/>
              </a:spcBef>
              <a:spcAft>
                <a:spcPts val="1200"/>
              </a:spcAft>
              <a:defRPr sz="1600" b="1"/>
            </a:lvl2pPr>
            <a:lvl3pPr>
              <a:spcBef>
                <a:spcPts val="1000"/>
              </a:spcBef>
              <a:spcAft>
                <a:spcPts val="1200"/>
              </a:spcAft>
              <a:defRPr sz="1400" b="1"/>
            </a:lvl3pPr>
            <a:lvl4pPr>
              <a:spcBef>
                <a:spcPts val="1000"/>
              </a:spcBef>
              <a:spcAft>
                <a:spcPts val="1200"/>
              </a:spcAft>
              <a:defRPr sz="1200" b="1"/>
            </a:lvl4pPr>
            <a:lvl5pPr>
              <a:spcBef>
                <a:spcPts val="1000"/>
              </a:spcBef>
              <a:spcAft>
                <a:spcPts val="1200"/>
              </a:spcAft>
              <a:defRPr sz="1200" b="1"/>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1">
            <a:extLst>
              <a:ext uri="{FF2B5EF4-FFF2-40B4-BE49-F238E27FC236}">
                <a16:creationId xmlns:a16="http://schemas.microsoft.com/office/drawing/2014/main" id="{F971E741-6253-D410-B562-50CA5976207A}"/>
              </a:ext>
            </a:extLst>
          </p:cNvPr>
          <p:cNvSpPr>
            <a:spLocks noGrp="1"/>
          </p:cNvSpPr>
          <p:nvPr>
            <p:ph sz="quarter" idx="11" hasCustomPrompt="1"/>
          </p:nvPr>
        </p:nvSpPr>
        <p:spPr>
          <a:xfrm>
            <a:off x="4480560" y="2153285"/>
            <a:ext cx="6964680" cy="3500438"/>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5C0F1533-3810-C210-9B67-D2F4A1846C23}"/>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308165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icture and Content">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9C70371-D147-2B29-EAEB-B10A799D09DF}"/>
              </a:ext>
            </a:extLst>
          </p:cNvPr>
          <p:cNvSpPr>
            <a:spLocks noGrp="1"/>
          </p:cNvSpPr>
          <p:nvPr>
            <p:ph type="title" hasCustomPrompt="1"/>
          </p:nvPr>
        </p:nvSpPr>
        <p:spPr>
          <a:xfrm>
            <a:off x="916169" y="614812"/>
            <a:ext cx="10359659" cy="1325563"/>
          </a:xfrm>
        </p:spPr>
        <p:txBody>
          <a:bodyPr>
            <a:normAutofit/>
          </a:bodyPr>
          <a:lstStyle>
            <a:lvl1pPr>
              <a:defRPr sz="3600"/>
            </a:lvl1pPr>
          </a:lstStyle>
          <a:p>
            <a:r>
              <a:rPr lang="en-US" dirty="0"/>
              <a:t>Click to add title</a:t>
            </a:r>
          </a:p>
        </p:txBody>
      </p:sp>
      <p:sp>
        <p:nvSpPr>
          <p:cNvPr id="3" name="Picture Placeholder 2">
            <a:extLst>
              <a:ext uri="{FF2B5EF4-FFF2-40B4-BE49-F238E27FC236}">
                <a16:creationId xmlns:a16="http://schemas.microsoft.com/office/drawing/2014/main" id="{1C5AE226-98C6-70F4-8DED-59E8FE30401C}"/>
              </a:ext>
            </a:extLst>
          </p:cNvPr>
          <p:cNvSpPr>
            <a:spLocks noGrp="1"/>
          </p:cNvSpPr>
          <p:nvPr>
            <p:ph type="pic" sz="quarter" idx="11"/>
          </p:nvPr>
        </p:nvSpPr>
        <p:spPr>
          <a:xfrm>
            <a:off x="-367" y="2177378"/>
            <a:ext cx="5713413" cy="4669987"/>
          </a:xfrm>
          <a:custGeom>
            <a:avLst/>
            <a:gdLst>
              <a:gd name="connsiteX0" fmla="*/ 400038 w 5713413"/>
              <a:gd name="connsiteY0" fmla="*/ 0 h 4669987"/>
              <a:gd name="connsiteX1" fmla="*/ 5713413 w 5713413"/>
              <a:gd name="connsiteY1" fmla="*/ 0 h 4669987"/>
              <a:gd name="connsiteX2" fmla="*/ 5713413 w 5713413"/>
              <a:gd name="connsiteY2" fmla="*/ 4315224 h 4669987"/>
              <a:gd name="connsiteX3" fmla="*/ 400038 w 5713413"/>
              <a:gd name="connsiteY3" fmla="*/ 4315224 h 4669987"/>
              <a:gd name="connsiteX4" fmla="*/ 0 w 5713413"/>
              <a:gd name="connsiteY4" fmla="*/ 0 h 4669987"/>
              <a:gd name="connsiteX5" fmla="*/ 386684 w 5713413"/>
              <a:gd name="connsiteY5" fmla="*/ 0 h 4669987"/>
              <a:gd name="connsiteX6" fmla="*/ 386684 w 5713413"/>
              <a:gd name="connsiteY6" fmla="*/ 4328578 h 4669987"/>
              <a:gd name="connsiteX7" fmla="*/ 5713413 w 5713413"/>
              <a:gd name="connsiteY7" fmla="*/ 4328578 h 4669987"/>
              <a:gd name="connsiteX8" fmla="*/ 5713413 w 5713413"/>
              <a:gd name="connsiteY8" fmla="*/ 4669987 h 4669987"/>
              <a:gd name="connsiteX9" fmla="*/ 0 w 5713413"/>
              <a:gd name="connsiteY9" fmla="*/ 4669987 h 4669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13413" h="4669987">
                <a:moveTo>
                  <a:pt x="400038" y="0"/>
                </a:moveTo>
                <a:lnTo>
                  <a:pt x="5713413" y="0"/>
                </a:lnTo>
                <a:lnTo>
                  <a:pt x="5713413" y="4315224"/>
                </a:lnTo>
                <a:lnTo>
                  <a:pt x="400038" y="4315224"/>
                </a:lnTo>
                <a:close/>
                <a:moveTo>
                  <a:pt x="0" y="0"/>
                </a:moveTo>
                <a:lnTo>
                  <a:pt x="386684" y="0"/>
                </a:lnTo>
                <a:lnTo>
                  <a:pt x="386684" y="4328578"/>
                </a:lnTo>
                <a:lnTo>
                  <a:pt x="5713413" y="4328578"/>
                </a:lnTo>
                <a:lnTo>
                  <a:pt x="5713413" y="4669987"/>
                </a:lnTo>
                <a:lnTo>
                  <a:pt x="0" y="4669987"/>
                </a:lnTo>
                <a:close/>
              </a:path>
            </a:pathLst>
          </a:custGeom>
        </p:spPr>
        <p:txBody>
          <a:bodyPr wrap="square">
            <a:noAutofit/>
          </a:bodyPr>
          <a:lstStyle>
            <a:lvl1pPr marL="0" indent="0" algn="ctr">
              <a:buNone/>
              <a:defRPr sz="2000"/>
            </a:lvl1pPr>
          </a:lstStyle>
          <a:p>
            <a:r>
              <a:rPr lang="en-US"/>
              <a:t>Click icon to add picture</a:t>
            </a:r>
            <a:endParaRPr lang="en-US" dirty="0"/>
          </a:p>
        </p:txBody>
      </p:sp>
      <p:sp>
        <p:nvSpPr>
          <p:cNvPr id="12" name="Content Placeholder 11">
            <a:extLst>
              <a:ext uri="{FF2B5EF4-FFF2-40B4-BE49-F238E27FC236}">
                <a16:creationId xmlns:a16="http://schemas.microsoft.com/office/drawing/2014/main" id="{8EEA9034-22FD-3C2F-6A27-63638969802D}"/>
              </a:ext>
            </a:extLst>
          </p:cNvPr>
          <p:cNvSpPr>
            <a:spLocks noGrp="1"/>
          </p:cNvSpPr>
          <p:nvPr>
            <p:ph sz="quarter" idx="10" hasCustomPrompt="1"/>
          </p:nvPr>
        </p:nvSpPr>
        <p:spPr>
          <a:xfrm>
            <a:off x="6475413" y="2153285"/>
            <a:ext cx="4799012" cy="3790315"/>
          </a:xfrm>
        </p:spPr>
        <p:txBody>
          <a:bodyPr>
            <a:normAutofit/>
          </a:bodyPr>
          <a:lstStyle>
            <a:lvl1pPr>
              <a:lnSpc>
                <a:spcPct val="95000"/>
              </a:lnSpc>
              <a:spcBef>
                <a:spcPts val="1000"/>
              </a:spcBef>
              <a:spcAft>
                <a:spcPts val="1200"/>
              </a:spcAft>
              <a:defRPr sz="2000"/>
            </a:lvl1pPr>
            <a:lvl2pPr>
              <a:lnSpc>
                <a:spcPct val="95000"/>
              </a:lnSpc>
              <a:spcBef>
                <a:spcPts val="1000"/>
              </a:spcBef>
              <a:spcAft>
                <a:spcPts val="1200"/>
              </a:spcAft>
              <a:defRPr sz="1800"/>
            </a:lvl2pPr>
            <a:lvl3pPr>
              <a:lnSpc>
                <a:spcPct val="95000"/>
              </a:lnSpc>
              <a:spcBef>
                <a:spcPts val="1000"/>
              </a:spcBef>
              <a:spcAft>
                <a:spcPts val="1200"/>
              </a:spcAft>
              <a:defRPr sz="1600"/>
            </a:lvl3pPr>
            <a:lvl4pPr>
              <a:lnSpc>
                <a:spcPct val="95000"/>
              </a:lnSpc>
              <a:spcBef>
                <a:spcPts val="1000"/>
              </a:spcBef>
              <a:spcAft>
                <a:spcPts val="1200"/>
              </a:spcAft>
              <a:defRPr sz="1400"/>
            </a:lvl4pPr>
            <a:lvl5pPr>
              <a:lnSpc>
                <a:spcPct val="95000"/>
              </a:lnSpc>
              <a:spcBef>
                <a:spcPts val="1000"/>
              </a:spcBef>
              <a:spcAft>
                <a:spcPts val="120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0C72AFED-AF5A-A2E9-0D36-388733BBE998}"/>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7" name="Frame 6">
            <a:extLst>
              <a:ext uri="{FF2B5EF4-FFF2-40B4-BE49-F238E27FC236}">
                <a16:creationId xmlns:a16="http://schemas.microsoft.com/office/drawing/2014/main" id="{7A42E613-3DCC-07A2-BA9B-74B13F28E591}"/>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2613901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30338E2-B50A-8F3E-2CA7-A75753E7ED96}"/>
              </a:ext>
            </a:extLst>
          </p:cNvPr>
          <p:cNvSpPr>
            <a:spLocks noGrp="1"/>
          </p:cNvSpPr>
          <p:nvPr>
            <p:ph type="title" hasCustomPrompt="1"/>
          </p:nvPr>
        </p:nvSpPr>
        <p:spPr>
          <a:xfrm>
            <a:off x="912629" y="598947"/>
            <a:ext cx="10515600" cy="1325563"/>
          </a:xfrm>
        </p:spPr>
        <p:txBody>
          <a:bodyPr>
            <a:normAutofit/>
          </a:bodyPr>
          <a:lstStyle>
            <a:lvl1pPr>
              <a:defRPr sz="3600"/>
            </a:lvl1pPr>
          </a:lstStyle>
          <a:p>
            <a:r>
              <a:rPr lang="en-US" dirty="0"/>
              <a:t>Click to add title</a:t>
            </a:r>
          </a:p>
        </p:txBody>
      </p:sp>
      <p:sp>
        <p:nvSpPr>
          <p:cNvPr id="12" name="Content Placeholder 11">
            <a:extLst>
              <a:ext uri="{FF2B5EF4-FFF2-40B4-BE49-F238E27FC236}">
                <a16:creationId xmlns:a16="http://schemas.microsoft.com/office/drawing/2014/main" id="{CC8DD029-A673-92B9-0343-3B35BE46D2F3}"/>
              </a:ext>
            </a:extLst>
          </p:cNvPr>
          <p:cNvSpPr>
            <a:spLocks noGrp="1"/>
          </p:cNvSpPr>
          <p:nvPr>
            <p:ph sz="quarter" idx="11" hasCustomPrompt="1"/>
          </p:nvPr>
        </p:nvSpPr>
        <p:spPr>
          <a:xfrm>
            <a:off x="929641" y="2153285"/>
            <a:ext cx="3032759" cy="3790310"/>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able Placeholder 10">
            <a:extLst>
              <a:ext uri="{FF2B5EF4-FFF2-40B4-BE49-F238E27FC236}">
                <a16:creationId xmlns:a16="http://schemas.microsoft.com/office/drawing/2014/main" id="{6E658BA3-0202-C705-7A02-8B70B7884420}"/>
              </a:ext>
            </a:extLst>
          </p:cNvPr>
          <p:cNvSpPr>
            <a:spLocks noGrp="1"/>
          </p:cNvSpPr>
          <p:nvPr>
            <p:ph type="tbl" sz="quarter" idx="10"/>
          </p:nvPr>
        </p:nvSpPr>
        <p:spPr>
          <a:xfrm>
            <a:off x="4724400" y="2170621"/>
            <a:ext cx="6553200" cy="3772974"/>
          </a:xfrm>
        </p:spPr>
        <p:txBody>
          <a:bodyPr>
            <a:normAutofit/>
          </a:bodyPr>
          <a:lstStyle>
            <a:lvl1pPr>
              <a:defRPr sz="2000"/>
            </a:lvl1pPr>
          </a:lstStyle>
          <a:p>
            <a:r>
              <a:rPr lang="en-US"/>
              <a:t>Click icon to add table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BD761E53-47C7-492A-D5B5-A8C2740B5157}"/>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2702953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column layout 3">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515600" cy="1531525"/>
          </a:xfrm>
        </p:spPr>
        <p:txBody>
          <a:bodyPr>
            <a:normAutofit/>
          </a:bodyPr>
          <a:lstStyle>
            <a:lvl1pPr>
              <a:defRPr sz="3600"/>
            </a:lvl1pPr>
          </a:lstStyle>
          <a:p>
            <a:r>
              <a:rPr lang="en-US" dirty="0"/>
              <a:t>Click to add title</a:t>
            </a:r>
          </a:p>
        </p:txBody>
      </p:sp>
      <p:sp>
        <p:nvSpPr>
          <p:cNvPr id="7" name="Rectangle 6">
            <a:extLst>
              <a:ext uri="{FF2B5EF4-FFF2-40B4-BE49-F238E27FC236}">
                <a16:creationId xmlns:a16="http://schemas.microsoft.com/office/drawing/2014/main" id="{10F349F3-2C28-5A44-EDFC-75FD6CA95EAD}"/>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11">
            <a:extLst>
              <a:ext uri="{FF2B5EF4-FFF2-40B4-BE49-F238E27FC236}">
                <a16:creationId xmlns:a16="http://schemas.microsoft.com/office/drawing/2014/main" id="{634FD449-C6E0-CF8A-82B2-52438C952C07}"/>
              </a:ext>
            </a:extLst>
          </p:cNvPr>
          <p:cNvSpPr>
            <a:spLocks noGrp="1"/>
          </p:cNvSpPr>
          <p:nvPr>
            <p:ph sz="quarter" idx="10" hasCustomPrompt="1"/>
          </p:nvPr>
        </p:nvSpPr>
        <p:spPr>
          <a:xfrm>
            <a:off x="929642" y="2153285"/>
            <a:ext cx="6925660" cy="3500438"/>
          </a:xfrm>
        </p:spPr>
        <p:txBody>
          <a:bodyPr lIns="91440">
            <a:normAutofit/>
          </a:bodyPr>
          <a:lstStyle>
            <a:lvl1pPr marL="0" indent="0">
              <a:spcBef>
                <a:spcPts val="1000"/>
              </a:spcBef>
              <a:spcAft>
                <a:spcPts val="1200"/>
              </a:spcAft>
              <a:buNone/>
              <a:defRPr sz="1800" b="0"/>
            </a:lvl1pPr>
            <a:lvl2pPr marL="228600">
              <a:spcBef>
                <a:spcPts val="1000"/>
              </a:spcBef>
              <a:spcAft>
                <a:spcPts val="1200"/>
              </a:spcAft>
              <a:defRPr sz="1800" b="0"/>
            </a:lvl2pPr>
            <a:lvl3pPr marL="685800">
              <a:spcBef>
                <a:spcPts val="1000"/>
              </a:spcBef>
              <a:spcAft>
                <a:spcPts val="1200"/>
              </a:spcAft>
              <a:defRPr sz="1800" b="0"/>
            </a:lvl3pPr>
            <a:lvl4pPr marL="868680">
              <a:spcBef>
                <a:spcPts val="1000"/>
              </a:spcBef>
              <a:spcAft>
                <a:spcPts val="1200"/>
              </a:spcAft>
              <a:defRPr sz="1800" b="0"/>
            </a:lvl4pPr>
            <a:lvl5pPr marL="1143000">
              <a:spcBef>
                <a:spcPts val="1000"/>
              </a:spcBef>
              <a:spcAft>
                <a:spcPts val="1200"/>
              </a:spcAft>
              <a:defRPr sz="18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1">
            <a:extLst>
              <a:ext uri="{FF2B5EF4-FFF2-40B4-BE49-F238E27FC236}">
                <a16:creationId xmlns:a16="http://schemas.microsoft.com/office/drawing/2014/main" id="{F971E741-6253-D410-B562-50CA5976207A}"/>
              </a:ext>
            </a:extLst>
          </p:cNvPr>
          <p:cNvSpPr>
            <a:spLocks noGrp="1"/>
          </p:cNvSpPr>
          <p:nvPr>
            <p:ph sz="quarter" idx="11" hasCustomPrompt="1"/>
          </p:nvPr>
        </p:nvSpPr>
        <p:spPr>
          <a:xfrm>
            <a:off x="8215745" y="2153285"/>
            <a:ext cx="3229495" cy="3500438"/>
          </a:xfrm>
        </p:spPr>
        <p:txBody>
          <a:bodyPr lIns="91440">
            <a:normAutofit/>
          </a:bodyPr>
          <a:lstStyle>
            <a:lvl1pPr>
              <a:spcBef>
                <a:spcPts val="1000"/>
              </a:spcBef>
              <a:spcAft>
                <a:spcPts val="1200"/>
              </a:spcAft>
              <a:defRPr sz="1800" b="1"/>
            </a:lvl1pPr>
            <a:lvl2pPr>
              <a:spcBef>
                <a:spcPts val="1000"/>
              </a:spcBef>
              <a:spcAft>
                <a:spcPts val="1200"/>
              </a:spcAft>
              <a:defRPr sz="1600" b="1"/>
            </a:lvl2pPr>
            <a:lvl3pPr>
              <a:spcBef>
                <a:spcPts val="1000"/>
              </a:spcBef>
              <a:spcAft>
                <a:spcPts val="1200"/>
              </a:spcAft>
              <a:defRPr sz="1400" b="1"/>
            </a:lvl3pPr>
            <a:lvl4pPr>
              <a:spcBef>
                <a:spcPts val="1000"/>
              </a:spcBef>
              <a:spcAft>
                <a:spcPts val="1200"/>
              </a:spcAft>
              <a:defRPr sz="1200" b="1"/>
            </a:lvl4pPr>
            <a:lvl5pPr>
              <a:spcBef>
                <a:spcPts val="1000"/>
              </a:spcBef>
              <a:spcAft>
                <a:spcPts val="1200"/>
              </a:spcAft>
              <a:defRPr sz="1200" b="1"/>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C9F70CF1-DCAD-AE71-6B34-7BFB25EE530B}"/>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1542352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331450" cy="1531525"/>
          </a:xfrm>
        </p:spPr>
        <p:txBody>
          <a:bodyPr>
            <a:normAutofit/>
          </a:bodyPr>
          <a:lstStyle>
            <a:lvl1pPr>
              <a:defRPr sz="3600"/>
            </a:lvl1pPr>
          </a:lstStyle>
          <a:p>
            <a:r>
              <a:rPr lang="en-US" dirty="0"/>
              <a:t>Click to add title</a:t>
            </a:r>
          </a:p>
        </p:txBody>
      </p:sp>
      <p:sp>
        <p:nvSpPr>
          <p:cNvPr id="9" name="Table Placeholder 8">
            <a:extLst>
              <a:ext uri="{FF2B5EF4-FFF2-40B4-BE49-F238E27FC236}">
                <a16:creationId xmlns:a16="http://schemas.microsoft.com/office/drawing/2014/main" id="{0CF90928-AB48-3554-E2B9-417A00F286AD}"/>
              </a:ext>
            </a:extLst>
          </p:cNvPr>
          <p:cNvSpPr>
            <a:spLocks noGrp="1"/>
          </p:cNvSpPr>
          <p:nvPr>
            <p:ph type="tbl" sz="quarter" idx="10" hasCustomPrompt="1"/>
          </p:nvPr>
        </p:nvSpPr>
        <p:spPr>
          <a:xfrm>
            <a:off x="930275" y="2168526"/>
            <a:ext cx="10331450" cy="3939068"/>
          </a:xfrm>
        </p:spPr>
        <p:txBody>
          <a:bodyPr>
            <a:normAutofit/>
          </a:bodyPr>
          <a:lstStyle>
            <a:lvl1pPr>
              <a:defRPr sz="2400"/>
            </a:lvl1pPr>
          </a:lstStyle>
          <a:p>
            <a:r>
              <a:rPr lang="en-US" dirty="0"/>
              <a:t>Click icon to insert table</a:t>
            </a:r>
          </a:p>
        </p:txBody>
      </p:sp>
      <p:sp>
        <p:nvSpPr>
          <p:cNvPr id="8" name="Rectangle 7">
            <a:extLst>
              <a:ext uri="{FF2B5EF4-FFF2-40B4-BE49-F238E27FC236}">
                <a16:creationId xmlns:a16="http://schemas.microsoft.com/office/drawing/2014/main" id="{67D6C0A7-887A-66E2-A954-5E0592B9FD71}"/>
              </a:ext>
              <a:ext uri="{C183D7F6-B498-43B3-948B-1728B52AA6E4}">
                <adec:decorative xmlns:adec="http://schemas.microsoft.com/office/drawing/2017/decorative" val="1"/>
              </a:ext>
            </a:extLst>
          </p:cNvPr>
          <p:cNvSpPr/>
          <p:nvPr userDrawn="1"/>
        </p:nvSpPr>
        <p:spPr>
          <a:xfrm>
            <a:off x="386316" y="347329"/>
            <a:ext cx="11419368" cy="6152707"/>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963688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BB1E76-5845-01C9-1D0D-03CFFE6F06CA}"/>
              </a:ext>
              <a:ext uri="{C183D7F6-B498-43B3-948B-1728B52AA6E4}">
                <adec:decorative xmlns:adec="http://schemas.microsoft.com/office/drawing/2017/decorative" val="1"/>
              </a:ext>
            </a:extLst>
          </p:cNvPr>
          <p:cNvSpPr/>
          <p:nvPr userDrawn="1"/>
        </p:nvSpPr>
        <p:spPr>
          <a:xfrm>
            <a:off x="386316" y="347329"/>
            <a:ext cx="11419368" cy="6152707"/>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096C21AF-4286-DECE-37A1-E8980687A168}"/>
              </a:ext>
            </a:extLst>
          </p:cNvPr>
          <p:cNvSpPr>
            <a:spLocks noGrp="1"/>
          </p:cNvSpPr>
          <p:nvPr>
            <p:ph type="title" hasCustomPrompt="1"/>
          </p:nvPr>
        </p:nvSpPr>
        <p:spPr>
          <a:xfrm>
            <a:off x="899160" y="655320"/>
            <a:ext cx="4572000" cy="5486400"/>
          </a:xfrm>
        </p:spPr>
        <p:txBody>
          <a:bodyPr>
            <a:normAutofit/>
          </a:bodyPr>
          <a:lstStyle>
            <a:lvl1pPr>
              <a:defRPr sz="4800"/>
            </a:lvl1pPr>
          </a:lstStyle>
          <a:p>
            <a:r>
              <a:rPr lang="en-US" dirty="0"/>
              <a:t>Click to add title</a:t>
            </a:r>
          </a:p>
        </p:txBody>
      </p:sp>
      <p:sp>
        <p:nvSpPr>
          <p:cNvPr id="9" name="Content Placeholder 8">
            <a:extLst>
              <a:ext uri="{FF2B5EF4-FFF2-40B4-BE49-F238E27FC236}">
                <a16:creationId xmlns:a16="http://schemas.microsoft.com/office/drawing/2014/main" id="{B8E1D6B3-3EC8-6AC4-BE2B-5C732C856791}"/>
              </a:ext>
            </a:extLst>
          </p:cNvPr>
          <p:cNvSpPr>
            <a:spLocks noGrp="1"/>
          </p:cNvSpPr>
          <p:nvPr>
            <p:ph sz="quarter" idx="10" hasCustomPrompt="1"/>
          </p:nvPr>
        </p:nvSpPr>
        <p:spPr>
          <a:xfrm>
            <a:off x="6475413" y="2773680"/>
            <a:ext cx="4572000" cy="3368040"/>
          </a:xfrm>
        </p:spPr>
        <p:txBody>
          <a:bodyPr>
            <a:normAutofit/>
          </a:bodyPr>
          <a:lstStyle>
            <a:lvl1pPr marL="0" indent="0">
              <a:spcBef>
                <a:spcPts val="1000"/>
              </a:spcBef>
              <a:buNone/>
              <a:defRPr sz="1800"/>
            </a:lvl1pPr>
            <a:lvl2pPr marL="457200" indent="0">
              <a:spcBef>
                <a:spcPts val="1000"/>
              </a:spcBef>
              <a:buNone/>
              <a:defRPr sz="1600"/>
            </a:lvl2pPr>
            <a:lvl3pPr marL="914400" indent="0">
              <a:spcBef>
                <a:spcPts val="1000"/>
              </a:spcBef>
              <a:buNone/>
              <a:defRPr sz="1400"/>
            </a:lvl3pPr>
            <a:lvl4pPr marL="1371600" indent="0">
              <a:spcBef>
                <a:spcPts val="1000"/>
              </a:spcBef>
              <a:buNone/>
              <a:defRPr sz="1200"/>
            </a:lvl4pPr>
            <a:lvl5pPr marL="1828800" indent="0">
              <a:spcBef>
                <a:spcPts val="1000"/>
              </a:spcBef>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911393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Hybrid Static–Trace Interaction Model Synthesis  ·  Prathik Anand Krishnan  ·  UvA  ·  TNO-ESI /</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14452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Lst>
  <p:hf hdr="0" dt="0"/>
  <p:txStyles>
    <p:titleStyle>
      <a:lvl1pPr algn="l" defTabSz="914400" rtl="0" eaLnBrk="1" latinLnBrk="0" hangingPunct="1">
        <a:lnSpc>
          <a:spcPct val="90000"/>
        </a:lnSpc>
        <a:spcBef>
          <a:spcPct val="0"/>
        </a:spcBef>
        <a:buNone/>
        <a:defRPr sz="4400"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guide id="3" pos="1920" userDrawn="1">
          <p15:clr>
            <a:srgbClr val="F26B43"/>
          </p15:clr>
        </p15:guide>
        <p15:guide id="4" pos="5760" userDrawn="1">
          <p15:clr>
            <a:srgbClr val="F26B43"/>
          </p15:clr>
        </p15:guide>
        <p15:guide id="5" pos="7248" userDrawn="1">
          <p15:clr>
            <a:srgbClr val="F26B43"/>
          </p15:clr>
        </p15:guide>
        <p15:guide id="6" pos="43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hyperlink" Target="https://dl.acm.org/doi/abs/10.1145/263698.264352" TargetMode="Externa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hyperlink" Target="https://www.jatit.org/volumes/Vol101No22/35Vol101No22.pdf" TargetMode="External"/><Relationship Id="rId5" Type="http://schemas.openxmlformats.org/officeDocument/2006/relationships/hyperlink" Target="https://ieeexplore.ieee.org/document/6676884" TargetMode="External"/><Relationship Id="rId4" Type="http://schemas.openxmlformats.org/officeDocument/2006/relationships/hyperlink" Target="https://ieeexplore.ieee.org/document/1707665" TargetMode="Externa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A5_D195E6CE.xml"/><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microsoft.com/office/2018/10/relationships/comments" Target="../comments/modernComment_1A8_294BA3FA.xml"/><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microsoft.com/office/2018/10/relationships/comments" Target="../comments/modernComment_1C8_C69BCFDA.xml"/><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microsoft.com/office/2018/10/relationships/comments" Target="../comments/modernComment_1B2_1C7AC93D.xm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microsoft.com/office/2018/10/relationships/comments" Target="../comments/modernComment_1B1_92CC96AC.xml"/><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microsoft.com/office/2018/10/relationships/comments" Target="../comments/modernComment_165_67511C01.xml"/><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microsoft.com/office/2018/10/relationships/comments" Target="../comments/modernComment_15D_52A0B324.xml"/><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microsoft.com/office/2018/10/relationships/comments" Target="../comments/modernComment_186_71847901.xml"/><Relationship Id="rId1" Type="http://schemas.openxmlformats.org/officeDocument/2006/relationships/slideLayout" Target="../slideLayouts/slideLayout10.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microsoft.com/office/2018/10/relationships/comments" Target="../comments/modernComment_172_4D5AE85A.xml"/><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microsoft.com/office/2018/10/relationships/comments" Target="../comments/modernComment_17B_0.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8/10/relationships/comments" Target="../comments/modernComment_188_33457153.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3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8.xml.rels><?xml version="1.0" encoding="UTF-8" standalone="yes"?>
<Relationships xmlns="http://schemas.openxmlformats.org/package/2006/relationships"><Relationship Id="rId2" Type="http://schemas.microsoft.com/office/2018/10/relationships/comments" Target="../comments/modernComment_192_0.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microsoft.com/office/2018/10/relationships/comments" Target="../comments/modernComment_193_0.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microsoft.com/office/2018/10/relationships/comments" Target="../comments/modernComment_194_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microsoft.com/office/2018/10/relationships/comments" Target="../comments/modernComment_17C_0.xml"/><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microsoft.com/office/2018/10/relationships/comments" Target="../comments/modernComment_18E_C1D53EFB.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microsoft.com/office/2018/10/relationships/comments" Target="../comments/modernComment_17D_0.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3" Type="http://schemas.openxmlformats.org/officeDocument/2006/relationships/image" Target="../media/image24.png"/><Relationship Id="rId2" Type="http://schemas.microsoft.com/office/2018/10/relationships/comments" Target="../comments/modernComment_185_7D020D4A.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25.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8" Type="http://schemas.microsoft.com/office/2007/relationships/diagramDrawing" Target="../diagrams/drawing6.xml"/><Relationship Id="rId3" Type="http://schemas.microsoft.com/office/2018/10/relationships/comments" Target="../comments/modernComment_167_90842B7A.xml"/><Relationship Id="rId7" Type="http://schemas.openxmlformats.org/officeDocument/2006/relationships/diagramColors" Target="../diagrams/colors6.xml"/><Relationship Id="rId2" Type="http://schemas.openxmlformats.org/officeDocument/2006/relationships/notesSlide" Target="../notesSlides/notesSlide32.xml"/><Relationship Id="rId1" Type="http://schemas.openxmlformats.org/officeDocument/2006/relationships/slideLayout" Target="../slideLayouts/slideLayout9.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3.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72FE2-0577-51B1-27CA-A6F1834B016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136A8F5-BA23-289D-96B8-88870461AE47}"/>
              </a:ext>
            </a:extLst>
          </p:cNvPr>
          <p:cNvSpPr>
            <a:spLocks noGrp="1"/>
          </p:cNvSpPr>
          <p:nvPr>
            <p:ph type="title"/>
          </p:nvPr>
        </p:nvSpPr>
        <p:spPr>
          <a:xfrm>
            <a:off x="897855" y="771276"/>
            <a:ext cx="10339137" cy="2759243"/>
          </a:xfrm>
        </p:spPr>
        <p:txBody>
          <a:bodyPr>
            <a:normAutofit/>
          </a:bodyPr>
          <a:lstStyle/>
          <a:p>
            <a:r>
              <a:rPr lang="en-GB" sz="4000" b="1" noProof="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Analysis for Synthesizing Interaction Diagrams in Event-Driven Systems</a:t>
            </a:r>
            <a:endParaRPr lang="en-GB" sz="4000"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028" name="Picture 4" descr="Philips presenteert nieuw logo ...">
            <a:extLst>
              <a:ext uri="{FF2B5EF4-FFF2-40B4-BE49-F238E27FC236}">
                <a16:creationId xmlns:a16="http://schemas.microsoft.com/office/drawing/2014/main" id="{B298D27A-FF4D-1F99-0E32-2A60DA98A5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7416" y="5124593"/>
            <a:ext cx="962131" cy="96213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 name="Picture 1" descr="tno_esi.jpg">
            <a:extLst>
              <a:ext uri="{FF2B5EF4-FFF2-40B4-BE49-F238E27FC236}">
                <a16:creationId xmlns:a16="http://schemas.microsoft.com/office/drawing/2014/main" id="{CA3D135F-0288-47DC-BDE8-64B871EBCC37}"/>
              </a:ext>
            </a:extLst>
          </p:cNvPr>
          <p:cNvPicPr>
            <a:picLocks noChangeAspect="1"/>
          </p:cNvPicPr>
          <p:nvPr/>
        </p:nvPicPr>
        <p:blipFill>
          <a:blip r:embed="rId4"/>
          <a:stretch>
            <a:fillRect/>
          </a:stretch>
        </p:blipFill>
        <p:spPr>
          <a:xfrm>
            <a:off x="8995223" y="5217038"/>
            <a:ext cx="1580572" cy="777240"/>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176CC197-8E09-62AC-9E1B-FF977D16F02A}"/>
              </a:ext>
            </a:extLst>
          </p:cNvPr>
          <p:cNvSpPr txBox="1"/>
          <p:nvPr/>
        </p:nvSpPr>
        <p:spPr>
          <a:xfrm>
            <a:off x="897855" y="488122"/>
            <a:ext cx="8778240" cy="283154"/>
          </a:xfrm>
          <a:prstGeom prst="rect">
            <a:avLst/>
          </a:prstGeom>
          <a:noFill/>
        </p:spPr>
        <p:txBody>
          <a:bodyPr wrap="square" lIns="45720" tIns="18288" rIns="45720" bIns="18288" anchor="t">
            <a:spAutoFit/>
          </a:bodyPr>
          <a:lstStyle/>
          <a:p>
            <a:r>
              <a:rPr lang="en-GB" sz="1600" b="1" i="0"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MSc Software Engineering  ·  Thesis Defence </a:t>
            </a:r>
            <a:r>
              <a:rPr lang="en-GB" sz="1600" b="1"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 University of Amsterdam </a:t>
            </a:r>
            <a:endParaRPr lang="en-GB" sz="1600" b="1" i="0"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9" name="TextBox 8">
            <a:extLst>
              <a:ext uri="{FF2B5EF4-FFF2-40B4-BE49-F238E27FC236}">
                <a16:creationId xmlns:a16="http://schemas.microsoft.com/office/drawing/2014/main" id="{18890C5B-E528-AE19-609D-52BE595D16EC}"/>
              </a:ext>
            </a:extLst>
          </p:cNvPr>
          <p:cNvSpPr txBox="1"/>
          <p:nvPr/>
        </p:nvSpPr>
        <p:spPr>
          <a:xfrm>
            <a:off x="897855" y="3272034"/>
            <a:ext cx="10607040" cy="313932"/>
          </a:xfrm>
          <a:prstGeom prst="rect">
            <a:avLst/>
          </a:prstGeom>
          <a:noFill/>
        </p:spPr>
        <p:txBody>
          <a:bodyPr wrap="square" lIns="45720" tIns="18288" rIns="45720" bIns="18288" anchor="t">
            <a:spAutoFit/>
          </a:bodyPr>
          <a:lstStyle/>
          <a:p>
            <a:pPr algn="l"/>
            <a:r>
              <a:rPr lang="en-GB" b="0" i="1"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Scenario-Specific Interaction Diagrams in </a:t>
            </a:r>
            <a:r>
              <a:rPr lang="en-GB" b="0" i="1" noProof="0" dirty="0" err="1">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b="0" i="1"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v2</a:t>
            </a:r>
          </a:p>
        </p:txBody>
      </p:sp>
      <p:graphicFrame>
        <p:nvGraphicFramePr>
          <p:cNvPr id="10" name="Table 9">
            <a:extLst>
              <a:ext uri="{FF2B5EF4-FFF2-40B4-BE49-F238E27FC236}">
                <a16:creationId xmlns:a16="http://schemas.microsoft.com/office/drawing/2014/main" id="{F463B76B-351C-0B86-853D-E40D181497E0}"/>
              </a:ext>
            </a:extLst>
          </p:cNvPr>
          <p:cNvGraphicFramePr>
            <a:graphicFrameLocks noGrp="1"/>
          </p:cNvGraphicFramePr>
          <p:nvPr/>
        </p:nvGraphicFramePr>
        <p:xfrm>
          <a:off x="751527" y="4712213"/>
          <a:ext cx="7087547" cy="1767468"/>
        </p:xfrm>
        <a:graphic>
          <a:graphicData uri="http://schemas.openxmlformats.org/drawingml/2006/table">
            <a:tbl>
              <a:tblPr firstRow="1" bandRow="1">
                <a:tableStyleId>{68D230F3-CF80-4859-8CE7-A43EE81993B5}</a:tableStyleId>
              </a:tblPr>
              <a:tblGrid>
                <a:gridCol w="2058348">
                  <a:extLst>
                    <a:ext uri="{9D8B030D-6E8A-4147-A177-3AD203B41FA5}">
                      <a16:colId xmlns:a16="http://schemas.microsoft.com/office/drawing/2014/main" val="3782566438"/>
                    </a:ext>
                  </a:extLst>
                </a:gridCol>
                <a:gridCol w="5029199">
                  <a:extLst>
                    <a:ext uri="{9D8B030D-6E8A-4147-A177-3AD203B41FA5}">
                      <a16:colId xmlns:a16="http://schemas.microsoft.com/office/drawing/2014/main" val="3996036463"/>
                    </a:ext>
                  </a:extLst>
                </a:gridCol>
              </a:tblGrid>
              <a:tr h="247011">
                <a:tc>
                  <a:txBody>
                    <a:bodyPr/>
                    <a:lstStyle/>
                    <a:p>
                      <a:r>
                        <a:rPr lang="en-GB" sz="1600" b="0" noProof="0" dirty="0"/>
                        <a:t>Student: </a:t>
                      </a:r>
                    </a:p>
                  </a:txBody>
                  <a:tcPr/>
                </a:tc>
                <a:tc>
                  <a:txBody>
                    <a:bodyPr/>
                    <a:lstStyle/>
                    <a:p>
                      <a:r>
                        <a:rPr lang="en-GB" sz="1600" b="0" noProof="0" dirty="0"/>
                        <a:t>Prathik Anand Krishnan </a:t>
                      </a:r>
                    </a:p>
                  </a:txBody>
                  <a:tcPr/>
                </a:tc>
                <a:extLst>
                  <a:ext uri="{0D108BD9-81ED-4DB2-BD59-A6C34878D82A}">
                    <a16:rowId xmlns:a16="http://schemas.microsoft.com/office/drawing/2014/main" val="4092784579"/>
                  </a:ext>
                </a:extLst>
              </a:tr>
              <a:tr h="226813">
                <a:tc>
                  <a:txBody>
                    <a:bodyPr/>
                    <a:lstStyle/>
                    <a:p>
                      <a:r>
                        <a:rPr lang="en-GB" sz="1600" noProof="0" dirty="0"/>
                        <a:t>Daily Supervisor: </a:t>
                      </a:r>
                    </a:p>
                  </a:txBody>
                  <a:tcPr/>
                </a:tc>
                <a:tc>
                  <a:txBody>
                    <a:bodyPr/>
                    <a:lstStyle/>
                    <a:p>
                      <a:r>
                        <a:rPr lang="en-GB" sz="1600" noProof="0" dirty="0"/>
                        <a:t>Dr. Rosilde Corvino, TNO – ESI</a:t>
                      </a:r>
                    </a:p>
                  </a:txBody>
                  <a:tcPr/>
                </a:tc>
                <a:extLst>
                  <a:ext uri="{0D108BD9-81ED-4DB2-BD59-A6C34878D82A}">
                    <a16:rowId xmlns:a16="http://schemas.microsoft.com/office/drawing/2014/main" val="3126369861"/>
                  </a:ext>
                </a:extLst>
              </a:tr>
              <a:tr h="263008">
                <a:tc>
                  <a:txBody>
                    <a:bodyPr/>
                    <a:lstStyle/>
                    <a:p>
                      <a:r>
                        <a:rPr lang="en-GB" sz="1600" noProof="0" dirty="0"/>
                        <a:t>Academic Supervisor: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noProof="0" dirty="0"/>
                        <a:t>Dr. L. Thomas van Binsbergen (CCI, </a:t>
                      </a:r>
                      <a:r>
                        <a:rPr lang="en-GB" sz="1600" noProof="0" dirty="0" err="1"/>
                        <a:t>UvA</a:t>
                      </a:r>
                      <a:r>
                        <a:rPr lang="en-GB" sz="1600" noProof="0" dirty="0"/>
                        <a:t>)</a:t>
                      </a:r>
                    </a:p>
                  </a:txBody>
                  <a:tcPr/>
                </a:tc>
                <a:extLst>
                  <a:ext uri="{0D108BD9-81ED-4DB2-BD59-A6C34878D82A}">
                    <a16:rowId xmlns:a16="http://schemas.microsoft.com/office/drawing/2014/main" val="2381025709"/>
                  </a:ext>
                </a:extLst>
              </a:tr>
              <a:tr h="296789">
                <a:tc>
                  <a:txBody>
                    <a:bodyPr/>
                    <a:lstStyle/>
                    <a:p>
                      <a:r>
                        <a:rPr lang="en-GB" sz="1600" noProof="0" dirty="0"/>
                        <a:t>Second Reader: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noProof="0" dirty="0"/>
                        <a:t>Prof. Dr. Benny Åkesson (PCS, </a:t>
                      </a:r>
                      <a:r>
                        <a:rPr lang="en-GB" sz="1600" noProof="0" dirty="0" err="1"/>
                        <a:t>UvA</a:t>
                      </a:r>
                      <a:r>
                        <a:rPr lang="en-GB" sz="1600" noProof="0" dirty="0"/>
                        <a:t>)</a:t>
                      </a:r>
                    </a:p>
                  </a:txBody>
                  <a:tcPr/>
                </a:tc>
                <a:extLst>
                  <a:ext uri="{0D108BD9-81ED-4DB2-BD59-A6C34878D82A}">
                    <a16:rowId xmlns:a16="http://schemas.microsoft.com/office/drawing/2014/main" val="3140636901"/>
                  </a:ext>
                </a:extLst>
              </a:tr>
              <a:tr h="426348">
                <a:tc>
                  <a:txBody>
                    <a:bodyPr/>
                    <a:lstStyle/>
                    <a:p>
                      <a:r>
                        <a:rPr lang="en-GB" sz="1600" noProof="0" dirty="0"/>
                        <a:t>Host Organization: </a:t>
                      </a:r>
                    </a:p>
                  </a:txBody>
                  <a:tcPr/>
                </a:tc>
                <a:tc>
                  <a:txBody>
                    <a:bodyPr/>
                    <a:lstStyle/>
                    <a:p>
                      <a:r>
                        <a:rPr lang="en-GB" sz="1600" noProof="0" dirty="0"/>
                        <a:t>TNO – ESI, Eindhoven, High Tech Campus 25</a:t>
                      </a:r>
                    </a:p>
                  </a:txBody>
                  <a:tcPr/>
                </a:tc>
                <a:extLst>
                  <a:ext uri="{0D108BD9-81ED-4DB2-BD59-A6C34878D82A}">
                    <a16:rowId xmlns:a16="http://schemas.microsoft.com/office/drawing/2014/main" val="1166871269"/>
                  </a:ext>
                </a:extLst>
              </a:tr>
            </a:tbl>
          </a:graphicData>
        </a:graphic>
      </p:graphicFrame>
      <p:sp>
        <p:nvSpPr>
          <p:cNvPr id="3" name="TextBox 2">
            <a:extLst>
              <a:ext uri="{FF2B5EF4-FFF2-40B4-BE49-F238E27FC236}">
                <a16:creationId xmlns:a16="http://schemas.microsoft.com/office/drawing/2014/main" id="{682CD2E5-56EF-E37D-D52F-77D140136CA0}"/>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a:t>
            </a:r>
          </a:p>
        </p:txBody>
      </p:sp>
      <p:sp>
        <p:nvSpPr>
          <p:cNvPr id="4" name="TextBox 3">
            <a:extLst>
              <a:ext uri="{FF2B5EF4-FFF2-40B4-BE49-F238E27FC236}">
                <a16:creationId xmlns:a16="http://schemas.microsoft.com/office/drawing/2014/main" id="{6D5F8F08-8FAE-17A7-8A9F-A4C4228B9903}"/>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3005449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CF2CE-2173-3B52-F79A-18C32B1181E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57ABF55-B83F-5C2C-9125-12790B62876B}"/>
              </a:ext>
            </a:extLst>
          </p:cNvPr>
          <p:cNvSpPr/>
          <p:nvPr/>
        </p:nvSpPr>
        <p:spPr>
          <a:xfrm flipV="1">
            <a:off x="428625" y="967311"/>
            <a:ext cx="11367135" cy="83493"/>
          </a:xfrm>
          <a:prstGeom prst="rect">
            <a:avLst/>
          </a:prstGeom>
          <a:solidFill>
            <a:schemeClr val="accent5">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5" name="TextBox 4">
            <a:extLst>
              <a:ext uri="{FF2B5EF4-FFF2-40B4-BE49-F238E27FC236}">
                <a16:creationId xmlns:a16="http://schemas.microsoft.com/office/drawing/2014/main" id="{63D303B0-457C-A4CA-3380-E0408F684273}"/>
              </a:ext>
            </a:extLst>
          </p:cNvPr>
          <p:cNvSpPr txBox="1"/>
          <p:nvPr/>
        </p:nvSpPr>
        <p:spPr>
          <a:xfrm>
            <a:off x="502920" y="481161"/>
            <a:ext cx="10241280" cy="467820"/>
          </a:xfrm>
          <a:prstGeom prst="rect">
            <a:avLst/>
          </a:prstGeom>
          <a:noFill/>
        </p:spPr>
        <p:txBody>
          <a:bodyPr wrap="square" lIns="45720" tIns="18288" rIns="45720" bIns="18288" anchor="t">
            <a:spAutoFit/>
          </a:bodyPr>
          <a:lstStyle/>
          <a:p>
            <a:r>
              <a:rPr lang="en-GB" sz="2800" b="1"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Agenda</a:t>
            </a:r>
          </a:p>
        </p:txBody>
      </p:sp>
      <p:sp>
        <p:nvSpPr>
          <p:cNvPr id="7" name="Rounded Rectangle 6">
            <a:extLst>
              <a:ext uri="{FF2B5EF4-FFF2-40B4-BE49-F238E27FC236}">
                <a16:creationId xmlns:a16="http://schemas.microsoft.com/office/drawing/2014/main" id="{C7D9BD02-52B3-A61B-FC56-309CB3B61857}"/>
              </a:ext>
            </a:extLst>
          </p:cNvPr>
          <p:cNvSpPr/>
          <p:nvPr/>
        </p:nvSpPr>
        <p:spPr>
          <a:xfrm>
            <a:off x="640080" y="1417320"/>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1</a:t>
            </a:r>
          </a:p>
        </p:txBody>
      </p:sp>
      <p:sp>
        <p:nvSpPr>
          <p:cNvPr id="8" name="TextBox 7">
            <a:extLst>
              <a:ext uri="{FF2B5EF4-FFF2-40B4-BE49-F238E27FC236}">
                <a16:creationId xmlns:a16="http://schemas.microsoft.com/office/drawing/2014/main" id="{4ACACC5B-4061-4FC5-4F79-F72D3E33039C}"/>
              </a:ext>
            </a:extLst>
          </p:cNvPr>
          <p:cNvSpPr txBox="1"/>
          <p:nvPr/>
        </p:nvSpPr>
        <p:spPr>
          <a:xfrm>
            <a:off x="1325880" y="1554501"/>
            <a:ext cx="301752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Motivation</a:t>
            </a:r>
          </a:p>
        </p:txBody>
      </p:sp>
      <p:sp>
        <p:nvSpPr>
          <p:cNvPr id="10" name="Rounded Rectangle 9">
            <a:extLst>
              <a:ext uri="{FF2B5EF4-FFF2-40B4-BE49-F238E27FC236}">
                <a16:creationId xmlns:a16="http://schemas.microsoft.com/office/drawing/2014/main" id="{C822C394-4294-8DAE-4BDB-2CDD9A57FE4F}"/>
              </a:ext>
            </a:extLst>
          </p:cNvPr>
          <p:cNvSpPr/>
          <p:nvPr/>
        </p:nvSpPr>
        <p:spPr>
          <a:xfrm>
            <a:off x="640080" y="2075688"/>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2</a:t>
            </a:r>
          </a:p>
        </p:txBody>
      </p:sp>
      <p:sp>
        <p:nvSpPr>
          <p:cNvPr id="11" name="TextBox 10">
            <a:extLst>
              <a:ext uri="{FF2B5EF4-FFF2-40B4-BE49-F238E27FC236}">
                <a16:creationId xmlns:a16="http://schemas.microsoft.com/office/drawing/2014/main" id="{908D845D-AC65-31F8-36B1-0AEE840F8E53}"/>
              </a:ext>
            </a:extLst>
          </p:cNvPr>
          <p:cNvSpPr txBox="1"/>
          <p:nvPr/>
        </p:nvSpPr>
        <p:spPr>
          <a:xfrm>
            <a:off x="1325880" y="2882056"/>
            <a:ext cx="301752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Research Questions</a:t>
            </a:r>
          </a:p>
        </p:txBody>
      </p:sp>
      <p:sp>
        <p:nvSpPr>
          <p:cNvPr id="13" name="Rounded Rectangle 12">
            <a:extLst>
              <a:ext uri="{FF2B5EF4-FFF2-40B4-BE49-F238E27FC236}">
                <a16:creationId xmlns:a16="http://schemas.microsoft.com/office/drawing/2014/main" id="{0A2AB3EC-599A-4443-0A30-B5A67D133082}"/>
              </a:ext>
            </a:extLst>
          </p:cNvPr>
          <p:cNvSpPr/>
          <p:nvPr/>
        </p:nvSpPr>
        <p:spPr>
          <a:xfrm>
            <a:off x="640080" y="2734056"/>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3</a:t>
            </a:r>
          </a:p>
        </p:txBody>
      </p:sp>
      <p:sp>
        <p:nvSpPr>
          <p:cNvPr id="14" name="TextBox 13">
            <a:extLst>
              <a:ext uri="{FF2B5EF4-FFF2-40B4-BE49-F238E27FC236}">
                <a16:creationId xmlns:a16="http://schemas.microsoft.com/office/drawing/2014/main" id="{0B2FCB12-0E81-1AC3-83AF-AB598EDA9B9A}"/>
              </a:ext>
            </a:extLst>
          </p:cNvPr>
          <p:cNvSpPr txBox="1"/>
          <p:nvPr/>
        </p:nvSpPr>
        <p:spPr>
          <a:xfrm>
            <a:off x="1303020" y="2223688"/>
            <a:ext cx="301752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State-of-the-art &amp; Gaps</a:t>
            </a:r>
          </a:p>
        </p:txBody>
      </p:sp>
      <p:sp>
        <p:nvSpPr>
          <p:cNvPr id="16" name="Rounded Rectangle 15">
            <a:extLst>
              <a:ext uri="{FF2B5EF4-FFF2-40B4-BE49-F238E27FC236}">
                <a16:creationId xmlns:a16="http://schemas.microsoft.com/office/drawing/2014/main" id="{38F098AB-B6DA-1464-A120-6FEFDF67D603}"/>
              </a:ext>
            </a:extLst>
          </p:cNvPr>
          <p:cNvSpPr/>
          <p:nvPr/>
        </p:nvSpPr>
        <p:spPr>
          <a:xfrm>
            <a:off x="640080" y="3392424"/>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4</a:t>
            </a:r>
          </a:p>
        </p:txBody>
      </p:sp>
      <p:sp>
        <p:nvSpPr>
          <p:cNvPr id="17" name="TextBox 16">
            <a:extLst>
              <a:ext uri="{FF2B5EF4-FFF2-40B4-BE49-F238E27FC236}">
                <a16:creationId xmlns:a16="http://schemas.microsoft.com/office/drawing/2014/main" id="{06BC00F5-AE81-E561-5ACA-218F00003E9C}"/>
              </a:ext>
            </a:extLst>
          </p:cNvPr>
          <p:cNvSpPr txBox="1"/>
          <p:nvPr/>
        </p:nvSpPr>
        <p:spPr>
          <a:xfrm>
            <a:off x="1303020" y="3491866"/>
            <a:ext cx="5208312"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Approach, Methodology &amp; Implementation</a:t>
            </a:r>
          </a:p>
        </p:txBody>
      </p:sp>
      <p:sp>
        <p:nvSpPr>
          <p:cNvPr id="19" name="Rounded Rectangle 18">
            <a:extLst>
              <a:ext uri="{FF2B5EF4-FFF2-40B4-BE49-F238E27FC236}">
                <a16:creationId xmlns:a16="http://schemas.microsoft.com/office/drawing/2014/main" id="{793DA40E-7A10-FF84-CC51-9A66E0ACA710}"/>
              </a:ext>
            </a:extLst>
          </p:cNvPr>
          <p:cNvSpPr/>
          <p:nvPr/>
        </p:nvSpPr>
        <p:spPr>
          <a:xfrm>
            <a:off x="640080" y="4050792"/>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5</a:t>
            </a:r>
          </a:p>
        </p:txBody>
      </p:sp>
      <p:sp>
        <p:nvSpPr>
          <p:cNvPr id="20" name="TextBox 19">
            <a:extLst>
              <a:ext uri="{FF2B5EF4-FFF2-40B4-BE49-F238E27FC236}">
                <a16:creationId xmlns:a16="http://schemas.microsoft.com/office/drawing/2014/main" id="{F5448971-CACE-CB00-BF06-516BB43E785D}"/>
              </a:ext>
            </a:extLst>
          </p:cNvPr>
          <p:cNvSpPr txBox="1"/>
          <p:nvPr/>
        </p:nvSpPr>
        <p:spPr>
          <a:xfrm>
            <a:off x="1325880" y="4146649"/>
            <a:ext cx="301752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Experiments</a:t>
            </a:r>
          </a:p>
        </p:txBody>
      </p:sp>
      <p:sp>
        <p:nvSpPr>
          <p:cNvPr id="22" name="Rounded Rectangle 21">
            <a:extLst>
              <a:ext uri="{FF2B5EF4-FFF2-40B4-BE49-F238E27FC236}">
                <a16:creationId xmlns:a16="http://schemas.microsoft.com/office/drawing/2014/main" id="{FA0DD9A4-B300-9169-B652-98AD646F8FD3}"/>
              </a:ext>
            </a:extLst>
          </p:cNvPr>
          <p:cNvSpPr/>
          <p:nvPr/>
        </p:nvSpPr>
        <p:spPr>
          <a:xfrm>
            <a:off x="640080" y="4709160"/>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6</a:t>
            </a:r>
          </a:p>
        </p:txBody>
      </p:sp>
      <p:sp>
        <p:nvSpPr>
          <p:cNvPr id="23" name="TextBox 22">
            <a:extLst>
              <a:ext uri="{FF2B5EF4-FFF2-40B4-BE49-F238E27FC236}">
                <a16:creationId xmlns:a16="http://schemas.microsoft.com/office/drawing/2014/main" id="{58B58993-0296-D7B4-B13D-34BAFA25C6A6}"/>
              </a:ext>
            </a:extLst>
          </p:cNvPr>
          <p:cNvSpPr txBox="1"/>
          <p:nvPr/>
        </p:nvSpPr>
        <p:spPr>
          <a:xfrm>
            <a:off x="1325880" y="4857160"/>
            <a:ext cx="301752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Results &amp; Findings</a:t>
            </a:r>
          </a:p>
        </p:txBody>
      </p:sp>
      <p:sp>
        <p:nvSpPr>
          <p:cNvPr id="25" name="Rounded Rectangle 24">
            <a:extLst>
              <a:ext uri="{FF2B5EF4-FFF2-40B4-BE49-F238E27FC236}">
                <a16:creationId xmlns:a16="http://schemas.microsoft.com/office/drawing/2014/main" id="{B18B28E3-7623-CEF8-58BD-3E7E9DFE1EC1}"/>
              </a:ext>
            </a:extLst>
          </p:cNvPr>
          <p:cNvSpPr/>
          <p:nvPr/>
        </p:nvSpPr>
        <p:spPr>
          <a:xfrm>
            <a:off x="640080" y="5367528"/>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7</a:t>
            </a:r>
          </a:p>
        </p:txBody>
      </p:sp>
      <p:sp>
        <p:nvSpPr>
          <p:cNvPr id="26" name="TextBox 25">
            <a:extLst>
              <a:ext uri="{FF2B5EF4-FFF2-40B4-BE49-F238E27FC236}">
                <a16:creationId xmlns:a16="http://schemas.microsoft.com/office/drawing/2014/main" id="{9DDCC369-721C-0B08-6299-B972BBD5A062}"/>
              </a:ext>
            </a:extLst>
          </p:cNvPr>
          <p:cNvSpPr txBox="1"/>
          <p:nvPr/>
        </p:nvSpPr>
        <p:spPr>
          <a:xfrm>
            <a:off x="1325880" y="5483669"/>
            <a:ext cx="486537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Contributions, Limitations &amp; Conclusion</a:t>
            </a:r>
          </a:p>
        </p:txBody>
      </p:sp>
      <p:sp>
        <p:nvSpPr>
          <p:cNvPr id="28" name="TextBox 27">
            <a:extLst>
              <a:ext uri="{FF2B5EF4-FFF2-40B4-BE49-F238E27FC236}">
                <a16:creationId xmlns:a16="http://schemas.microsoft.com/office/drawing/2014/main" id="{38CA7675-723C-04EB-FE88-D1D4E49D8C6D}"/>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a:t>
            </a:r>
          </a:p>
        </p:txBody>
      </p:sp>
      <p:sp>
        <p:nvSpPr>
          <p:cNvPr id="31" name="TextBox 30">
            <a:extLst>
              <a:ext uri="{FF2B5EF4-FFF2-40B4-BE49-F238E27FC236}">
                <a16:creationId xmlns:a16="http://schemas.microsoft.com/office/drawing/2014/main" id="{CFD8C04E-8AA4-A0D7-458B-831CD1EC2AD6}"/>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980081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040CF-85B0-D7A4-397B-BA2684F0DBB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D5A6C8E-BD08-B140-2668-E7A448FBEF8D}"/>
              </a:ext>
            </a:extLst>
          </p:cNvPr>
          <p:cNvSpPr>
            <a:spLocks noGrp="1"/>
          </p:cNvSpPr>
          <p:nvPr>
            <p:ph type="title"/>
          </p:nvPr>
        </p:nvSpPr>
        <p:spPr>
          <a:xfrm>
            <a:off x="428625" y="531206"/>
            <a:ext cx="10359659" cy="1325563"/>
          </a:xfrm>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Problem Statement &amp; Motivation</a:t>
            </a:r>
          </a:p>
        </p:txBody>
      </p:sp>
      <p:sp>
        <p:nvSpPr>
          <p:cNvPr id="6" name="Content Placeholder 5">
            <a:extLst>
              <a:ext uri="{FF2B5EF4-FFF2-40B4-BE49-F238E27FC236}">
                <a16:creationId xmlns:a16="http://schemas.microsoft.com/office/drawing/2014/main" id="{2325AC4A-E48B-3AF9-B8C3-44C905C5FC98}"/>
              </a:ext>
            </a:extLst>
          </p:cNvPr>
          <p:cNvSpPr>
            <a:spLocks noGrp="1"/>
          </p:cNvSpPr>
          <p:nvPr>
            <p:ph sz="quarter" idx="10"/>
          </p:nvPr>
        </p:nvSpPr>
        <p:spPr>
          <a:xfrm>
            <a:off x="1723915" y="1605158"/>
            <a:ext cx="7769077" cy="5112205"/>
          </a:xfrm>
        </p:spPr>
        <p:txBody>
          <a:bodyPr>
            <a:normAutofit/>
          </a:bodyPr>
          <a:lstStyle/>
          <a:p>
            <a:pPr marL="0" indent="0" algn="ctr">
              <a:lnSpc>
                <a:spcPts val="1000"/>
              </a:lnSpc>
              <a:buNone/>
            </a:pPr>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Large Event-Driven Systems</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Traces - Incomplete / Noisy - often instrumentation limited</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Static Code Analysis - Over-Approximates behaviour</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a:t>
            </a:r>
          </a:p>
          <a:p>
            <a:pPr marL="0" indent="0" algn="ctr">
              <a:lnSpc>
                <a:spcPts val="1000"/>
              </a:lnSpc>
              <a:buNone/>
            </a:pPr>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R</a:t>
            </a:r>
            <a:r>
              <a:rPr lang="en-GB" b="1" noProof="0" dirty="0" err="1">
                <a:latin typeface="Sans Serif Collection" panose="020B0502040504020204" pitchFamily="34" charset="0"/>
                <a:ea typeface="Sans Serif Collection" panose="020B0502040504020204" pitchFamily="34" charset="0"/>
                <a:cs typeface="Sans Serif Collection" panose="020B0502040504020204" pitchFamily="34" charset="0"/>
              </a:rPr>
              <a:t>everse</a:t>
            </a: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-engineered manually &amp; Costly to maintain</a:t>
            </a:r>
          </a:p>
          <a:p>
            <a:pPr marL="0" indent="0" algn="ctr">
              <a:lnSpc>
                <a:spcPts val="1000"/>
              </a:lnSpc>
              <a:buNone/>
            </a:pPr>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a:t>
            </a:r>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No Scenario-Specific Accurate Interaction Diagrams</a:t>
            </a:r>
          </a:p>
          <a:p>
            <a:endParaRPr lang="en-GB" noProof="0" dirty="0"/>
          </a:p>
        </p:txBody>
      </p:sp>
      <p:sp>
        <p:nvSpPr>
          <p:cNvPr id="7" name="TextBox 6">
            <a:extLst>
              <a:ext uri="{FF2B5EF4-FFF2-40B4-BE49-F238E27FC236}">
                <a16:creationId xmlns:a16="http://schemas.microsoft.com/office/drawing/2014/main" id="{2D0FAB02-5A12-F198-4443-BFFE2C0EB6EB}"/>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1" name="TextBox 10">
            <a:extLst>
              <a:ext uri="{FF2B5EF4-FFF2-40B4-BE49-F238E27FC236}">
                <a16:creationId xmlns:a16="http://schemas.microsoft.com/office/drawing/2014/main" id="{274D18EC-B8FD-EE7D-C022-8F05FE675A68}"/>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nl-NL"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3</a:t>
            </a:r>
            <a:endPar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3235399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92999-9BA6-3EC6-C253-5C6CA241E3F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B2FC1DE-90BB-2CFD-B26A-CD0B43C4D0BD}"/>
              </a:ext>
            </a:extLst>
          </p:cNvPr>
          <p:cNvSpPr>
            <a:spLocks noGrp="1"/>
          </p:cNvSpPr>
          <p:nvPr>
            <p:ph type="title"/>
          </p:nvPr>
        </p:nvSpPr>
        <p:spPr>
          <a:xfrm>
            <a:off x="575034" y="371623"/>
            <a:ext cx="9762309" cy="1163190"/>
          </a:xfrm>
        </p:spPr>
        <p:txBody>
          <a:bodyPr>
            <a:normAutofit/>
          </a:bodyPr>
          <a:lstStyle/>
          <a:p>
            <a:r>
              <a:rPr lang="en-GB" sz="4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State of the Art &amp; Research Gap</a:t>
            </a:r>
          </a:p>
        </p:txBody>
      </p:sp>
      <p:sp>
        <p:nvSpPr>
          <p:cNvPr id="5" name="Content Placeholder 9">
            <a:extLst>
              <a:ext uri="{FF2B5EF4-FFF2-40B4-BE49-F238E27FC236}">
                <a16:creationId xmlns:a16="http://schemas.microsoft.com/office/drawing/2014/main" id="{CCAE0346-DEF5-174C-F091-56BF9640BA3F}"/>
              </a:ext>
            </a:extLst>
          </p:cNvPr>
          <p:cNvSpPr txBox="1">
            <a:spLocks/>
          </p:cNvSpPr>
          <p:nvPr/>
        </p:nvSpPr>
        <p:spPr>
          <a:xfrm>
            <a:off x="595460" y="4896399"/>
            <a:ext cx="11001079" cy="1243198"/>
          </a:xfrm>
          <a:prstGeom prst="rect">
            <a:avLst/>
          </a:prstGeom>
        </p:spPr>
        <p:txBody>
          <a:bodyPr vert="horz" lIns="91440" tIns="45720" rIns="91440" bIns="45720" rtlCol="0">
            <a:noAutofit/>
          </a:bodyPr>
          <a:lstStyle>
            <a:lvl1pPr marL="0" indent="0" algn="l" defTabSz="914400" rtl="0" eaLnBrk="1" latinLnBrk="0" hangingPunct="1">
              <a:lnSpc>
                <a:spcPct val="125000"/>
              </a:lnSpc>
              <a:spcBef>
                <a:spcPts val="0"/>
              </a:spcBef>
              <a:buFont typeface="Arial" panose="020B0604020202020204" pitchFamily="34" charset="0"/>
              <a:buNone/>
              <a:defRPr sz="1800" kern="1200">
                <a:solidFill>
                  <a:schemeClr val="tx1">
                    <a:lumMod val="65000"/>
                    <a:lumOff val="35000"/>
                  </a:schemeClr>
                </a:solidFill>
                <a:latin typeface="+mn-lt"/>
                <a:ea typeface="+mn-ea"/>
                <a:cs typeface="+mn-cs"/>
              </a:defRPr>
            </a:lvl1pPr>
            <a:lvl2pPr marL="457200" indent="0" algn="l" defTabSz="914400" rtl="0" eaLnBrk="1" latinLnBrk="0" hangingPunct="1">
              <a:lnSpc>
                <a:spcPct val="125000"/>
              </a:lnSpc>
              <a:spcBef>
                <a:spcPts val="0"/>
              </a:spcBef>
              <a:buFont typeface="Arial" panose="020B0604020202020204" pitchFamily="34" charset="0"/>
              <a:buNone/>
              <a:defRPr sz="1600" kern="1200">
                <a:solidFill>
                  <a:schemeClr val="tx1">
                    <a:lumMod val="65000"/>
                    <a:lumOff val="35000"/>
                  </a:schemeClr>
                </a:solidFill>
                <a:latin typeface="+mn-lt"/>
                <a:ea typeface="+mn-ea"/>
                <a:cs typeface="+mn-cs"/>
              </a:defRPr>
            </a:lvl2pPr>
            <a:lvl3pPr marL="914400" indent="0" algn="l" defTabSz="914400" rtl="0" eaLnBrk="1" latinLnBrk="0" hangingPunct="1">
              <a:lnSpc>
                <a:spcPct val="125000"/>
              </a:lnSpc>
              <a:spcBef>
                <a:spcPts val="0"/>
              </a:spcBef>
              <a:buFont typeface="Arial" panose="020B0604020202020204" pitchFamily="34" charset="0"/>
              <a:buNone/>
              <a:defRPr sz="1400" kern="1200">
                <a:solidFill>
                  <a:schemeClr val="tx1">
                    <a:lumMod val="65000"/>
                    <a:lumOff val="35000"/>
                  </a:schemeClr>
                </a:solidFill>
                <a:latin typeface="+mn-lt"/>
                <a:ea typeface="+mn-ea"/>
                <a:cs typeface="+mn-cs"/>
              </a:defRPr>
            </a:lvl3pPr>
            <a:lvl4pPr marL="1371600" indent="0" algn="l" defTabSz="914400" rtl="0" eaLnBrk="1" latinLnBrk="0" hangingPunct="1">
              <a:lnSpc>
                <a:spcPct val="125000"/>
              </a:lnSpc>
              <a:spcBef>
                <a:spcPts val="0"/>
              </a:spcBef>
              <a:buFont typeface="Arial" panose="020B0604020202020204" pitchFamily="34" charset="0"/>
              <a:buNone/>
              <a:defRPr sz="1200" kern="1200">
                <a:solidFill>
                  <a:schemeClr val="tx1">
                    <a:lumMod val="65000"/>
                    <a:lumOff val="35000"/>
                  </a:schemeClr>
                </a:solidFill>
                <a:latin typeface="+mn-lt"/>
                <a:ea typeface="+mn-ea"/>
                <a:cs typeface="+mn-cs"/>
              </a:defRPr>
            </a:lvl4pPr>
            <a:lvl5pPr marL="1828800" indent="0" algn="l" defTabSz="914400" rtl="0" eaLnBrk="1" latinLnBrk="0" hangingPunct="1">
              <a:lnSpc>
                <a:spcPct val="125000"/>
              </a:lnSpc>
              <a:spcBef>
                <a:spcPts val="0"/>
              </a:spcBef>
              <a:buFont typeface="Arial" panose="020B0604020202020204" pitchFamily="34" charset="0"/>
              <a:buNone/>
              <a:defRPr sz="12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Research Gap:</a:t>
            </a:r>
          </a:p>
          <a:p>
            <a:r>
              <a:rPr lang="en-US"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No existing approach combines static structure and runtime traces to infer interactions for scenario-scoped reconstruction of </a:t>
            </a:r>
            <a:r>
              <a:rPr lang="en-US" sz="2000" noProof="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US"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v2 interconnection and sequence models.</a:t>
            </a:r>
            <a:endPar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0" name="TextBox 9">
            <a:extLst>
              <a:ext uri="{FF2B5EF4-FFF2-40B4-BE49-F238E27FC236}">
                <a16:creationId xmlns:a16="http://schemas.microsoft.com/office/drawing/2014/main" id="{7FB41D78-6166-9069-1F97-73961C6C4317}"/>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1" name="TextBox 10">
            <a:extLst>
              <a:ext uri="{FF2B5EF4-FFF2-40B4-BE49-F238E27FC236}">
                <a16:creationId xmlns:a16="http://schemas.microsoft.com/office/drawing/2014/main" id="{3C2944A3-399D-C857-C3DC-501F136BFAB4}"/>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nl-NL"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4</a:t>
            </a:r>
            <a:endPar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2" name="Table 1">
            <a:extLst>
              <a:ext uri="{FF2B5EF4-FFF2-40B4-BE49-F238E27FC236}">
                <a16:creationId xmlns:a16="http://schemas.microsoft.com/office/drawing/2014/main" id="{7258A1A8-1DA0-6F95-97F9-E1886DA1CFFF}"/>
              </a:ext>
            </a:extLst>
          </p:cNvPr>
          <p:cNvGraphicFramePr>
            <a:graphicFrameLocks noGrp="1"/>
          </p:cNvGraphicFramePr>
          <p:nvPr>
            <p:extLst>
              <p:ext uri="{D42A27DB-BD31-4B8C-83A1-F6EECF244321}">
                <p14:modId xmlns:p14="http://schemas.microsoft.com/office/powerpoint/2010/main" val="2142320447"/>
              </p:ext>
            </p:extLst>
          </p:nvPr>
        </p:nvGraphicFramePr>
        <p:xfrm>
          <a:off x="575033" y="1776460"/>
          <a:ext cx="10794580" cy="2640266"/>
        </p:xfrm>
        <a:graphic>
          <a:graphicData uri="http://schemas.openxmlformats.org/drawingml/2006/table">
            <a:tbl>
              <a:tblPr>
                <a:tableStyleId>{22838BEF-8BB2-4498-84A7-C5851F593DF1}</a:tableStyleId>
              </a:tblPr>
              <a:tblGrid>
                <a:gridCol w="2289897">
                  <a:extLst>
                    <a:ext uri="{9D8B030D-6E8A-4147-A177-3AD203B41FA5}">
                      <a16:colId xmlns:a16="http://schemas.microsoft.com/office/drawing/2014/main" val="3316606090"/>
                    </a:ext>
                  </a:extLst>
                </a:gridCol>
                <a:gridCol w="937996">
                  <a:extLst>
                    <a:ext uri="{9D8B030D-6E8A-4147-A177-3AD203B41FA5}">
                      <a16:colId xmlns:a16="http://schemas.microsoft.com/office/drawing/2014/main" val="3886564773"/>
                    </a:ext>
                  </a:extLst>
                </a:gridCol>
                <a:gridCol w="1005913">
                  <a:extLst>
                    <a:ext uri="{9D8B030D-6E8A-4147-A177-3AD203B41FA5}">
                      <a16:colId xmlns:a16="http://schemas.microsoft.com/office/drawing/2014/main" val="3553885318"/>
                    </a:ext>
                  </a:extLst>
                </a:gridCol>
                <a:gridCol w="699002">
                  <a:extLst>
                    <a:ext uri="{9D8B030D-6E8A-4147-A177-3AD203B41FA5}">
                      <a16:colId xmlns:a16="http://schemas.microsoft.com/office/drawing/2014/main" val="1393161290"/>
                    </a:ext>
                  </a:extLst>
                </a:gridCol>
                <a:gridCol w="1345858">
                  <a:extLst>
                    <a:ext uri="{9D8B030D-6E8A-4147-A177-3AD203B41FA5}">
                      <a16:colId xmlns:a16="http://schemas.microsoft.com/office/drawing/2014/main" val="175611723"/>
                    </a:ext>
                  </a:extLst>
                </a:gridCol>
                <a:gridCol w="1621777">
                  <a:extLst>
                    <a:ext uri="{9D8B030D-6E8A-4147-A177-3AD203B41FA5}">
                      <a16:colId xmlns:a16="http://schemas.microsoft.com/office/drawing/2014/main" val="4158114871"/>
                    </a:ext>
                  </a:extLst>
                </a:gridCol>
                <a:gridCol w="1250672">
                  <a:extLst>
                    <a:ext uri="{9D8B030D-6E8A-4147-A177-3AD203B41FA5}">
                      <a16:colId xmlns:a16="http://schemas.microsoft.com/office/drawing/2014/main" val="3103978729"/>
                    </a:ext>
                  </a:extLst>
                </a:gridCol>
                <a:gridCol w="803659">
                  <a:extLst>
                    <a:ext uri="{9D8B030D-6E8A-4147-A177-3AD203B41FA5}">
                      <a16:colId xmlns:a16="http://schemas.microsoft.com/office/drawing/2014/main" val="67409543"/>
                    </a:ext>
                  </a:extLst>
                </a:gridCol>
                <a:gridCol w="839806">
                  <a:extLst>
                    <a:ext uri="{9D8B030D-6E8A-4147-A177-3AD203B41FA5}">
                      <a16:colId xmlns:a16="http://schemas.microsoft.com/office/drawing/2014/main" val="2780023682"/>
                    </a:ext>
                  </a:extLst>
                </a:gridCol>
              </a:tblGrid>
              <a:tr h="682614">
                <a:tc>
                  <a:txBody>
                    <a:bodyPr/>
                    <a:lstStyle/>
                    <a:p>
                      <a:pPr marL="0" marR="0" fontAlgn="t">
                        <a:buNone/>
                      </a:pPr>
                      <a:r>
                        <a:rPr lang="en-US" sz="12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Work</a:t>
                      </a:r>
                      <a:endPar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38100" marR="38100" marT="25400" marB="25400">
                    <a:solidFill>
                      <a:schemeClr val="accent4"/>
                    </a:solidFill>
                  </a:tcPr>
                </a:tc>
                <a:tc>
                  <a:txBody>
                    <a:bodyPr/>
                    <a:lstStyle/>
                    <a:p>
                      <a:pPr marL="0" marR="0" algn="ctr" fontAlgn="t">
                        <a:buNone/>
                      </a:pPr>
                      <a:r>
                        <a:rPr lang="en-US" sz="14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Static</a:t>
                      </a:r>
                      <a:endParaRPr lang="en-US"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38100" marR="38100" marT="25400" marB="25400">
                    <a:solidFill>
                      <a:schemeClr val="accent4"/>
                    </a:solidFill>
                  </a:tcPr>
                </a:tc>
                <a:tc>
                  <a:txBody>
                    <a:bodyPr/>
                    <a:lstStyle/>
                    <a:p>
                      <a:pPr marL="0" marR="0" algn="ctr" fontAlgn="t">
                        <a:buNone/>
                      </a:pPr>
                      <a:r>
                        <a:rPr lang="en-US" sz="14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Dynamic</a:t>
                      </a:r>
                      <a:endParaRPr lang="en-US"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38100" marR="38100" marT="25400" marB="25400">
                    <a:solidFill>
                      <a:schemeClr val="accent4"/>
                    </a:solidFill>
                  </a:tcPr>
                </a:tc>
                <a:tc>
                  <a:txBody>
                    <a:bodyPr/>
                    <a:lstStyle/>
                    <a:p>
                      <a:pPr marL="0" marR="0" algn="ctr" fontAlgn="t">
                        <a:buNone/>
                      </a:pPr>
                      <a:r>
                        <a:rPr lang="en-US" sz="14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Hybrid</a:t>
                      </a:r>
                      <a:endParaRPr lang="en-US"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38100" marR="38100" marT="25400" marB="25400">
                    <a:solidFill>
                      <a:schemeClr val="accent4"/>
                    </a:solidFill>
                  </a:tcPr>
                </a:tc>
                <a:tc>
                  <a:txBody>
                    <a:bodyPr/>
                    <a:lstStyle/>
                    <a:p>
                      <a:pPr marL="0" marR="0" algn="ctr" fontAlgn="t">
                        <a:buNone/>
                      </a:pPr>
                      <a:r>
                        <a:rPr lang="en-US" sz="14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Scenario-Scoped</a:t>
                      </a:r>
                      <a:endParaRPr lang="en-US"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38100" marR="38100" marT="25400" marB="25400">
                    <a:solidFill>
                      <a:schemeClr val="accent4"/>
                    </a:solidFill>
                  </a:tcPr>
                </a:tc>
                <a:tc>
                  <a:txBody>
                    <a:bodyPr/>
                    <a:lstStyle/>
                    <a:p>
                      <a:pPr marL="0" marR="0" algn="ctr" fontAlgn="t">
                        <a:buNone/>
                      </a:pPr>
                      <a:r>
                        <a:rPr lang="en-US" sz="14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Interconnection view</a:t>
                      </a:r>
                      <a:endParaRPr lang="en-US"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38100" marR="38100" marT="25400" marB="25400">
                    <a:solidFill>
                      <a:schemeClr val="accent4"/>
                    </a:solidFill>
                  </a:tcPr>
                </a:tc>
                <a:tc>
                  <a:txBody>
                    <a:bodyPr/>
                    <a:lstStyle/>
                    <a:p>
                      <a:pPr marL="0" marR="0" algn="ctr" fontAlgn="t">
                        <a:buNone/>
                      </a:pPr>
                      <a:r>
                        <a:rPr lang="en-US" sz="14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Sequence view</a:t>
                      </a:r>
                      <a:endParaRPr lang="en-US"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38100" marR="38100" marT="25400" marB="25400">
                    <a:solidFill>
                      <a:schemeClr val="accent4"/>
                    </a:solidFill>
                  </a:tcPr>
                </a:tc>
                <a:tc>
                  <a:txBody>
                    <a:bodyPr/>
                    <a:lstStyle/>
                    <a:p>
                      <a:pPr marL="0" marR="0" algn="ctr" fontAlgn="t">
                        <a:buNone/>
                      </a:pPr>
                      <a:r>
                        <a:rPr lang="en-US" sz="14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UML</a:t>
                      </a:r>
                      <a:endParaRPr lang="en-US"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38100" marR="38100" marT="25400" marB="25400">
                    <a:solidFill>
                      <a:schemeClr val="accent4"/>
                    </a:solidFill>
                  </a:tcPr>
                </a:tc>
                <a:tc>
                  <a:txBody>
                    <a:bodyPr/>
                    <a:lstStyle/>
                    <a:p>
                      <a:pPr marL="0" marR="0" algn="ctr" fontAlgn="t">
                        <a:buNone/>
                      </a:pPr>
                      <a:r>
                        <a:rPr lang="en-US" sz="1400" b="1" dirty="0" err="1">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US" sz="14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v2</a:t>
                      </a:r>
                      <a:endParaRPr lang="en-US"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38100" marR="38100" marT="25400" marB="25400">
                    <a:solidFill>
                      <a:schemeClr val="accent4"/>
                    </a:solidFill>
                  </a:tcPr>
                </a:tc>
                <a:extLst>
                  <a:ext uri="{0D108BD9-81ED-4DB2-BD59-A6C34878D82A}">
                    <a16:rowId xmlns:a16="http://schemas.microsoft.com/office/drawing/2014/main" val="946874658"/>
                  </a:ext>
                </a:extLst>
              </a:tr>
              <a:tr h="323518">
                <a:tc>
                  <a:txBody>
                    <a:bodyPr/>
                    <a:lstStyle/>
                    <a:p>
                      <a:pPr marL="0" marR="0" fontAlgn="t">
                        <a:buNone/>
                      </a:pPr>
                      <a:r>
                        <a:rPr lang="en-US" sz="1200" dirty="0">
                          <a:effectLst/>
                          <a:latin typeface="Calibri" panose="020F0502020204030204" pitchFamily="34" charset="0"/>
                          <a:ea typeface="Calibri" panose="020F0502020204030204" pitchFamily="34" charset="0"/>
                          <a:cs typeface="Calibri" panose="020F0502020204030204" pitchFamily="34" charset="0"/>
                          <a:hlinkClick r:id="rId3"/>
                        </a:rPr>
                        <a:t>Grove et al. (1997)</a:t>
                      </a:r>
                      <a:r>
                        <a:rPr lang="en-US" sz="1200" dirty="0">
                          <a:effectLst/>
                          <a:latin typeface="Calibri" panose="020F0502020204030204" pitchFamily="34" charset="0"/>
                          <a:ea typeface="Calibri" panose="020F0502020204030204" pitchFamily="34" charset="0"/>
                          <a:cs typeface="Calibri" panose="020F0502020204030204" pitchFamily="34" charset="0"/>
                        </a:rPr>
                        <a:t> [1]</a:t>
                      </a:r>
                    </a:p>
                  </a:txBody>
                  <a:tcPr marL="38100" marR="38100" marT="25400" marB="25400"/>
                </a:tc>
                <a:tc>
                  <a:txBody>
                    <a:bodyPr/>
                    <a:lstStyle/>
                    <a:p>
                      <a:pPr marL="0" marR="0" algn="ctr" fontAlgn="t">
                        <a:buNone/>
                      </a:pPr>
                      <a:r>
                        <a:rPr lang="en-US" sz="16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8100" marR="38100" marT="25400" marB="25400"/>
                </a:tc>
                <a:tc>
                  <a:txBody>
                    <a:bodyPr/>
                    <a:lstStyle/>
                    <a:p>
                      <a:pPr marL="0" marR="0" algn="ctr" fontAlgn="t">
                        <a:buNone/>
                      </a:pPr>
                      <a:r>
                        <a:rPr lang="en-US" sz="16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p>
                  </a:txBody>
                  <a:tcPr marL="38100" marR="38100" marT="25400" marB="25400"/>
                </a:tc>
                <a:tc>
                  <a:txBody>
                    <a:bodyPr/>
                    <a:lstStyle/>
                    <a:p>
                      <a:pPr marL="0" marR="0" algn="ctr" fontAlgn="t">
                        <a:buNone/>
                      </a:pPr>
                      <a:r>
                        <a:rPr lang="en-US" sz="1600">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p>
                  </a:txBody>
                  <a:tcPr marL="38100" marR="38100" marT="25400" marB="25400"/>
                </a:tc>
                <a:tc>
                  <a:txBody>
                    <a:bodyPr/>
                    <a:lstStyle/>
                    <a:p>
                      <a:pPr marL="0" marR="0" algn="ctr" fontAlgn="t">
                        <a:buNone/>
                      </a:pPr>
                      <a:r>
                        <a:rPr lang="en-US" sz="16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p>
                  </a:txBody>
                  <a:tcPr marL="38100" marR="38100" marT="25400" marB="25400"/>
                </a:tc>
                <a:tc>
                  <a:txBody>
                    <a:bodyPr/>
                    <a:lstStyle/>
                    <a:p>
                      <a:pPr marL="0" marR="0" algn="ctr" fontAlgn="t">
                        <a:buNone/>
                      </a:pPr>
                      <a:r>
                        <a:rPr lang="en-US" sz="16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8100" marR="38100" marT="25400" marB="25400"/>
                </a:tc>
                <a:tc>
                  <a:txBody>
                    <a:bodyPr/>
                    <a:lstStyle/>
                    <a:p>
                      <a:pPr marL="0" marR="0" algn="ctr" fontAlgn="t">
                        <a:buNone/>
                      </a:pPr>
                      <a:r>
                        <a:rPr lang="en-US" sz="1600">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p>
                  </a:txBody>
                  <a:tcPr marL="38100" marR="38100" marT="25400" marB="25400"/>
                </a:tc>
                <a:tc>
                  <a:txBody>
                    <a:bodyPr/>
                    <a:lstStyle/>
                    <a:p>
                      <a:pPr marL="0" marR="0" algn="ctr" fontAlgn="t">
                        <a:buNone/>
                      </a:pPr>
                      <a:r>
                        <a:rPr lang="en-US" sz="16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p>
                  </a:txBody>
                  <a:tcPr marL="38100" marR="38100" marT="25400" marB="25400"/>
                </a:tc>
                <a:tc>
                  <a:txBody>
                    <a:bodyPr/>
                    <a:lstStyle/>
                    <a:p>
                      <a:pPr marL="0" marR="0" algn="ctr" fontAlgn="t">
                        <a:buNone/>
                      </a:pPr>
                      <a:r>
                        <a:rPr lang="en-US" sz="1600">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p>
                  </a:txBody>
                  <a:tcPr marL="38100" marR="38100" marT="25400" marB="25400"/>
                </a:tc>
                <a:extLst>
                  <a:ext uri="{0D108BD9-81ED-4DB2-BD59-A6C34878D82A}">
                    <a16:rowId xmlns:a16="http://schemas.microsoft.com/office/drawing/2014/main" val="1124320119"/>
                  </a:ext>
                </a:extLst>
              </a:tr>
              <a:tr h="436872">
                <a:tc>
                  <a:txBody>
                    <a:bodyPr/>
                    <a:lstStyle/>
                    <a:p>
                      <a:pPr marL="0" marR="0" fontAlgn="t">
                        <a:buNone/>
                      </a:pPr>
                      <a:r>
                        <a:rPr lang="en-US" sz="1200" dirty="0">
                          <a:effectLst/>
                          <a:latin typeface="Calibri" panose="020F0502020204030204" pitchFamily="34" charset="0"/>
                          <a:ea typeface="Calibri" panose="020F0502020204030204" pitchFamily="34" charset="0"/>
                          <a:cs typeface="Calibri" panose="020F0502020204030204" pitchFamily="34" charset="0"/>
                          <a:hlinkClick r:id="rId4"/>
                        </a:rPr>
                        <a:t>Briand, Labiche &amp; Leduc (2006)</a:t>
                      </a:r>
                      <a:r>
                        <a:rPr lang="en-US" sz="1200" dirty="0">
                          <a:effectLst/>
                          <a:latin typeface="Calibri" panose="020F0502020204030204" pitchFamily="34" charset="0"/>
                          <a:ea typeface="Calibri" panose="020F0502020204030204" pitchFamily="34" charset="0"/>
                          <a:cs typeface="Calibri" panose="020F0502020204030204" pitchFamily="34" charset="0"/>
                        </a:rPr>
                        <a:t> [2]</a:t>
                      </a:r>
                    </a:p>
                  </a:txBody>
                  <a:tcPr marL="38100" marR="38100" marT="25400" marB="25400"/>
                </a:tc>
                <a:tc>
                  <a:txBody>
                    <a:bodyPr/>
                    <a:lstStyle/>
                    <a:p>
                      <a:pPr marL="0" marR="0" algn="ctr" fontAlgn="t">
                        <a:buNone/>
                      </a:pPr>
                      <a:r>
                        <a:rPr lang="en-US" sz="1600">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p>
                  </a:txBody>
                  <a:tcPr marL="38100" marR="38100" marT="25400" marB="25400"/>
                </a:tc>
                <a:tc>
                  <a:txBody>
                    <a:bodyPr/>
                    <a:lstStyle/>
                    <a:p>
                      <a:pPr marL="0" marR="0" algn="ctr" fontAlgn="t">
                        <a:buNone/>
                      </a:pPr>
                      <a:r>
                        <a:rPr lang="en-US" sz="16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8100" marR="38100" marT="25400" marB="25400"/>
                </a:tc>
                <a:tc>
                  <a:txBody>
                    <a:bodyPr/>
                    <a:lstStyle/>
                    <a:p>
                      <a:pPr marL="0" marR="0" algn="ctr" fontAlgn="t">
                        <a:buNone/>
                      </a:pPr>
                      <a:r>
                        <a:rPr lang="en-US" sz="1600">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p>
                  </a:txBody>
                  <a:tcPr marL="38100" marR="38100" marT="25400" marB="25400"/>
                </a:tc>
                <a:tc>
                  <a:txBody>
                    <a:bodyPr/>
                    <a:lstStyle/>
                    <a:p>
                      <a:pPr marL="0" marR="0" algn="ctr" fontAlgn="t">
                        <a:buNone/>
                      </a:pPr>
                      <a:r>
                        <a:rPr lang="en-US" sz="16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8100" marR="38100" marT="25400" marB="25400"/>
                </a:tc>
                <a:tc>
                  <a:txBody>
                    <a:bodyPr/>
                    <a:lstStyle/>
                    <a:p>
                      <a:pPr marL="0" marR="0" algn="ctr" fontAlgn="t">
                        <a:buNone/>
                      </a:pPr>
                      <a:r>
                        <a:rPr lang="en-US" sz="16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p>
                  </a:txBody>
                  <a:tcPr marL="38100" marR="38100" marT="25400" marB="25400"/>
                </a:tc>
                <a:tc>
                  <a:txBody>
                    <a:bodyPr/>
                    <a:lstStyle/>
                    <a:p>
                      <a:pPr marL="0" marR="0" algn="ctr" fontAlgn="t">
                        <a:buNone/>
                      </a:pPr>
                      <a:r>
                        <a:rPr lang="en-US" sz="16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8100" marR="38100" marT="25400" marB="25400"/>
                </a:tc>
                <a:tc>
                  <a:txBody>
                    <a:bodyPr/>
                    <a:lstStyle/>
                    <a:p>
                      <a:pPr marL="0" marR="0" algn="ctr" fontAlgn="t">
                        <a:buNone/>
                      </a:pPr>
                      <a:r>
                        <a:rPr lang="en-US" sz="16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8100" marR="38100" marT="25400" marB="25400"/>
                </a:tc>
                <a:tc>
                  <a:txBody>
                    <a:bodyPr/>
                    <a:lstStyle/>
                    <a:p>
                      <a:pPr marL="0" marR="0" algn="ctr" fontAlgn="t">
                        <a:buNone/>
                      </a:pPr>
                      <a:r>
                        <a:rPr lang="en-US" sz="1600">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p>
                  </a:txBody>
                  <a:tcPr marL="38100" marR="38100" marT="25400" marB="25400"/>
                </a:tc>
                <a:extLst>
                  <a:ext uri="{0D108BD9-81ED-4DB2-BD59-A6C34878D82A}">
                    <a16:rowId xmlns:a16="http://schemas.microsoft.com/office/drawing/2014/main" val="2460363237"/>
                  </a:ext>
                </a:extLst>
              </a:tr>
              <a:tr h="436872">
                <a:tc>
                  <a:txBody>
                    <a:bodyPr/>
                    <a:lstStyle/>
                    <a:p>
                      <a:pPr marL="0" marR="0" fontAlgn="t">
                        <a:buNone/>
                      </a:pPr>
                      <a:r>
                        <a:rPr lang="en-US" sz="1200" dirty="0">
                          <a:effectLst/>
                          <a:latin typeface="Calibri" panose="020F0502020204030204" pitchFamily="34" charset="0"/>
                          <a:ea typeface="Calibri" panose="020F0502020204030204" pitchFamily="34" charset="0"/>
                          <a:cs typeface="Calibri" panose="020F0502020204030204" pitchFamily="34" charset="0"/>
                          <a:hlinkClick r:id="rId5"/>
                        </a:rPr>
                        <a:t>Labiche, </a:t>
                      </a:r>
                      <a:r>
                        <a:rPr lang="en-US" sz="1200" dirty="0" err="1">
                          <a:effectLst/>
                          <a:latin typeface="Calibri" panose="020F0502020204030204" pitchFamily="34" charset="0"/>
                          <a:ea typeface="Calibri" panose="020F0502020204030204" pitchFamily="34" charset="0"/>
                          <a:cs typeface="Calibri" panose="020F0502020204030204" pitchFamily="34" charset="0"/>
                          <a:hlinkClick r:id="rId5"/>
                        </a:rPr>
                        <a:t>Kolbah</a:t>
                      </a:r>
                      <a:r>
                        <a:rPr lang="en-US" sz="1200" dirty="0">
                          <a:effectLst/>
                          <a:latin typeface="Calibri" panose="020F0502020204030204" pitchFamily="34" charset="0"/>
                          <a:ea typeface="Calibri" panose="020F0502020204030204" pitchFamily="34" charset="0"/>
                          <a:cs typeface="Calibri" panose="020F0502020204030204" pitchFamily="34" charset="0"/>
                          <a:hlinkClick r:id="rId5"/>
                        </a:rPr>
                        <a:t> &amp; </a:t>
                      </a:r>
                      <a:r>
                        <a:rPr lang="en-US" sz="1200" dirty="0" err="1">
                          <a:effectLst/>
                          <a:latin typeface="Calibri" panose="020F0502020204030204" pitchFamily="34" charset="0"/>
                          <a:ea typeface="Calibri" panose="020F0502020204030204" pitchFamily="34" charset="0"/>
                          <a:cs typeface="Calibri" panose="020F0502020204030204" pitchFamily="34" charset="0"/>
                          <a:hlinkClick r:id="rId5"/>
                        </a:rPr>
                        <a:t>Mehrfard</a:t>
                      </a:r>
                      <a:r>
                        <a:rPr lang="en-US" sz="1200" dirty="0">
                          <a:effectLst/>
                          <a:latin typeface="Calibri" panose="020F0502020204030204" pitchFamily="34" charset="0"/>
                          <a:ea typeface="Calibri" panose="020F0502020204030204" pitchFamily="34" charset="0"/>
                          <a:cs typeface="Calibri" panose="020F0502020204030204" pitchFamily="34" charset="0"/>
                          <a:hlinkClick r:id="rId5"/>
                        </a:rPr>
                        <a:t> (2013)</a:t>
                      </a:r>
                      <a:r>
                        <a:rPr lang="en-US" sz="1200" dirty="0">
                          <a:effectLst/>
                          <a:latin typeface="Calibri" panose="020F0502020204030204" pitchFamily="34" charset="0"/>
                          <a:ea typeface="Calibri" panose="020F0502020204030204" pitchFamily="34" charset="0"/>
                          <a:cs typeface="Calibri" panose="020F0502020204030204" pitchFamily="34" charset="0"/>
                        </a:rPr>
                        <a:t> [3]</a:t>
                      </a:r>
                    </a:p>
                  </a:txBody>
                  <a:tcPr marL="38100" marR="38100" marT="25400" marB="25400"/>
                </a:tc>
                <a:tc>
                  <a:txBody>
                    <a:bodyPr/>
                    <a:lstStyle/>
                    <a:p>
                      <a:pPr marL="0" marR="0" algn="ctr" fontAlgn="t">
                        <a:buNone/>
                      </a:pPr>
                      <a:r>
                        <a:rPr lang="en-US" sz="16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8100" marR="38100" marT="25400" marB="25400"/>
                </a:tc>
                <a:tc>
                  <a:txBody>
                    <a:bodyPr/>
                    <a:lstStyle/>
                    <a:p>
                      <a:pPr marL="0" marR="0" algn="ctr" fontAlgn="t">
                        <a:buNone/>
                      </a:pPr>
                      <a:r>
                        <a:rPr lang="en-US" sz="16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8100" marR="38100" marT="25400" marB="25400"/>
                </a:tc>
                <a:tc>
                  <a:txBody>
                    <a:bodyPr/>
                    <a:lstStyle/>
                    <a:p>
                      <a:pPr marL="0" marR="0" algn="ctr" fontAlgn="t">
                        <a:buNone/>
                      </a:pPr>
                      <a:r>
                        <a:rPr lang="en-US" sz="16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8100" marR="38100" marT="25400" marB="25400"/>
                </a:tc>
                <a:tc>
                  <a:txBody>
                    <a:bodyPr/>
                    <a:lstStyle/>
                    <a:p>
                      <a:pPr marL="0" marR="0" algn="ctr" fontAlgn="t">
                        <a:buNone/>
                      </a:pPr>
                      <a:r>
                        <a:rPr lang="en-US" sz="16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8100" marR="38100" marT="25400" marB="25400"/>
                </a:tc>
                <a:tc>
                  <a:txBody>
                    <a:bodyPr/>
                    <a:lstStyle/>
                    <a:p>
                      <a:pPr marL="0" marR="0" algn="ctr" fontAlgn="t">
                        <a:buNone/>
                      </a:pPr>
                      <a:r>
                        <a:rPr lang="en-US" sz="16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p>
                  </a:txBody>
                  <a:tcPr marL="38100" marR="38100" marT="25400" marB="25400"/>
                </a:tc>
                <a:tc>
                  <a:txBody>
                    <a:bodyPr/>
                    <a:lstStyle/>
                    <a:p>
                      <a:pPr marL="0" marR="0" algn="ctr" fontAlgn="t">
                        <a:buNone/>
                      </a:pPr>
                      <a:r>
                        <a:rPr lang="en-US" sz="16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8100" marR="38100" marT="25400" marB="25400"/>
                </a:tc>
                <a:tc>
                  <a:txBody>
                    <a:bodyPr/>
                    <a:lstStyle/>
                    <a:p>
                      <a:pPr marL="0" marR="0" algn="ctr" fontAlgn="t">
                        <a:buNone/>
                      </a:pPr>
                      <a:r>
                        <a:rPr lang="en-US" sz="16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8100" marR="38100" marT="25400" marB="25400"/>
                </a:tc>
                <a:tc>
                  <a:txBody>
                    <a:bodyPr/>
                    <a:lstStyle/>
                    <a:p>
                      <a:pPr marL="0" marR="0" algn="ctr" fontAlgn="t">
                        <a:buNone/>
                      </a:pPr>
                      <a:r>
                        <a:rPr lang="en-US" sz="1600">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p>
                  </a:txBody>
                  <a:tcPr marL="38100" marR="38100" marT="25400" marB="25400"/>
                </a:tc>
                <a:extLst>
                  <a:ext uri="{0D108BD9-81ED-4DB2-BD59-A6C34878D82A}">
                    <a16:rowId xmlns:a16="http://schemas.microsoft.com/office/drawing/2014/main" val="2015509636"/>
                  </a:ext>
                </a:extLst>
              </a:tr>
              <a:tr h="436872">
                <a:tc>
                  <a:txBody>
                    <a:bodyPr/>
                    <a:lstStyle/>
                    <a:p>
                      <a:pPr marL="0" marR="0" fontAlgn="t">
                        <a:buNone/>
                      </a:pPr>
                      <a:r>
                        <a:rPr lang="en-US" sz="1200" dirty="0">
                          <a:effectLst/>
                          <a:latin typeface="Calibri" panose="020F0502020204030204" pitchFamily="34" charset="0"/>
                          <a:ea typeface="Calibri" panose="020F0502020204030204" pitchFamily="34" charset="0"/>
                          <a:cs typeface="Calibri" panose="020F0502020204030204" pitchFamily="34" charset="0"/>
                          <a:hlinkClick r:id="rId6"/>
                        </a:rPr>
                        <a:t>Abdelmalek, </a:t>
                      </a:r>
                      <a:r>
                        <a:rPr lang="en-US" sz="1200" dirty="0" err="1">
                          <a:effectLst/>
                          <a:latin typeface="Calibri" panose="020F0502020204030204" pitchFamily="34" charset="0"/>
                          <a:ea typeface="Calibri" panose="020F0502020204030204" pitchFamily="34" charset="0"/>
                          <a:cs typeface="Calibri" panose="020F0502020204030204" pitchFamily="34" charset="0"/>
                          <a:hlinkClick r:id="rId6"/>
                        </a:rPr>
                        <a:t>Khriss</a:t>
                      </a:r>
                      <a:r>
                        <a:rPr lang="en-US" sz="1200" dirty="0">
                          <a:effectLst/>
                          <a:latin typeface="Calibri" panose="020F0502020204030204" pitchFamily="34" charset="0"/>
                          <a:ea typeface="Calibri" panose="020F0502020204030204" pitchFamily="34" charset="0"/>
                          <a:cs typeface="Calibri" panose="020F0502020204030204" pitchFamily="34" charset="0"/>
                          <a:hlinkClick r:id="rId6"/>
                        </a:rPr>
                        <a:t> &amp; </a:t>
                      </a:r>
                      <a:r>
                        <a:rPr lang="en-US" sz="1200" dirty="0" err="1">
                          <a:effectLst/>
                          <a:latin typeface="Calibri" panose="020F0502020204030204" pitchFamily="34" charset="0"/>
                          <a:ea typeface="Calibri" panose="020F0502020204030204" pitchFamily="34" charset="0"/>
                          <a:cs typeface="Calibri" panose="020F0502020204030204" pitchFamily="34" charset="0"/>
                          <a:hlinkClick r:id="rId6"/>
                        </a:rPr>
                        <a:t>Jakimi</a:t>
                      </a:r>
                      <a:r>
                        <a:rPr lang="en-US" sz="1200" dirty="0">
                          <a:effectLst/>
                          <a:latin typeface="Calibri" panose="020F0502020204030204" pitchFamily="34" charset="0"/>
                          <a:ea typeface="Calibri" panose="020F0502020204030204" pitchFamily="34" charset="0"/>
                          <a:cs typeface="Calibri" panose="020F0502020204030204" pitchFamily="34" charset="0"/>
                          <a:hlinkClick r:id="rId6"/>
                        </a:rPr>
                        <a:t> (2023)</a:t>
                      </a:r>
                      <a:r>
                        <a:rPr lang="en-US" sz="1200" dirty="0">
                          <a:effectLst/>
                          <a:latin typeface="Calibri" panose="020F0502020204030204" pitchFamily="34" charset="0"/>
                          <a:ea typeface="Calibri" panose="020F0502020204030204" pitchFamily="34" charset="0"/>
                          <a:cs typeface="Calibri" panose="020F0502020204030204" pitchFamily="34" charset="0"/>
                        </a:rPr>
                        <a:t> [4]</a:t>
                      </a:r>
                    </a:p>
                  </a:txBody>
                  <a:tcPr marL="38100" marR="38100" marT="25400" marB="25400"/>
                </a:tc>
                <a:tc>
                  <a:txBody>
                    <a:bodyPr/>
                    <a:lstStyle/>
                    <a:p>
                      <a:pPr marL="0" marR="0" algn="ctr" fontAlgn="t">
                        <a:buNone/>
                      </a:pPr>
                      <a:r>
                        <a:rPr lang="en-US" sz="16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8100" marR="38100" marT="25400" marB="25400"/>
                </a:tc>
                <a:tc>
                  <a:txBody>
                    <a:bodyPr/>
                    <a:lstStyle/>
                    <a:p>
                      <a:pPr marL="0" marR="0" algn="ctr" fontAlgn="t">
                        <a:buNone/>
                      </a:pPr>
                      <a:r>
                        <a:rPr lang="en-US" sz="16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8100" marR="38100" marT="25400" marB="25400"/>
                </a:tc>
                <a:tc>
                  <a:txBody>
                    <a:bodyPr/>
                    <a:lstStyle/>
                    <a:p>
                      <a:pPr marL="0" marR="0" algn="ctr" fontAlgn="t">
                        <a:buNone/>
                      </a:pPr>
                      <a:r>
                        <a:rPr lang="en-US" sz="16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8100" marR="38100" marT="25400" marB="25400"/>
                </a:tc>
                <a:tc>
                  <a:txBody>
                    <a:bodyPr/>
                    <a:lstStyle/>
                    <a:p>
                      <a:pPr marL="0" marR="0" algn="ctr" fontAlgn="t">
                        <a:buNone/>
                      </a:pPr>
                      <a:r>
                        <a:rPr lang="en-US" sz="1600">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p>
                  </a:txBody>
                  <a:tcPr marL="38100" marR="38100" marT="25400" marB="25400"/>
                </a:tc>
                <a:tc>
                  <a:txBody>
                    <a:bodyPr/>
                    <a:lstStyle/>
                    <a:p>
                      <a:pPr marL="0" marR="0" algn="ctr" fontAlgn="t">
                        <a:buNone/>
                      </a:pPr>
                      <a:r>
                        <a:rPr lang="en-US" sz="16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p>
                  </a:txBody>
                  <a:tcPr marL="38100" marR="38100" marT="25400" marB="25400"/>
                </a:tc>
                <a:tc>
                  <a:txBody>
                    <a:bodyPr/>
                    <a:lstStyle/>
                    <a:p>
                      <a:pPr marL="0" marR="0" algn="ctr" fontAlgn="t">
                        <a:buNone/>
                      </a:pPr>
                      <a:r>
                        <a:rPr lang="en-US" sz="16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8100" marR="38100" marT="25400" marB="25400"/>
                </a:tc>
                <a:tc>
                  <a:txBody>
                    <a:bodyPr/>
                    <a:lstStyle/>
                    <a:p>
                      <a:pPr marL="0" marR="0" algn="ctr" fontAlgn="t">
                        <a:buNone/>
                      </a:pPr>
                      <a:r>
                        <a:rPr lang="en-US" sz="16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8100" marR="38100" marT="25400" marB="25400"/>
                </a:tc>
                <a:tc>
                  <a:txBody>
                    <a:bodyPr/>
                    <a:lstStyle/>
                    <a:p>
                      <a:pPr marL="0" marR="0" algn="ctr" fontAlgn="t">
                        <a:buNone/>
                      </a:pPr>
                      <a:r>
                        <a:rPr lang="en-US" sz="16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p>
                  </a:txBody>
                  <a:tcPr marL="38100" marR="38100" marT="25400" marB="25400"/>
                </a:tc>
                <a:extLst>
                  <a:ext uri="{0D108BD9-81ED-4DB2-BD59-A6C34878D82A}">
                    <a16:rowId xmlns:a16="http://schemas.microsoft.com/office/drawing/2014/main" val="1766091154"/>
                  </a:ext>
                </a:extLst>
              </a:tr>
              <a:tr h="323518">
                <a:tc>
                  <a:txBody>
                    <a:bodyPr/>
                    <a:lstStyle/>
                    <a:p>
                      <a:pPr marL="0" marR="0" fontAlgn="t">
                        <a:buNone/>
                      </a:pPr>
                      <a:r>
                        <a:rPr lang="en-US" sz="12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This Thesis</a:t>
                      </a:r>
                      <a:endPar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38100" marR="38100" marT="25400" marB="25400"/>
                </a:tc>
                <a:tc>
                  <a:txBody>
                    <a:bodyPr/>
                    <a:lstStyle/>
                    <a:p>
                      <a:pPr marL="0" marR="0" algn="ctr" fontAlgn="t">
                        <a:buNone/>
                      </a:pPr>
                      <a:r>
                        <a:rPr lang="en-US" sz="16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8100" marR="38100" marT="25400" marB="25400"/>
                </a:tc>
                <a:tc>
                  <a:txBody>
                    <a:bodyPr/>
                    <a:lstStyle/>
                    <a:p>
                      <a:pPr marL="0" marR="0" algn="ctr" fontAlgn="t">
                        <a:buNone/>
                      </a:pPr>
                      <a:r>
                        <a:rPr lang="en-US" sz="16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8100" marR="38100" marT="25400" marB="25400"/>
                </a:tc>
                <a:tc>
                  <a:txBody>
                    <a:bodyPr/>
                    <a:lstStyle/>
                    <a:p>
                      <a:pPr marL="0" marR="0" algn="ctr" fontAlgn="t">
                        <a:buNone/>
                      </a:pPr>
                      <a:r>
                        <a:rPr lang="en-US" sz="16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8100" marR="38100" marT="25400" marB="25400"/>
                </a:tc>
                <a:tc>
                  <a:txBody>
                    <a:bodyPr/>
                    <a:lstStyle/>
                    <a:p>
                      <a:pPr marL="0" marR="0" algn="ctr" fontAlgn="t">
                        <a:buNone/>
                      </a:pPr>
                      <a:r>
                        <a:rPr lang="en-US" sz="16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8100" marR="38100" marT="25400" marB="25400"/>
                </a:tc>
                <a:tc>
                  <a:txBody>
                    <a:bodyPr/>
                    <a:lstStyle/>
                    <a:p>
                      <a:pPr marL="0" marR="0" algn="ctr" fontAlgn="t">
                        <a:buNone/>
                      </a:pPr>
                      <a:r>
                        <a:rPr lang="en-US" sz="16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8100" marR="38100" marT="25400" marB="25400"/>
                </a:tc>
                <a:tc>
                  <a:txBody>
                    <a:bodyPr/>
                    <a:lstStyle/>
                    <a:p>
                      <a:pPr marL="0" marR="0" algn="ctr" fontAlgn="t">
                        <a:buNone/>
                      </a:pPr>
                      <a:r>
                        <a:rPr lang="en-US" sz="16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8100" marR="38100" marT="25400" marB="25400"/>
                </a:tc>
                <a:tc>
                  <a:txBody>
                    <a:bodyPr/>
                    <a:lstStyle/>
                    <a:p>
                      <a:pPr marL="0" marR="0" algn="ctr" fontAlgn="t">
                        <a:buNone/>
                      </a:pPr>
                      <a:r>
                        <a:rPr lang="en-US" sz="16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p>
                  </a:txBody>
                  <a:tcPr marL="38100" marR="38100" marT="25400" marB="25400"/>
                </a:tc>
                <a:tc>
                  <a:txBody>
                    <a:bodyPr/>
                    <a:lstStyle/>
                    <a:p>
                      <a:pPr marL="0" marR="0" algn="ctr" fontAlgn="t">
                        <a:buNone/>
                      </a:pPr>
                      <a:r>
                        <a:rPr lang="en-US" sz="16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8100" marR="38100" marT="25400" marB="25400"/>
                </a:tc>
                <a:extLst>
                  <a:ext uri="{0D108BD9-81ED-4DB2-BD59-A6C34878D82A}">
                    <a16:rowId xmlns:a16="http://schemas.microsoft.com/office/drawing/2014/main" val="1950384289"/>
                  </a:ext>
                </a:extLst>
              </a:tr>
            </a:tbl>
          </a:graphicData>
        </a:graphic>
      </p:graphicFrame>
    </p:spTree>
    <p:extLst>
      <p:ext uri="{BB962C8B-B14F-4D97-AF65-F5344CB8AC3E}">
        <p14:creationId xmlns:p14="http://schemas.microsoft.com/office/powerpoint/2010/main" val="1053185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EAEBF-9D07-53C1-D637-5E5502513C27}"/>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12579F46-4BD1-CF04-D506-E987BB910BA9}"/>
              </a:ext>
            </a:extLst>
          </p:cNvPr>
          <p:cNvSpPr>
            <a:spLocks noGrp="1"/>
          </p:cNvSpPr>
          <p:nvPr>
            <p:ph type="title"/>
          </p:nvPr>
        </p:nvSpPr>
        <p:spPr>
          <a:xfrm>
            <a:off x="912629" y="598947"/>
            <a:ext cx="10515600" cy="1325563"/>
          </a:xfrm>
        </p:spPr>
        <p:txBody>
          <a:bodyPr anchor="ctr">
            <a:normAutofit/>
          </a:bodyPr>
          <a:lstStyle/>
          <a:p>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Research </a:t>
            </a:r>
            <a:r>
              <a:rPr lang="nl-NL" dirty="0" err="1">
                <a:latin typeface="Sans Serif Collection" panose="020B0502040504020204" pitchFamily="34" charset="0"/>
                <a:ea typeface="Sans Serif Collection" panose="020B0502040504020204" pitchFamily="34" charset="0"/>
                <a:cs typeface="Sans Serif Collection" panose="020B0502040504020204" pitchFamily="34" charset="0"/>
              </a:rPr>
              <a:t>Questions</a:t>
            </a:r>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13" name="Table Placeholder 10">
            <a:extLst>
              <a:ext uri="{FF2B5EF4-FFF2-40B4-BE49-F238E27FC236}">
                <a16:creationId xmlns:a16="http://schemas.microsoft.com/office/drawing/2014/main" id="{3FA03094-5CF8-A716-6264-EB056416BFA1}"/>
              </a:ext>
            </a:extLst>
          </p:cNvPr>
          <p:cNvGraphicFramePr>
            <a:graphicFrameLocks noGrp="1"/>
          </p:cNvGraphicFramePr>
          <p:nvPr>
            <p:ph type="tbl" sz="quarter" idx="10"/>
            <p:extLst>
              <p:ext uri="{D42A27DB-BD31-4B8C-83A1-F6EECF244321}">
                <p14:modId xmlns:p14="http://schemas.microsoft.com/office/powerpoint/2010/main" val="447533810"/>
              </p:ext>
            </p:extLst>
          </p:nvPr>
        </p:nvGraphicFramePr>
        <p:xfrm>
          <a:off x="4477109" y="1924504"/>
          <a:ext cx="6800491" cy="40190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Content Placeholder 1">
            <a:extLst>
              <a:ext uri="{FF2B5EF4-FFF2-40B4-BE49-F238E27FC236}">
                <a16:creationId xmlns:a16="http://schemas.microsoft.com/office/drawing/2014/main" id="{E9241AA6-FCF8-0BE2-5C72-164104705202}"/>
              </a:ext>
            </a:extLst>
          </p:cNvPr>
          <p:cNvGraphicFramePr>
            <a:graphicFrameLocks noGrp="1"/>
          </p:cNvGraphicFramePr>
          <p:nvPr>
            <p:ph sz="quarter" idx="11"/>
          </p:nvPr>
        </p:nvGraphicFramePr>
        <p:xfrm>
          <a:off x="646980" y="1924504"/>
          <a:ext cx="3433313" cy="401909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 name="TextBox 1">
            <a:extLst>
              <a:ext uri="{FF2B5EF4-FFF2-40B4-BE49-F238E27FC236}">
                <a16:creationId xmlns:a16="http://schemas.microsoft.com/office/drawing/2014/main" id="{1888779F-5EE1-7E02-863C-81A857BF0E79}"/>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5</a:t>
            </a:r>
          </a:p>
        </p:txBody>
      </p:sp>
      <p:sp>
        <p:nvSpPr>
          <p:cNvPr id="4" name="TextBox 3">
            <a:extLst>
              <a:ext uri="{FF2B5EF4-FFF2-40B4-BE49-F238E27FC236}">
                <a16:creationId xmlns:a16="http://schemas.microsoft.com/office/drawing/2014/main" id="{81E6440C-89A3-8F3F-AFA9-BA4996FB2855}"/>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9590070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32B7B-725A-80BC-4E42-26FF6FD98C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F49241-1529-4CB1-70DB-804D39C280D8}"/>
              </a:ext>
            </a:extLst>
          </p:cNvPr>
          <p:cNvSpPr>
            <a:spLocks noGrp="1"/>
          </p:cNvSpPr>
          <p:nvPr>
            <p:ph type="title"/>
          </p:nvPr>
        </p:nvSpPr>
        <p:spPr>
          <a:xfrm>
            <a:off x="899160" y="655320"/>
            <a:ext cx="9626600" cy="1224280"/>
          </a:xfrm>
        </p:spPr>
        <p:txBody>
          <a:bodyPr>
            <a:normAutofit/>
          </a:bodyPr>
          <a:lstStyle/>
          <a:p>
            <a:r>
              <a:rPr lang="nl-NL" sz="4400" dirty="0">
                <a:latin typeface="Sans Serif Collection" panose="020B0502040504020204" pitchFamily="34" charset="0"/>
                <a:ea typeface="Sans Serif Collection" panose="020B0502040504020204" pitchFamily="34" charset="0"/>
                <a:cs typeface="Sans Serif Collection" panose="020B0502040504020204" pitchFamily="34" charset="0"/>
              </a:rPr>
              <a:t>Codebase </a:t>
            </a:r>
            <a:r>
              <a:rPr lang="nl-NL" sz="4400" dirty="0" err="1">
                <a:latin typeface="Sans Serif Collection" panose="020B0502040504020204" pitchFamily="34" charset="0"/>
                <a:ea typeface="Sans Serif Collection" panose="020B0502040504020204" pitchFamily="34" charset="0"/>
                <a:cs typeface="Sans Serif Collection" panose="020B0502040504020204" pitchFamily="34" charset="0"/>
              </a:rPr>
              <a:t>Selected</a:t>
            </a:r>
            <a:r>
              <a:rPr lang="nl-NL" sz="4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4400" dirty="0">
                <a:latin typeface="Sans Serif Collection" panose="020B0502040504020204" pitchFamily="34" charset="0"/>
                <a:ea typeface="Sans Serif Collection" panose="020B0502040504020204" pitchFamily="34" charset="0"/>
                <a:cs typeface="Sans Serif Collection" panose="020B0502040504020204" pitchFamily="34" charset="0"/>
              </a:rPr>
              <a:t>C</a:t>
            </a:r>
            <a:r>
              <a:rPr lang="nl-NL" sz="4400" dirty="0" err="1">
                <a:latin typeface="Sans Serif Collection" panose="020B0502040504020204" pitchFamily="34" charset="0"/>
                <a:ea typeface="Sans Serif Collection" panose="020B0502040504020204" pitchFamily="34" charset="0"/>
                <a:cs typeface="Sans Serif Collection" panose="020B0502040504020204" pitchFamily="34" charset="0"/>
              </a:rPr>
              <a:t>ps</a:t>
            </a:r>
            <a:r>
              <a:rPr sz="4400" dirty="0">
                <a:latin typeface="Sans Serif Collection" panose="020B0502040504020204" pitchFamily="34" charset="0"/>
                <a:ea typeface="Sans Serif Collection" panose="020B0502040504020204" pitchFamily="34" charset="0"/>
                <a:cs typeface="Sans Serif Collection" panose="020B0502040504020204" pitchFamily="34" charset="0"/>
              </a:rPr>
              <a:t>Core</a:t>
            </a:r>
            <a:r>
              <a:rPr lang="nl-NL" sz="4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2800" dirty="0">
                <a:latin typeface="Sans Serif Collection" panose="020B0502040504020204" pitchFamily="34" charset="0"/>
                <a:ea typeface="Sans Serif Collection" panose="020B0502040504020204" pitchFamily="34" charset="0"/>
                <a:cs typeface="Sans Serif Collection" panose="020B0502040504020204" pitchFamily="34" charset="0"/>
              </a:rPr>
              <a:t>[7]</a:t>
            </a:r>
            <a:endParaRPr sz="4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Content Placeholder 2">
            <a:extLst>
              <a:ext uri="{FF2B5EF4-FFF2-40B4-BE49-F238E27FC236}">
                <a16:creationId xmlns:a16="http://schemas.microsoft.com/office/drawing/2014/main" id="{FFF249F3-DFF5-FE0C-F9B1-67FF994C9B6B}"/>
              </a:ext>
            </a:extLst>
          </p:cNvPr>
          <p:cNvSpPr>
            <a:spLocks noGrp="1"/>
          </p:cNvSpPr>
          <p:nvPr>
            <p:ph sz="quarter" idx="10"/>
          </p:nvPr>
        </p:nvSpPr>
        <p:spPr>
          <a:xfrm>
            <a:off x="899160" y="1971040"/>
            <a:ext cx="10662919" cy="4155440"/>
          </a:xfrm>
        </p:spPr>
        <p:txBody>
          <a:bodyP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Codebase overview: </a:t>
            </a:r>
          </a:p>
          <a:p>
            <a:pPr marL="285750"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A Modular Autopilot Framework for UAVs </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[7]</a:t>
            </a:r>
          </a:p>
          <a:p>
            <a:pPr marL="285750"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154 source/header files </a:t>
            </a:r>
          </a:p>
          <a:p>
            <a:pPr marL="285750"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~13,000 LOC (3,800 in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cpp</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files, 9,200 in headers)</a:t>
            </a:r>
          </a:p>
          <a:p>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85750"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Heavy template-based static polymorphism (~470 occurrences)</a:t>
            </a:r>
          </a:p>
          <a:p>
            <a:pPr marL="285750" indent="-285750">
              <a:buFont typeface="Arial" panose="020B0604020202020204" pitchFamily="34" charset="0"/>
              <a:buChar char="•"/>
            </a:pPr>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85750"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No cross-module call resolves through a virtual table. Inter-module calls go through concrete class references or </a:t>
            </a:r>
            <a:r>
              <a:rPr lang="en-GB" i="1" dirty="0">
                <a:latin typeface="Sans Serif Collection" panose="020B0502040504020204" pitchFamily="34" charset="0"/>
                <a:ea typeface="Sans Serif Collection" panose="020B0502040504020204" pitchFamily="34" charset="0"/>
                <a:cs typeface="Sans Serif Collection" panose="020B0502040504020204" pitchFamily="34" charset="0"/>
              </a:rPr>
              <a:t>boost::signals2  </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(external dependency) slot connections.</a:t>
            </a:r>
          </a:p>
          <a:p>
            <a:pPr marL="285750" indent="-285750">
              <a:buFont typeface="Arial" panose="020B0604020202020204" pitchFamily="34" charset="0"/>
              <a:buChar char="•"/>
            </a:pPr>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85750"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Test suite: 1,425 assertions across 61 test cases is the ground truth for behavioural verification.</a:t>
            </a:r>
          </a:p>
        </p:txBody>
      </p:sp>
      <p:sp>
        <p:nvSpPr>
          <p:cNvPr id="5" name="TextBox 4">
            <a:extLst>
              <a:ext uri="{FF2B5EF4-FFF2-40B4-BE49-F238E27FC236}">
                <a16:creationId xmlns:a16="http://schemas.microsoft.com/office/drawing/2014/main" id="{8D9E90E5-98F3-5BF2-9DD3-1EB3C215D91B}"/>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TextBox 3">
            <a:extLst>
              <a:ext uri="{FF2B5EF4-FFF2-40B4-BE49-F238E27FC236}">
                <a16:creationId xmlns:a16="http://schemas.microsoft.com/office/drawing/2014/main" id="{C57AE995-2AE4-2C52-BED3-A9988EF65F94}"/>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6</a:t>
            </a:r>
          </a:p>
        </p:txBody>
      </p:sp>
    </p:spTree>
    <p:extLst>
      <p:ext uri="{BB962C8B-B14F-4D97-AF65-F5344CB8AC3E}">
        <p14:creationId xmlns:p14="http://schemas.microsoft.com/office/powerpoint/2010/main" val="138288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7CA64-D3DF-5484-BA6B-AA34198AA0C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FF00AA5-CCD4-00FA-5636-A66E0D8DFBC7}"/>
              </a:ext>
            </a:extLst>
          </p:cNvPr>
          <p:cNvSpPr>
            <a:spLocks noGrp="1"/>
          </p:cNvSpPr>
          <p:nvPr>
            <p:ph type="title"/>
          </p:nvPr>
        </p:nvSpPr>
        <p:spPr>
          <a:xfrm>
            <a:off x="929640" y="485113"/>
            <a:ext cx="10515600" cy="1531525"/>
          </a:xfrm>
        </p:spPr>
        <p:txBody>
          <a:bodyPr vert="horz" lIns="91440" tIns="45720" rIns="91440" bIns="45720" rtlCol="0" anchor="ctr">
            <a:normAutofit/>
          </a:bodyPr>
          <a:lstStyle/>
          <a:p>
            <a:r>
              <a:rPr lang="en-GB" sz="440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Approach: Agent Skill Pipeline</a:t>
            </a:r>
          </a:p>
        </p:txBody>
      </p:sp>
      <p:sp>
        <p:nvSpPr>
          <p:cNvPr id="3" name="Rectangle 1">
            <a:extLst>
              <a:ext uri="{FF2B5EF4-FFF2-40B4-BE49-F238E27FC236}">
                <a16:creationId xmlns:a16="http://schemas.microsoft.com/office/drawing/2014/main" id="{211CA02A-819A-0F9F-2700-FB232077A801}"/>
              </a:ext>
            </a:extLst>
          </p:cNvPr>
          <p:cNvSpPr>
            <a:spLocks noChangeArrowheads="1"/>
          </p:cNvSpPr>
          <p:nvPr/>
        </p:nvSpPr>
        <p:spPr bwMode="auto">
          <a:xfrm>
            <a:off x="8496299" y="1814620"/>
            <a:ext cx="3087053" cy="3995044"/>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fontScale="85000" lnSpcReduction="10000"/>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28600" lvl="0" indent="-228600" eaLnBrk="1" hangingPunct="1">
              <a:spcBef>
                <a:spcPts val="1000"/>
              </a:spcBef>
              <a:spcAft>
                <a:spcPts val="1200"/>
              </a:spcAft>
              <a:buFont typeface="Arial" panose="020B0604020202020204" pitchFamily="34" charset="0"/>
              <a:buChar char="•"/>
            </a:pPr>
            <a:r>
              <a:rPr lang="en-US" altLang="en-US" dirty="0">
                <a:solidFill>
                  <a:schemeClr val="tx1">
                    <a:lumMod val="65000"/>
                    <a:lumOff val="35000"/>
                  </a:schemeClr>
                </a:solidFill>
                <a:latin typeface="+mn-lt"/>
                <a:ea typeface="Sans Serif Collection" panose="020B0502040504020204" pitchFamily="34" charset="0"/>
                <a:cs typeface="Sans Serif Collection" panose="020B0502040504020204" pitchFamily="34" charset="0"/>
              </a:rPr>
              <a:t>Twelve modular, composable, LLM-invocable skills: eleven follow a fixed rule set, one (agentic synthesis) applies judgement instead.</a:t>
            </a:r>
          </a:p>
          <a:p>
            <a:pPr marL="228600" lvl="0" indent="-228600" eaLnBrk="1" hangingPunct="1">
              <a:spcBef>
                <a:spcPts val="1000"/>
              </a:spcBef>
              <a:spcAft>
                <a:spcPts val="1200"/>
              </a:spcAft>
              <a:buFont typeface="Arial" panose="020B0604020202020204" pitchFamily="34" charset="0"/>
              <a:buChar char="•"/>
            </a:pPr>
            <a:r>
              <a:rPr lang="en-US" altLang="en-US" dirty="0">
                <a:solidFill>
                  <a:schemeClr val="tx1">
                    <a:lumMod val="65000"/>
                    <a:lumOff val="35000"/>
                  </a:schemeClr>
                </a:solidFill>
                <a:latin typeface="+mn-lt"/>
                <a:ea typeface="Sans Serif Collection" panose="020B0502040504020204" pitchFamily="34" charset="0"/>
                <a:cs typeface="Sans Serif Collection" panose="020B0502040504020204" pitchFamily="34" charset="0"/>
              </a:rPr>
              <a:t>Key design property: Each skill is independently testable. Scenario focus is expressed as a natural-language query, translated into a Cypher query that scopes the graph before instrumentation runs — this is what makes guided instrumentation possible, the mechanism RQ2 actually tests (guiding trace collection with the static graph to remove noise without losing coverage).</a:t>
            </a:r>
          </a:p>
        </p:txBody>
      </p:sp>
      <p:sp>
        <p:nvSpPr>
          <p:cNvPr id="4" name="Slide Number Placeholder 3" hidden="1">
            <a:extLst>
              <a:ext uri="{FF2B5EF4-FFF2-40B4-BE49-F238E27FC236}">
                <a16:creationId xmlns:a16="http://schemas.microsoft.com/office/drawing/2014/main" id="{005D0CD7-A222-8A56-CF1D-CDE2377C2F7E}"/>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7</a:t>
            </a:fld>
            <a:endParaRPr lang="en-GB" sz="300" noProof="0" dirty="0"/>
          </a:p>
        </p:txBody>
      </p:sp>
      <p:graphicFrame>
        <p:nvGraphicFramePr>
          <p:cNvPr id="2" name="Content Placeholder 1">
            <a:extLst>
              <a:ext uri="{FF2B5EF4-FFF2-40B4-BE49-F238E27FC236}">
                <a16:creationId xmlns:a16="http://schemas.microsoft.com/office/drawing/2014/main" id="{17AE3F75-6477-EA41-4998-B13692E09ACA}"/>
              </a:ext>
            </a:extLst>
          </p:cNvPr>
          <p:cNvGraphicFramePr>
            <a:graphicFrameLocks noGrp="1"/>
          </p:cNvGraphicFramePr>
          <p:nvPr>
            <p:ph sz="quarter" idx="10"/>
            <p:extLst>
              <p:ext uri="{D42A27DB-BD31-4B8C-83A1-F6EECF244321}">
                <p14:modId xmlns:p14="http://schemas.microsoft.com/office/powerpoint/2010/main" val="1231499850"/>
              </p:ext>
            </p:extLst>
          </p:nvPr>
        </p:nvGraphicFramePr>
        <p:xfrm>
          <a:off x="608648" y="1814620"/>
          <a:ext cx="7724775" cy="4301625"/>
        </p:xfrm>
        <a:graphic>
          <a:graphicData uri="http://schemas.openxmlformats.org/drawingml/2006/table">
            <a:tbl>
              <a:tblPr firstRow="1" bandRow="1">
                <a:tableStyleId>{17292A2E-F333-43FB-9621-5CBBE7FDCDCB}</a:tableStyleId>
              </a:tblPr>
              <a:tblGrid>
                <a:gridCol w="3695701">
                  <a:extLst>
                    <a:ext uri="{9D8B030D-6E8A-4147-A177-3AD203B41FA5}">
                      <a16:colId xmlns:a16="http://schemas.microsoft.com/office/drawing/2014/main" val="192472615"/>
                    </a:ext>
                  </a:extLst>
                </a:gridCol>
                <a:gridCol w="4029074">
                  <a:extLst>
                    <a:ext uri="{9D8B030D-6E8A-4147-A177-3AD203B41FA5}">
                      <a16:colId xmlns:a16="http://schemas.microsoft.com/office/drawing/2014/main" val="172023201"/>
                    </a:ext>
                  </a:extLst>
                </a:gridCol>
              </a:tblGrid>
              <a:tr h="359905">
                <a:tc>
                  <a:txBody>
                    <a:bodyPr/>
                    <a:lstStyle/>
                    <a:p>
                      <a:pPr algn="ctr">
                        <a:buNone/>
                      </a:pPr>
                      <a:r>
                        <a:rPr lang="en-GB" sz="1200" b="1" noProof="0" dirty="0">
                          <a:solidFill>
                            <a:srgbClr val="FFFFFF"/>
                          </a:solidFill>
                          <a:effectLst/>
                        </a:rPr>
                        <a:t>Skill</a:t>
                      </a:r>
                      <a:endParaRPr lang="en-GB" sz="1200" b="1" noProof="0" dirty="0">
                        <a:solidFill>
                          <a:srgbClr val="FFFFF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tc>
                  <a:txBody>
                    <a:bodyPr/>
                    <a:lstStyle/>
                    <a:p>
                      <a:pPr algn="ctr">
                        <a:buNone/>
                      </a:pPr>
                      <a:r>
                        <a:rPr lang="en-GB" sz="1200" b="1" dirty="0">
                          <a:solidFill>
                            <a:srgbClr val="FFFFFF"/>
                          </a:solidFill>
                          <a:effectLst/>
                        </a:rPr>
                        <a:t>Role in Final Pipeline</a:t>
                      </a:r>
                      <a:endParaRPr lang="en-GB" sz="1200" b="1" dirty="0">
                        <a:solidFill>
                          <a:srgbClr val="FFFFF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extLst>
                  <a:ext uri="{0D108BD9-81ED-4DB2-BD59-A6C34878D82A}">
                    <a16:rowId xmlns:a16="http://schemas.microsoft.com/office/drawing/2014/main" val="3305239541"/>
                  </a:ext>
                </a:extLst>
              </a:tr>
              <a:tr h="35990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get-neo4j-schema</a:t>
                      </a:r>
                    </a:p>
                  </a:txBody>
                  <a:tcPr marL="137900" marR="82740" marT="82740" marB="82740" anchor="ctr"/>
                </a:tc>
                <a:tc>
                  <a:txBody>
                    <a:bodyPr/>
                    <a:lstStyle/>
                    <a:p>
                      <a:pPr>
                        <a:buNone/>
                      </a:pP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Static Analysis - graph introspection</a:t>
                      </a:r>
                    </a:p>
                  </a:txBody>
                  <a:tcPr marL="137900" marR="82740" marT="82740" marB="82740" anchor="ctr"/>
                </a:tc>
                <a:extLst>
                  <a:ext uri="{0D108BD9-81ED-4DB2-BD59-A6C34878D82A}">
                    <a16:rowId xmlns:a16="http://schemas.microsoft.com/office/drawing/2014/main" val="1423872608"/>
                  </a:ext>
                </a:extLst>
              </a:tr>
              <a:tr h="514030">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text-to-cypher + get-cypher + </a:t>
                      </a:r>
                      <a:r>
                        <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cypher-to-output</a:t>
                      </a:r>
                      <a:endPar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tc>
                  <a:txBody>
                    <a:bodyPr/>
                    <a:lstStyle/>
                    <a:p>
                      <a:pPr>
                        <a:buNone/>
                      </a:pPr>
                      <a:r>
                        <a:rPr lang="en-GB" sz="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Scenario-scoped query generation, execution &amp; standalone Cypher authoring</a:t>
                      </a:r>
                    </a:p>
                  </a:txBody>
                  <a:tcPr marL="137900" marR="82740" marT="82740" marB="82740" anchor="ctr"/>
                </a:tc>
                <a:extLst>
                  <a:ext uri="{0D108BD9-81ED-4DB2-BD59-A6C34878D82A}">
                    <a16:rowId xmlns:a16="http://schemas.microsoft.com/office/drawing/2014/main" val="1936271751"/>
                  </a:ext>
                </a:extLst>
              </a:tr>
              <a:tr h="35990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get-interface-dependency-table</a:t>
                      </a:r>
                    </a:p>
                  </a:txBody>
                  <a:tcPr marL="137900" marR="82740" marT="82740" marB="827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Static Analysis - </a:t>
                      </a:r>
                      <a:r>
                        <a:rPr lang="en-GB" sz="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Structural dependency extraction</a:t>
                      </a:r>
                    </a:p>
                  </a:txBody>
                  <a:tcPr marL="137900" marR="82740" marT="82740" marB="82740" anchor="ctr"/>
                </a:tc>
                <a:extLst>
                  <a:ext uri="{0D108BD9-81ED-4DB2-BD59-A6C34878D82A}">
                    <a16:rowId xmlns:a16="http://schemas.microsoft.com/office/drawing/2014/main" val="4238485289"/>
                  </a:ext>
                </a:extLst>
              </a:tr>
              <a:tr h="35990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get-sequence-dependency-table</a:t>
                      </a:r>
                    </a:p>
                  </a:txBody>
                  <a:tcPr marL="137900" marR="82740" marT="82740" marB="82740" anchor="ctr"/>
                </a:tc>
                <a:tc>
                  <a:txBody>
                    <a:bodyPr/>
                    <a:lstStyle/>
                    <a:p>
                      <a:pPr>
                        <a:buNone/>
                      </a:pP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Static Analysis – Sequence / call chain extraction</a:t>
                      </a:r>
                    </a:p>
                  </a:txBody>
                  <a:tcPr marL="137900" marR="82740" marT="82740" marB="82740" anchor="ctr"/>
                </a:tc>
                <a:extLst>
                  <a:ext uri="{0D108BD9-81ED-4DB2-BD59-A6C34878D82A}">
                    <a16:rowId xmlns:a16="http://schemas.microsoft.com/office/drawing/2014/main" val="695541207"/>
                  </a:ext>
                </a:extLst>
              </a:tr>
              <a:tr h="35990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draw-</a:t>
                      </a:r>
                      <a:r>
                        <a:rPr lang="en-GB" sz="1200" b="1" noProof="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-structural-model</a:t>
                      </a:r>
                    </a:p>
                  </a:txBody>
                  <a:tcPr marL="137900" marR="82740" marT="82740" marB="82740" anchor="ctr"/>
                </a:tc>
                <a:tc>
                  <a:txBody>
                    <a:bodyPr/>
                    <a:lstStyle/>
                    <a:p>
                      <a:pPr>
                        <a:buNone/>
                      </a:pPr>
                      <a:r>
                        <a:rPr lang="en-GB" sz="1200" noProof="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v2 Output -  Structural Diagram</a:t>
                      </a:r>
                    </a:p>
                  </a:txBody>
                  <a:tcPr marL="137900" marR="82740" marT="82740" marB="82740" anchor="ctr"/>
                </a:tc>
                <a:extLst>
                  <a:ext uri="{0D108BD9-81ED-4DB2-BD59-A6C34878D82A}">
                    <a16:rowId xmlns:a16="http://schemas.microsoft.com/office/drawing/2014/main" val="3840244188"/>
                  </a:ext>
                </a:extLst>
              </a:tr>
              <a:tr h="35990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draw-</a:t>
                      </a:r>
                      <a:r>
                        <a:rPr lang="en-GB" sz="1200" b="1" noProof="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-sequence-model</a:t>
                      </a:r>
                    </a:p>
                  </a:txBody>
                  <a:tcPr marL="137900" marR="82740" marT="82740" marB="82740" anchor="ctr"/>
                </a:tc>
                <a:tc>
                  <a:txBody>
                    <a:bodyPr/>
                    <a:lstStyle/>
                    <a:p>
                      <a:pPr>
                        <a:buNone/>
                      </a:pPr>
                      <a:r>
                        <a:rPr lang="en-GB" sz="1200" noProof="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v2 Output - Sequence Diagram</a:t>
                      </a:r>
                    </a:p>
                  </a:txBody>
                  <a:tcPr marL="137900" marR="82740" marT="82740" marB="82740" anchor="ctr"/>
                </a:tc>
                <a:extLst>
                  <a:ext uri="{0D108BD9-81ED-4DB2-BD59-A6C34878D82A}">
                    <a16:rowId xmlns:a16="http://schemas.microsoft.com/office/drawing/2014/main" val="797272443"/>
                  </a:ext>
                </a:extLst>
              </a:tr>
              <a:tr h="359905">
                <a:tc>
                  <a:txBody>
                    <a:bodyPr/>
                    <a:lstStyle/>
                    <a:p>
                      <a:pPr>
                        <a:buNone/>
                      </a:pPr>
                      <a:r>
                        <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add-runtime-instrumentation</a:t>
                      </a:r>
                    </a:p>
                  </a:txBody>
                  <a:tcPr marL="137900" marR="82740" marT="82740" marB="827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Trace Collection - </a:t>
                      </a:r>
                      <a:r>
                        <a:rPr lang="en-GB" sz="120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csp_matcher</a:t>
                      </a:r>
                      <a:r>
                        <a:rPr lang="en-GB" sz="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probe injection</a:t>
                      </a:r>
                      <a:endPar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extLst>
                  <a:ext uri="{0D108BD9-81ED-4DB2-BD59-A6C34878D82A}">
                    <a16:rowId xmlns:a16="http://schemas.microsoft.com/office/drawing/2014/main" val="1589877789"/>
                  </a:ext>
                </a:extLst>
              </a:tr>
              <a:tr h="359905">
                <a:tc>
                  <a:txBody>
                    <a:bodyPr/>
                    <a:lstStyle/>
                    <a:p>
                      <a:pPr>
                        <a:buNone/>
                      </a:pPr>
                      <a:r>
                        <a:rPr lang="nl-NL"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agentic-synthesis</a:t>
                      </a:r>
                      <a:endPar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Evidence judgement, pruning false positives</a:t>
                      </a:r>
                      <a:endParaRPr lang="en-GB" sz="1200" kern="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extLst>
                  <a:ext uri="{0D108BD9-81ED-4DB2-BD59-A6C34878D82A}">
                    <a16:rowId xmlns:a16="http://schemas.microsoft.com/office/drawing/2014/main" val="1654161368"/>
                  </a:ext>
                </a:extLst>
              </a:tr>
              <a:tr h="359905">
                <a:tc>
                  <a:txBody>
                    <a:bodyPr/>
                    <a:lstStyle/>
                    <a:p>
                      <a:pPr>
                        <a:buNone/>
                      </a:pPr>
                      <a:r>
                        <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draw-mermaid-structural-diagram</a:t>
                      </a:r>
                    </a:p>
                  </a:txBody>
                  <a:tcPr marL="137900" marR="82740" marT="82740" marB="827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Mermaid Diagrams – For Quick Analysis</a:t>
                      </a:r>
                    </a:p>
                  </a:txBody>
                  <a:tcPr marL="137900" marR="82740" marT="82740" marB="82740" anchor="ctr"/>
                </a:tc>
                <a:extLst>
                  <a:ext uri="{0D108BD9-81ED-4DB2-BD59-A6C34878D82A}">
                    <a16:rowId xmlns:a16="http://schemas.microsoft.com/office/drawing/2014/main" val="81158856"/>
                  </a:ext>
                </a:extLst>
              </a:tr>
              <a:tr h="5140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draw-mermaid-sequence-diagram</a:t>
                      </a:r>
                    </a:p>
                    <a:p>
                      <a:pPr>
                        <a:buNone/>
                      </a:pPr>
                      <a:endPar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Mermaid Diagrams – For Quick Analysis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extLst>
                  <a:ext uri="{0D108BD9-81ED-4DB2-BD59-A6C34878D82A}">
                    <a16:rowId xmlns:a16="http://schemas.microsoft.com/office/drawing/2014/main" val="712573555"/>
                  </a:ext>
                </a:extLst>
              </a:tr>
            </a:tbl>
          </a:graphicData>
        </a:graphic>
      </p:graphicFrame>
      <p:sp>
        <p:nvSpPr>
          <p:cNvPr id="6" name="TextBox 5">
            <a:extLst>
              <a:ext uri="{FF2B5EF4-FFF2-40B4-BE49-F238E27FC236}">
                <a16:creationId xmlns:a16="http://schemas.microsoft.com/office/drawing/2014/main" id="{D8E70B75-2058-0BBA-AF9D-E43A1896308C}"/>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7</a:t>
            </a:r>
          </a:p>
        </p:txBody>
      </p:sp>
      <p:sp>
        <p:nvSpPr>
          <p:cNvPr id="8" name="TextBox 7">
            <a:extLst>
              <a:ext uri="{FF2B5EF4-FFF2-40B4-BE49-F238E27FC236}">
                <a16:creationId xmlns:a16="http://schemas.microsoft.com/office/drawing/2014/main" id="{603E5919-9D4C-E669-E04C-D7CB5B0A18F3}"/>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3516262094"/>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13179-3356-94A6-B32B-7F3578D646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CA2E62-9D02-84D7-58B3-29A12BBB5D8E}"/>
              </a:ext>
            </a:extLst>
          </p:cNvPr>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Four Evaluation Scenarios</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dirty="0" err="1">
                <a:latin typeface="Sans Serif Collection" panose="020B0502040504020204" pitchFamily="34" charset="0"/>
                <a:ea typeface="Sans Serif Collection" panose="020B0502040504020204" pitchFamily="34" charset="0"/>
                <a:cs typeface="Sans Serif Collection" panose="020B0502040504020204" pitchFamily="34" charset="0"/>
              </a:rPr>
              <a:t>were</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dirty="0" err="1">
                <a:latin typeface="Sans Serif Collection" panose="020B0502040504020204" pitchFamily="34" charset="0"/>
                <a:ea typeface="Sans Serif Collection" panose="020B0502040504020204" pitchFamily="34" charset="0"/>
                <a:cs typeface="Sans Serif Collection" panose="020B0502040504020204" pitchFamily="34" charset="0"/>
              </a:rPr>
              <a:t>Selected</a:t>
            </a:r>
            <a:endParaRPr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A203BB96-8A56-2B58-C800-437CDA5EF8B1}"/>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8</a:t>
            </a:r>
          </a:p>
        </p:txBody>
      </p:sp>
      <p:sp>
        <p:nvSpPr>
          <p:cNvPr id="5" name="TextBox 4">
            <a:extLst>
              <a:ext uri="{FF2B5EF4-FFF2-40B4-BE49-F238E27FC236}">
                <a16:creationId xmlns:a16="http://schemas.microsoft.com/office/drawing/2014/main" id="{55913C87-6BC2-AF96-FAC7-946A07D612FE}"/>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6" name="Table 5">
            <a:extLst>
              <a:ext uri="{FF2B5EF4-FFF2-40B4-BE49-F238E27FC236}">
                <a16:creationId xmlns:a16="http://schemas.microsoft.com/office/drawing/2014/main" id="{B53A5FE1-3144-0EFB-33BD-20F4C7161C86}"/>
              </a:ext>
            </a:extLst>
          </p:cNvPr>
          <p:cNvGraphicFramePr>
            <a:graphicFrameLocks noGrp="1"/>
          </p:cNvGraphicFramePr>
          <p:nvPr>
            <p:extLst>
              <p:ext uri="{D42A27DB-BD31-4B8C-83A1-F6EECF244321}">
                <p14:modId xmlns:p14="http://schemas.microsoft.com/office/powerpoint/2010/main" val="554167254"/>
              </p:ext>
            </p:extLst>
          </p:nvPr>
        </p:nvGraphicFramePr>
        <p:xfrm>
          <a:off x="1436546" y="1821896"/>
          <a:ext cx="9578164" cy="3587154"/>
        </p:xfrm>
        <a:graphic>
          <a:graphicData uri="http://schemas.openxmlformats.org/drawingml/2006/table">
            <a:tbl>
              <a:tblPr firstRow="1" bandRow="1">
                <a:tableStyleId>{00A15C55-8517-42AA-B614-E9B94910E393}</a:tableStyleId>
              </a:tblPr>
              <a:tblGrid>
                <a:gridCol w="1123615">
                  <a:extLst>
                    <a:ext uri="{9D8B030D-6E8A-4147-A177-3AD203B41FA5}">
                      <a16:colId xmlns:a16="http://schemas.microsoft.com/office/drawing/2014/main" val="3317597387"/>
                    </a:ext>
                  </a:extLst>
                </a:gridCol>
                <a:gridCol w="1319722">
                  <a:extLst>
                    <a:ext uri="{9D8B030D-6E8A-4147-A177-3AD203B41FA5}">
                      <a16:colId xmlns:a16="http://schemas.microsoft.com/office/drawing/2014/main" val="1082157230"/>
                    </a:ext>
                  </a:extLst>
                </a:gridCol>
                <a:gridCol w="2003332">
                  <a:extLst>
                    <a:ext uri="{9D8B030D-6E8A-4147-A177-3AD203B41FA5}">
                      <a16:colId xmlns:a16="http://schemas.microsoft.com/office/drawing/2014/main" val="3974945007"/>
                    </a:ext>
                  </a:extLst>
                </a:gridCol>
                <a:gridCol w="5131495">
                  <a:extLst>
                    <a:ext uri="{9D8B030D-6E8A-4147-A177-3AD203B41FA5}">
                      <a16:colId xmlns:a16="http://schemas.microsoft.com/office/drawing/2014/main" val="1857059950"/>
                    </a:ext>
                  </a:extLst>
                </a:gridCol>
              </a:tblGrid>
              <a:tr h="591695">
                <a:tc>
                  <a:txBody>
                    <a:bodyPr/>
                    <a:lstStyle/>
                    <a:p>
                      <a:r>
                        <a:rPr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Scenario</a:t>
                      </a:r>
                    </a:p>
                  </a:txBody>
                  <a:tcPr anchor="ctr"/>
                </a:tc>
                <a:tc>
                  <a:txBody>
                    <a:bodyPr/>
                    <a:lstStyle/>
                    <a:p>
                      <a:r>
                        <a:rPr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Nature</a:t>
                      </a:r>
                    </a:p>
                  </a:txBody>
                  <a:tcPr anchor="ctr"/>
                </a:tc>
                <a:tc>
                  <a:txBody>
                    <a:bodyPr/>
                    <a:lstStyle/>
                    <a:p>
                      <a:r>
                        <a:rPr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What it exercises</a:t>
                      </a:r>
                    </a:p>
                  </a:txBody>
                  <a:tcPr anchor="ctr"/>
                </a:tc>
                <a:tc>
                  <a:txBody>
                    <a:bodyPr/>
                    <a:lstStyle/>
                    <a:p>
                      <a:r>
                        <a:rPr lang="en-GB" sz="1600" b="1" kern="1200" dirty="0">
                          <a:solidFill>
                            <a:schemeClr val="lt1"/>
                          </a:solidFill>
                          <a:latin typeface="Sans Serif Collection" panose="020B0502040504020204" pitchFamily="34" charset="0"/>
                          <a:ea typeface="Sans Serif Collection" panose="020B0502040504020204" pitchFamily="34" charset="0"/>
                          <a:cs typeface="Sans Serif Collection" panose="020B0502040504020204" pitchFamily="34" charset="0"/>
                        </a:rPr>
                        <a:t>Test Case Reference</a:t>
                      </a:r>
                    </a:p>
                  </a:txBody>
                  <a:tcPr anchor="ctr"/>
                </a:tc>
                <a:extLst>
                  <a:ext uri="{0D108BD9-81ED-4DB2-BD59-A6C34878D82A}">
                    <a16:rowId xmlns:a16="http://schemas.microsoft.com/office/drawing/2014/main" val="1687419732"/>
                  </a:ext>
                </a:extLst>
              </a:tr>
              <a:tr h="691116">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S1</a:t>
                      </a:r>
                    </a:p>
                  </a:txBody>
                  <a:tcPr anchor="ctr"/>
                </a:tc>
                <a:tc>
                  <a:txBody>
                    <a:bodyPr/>
                    <a:lstStyle/>
                    <a:p>
                      <a:pPr marL="0" algn="l" defTabSz="914400" rtl="0" eaLnBrk="1" latinLnBrk="0" hangingPunct="1"/>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Pre-</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existing</a:t>
                      </a:r>
                      <a:endPar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tc>
                  <a:txBody>
                    <a:bodyPr/>
                    <a:lstStyle/>
                    <a:p>
                      <a:pPr marL="0" algn="l" defTabSz="914400" rtl="0" eaLnBrk="1" latinLnBrk="0" hangingPunct="1"/>
                      <a:r>
                        <a:rPr lang="en-GB"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Aggregation cha</a:t>
                      </a:r>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in</a:t>
                      </a:r>
                    </a:p>
                  </a:txBody>
                  <a:tcPr anchor="ctr"/>
                </a:tc>
                <a:tc>
                  <a:txBody>
                    <a:bodyPr/>
                    <a:lstStyle/>
                    <a:p>
                      <a:pPr marL="0" algn="l" defTabSz="914400" rtl="0" eaLnBrk="1" latinLnBrk="0" hangingPunct="1">
                        <a:buNone/>
                      </a:pP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RunnerTest.cpp</a:t>
                      </a: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 "</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a:t>
                      </a: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Runner Test“</a:t>
                      </a:r>
                    </a:p>
                  </a:txBody>
                  <a:tcPr marL="12700" marR="12700" marT="12700" marB="12700" anchor="ctr"/>
                </a:tc>
                <a:extLst>
                  <a:ext uri="{0D108BD9-81ED-4DB2-BD59-A6C34878D82A}">
                    <a16:rowId xmlns:a16="http://schemas.microsoft.com/office/drawing/2014/main" val="1138243158"/>
                  </a:ext>
                </a:extLst>
              </a:tr>
              <a:tr h="700515">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S2</a:t>
                      </a:r>
                    </a:p>
                  </a:txBody>
                  <a:tcPr anchor="ctr"/>
                </a:tc>
                <a:tc>
                  <a:txBody>
                    <a:bodyPr/>
                    <a:lstStyle/>
                    <a:p>
                      <a:pPr marL="0" algn="l" defTabSz="914400" rtl="0" eaLnBrk="1" latinLnBrk="0" hangingPunct="1"/>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Pre-</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existing</a:t>
                      </a:r>
                      <a:endPar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Config mapping</a:t>
                      </a:r>
                    </a:p>
                  </a:txBody>
                  <a:tcPr anchor="ctr"/>
                </a:tc>
                <a:tc>
                  <a:txBody>
                    <a:bodyPr/>
                    <a:lstStyle/>
                    <a:p>
                      <a:pPr marL="0" algn="l" defTabSz="914400" rtl="0" eaLnBrk="1" latinLnBrk="0" hangingPunct="1"/>
                      <a:r>
                        <a:rPr lang="nl-NL"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PropertyMapperTest.cpp - </a:t>
                      </a: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Optional</a:t>
                      </a: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test"</a:t>
                      </a:r>
                      <a:endParaRPr lang="en-GB"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extLst>
                  <a:ext uri="{0D108BD9-81ED-4DB2-BD59-A6C34878D82A}">
                    <a16:rowId xmlns:a16="http://schemas.microsoft.com/office/drawing/2014/main" val="1488196117"/>
                  </a:ext>
                </a:extLst>
              </a:tr>
              <a:tr h="801914">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S3</a:t>
                      </a:r>
                    </a:p>
                  </a:txBody>
                  <a:tcPr anchor="ctr"/>
                </a:tc>
                <a:tc>
                  <a:txBody>
                    <a:bodyPr/>
                    <a:lstStyle/>
                    <a:p>
                      <a:pPr marL="0" algn="l" defTabSz="914400" rtl="0" eaLnBrk="1" latinLnBrk="0" hangingPunct="1"/>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Pre-</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existing</a:t>
                      </a:r>
                      <a:endPar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Multi-component runner</a:t>
                      </a:r>
                    </a:p>
                  </a:txBody>
                  <a:tcPr anchor="ctr"/>
                </a:tc>
                <a:tc>
                  <a:txBody>
                    <a:bodyPr/>
                    <a:lstStyle/>
                    <a:p>
                      <a:pPr marL="0" algn="l" defTabSz="914400" rtl="0" eaLnBrk="1" latinLnBrk="0" hangingPunct="1"/>
                      <a:r>
                        <a:rPr lang="nl-NL"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SchedulerTest.cpp </a:t>
                      </a: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MultiThreaded</a:t>
                      </a: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Test 1“</a:t>
                      </a:r>
                      <a:endParaRPr lang="en-GB"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extLst>
                  <a:ext uri="{0D108BD9-81ED-4DB2-BD59-A6C34878D82A}">
                    <a16:rowId xmlns:a16="http://schemas.microsoft.com/office/drawing/2014/main" val="1452621448"/>
                  </a:ext>
                </a:extLst>
              </a:tr>
              <a:tr h="801914">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S4</a:t>
                      </a:r>
                    </a:p>
                  </a:txBody>
                  <a:tcPr anchor="ct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Constructed</a:t>
                      </a:r>
                    </a:p>
                  </a:txBody>
                  <a:tcPr anchor="ct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Publish/subscribe</a:t>
                      </a:r>
                    </a:p>
                  </a:txBody>
                  <a:tcPr anchor="ctr"/>
                </a:tc>
                <a:tc>
                  <a:txBody>
                    <a:bodyPr/>
                    <a:lstStyle/>
                    <a:p>
                      <a:pPr marL="0" algn="l" defTabSz="914400" rtl="0" eaLnBrk="1" latinLnBrk="0" hangingPunct="1"/>
                      <a:r>
                        <a:rPr lang="nl-NL"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StageEventBridgeTest.cpp - </a:t>
                      </a: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"Stage Event Bridge Pub-Sub Routing"</a:t>
                      </a:r>
                      <a:endParaRPr lang="en-GB"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extLst>
                  <a:ext uri="{0D108BD9-81ED-4DB2-BD59-A6C34878D82A}">
                    <a16:rowId xmlns:a16="http://schemas.microsoft.com/office/drawing/2014/main" val="729570164"/>
                  </a:ext>
                </a:extLst>
              </a:tr>
            </a:tbl>
          </a:graphicData>
        </a:graphic>
      </p:graphicFrame>
    </p:spTree>
    <p:extLst>
      <p:ext uri="{BB962C8B-B14F-4D97-AF65-F5344CB8AC3E}">
        <p14:creationId xmlns:p14="http://schemas.microsoft.com/office/powerpoint/2010/main" val="589209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EA43A-91F9-6F9A-C6BB-2BEA3D243AB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3835636-EEB9-8687-BE40-FD78FF9753EF}"/>
              </a:ext>
            </a:extLst>
          </p:cNvPr>
          <p:cNvPicPr>
            <a:picLocks noChangeAspect="1"/>
          </p:cNvPicPr>
          <p:nvPr/>
        </p:nvPicPr>
        <p:blipFill>
          <a:blip r:embed="rId4"/>
          <a:stretch>
            <a:fillRect/>
          </a:stretch>
        </p:blipFill>
        <p:spPr>
          <a:xfrm>
            <a:off x="753778" y="2579139"/>
            <a:ext cx="5973235" cy="3069889"/>
          </a:xfrm>
          <a:prstGeom prst="rect">
            <a:avLst/>
          </a:prstGeom>
        </p:spPr>
      </p:pic>
      <p:sp>
        <p:nvSpPr>
          <p:cNvPr id="2" name="Title 1">
            <a:extLst>
              <a:ext uri="{FF2B5EF4-FFF2-40B4-BE49-F238E27FC236}">
                <a16:creationId xmlns:a16="http://schemas.microsoft.com/office/drawing/2014/main" id="{B2ECB759-ED6C-1F7F-0176-1AF1E5B890C6}"/>
              </a:ext>
            </a:extLst>
          </p:cNvPr>
          <p:cNvSpPr>
            <a:spLocks noGrp="1"/>
          </p:cNvSpPr>
          <p:nvPr>
            <p:ph type="title"/>
          </p:nvPr>
        </p:nvSpPr>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Ground Truth</a:t>
            </a:r>
          </a:p>
        </p:txBody>
      </p:sp>
      <p:sp>
        <p:nvSpPr>
          <p:cNvPr id="9" name="TextBox 8">
            <a:extLst>
              <a:ext uri="{FF2B5EF4-FFF2-40B4-BE49-F238E27FC236}">
                <a16:creationId xmlns:a16="http://schemas.microsoft.com/office/drawing/2014/main" id="{C75EB51E-62D7-C54D-1D84-1A919CB57E91}"/>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9</a:t>
            </a:r>
          </a:p>
        </p:txBody>
      </p:sp>
      <p:sp>
        <p:nvSpPr>
          <p:cNvPr id="10" name="TextBox 9">
            <a:extLst>
              <a:ext uri="{FF2B5EF4-FFF2-40B4-BE49-F238E27FC236}">
                <a16:creationId xmlns:a16="http://schemas.microsoft.com/office/drawing/2014/main" id="{3A14DFD3-3B5E-A89B-55FF-1C5A113191B0}"/>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5" name="Picture 4">
            <a:extLst>
              <a:ext uri="{FF2B5EF4-FFF2-40B4-BE49-F238E27FC236}">
                <a16:creationId xmlns:a16="http://schemas.microsoft.com/office/drawing/2014/main" id="{276E4C79-2736-9547-3726-0F4ADCF5B399}"/>
              </a:ext>
            </a:extLst>
          </p:cNvPr>
          <p:cNvPicPr>
            <a:picLocks noChangeAspect="1"/>
          </p:cNvPicPr>
          <p:nvPr/>
        </p:nvPicPr>
        <p:blipFill>
          <a:blip r:embed="rId5"/>
          <a:stretch>
            <a:fillRect/>
          </a:stretch>
        </p:blipFill>
        <p:spPr>
          <a:xfrm>
            <a:off x="753779" y="2273813"/>
            <a:ext cx="5973234" cy="3651541"/>
          </a:xfrm>
          <a:prstGeom prst="rect">
            <a:avLst/>
          </a:prstGeom>
        </p:spPr>
      </p:pic>
      <p:pic>
        <p:nvPicPr>
          <p:cNvPr id="4" name="Content Placeholder 9">
            <a:extLst>
              <a:ext uri="{FF2B5EF4-FFF2-40B4-BE49-F238E27FC236}">
                <a16:creationId xmlns:a16="http://schemas.microsoft.com/office/drawing/2014/main" id="{E86D10D1-F432-4EFD-7285-7C9ED0644EDD}"/>
              </a:ext>
            </a:extLst>
          </p:cNvPr>
          <p:cNvPicPr>
            <a:picLocks noGrp="1" noChangeAspect="1"/>
          </p:cNvPicPr>
          <p:nvPr>
            <p:ph sz="quarter" idx="11"/>
          </p:nvPr>
        </p:nvPicPr>
        <p:blipFill>
          <a:blip r:embed="rId6"/>
          <a:stretch>
            <a:fillRect/>
          </a:stretch>
        </p:blipFill>
        <p:spPr>
          <a:xfrm>
            <a:off x="628752" y="2163573"/>
            <a:ext cx="6223285" cy="3761781"/>
          </a:xfrm>
          <a:prstGeom prst="rect">
            <a:avLst/>
          </a:prstGeom>
        </p:spPr>
      </p:pic>
      <p:pic>
        <p:nvPicPr>
          <p:cNvPr id="8" name="Content Placeholder 7">
            <a:extLst>
              <a:ext uri="{FF2B5EF4-FFF2-40B4-BE49-F238E27FC236}">
                <a16:creationId xmlns:a16="http://schemas.microsoft.com/office/drawing/2014/main" id="{E04BAE29-9EAE-305A-87E7-4924FC2CCE83}"/>
              </a:ext>
            </a:extLst>
          </p:cNvPr>
          <p:cNvPicPr>
            <a:picLocks noGrp="1" noChangeAspect="1"/>
          </p:cNvPicPr>
          <p:nvPr>
            <p:ph sz="quarter" idx="10"/>
          </p:nvPr>
        </p:nvPicPr>
        <p:blipFill>
          <a:blip r:embed="rId7"/>
          <a:stretch>
            <a:fillRect/>
          </a:stretch>
        </p:blipFill>
        <p:spPr>
          <a:xfrm>
            <a:off x="628752" y="2093284"/>
            <a:ext cx="6242284" cy="3902357"/>
          </a:xfrm>
          <a:prstGeom prst="rect">
            <a:avLst/>
          </a:prstGeom>
        </p:spPr>
      </p:pic>
      <p:pic>
        <p:nvPicPr>
          <p:cNvPr id="11" name="Picture 10">
            <a:extLst>
              <a:ext uri="{FF2B5EF4-FFF2-40B4-BE49-F238E27FC236}">
                <a16:creationId xmlns:a16="http://schemas.microsoft.com/office/drawing/2014/main" id="{AB76FCA4-C21E-5910-E2DB-DF49DACAC224}"/>
              </a:ext>
            </a:extLst>
          </p:cNvPr>
          <p:cNvPicPr>
            <a:picLocks noChangeAspect="1"/>
          </p:cNvPicPr>
          <p:nvPr/>
        </p:nvPicPr>
        <p:blipFill>
          <a:blip r:embed="rId8"/>
          <a:stretch>
            <a:fillRect/>
          </a:stretch>
        </p:blipFill>
        <p:spPr>
          <a:xfrm>
            <a:off x="7123813" y="2016638"/>
            <a:ext cx="4575914" cy="2861023"/>
          </a:xfrm>
          <a:prstGeom prst="rect">
            <a:avLst/>
          </a:prstGeom>
        </p:spPr>
      </p:pic>
    </p:spTree>
    <p:extLst>
      <p:ext uri="{BB962C8B-B14F-4D97-AF65-F5344CB8AC3E}">
        <p14:creationId xmlns:p14="http://schemas.microsoft.com/office/powerpoint/2010/main" val="692823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80BD4-89A7-BC09-37FA-FE5A96C926A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2E1F4B7-5E02-79C4-11A3-DAA26AB3AE9D}"/>
              </a:ext>
            </a:extLst>
          </p:cNvPr>
          <p:cNvSpPr>
            <a:spLocks noGrp="1"/>
          </p:cNvSpPr>
          <p:nvPr>
            <p:ph type="title"/>
          </p:nvPr>
        </p:nvSpPr>
        <p:spPr>
          <a:xfrm>
            <a:off x="566058" y="371623"/>
            <a:ext cx="9762309" cy="1163190"/>
          </a:xfrm>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Methodology </a:t>
            </a:r>
            <a:r>
              <a:rPr lang="en-GB" sz="4400" dirty="0">
                <a:latin typeface="Sans Serif Collection" panose="020B0502040504020204" pitchFamily="34" charset="0"/>
                <a:ea typeface="Sans Serif Collection" panose="020B0502040504020204" pitchFamily="34" charset="0"/>
                <a:cs typeface="Sans Serif Collection" panose="020B0502040504020204" pitchFamily="34" charset="0"/>
              </a:rPr>
              <a:t>- The Hybrid Pipeline </a:t>
            </a:r>
          </a:p>
        </p:txBody>
      </p:sp>
      <p:sp>
        <p:nvSpPr>
          <p:cNvPr id="36" name="TextBox 35">
            <a:extLst>
              <a:ext uri="{FF2B5EF4-FFF2-40B4-BE49-F238E27FC236}">
                <a16:creationId xmlns:a16="http://schemas.microsoft.com/office/drawing/2014/main" id="{27309BB6-1453-3F56-E074-C0CC45CE659E}"/>
              </a:ext>
            </a:extLst>
          </p:cNvPr>
          <p:cNvSpPr txBox="1"/>
          <p:nvPr/>
        </p:nvSpPr>
        <p:spPr>
          <a:xfrm>
            <a:off x="434885" y="5239191"/>
            <a:ext cx="10549140" cy="935897"/>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400" b="1" i="0" u="none" strike="noStrike" kern="1200" cap="none" spc="0" normalizeH="0" baseline="0" noProof="0" dirty="0">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Experiments:</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GB" sz="1400" dirty="0">
                <a:solidFill>
                  <a:prstClr val="black">
                    <a:lumMod val="65000"/>
                    <a:lumOff val="35000"/>
                  </a:prstClr>
                </a:solidFill>
                <a:latin typeface="Sans Serif Collection" panose="020B0502040504020204" pitchFamily="34" charset="0"/>
                <a:ea typeface="Sans Serif Collection" panose="020B0502040504020204" pitchFamily="34" charset="0"/>
                <a:cs typeface="Sans Serif Collection" panose="020B0502040504020204" pitchFamily="34" charset="0"/>
              </a:rPr>
              <a:t>Six</a:t>
            </a:r>
            <a:r>
              <a:rPr kumimoji="0" lang="en-GB" sz="1400" b="0" i="0" u="none" strike="noStrike" kern="1200" cap="none" spc="0" normalizeH="0" baseline="0" noProof="0" dirty="0">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 stages, evaluated across four </a:t>
            </a:r>
            <a:r>
              <a:rPr kumimoji="0" lang="en-GB" sz="1400" b="0" i="0" u="none" strike="noStrike" kern="1200" cap="none" spc="0" normalizeH="0" baseline="0" noProof="0" dirty="0" err="1">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kumimoji="0" lang="en-GB" sz="1400" b="0" i="0" u="none" strike="noStrike" kern="1200" cap="none" spc="0" normalizeH="0" baseline="0" noProof="0" dirty="0">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 scenarios (S1–S4)</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Three hypotheses H1, H2, H3 were tested.</a:t>
            </a:r>
          </a:p>
        </p:txBody>
      </p:sp>
      <p:sp>
        <p:nvSpPr>
          <p:cNvPr id="22" name="TextBox 21">
            <a:extLst>
              <a:ext uri="{FF2B5EF4-FFF2-40B4-BE49-F238E27FC236}">
                <a16:creationId xmlns:a16="http://schemas.microsoft.com/office/drawing/2014/main" id="{EE2B590D-2E41-9CDF-8EE2-AA708DE67270}"/>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10</a:t>
            </a:r>
          </a:p>
        </p:txBody>
      </p:sp>
      <p:sp>
        <p:nvSpPr>
          <p:cNvPr id="23" name="TextBox 22">
            <a:extLst>
              <a:ext uri="{FF2B5EF4-FFF2-40B4-BE49-F238E27FC236}">
                <a16:creationId xmlns:a16="http://schemas.microsoft.com/office/drawing/2014/main" id="{92FD81FD-75A2-C9E6-2F05-A60A6C200AF3}"/>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1" name="Picture 10">
            <a:extLst>
              <a:ext uri="{FF2B5EF4-FFF2-40B4-BE49-F238E27FC236}">
                <a16:creationId xmlns:a16="http://schemas.microsoft.com/office/drawing/2014/main" id="{DCBEC138-1118-C80E-E1D8-3392D1088F69}"/>
              </a:ext>
            </a:extLst>
          </p:cNvPr>
          <p:cNvPicPr>
            <a:picLocks noChangeAspect="1"/>
          </p:cNvPicPr>
          <p:nvPr/>
        </p:nvPicPr>
        <p:blipFill>
          <a:blip r:embed="rId4"/>
          <a:stretch>
            <a:fillRect/>
          </a:stretch>
        </p:blipFill>
        <p:spPr>
          <a:xfrm>
            <a:off x="621499" y="1789489"/>
            <a:ext cx="10949002" cy="4300539"/>
          </a:xfrm>
          <a:prstGeom prst="rect">
            <a:avLst/>
          </a:prstGeom>
        </p:spPr>
      </p:pic>
    </p:spTree>
    <p:extLst>
      <p:ext uri="{BB962C8B-B14F-4D97-AF65-F5344CB8AC3E}">
        <p14:creationId xmlns:p14="http://schemas.microsoft.com/office/powerpoint/2010/main" val="3332100058"/>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AFB54AD-3769-9F0C-5CE7-958317DF3241}"/>
              </a:ext>
            </a:extLst>
          </p:cNvPr>
          <p:cNvSpPr>
            <a:spLocks noGrp="1"/>
          </p:cNvSpPr>
          <p:nvPr>
            <p:ph type="title"/>
          </p:nvPr>
        </p:nvSpPr>
        <p:spPr/>
        <p:txBody>
          <a:bodyPr/>
          <a:lstStyle/>
          <a:p>
            <a:r>
              <a:rPr lang="en-US" dirty="0">
                <a:latin typeface="Sans Serif Collection" panose="020B0502040504020204" pitchFamily="34" charset="0"/>
                <a:ea typeface="Sans Serif Collection" panose="020B0502040504020204" pitchFamily="34" charset="0"/>
                <a:cs typeface="Sans Serif Collection" panose="020B0502040504020204" pitchFamily="34" charset="0"/>
              </a:rPr>
              <a:t>H1 Experiment Design</a:t>
            </a:r>
            <a:endParaRPr lang="en-US" dirty="0"/>
          </a:p>
        </p:txBody>
      </p:sp>
      <p:graphicFrame>
        <p:nvGraphicFramePr>
          <p:cNvPr id="8" name="Table Placeholder 7">
            <a:extLst>
              <a:ext uri="{FF2B5EF4-FFF2-40B4-BE49-F238E27FC236}">
                <a16:creationId xmlns:a16="http://schemas.microsoft.com/office/drawing/2014/main" id="{845668BD-77D6-9210-8F14-A48D7D9C6DF3}"/>
              </a:ext>
            </a:extLst>
          </p:cNvPr>
          <p:cNvGraphicFramePr>
            <a:graphicFrameLocks noGrp="1"/>
          </p:cNvGraphicFramePr>
          <p:nvPr>
            <p:ph type="tbl" sz="quarter" idx="10"/>
            <p:extLst>
              <p:ext uri="{D42A27DB-BD31-4B8C-83A1-F6EECF244321}">
                <p14:modId xmlns:p14="http://schemas.microsoft.com/office/powerpoint/2010/main" val="636735341"/>
              </p:ext>
            </p:extLst>
          </p:nvPr>
        </p:nvGraphicFramePr>
        <p:xfrm>
          <a:off x="700177" y="2016636"/>
          <a:ext cx="10791645" cy="4089501"/>
        </p:xfrm>
        <a:graphic>
          <a:graphicData uri="http://schemas.openxmlformats.org/drawingml/2006/table">
            <a:tbl>
              <a:tblPr>
                <a:tableStyleId>{22838BEF-8BB2-4498-84A7-C5851F593DF1}</a:tableStyleId>
              </a:tblPr>
              <a:tblGrid>
                <a:gridCol w="2158329">
                  <a:extLst>
                    <a:ext uri="{9D8B030D-6E8A-4147-A177-3AD203B41FA5}">
                      <a16:colId xmlns:a16="http://schemas.microsoft.com/office/drawing/2014/main" val="881982617"/>
                    </a:ext>
                  </a:extLst>
                </a:gridCol>
                <a:gridCol w="2158329">
                  <a:extLst>
                    <a:ext uri="{9D8B030D-6E8A-4147-A177-3AD203B41FA5}">
                      <a16:colId xmlns:a16="http://schemas.microsoft.com/office/drawing/2014/main" val="2191804053"/>
                    </a:ext>
                  </a:extLst>
                </a:gridCol>
                <a:gridCol w="2158329">
                  <a:extLst>
                    <a:ext uri="{9D8B030D-6E8A-4147-A177-3AD203B41FA5}">
                      <a16:colId xmlns:a16="http://schemas.microsoft.com/office/drawing/2014/main" val="515388951"/>
                    </a:ext>
                  </a:extLst>
                </a:gridCol>
                <a:gridCol w="2298077">
                  <a:extLst>
                    <a:ext uri="{9D8B030D-6E8A-4147-A177-3AD203B41FA5}">
                      <a16:colId xmlns:a16="http://schemas.microsoft.com/office/drawing/2014/main" val="1478893148"/>
                    </a:ext>
                  </a:extLst>
                </a:gridCol>
                <a:gridCol w="2018581">
                  <a:extLst>
                    <a:ext uri="{9D8B030D-6E8A-4147-A177-3AD203B41FA5}">
                      <a16:colId xmlns:a16="http://schemas.microsoft.com/office/drawing/2014/main" val="1408400334"/>
                    </a:ext>
                  </a:extLst>
                </a:gridCol>
              </a:tblGrid>
              <a:tr h="562655">
                <a:tc>
                  <a:txBody>
                    <a:bodyPr/>
                    <a:lstStyle/>
                    <a:p>
                      <a:pPr>
                        <a:buNone/>
                      </a:pPr>
                      <a:r>
                        <a:rPr lang="en-US" sz="17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Condition</a:t>
                      </a:r>
                    </a:p>
                  </a:txBody>
                  <a:tcPr marL="31029" marR="31029" marT="20685" marB="20685" anchor="ctr">
                    <a:solidFill>
                      <a:schemeClr val="accent4"/>
                    </a:solidFill>
                  </a:tcPr>
                </a:tc>
                <a:tc>
                  <a:txBody>
                    <a:bodyPr/>
                    <a:lstStyle/>
                    <a:p>
                      <a:pPr algn="ctr">
                        <a:buNone/>
                      </a:pPr>
                      <a:r>
                        <a:rPr lang="en-US" sz="17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Phase 1 (Renaissance/Neo4j)</a:t>
                      </a:r>
                    </a:p>
                  </a:txBody>
                  <a:tcPr marL="31029" marR="31029" marT="20685" marB="20685" anchor="ctr">
                    <a:solidFill>
                      <a:schemeClr val="accent4"/>
                    </a:solidFill>
                  </a:tcPr>
                </a:tc>
                <a:tc>
                  <a:txBody>
                    <a:bodyPr/>
                    <a:lstStyle/>
                    <a:p>
                      <a:pPr algn="ctr">
                        <a:buNone/>
                      </a:pPr>
                      <a:r>
                        <a:rPr lang="en-US" sz="17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Phase 2 (Guided Instrumentation)</a:t>
                      </a:r>
                    </a:p>
                  </a:txBody>
                  <a:tcPr marL="31029" marR="31029" marT="20685" marB="20685" anchor="ctr">
                    <a:solidFill>
                      <a:schemeClr val="accent4"/>
                    </a:solidFill>
                  </a:tcPr>
                </a:tc>
                <a:tc>
                  <a:txBody>
                    <a:bodyPr/>
                    <a:lstStyle/>
                    <a:p>
                      <a:pPr algn="ctr">
                        <a:buNone/>
                      </a:pPr>
                      <a:r>
                        <a:rPr lang="en-US" sz="17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Phase 3 (Synthesis)</a:t>
                      </a:r>
                    </a:p>
                  </a:txBody>
                  <a:tcPr marL="31029" marR="31029" marT="20685" marB="20685" anchor="ctr">
                    <a:solidFill>
                      <a:schemeClr val="accent4"/>
                    </a:solidFill>
                  </a:tcPr>
                </a:tc>
                <a:tc>
                  <a:txBody>
                    <a:bodyPr/>
                    <a:lstStyle/>
                    <a:p>
                      <a:pPr algn="ctr">
                        <a:buNone/>
                      </a:pPr>
                      <a:r>
                        <a:rPr lang="en-US" sz="17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Phase 4 (</a:t>
                      </a:r>
                      <a:r>
                        <a:rPr lang="en-US" sz="1700" dirty="0" err="1">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US" sz="17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1029" marR="31029" marT="20685" marB="20685" anchor="ctr">
                    <a:solidFill>
                      <a:schemeClr val="accent4"/>
                    </a:solidFill>
                  </a:tcPr>
                </a:tc>
                <a:extLst>
                  <a:ext uri="{0D108BD9-81ED-4DB2-BD59-A6C34878D82A}">
                    <a16:rowId xmlns:a16="http://schemas.microsoft.com/office/drawing/2014/main" val="1077821125"/>
                  </a:ext>
                </a:extLst>
              </a:tr>
              <a:tr h="823298">
                <a:tc>
                  <a:txBody>
                    <a:bodyPr/>
                    <a:lstStyle/>
                    <a:p>
                      <a:pPr>
                        <a:buNone/>
                      </a:pPr>
                      <a:r>
                        <a:rPr lang="en-US" sz="1400" b="1">
                          <a:effectLst/>
                          <a:latin typeface="Sans Serif Collection" panose="020B0502040504020204" pitchFamily="34" charset="0"/>
                          <a:ea typeface="Sans Serif Collection" panose="020B0502040504020204" pitchFamily="34" charset="0"/>
                          <a:cs typeface="Sans Serif Collection" panose="020B0502040504020204" pitchFamily="34" charset="0"/>
                        </a:rPr>
                        <a:t>C1 LLM-only</a:t>
                      </a:r>
                    </a:p>
                  </a:txBody>
                  <a:tcPr marL="31029" marR="31029" marT="20685" marB="20685" anchor="ctr"/>
                </a:tc>
                <a:tc>
                  <a:txBody>
                    <a:bodyPr/>
                    <a:lstStyle/>
                    <a:p>
                      <a:pPr algn="ctr">
                        <a:buNone/>
                      </a:pPr>
                      <a:r>
                        <a:rPr lang="en-US"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1029" marR="31029" marT="20685" marB="20685" anchor="ctr"/>
                </a:tc>
                <a:tc>
                  <a:txBody>
                    <a:bodyPr/>
                    <a:lstStyle/>
                    <a:p>
                      <a:pPr algn="ctr">
                        <a:buNone/>
                      </a:pPr>
                      <a:r>
                        <a:rPr lang="en-US" sz="14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1029" marR="31029" marT="20685" marB="20685" anchor="ctr"/>
                </a:tc>
                <a:tc>
                  <a:txBody>
                    <a:bodyPr/>
                    <a:lstStyle/>
                    <a:p>
                      <a:pPr algn="ctr">
                        <a:buNone/>
                      </a:pPr>
                      <a:r>
                        <a:rPr lang="en-US"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LLM + source only (no static/dynamic evidence)</a:t>
                      </a:r>
                    </a:p>
                  </a:txBody>
                  <a:tcPr marL="31029" marR="31029" marT="20685" marB="20685" anchor="ctr"/>
                </a:tc>
                <a:tc>
                  <a:txBody>
                    <a:bodyPr/>
                    <a:lstStyle/>
                    <a:p>
                      <a:pPr algn="ctr">
                        <a:buNone/>
                      </a:pPr>
                      <a:r>
                        <a:rPr lang="en-US" sz="14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1029" marR="31029" marT="20685" marB="20685" anchor="ctr"/>
                </a:tc>
                <a:extLst>
                  <a:ext uri="{0D108BD9-81ED-4DB2-BD59-A6C34878D82A}">
                    <a16:rowId xmlns:a16="http://schemas.microsoft.com/office/drawing/2014/main" val="1138392427"/>
                  </a:ext>
                </a:extLst>
              </a:tr>
              <a:tr h="562655">
                <a:tc>
                  <a:txBody>
                    <a:bodyPr/>
                    <a:lstStyle/>
                    <a:p>
                      <a:pPr>
                        <a:buNone/>
                      </a:pPr>
                      <a:r>
                        <a:rPr lang="en-US" sz="14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C2 Static-only</a:t>
                      </a:r>
                    </a:p>
                  </a:txBody>
                  <a:tcPr marL="31029" marR="31029" marT="20685" marB="20685" anchor="ctr"/>
                </a:tc>
                <a:tc>
                  <a:txBody>
                    <a:bodyPr/>
                    <a:lstStyle/>
                    <a:p>
                      <a:pPr algn="ctr">
                        <a:buNone/>
                      </a:pPr>
                      <a:r>
                        <a:rPr lang="en-US"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full</a:t>
                      </a:r>
                    </a:p>
                  </a:txBody>
                  <a:tcPr marL="31029" marR="31029" marT="20685" marB="20685" anchor="ctr"/>
                </a:tc>
                <a:tc>
                  <a:txBody>
                    <a:bodyPr/>
                    <a:lstStyle/>
                    <a:p>
                      <a:pPr algn="ctr">
                        <a:buNone/>
                      </a:pPr>
                      <a:r>
                        <a:rPr lang="en-US"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1029" marR="31029" marT="20685" marB="20685" anchor="ctr"/>
                </a:tc>
                <a:tc>
                  <a:txBody>
                    <a:bodyPr/>
                    <a:lstStyle/>
                    <a:p>
                      <a:pPr algn="ctr">
                        <a:buNone/>
                      </a:pPr>
                      <a:r>
                        <a:rPr lang="en-US"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Static graph only</a:t>
                      </a:r>
                      <a:r>
                        <a:rPr lang="en-US"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1029" marR="31029" marT="20685" marB="20685" anchor="ctr"/>
                </a:tc>
                <a:tc>
                  <a:txBody>
                    <a:bodyPr/>
                    <a:lstStyle/>
                    <a:p>
                      <a:pPr algn="ctr">
                        <a:buNone/>
                      </a:pPr>
                      <a:r>
                        <a:rPr lang="en-US"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1029" marR="31029" marT="20685" marB="20685" anchor="ctr"/>
                </a:tc>
                <a:extLst>
                  <a:ext uri="{0D108BD9-81ED-4DB2-BD59-A6C34878D82A}">
                    <a16:rowId xmlns:a16="http://schemas.microsoft.com/office/drawing/2014/main" val="553216855"/>
                  </a:ext>
                </a:extLst>
              </a:tr>
              <a:tr h="562655">
                <a:tc>
                  <a:txBody>
                    <a:bodyPr/>
                    <a:lstStyle/>
                    <a:p>
                      <a:pPr>
                        <a:buNone/>
                      </a:pPr>
                      <a:r>
                        <a:rPr lang="en-US" sz="14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C3 Dynamic-only</a:t>
                      </a:r>
                    </a:p>
                  </a:txBody>
                  <a:tcPr marL="31029" marR="31029" marT="20685" marB="20685" anchor="ctr"/>
                </a:tc>
                <a:tc>
                  <a:txBody>
                    <a:bodyPr/>
                    <a:lstStyle/>
                    <a:p>
                      <a:pPr algn="ctr">
                        <a:buNone/>
                      </a:pPr>
                      <a:r>
                        <a:rPr lang="en-US" sz="14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1029" marR="31029" marT="20685" marB="20685" anchor="ctr"/>
                </a:tc>
                <a:tc>
                  <a:txBody>
                    <a:bodyPr/>
                    <a:lstStyle/>
                    <a:p>
                      <a:pPr algn="ctr">
                        <a:buNone/>
                      </a:pPr>
                      <a:r>
                        <a:rPr lang="en-US"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full</a:t>
                      </a:r>
                    </a:p>
                  </a:txBody>
                  <a:tcPr marL="31029" marR="31029" marT="20685" marB="20685" anchor="ctr"/>
                </a:tc>
                <a:tc>
                  <a:txBody>
                    <a:bodyPr/>
                    <a:lstStyle/>
                    <a:p>
                      <a:pPr algn="ctr">
                        <a:buNone/>
                      </a:pPr>
                      <a:r>
                        <a:rPr lang="en-US"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(de-duplicated + ordered trace)</a:t>
                      </a:r>
                    </a:p>
                  </a:txBody>
                  <a:tcPr marL="31029" marR="31029" marT="20685" marB="20685" anchor="ctr"/>
                </a:tc>
                <a:tc>
                  <a:txBody>
                    <a:bodyPr/>
                    <a:lstStyle/>
                    <a:p>
                      <a:pPr algn="ctr">
                        <a:buNone/>
                      </a:pPr>
                      <a:r>
                        <a:rPr lang="en-US"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1029" marR="31029" marT="20685" marB="20685" anchor="ctr"/>
                </a:tc>
                <a:extLst>
                  <a:ext uri="{0D108BD9-81ED-4DB2-BD59-A6C34878D82A}">
                    <a16:rowId xmlns:a16="http://schemas.microsoft.com/office/drawing/2014/main" val="1476462974"/>
                  </a:ext>
                </a:extLst>
              </a:tr>
              <a:tr h="452928">
                <a:tc>
                  <a:txBody>
                    <a:bodyPr/>
                    <a:lstStyle/>
                    <a:p>
                      <a:pPr>
                        <a:buNone/>
                      </a:pPr>
                      <a:r>
                        <a:rPr lang="en-US" sz="14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C4 Static + Dynamic</a:t>
                      </a:r>
                    </a:p>
                  </a:txBody>
                  <a:tcPr marL="31029" marR="31029" marT="20685" marB="20685" anchor="ctr"/>
                </a:tc>
                <a:tc>
                  <a:txBody>
                    <a:bodyPr/>
                    <a:lstStyle/>
                    <a:p>
                      <a:pPr algn="ctr">
                        <a:buNone/>
                      </a:pPr>
                      <a:r>
                        <a:rPr lang="en-US"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1029" marR="31029" marT="20685" marB="20685" anchor="ctr"/>
                </a:tc>
                <a:tc>
                  <a:txBody>
                    <a:bodyPr/>
                    <a:lstStyle/>
                    <a:p>
                      <a:pPr algn="ctr">
                        <a:buNone/>
                      </a:pPr>
                      <a:r>
                        <a:rPr lang="en-US"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1029" marR="31029" marT="20685" marB="20685" anchor="ctr"/>
                </a:tc>
                <a:tc>
                  <a:txBody>
                    <a:bodyPr/>
                    <a:lstStyle/>
                    <a:p>
                      <a:pPr algn="ctr">
                        <a:buNone/>
                      </a:pPr>
                      <a:r>
                        <a:rPr lang="en-US"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Set union (no LLM)</a:t>
                      </a:r>
                    </a:p>
                  </a:txBody>
                  <a:tcPr marL="31029" marR="31029" marT="20685" marB="20685" anchor="ctr"/>
                </a:tc>
                <a:tc>
                  <a:txBody>
                    <a:bodyPr/>
                    <a:lstStyle/>
                    <a:p>
                      <a:pPr algn="ctr">
                        <a:buNone/>
                      </a:pPr>
                      <a:r>
                        <a:rPr lang="en-US"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1029" marR="31029" marT="20685" marB="20685" anchor="ctr"/>
                </a:tc>
                <a:extLst>
                  <a:ext uri="{0D108BD9-81ED-4DB2-BD59-A6C34878D82A}">
                    <a16:rowId xmlns:a16="http://schemas.microsoft.com/office/drawing/2014/main" val="2319529541"/>
                  </a:ext>
                </a:extLst>
              </a:tr>
              <a:tr h="562655">
                <a:tc>
                  <a:txBody>
                    <a:bodyPr/>
                    <a:lstStyle/>
                    <a:p>
                      <a:pPr>
                        <a:buNone/>
                      </a:pPr>
                      <a:r>
                        <a:rPr lang="en-US" sz="14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C5 Intersection</a:t>
                      </a:r>
                    </a:p>
                  </a:txBody>
                  <a:tcPr marL="31029" marR="31029" marT="20685" marB="20685" anchor="ctr"/>
                </a:tc>
                <a:tc>
                  <a:txBody>
                    <a:bodyPr/>
                    <a:lstStyle/>
                    <a:p>
                      <a:pPr algn="ctr">
                        <a:buNone/>
                      </a:pPr>
                      <a:r>
                        <a:rPr lang="en-US" sz="14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1029" marR="31029" marT="20685" marB="20685" anchor="ctr"/>
                </a:tc>
                <a:tc>
                  <a:txBody>
                    <a:bodyPr/>
                    <a:lstStyle/>
                    <a:p>
                      <a:pPr algn="ctr">
                        <a:buNone/>
                      </a:pPr>
                      <a:r>
                        <a:rPr lang="en-US"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1029" marR="31029" marT="20685" marB="20685" anchor="ctr"/>
                </a:tc>
                <a:tc>
                  <a:txBody>
                    <a:bodyPr/>
                    <a:lstStyle/>
                    <a:p>
                      <a:pPr algn="ctr">
                        <a:buNone/>
                      </a:pPr>
                      <a:r>
                        <a:rPr lang="en-US"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Set intersection (no LLM)</a:t>
                      </a:r>
                    </a:p>
                  </a:txBody>
                  <a:tcPr marL="31029" marR="31029" marT="20685" marB="20685" anchor="ctr"/>
                </a:tc>
                <a:tc>
                  <a:txBody>
                    <a:bodyPr/>
                    <a:lstStyle/>
                    <a:p>
                      <a:pPr algn="ctr">
                        <a:buNone/>
                      </a:pPr>
                      <a:r>
                        <a:rPr lang="en-US" sz="14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1029" marR="31029" marT="20685" marB="20685" anchor="ctr"/>
                </a:tc>
                <a:extLst>
                  <a:ext uri="{0D108BD9-81ED-4DB2-BD59-A6C34878D82A}">
                    <a16:rowId xmlns:a16="http://schemas.microsoft.com/office/drawing/2014/main" val="1067694860"/>
                  </a:ext>
                </a:extLst>
              </a:tr>
              <a:tr h="562655">
                <a:tc>
                  <a:txBody>
                    <a:bodyPr/>
                    <a:lstStyle/>
                    <a:p>
                      <a:pPr>
                        <a:buNone/>
                      </a:pPr>
                      <a:r>
                        <a:rPr lang="en-US" sz="14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C6 Full pipeline</a:t>
                      </a:r>
                    </a:p>
                  </a:txBody>
                  <a:tcPr marL="31029" marR="31029" marT="20685" marB="20685" anchor="ctr"/>
                </a:tc>
                <a:tc>
                  <a:txBody>
                    <a:bodyPr/>
                    <a:lstStyle/>
                    <a:p>
                      <a:pPr algn="ctr">
                        <a:buNone/>
                      </a:pPr>
                      <a:r>
                        <a:rPr lang="en-US" sz="14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1029" marR="31029" marT="20685" marB="20685" anchor="ctr"/>
                </a:tc>
                <a:tc>
                  <a:txBody>
                    <a:bodyPr/>
                    <a:lstStyle/>
                    <a:p>
                      <a:pPr algn="ctr">
                        <a:buNone/>
                      </a:pPr>
                      <a:r>
                        <a:rPr lang="en-US"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1029" marR="31029" marT="20685" marB="20685" anchor="ctr"/>
                </a:tc>
                <a:tc>
                  <a:txBody>
                    <a:bodyPr/>
                    <a:lstStyle/>
                    <a:p>
                      <a:pPr algn="ctr">
                        <a:buNone/>
                      </a:pPr>
                      <a:r>
                        <a:rPr lang="en-US"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Full LLM synthesis (C2+C3+source)</a:t>
                      </a:r>
                    </a:p>
                  </a:txBody>
                  <a:tcPr marL="31029" marR="31029" marT="20685" marB="20685" anchor="ctr"/>
                </a:tc>
                <a:tc>
                  <a:txBody>
                    <a:bodyPr/>
                    <a:lstStyle/>
                    <a:p>
                      <a:pPr algn="ctr">
                        <a:buNone/>
                      </a:pPr>
                      <a:r>
                        <a:rPr lang="en-US"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31029" marR="31029" marT="20685" marB="20685" anchor="ctr"/>
                </a:tc>
                <a:extLst>
                  <a:ext uri="{0D108BD9-81ED-4DB2-BD59-A6C34878D82A}">
                    <a16:rowId xmlns:a16="http://schemas.microsoft.com/office/drawing/2014/main" val="1144548265"/>
                  </a:ext>
                </a:extLst>
              </a:tr>
            </a:tbl>
          </a:graphicData>
        </a:graphic>
      </p:graphicFrame>
      <p:sp>
        <p:nvSpPr>
          <p:cNvPr id="9" name="TextBox 8">
            <a:extLst>
              <a:ext uri="{FF2B5EF4-FFF2-40B4-BE49-F238E27FC236}">
                <a16:creationId xmlns:a16="http://schemas.microsoft.com/office/drawing/2014/main" id="{85DBAB75-7B08-54CB-CD23-EAFC7F3D2611}"/>
              </a:ext>
            </a:extLst>
          </p:cNvPr>
          <p:cNvSpPr txBox="1"/>
          <p:nvPr/>
        </p:nvSpPr>
        <p:spPr>
          <a:xfrm>
            <a:off x="7211683" y="835376"/>
            <a:ext cx="3971994" cy="830997"/>
          </a:xfrm>
          <a:prstGeom prst="rect">
            <a:avLst/>
          </a:prstGeom>
          <a:noFill/>
        </p:spPr>
        <p:txBody>
          <a:bodyPr wrap="square" rtlCol="0">
            <a:spAutoFit/>
          </a:bodyPr>
          <a:lstStyle/>
          <a:p>
            <a:r>
              <a:rPr lang="en-US" sz="16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These experiments were run with </a:t>
            </a:r>
            <a:r>
              <a:rPr lang="en-US" sz="1600"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full and guided traces</a:t>
            </a:r>
            <a:r>
              <a:rPr lang="en-US" sz="16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both computed via </a:t>
            </a:r>
            <a:r>
              <a:rPr lang="en-US" sz="1600" noProof="0" dirty="0" err="1">
                <a:latin typeface="Sans Serif Collection" panose="020B0502040504020204" pitchFamily="34" charset="0"/>
                <a:ea typeface="Sans Serif Collection" panose="020B0502040504020204" pitchFamily="34" charset="0"/>
                <a:cs typeface="Sans Serif Collection" panose="020B0502040504020204" pitchFamily="34" charset="0"/>
              </a:rPr>
              <a:t>csp_matcher</a:t>
            </a:r>
            <a:r>
              <a:rPr lang="en-US" sz="16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tool.</a:t>
            </a:r>
          </a:p>
        </p:txBody>
      </p:sp>
      <p:sp>
        <p:nvSpPr>
          <p:cNvPr id="2" name="TextBox 1">
            <a:extLst>
              <a:ext uri="{FF2B5EF4-FFF2-40B4-BE49-F238E27FC236}">
                <a16:creationId xmlns:a16="http://schemas.microsoft.com/office/drawing/2014/main" id="{FC63EFF7-1E0E-41CB-A7BE-FEECC914CA06}"/>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84AB7A92-4890-58FC-3FAB-A2855A8E4BF7}"/>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11</a:t>
            </a:r>
          </a:p>
        </p:txBody>
      </p:sp>
    </p:spTree>
    <p:extLst>
      <p:ext uri="{BB962C8B-B14F-4D97-AF65-F5344CB8AC3E}">
        <p14:creationId xmlns:p14="http://schemas.microsoft.com/office/powerpoint/2010/main" val="37470982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16958-FC33-E46D-52CC-4A1E6A2B9887}"/>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A708B541-7862-95C2-4987-B105FBC09222}"/>
              </a:ext>
            </a:extLst>
          </p:cNvPr>
          <p:cNvSpPr txBox="1"/>
          <p:nvPr/>
        </p:nvSpPr>
        <p:spPr>
          <a:xfrm>
            <a:off x="727136" y="4271343"/>
            <a:ext cx="9167361" cy="1885388"/>
          </a:xfrm>
          <a:prstGeom prst="rect">
            <a:avLst/>
          </a:prstGeom>
          <a:noFill/>
        </p:spPr>
        <p:txBody>
          <a:bodyPr wrap="square">
            <a:spAutoFit/>
          </a:bodyPr>
          <a:lstStyle/>
          <a:p>
            <a:pPr>
              <a:lnSpc>
                <a:spcPct val="0"/>
              </a:lnSpc>
              <a:spcBef>
                <a:spcPts val="1000"/>
              </a:spcBef>
              <a:spcAft>
                <a:spcPts val="1200"/>
              </a:spcAft>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Aggregator.getAll</a:t>
            </a:r>
            <a:r>
              <a:rPr lang="en-GB" sz="1200" b="1" dirty="0">
                <a:solidFill>
                  <a:srgbClr val="E0B96F"/>
                </a:solidFill>
                <a:latin typeface="SFMono-Regular"/>
              </a:rPr>
              <a:t>" },   TP1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CPSLogger.flush</a:t>
            </a:r>
            <a:r>
              <a:rPr lang="en-GB" sz="1200" b="1" dirty="0">
                <a:solidFill>
                  <a:srgbClr val="E0B96F"/>
                </a:solidFill>
                <a:latin typeface="SFMono-Regular"/>
              </a:rPr>
              <a:t>" },     TP2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RAIILogStream.stream</a:t>
            </a:r>
            <a:r>
              <a:rPr lang="en-GB" sz="1200" b="1" dirty="0">
                <a:solidFill>
                  <a:srgbClr val="E0B96F"/>
                </a:solidFill>
                <a:latin typeface="SFMono-Regular"/>
              </a:rPr>
              <a:t>" } ]  TP3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Aggregator.getAll</a:t>
            </a:r>
            <a:r>
              <a:rPr lang="en-GB" sz="1200" b="1" dirty="0">
                <a:solidFill>
                  <a:srgbClr val="E0B96F"/>
                </a:solidFill>
                <a:latin typeface="SFMono-Regular"/>
              </a:rPr>
              <a:t>" },  FN1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CPSLogger.flush</a:t>
            </a:r>
            <a:r>
              <a:rPr lang="en-GB" sz="1200" b="1" dirty="0">
                <a:solidFill>
                  <a:srgbClr val="E0B96F"/>
                </a:solidFill>
                <a:latin typeface="SFMono-Regular"/>
              </a:rPr>
              <a:t>" } ]   FN2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endParaRPr lang="en-GB" sz="1200" b="1" dirty="0">
              <a:solidFill>
                <a:srgbClr val="E0B96F"/>
              </a:solidFill>
              <a:latin typeface="SFMono-Regular"/>
            </a:endParaRPr>
          </a:p>
          <a:p>
            <a:endParaRPr lang="en-GB" sz="1200" b="1" dirty="0"/>
          </a:p>
        </p:txBody>
      </p:sp>
      <p:sp>
        <p:nvSpPr>
          <p:cNvPr id="6" name="Title 5">
            <a:extLst>
              <a:ext uri="{FF2B5EF4-FFF2-40B4-BE49-F238E27FC236}">
                <a16:creationId xmlns:a16="http://schemas.microsoft.com/office/drawing/2014/main" id="{6AC0AC23-40E3-379E-3610-36A368514C45}"/>
              </a:ext>
            </a:extLst>
          </p:cNvPr>
          <p:cNvSpPr>
            <a:spLocks noGrp="1"/>
          </p:cNvSpPr>
          <p:nvPr>
            <p:ph type="title"/>
          </p:nvPr>
        </p:nvSpPr>
        <p:spPr>
          <a:xfrm>
            <a:off x="499110" y="683891"/>
            <a:ext cx="10515600" cy="713755"/>
          </a:xfrm>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H1 – Metrics Calculations Example</a:t>
            </a:r>
          </a:p>
        </p:txBody>
      </p:sp>
      <p:sp>
        <p:nvSpPr>
          <p:cNvPr id="7" name="Content Placeholder 6">
            <a:extLst>
              <a:ext uri="{FF2B5EF4-FFF2-40B4-BE49-F238E27FC236}">
                <a16:creationId xmlns:a16="http://schemas.microsoft.com/office/drawing/2014/main" id="{30025BAE-2190-0C49-C10A-B9BE0544218D}"/>
              </a:ext>
            </a:extLst>
          </p:cNvPr>
          <p:cNvSpPr>
            <a:spLocks noGrp="1"/>
          </p:cNvSpPr>
          <p:nvPr>
            <p:ph sz="quarter" idx="10"/>
          </p:nvPr>
        </p:nvSpPr>
        <p:spPr>
          <a:xfrm>
            <a:off x="727136" y="2199702"/>
            <a:ext cx="10737728" cy="1324387"/>
          </a:xfrm>
        </p:spPr>
        <p:txBody>
          <a:bodyPr>
            <a:noAutofit/>
          </a:bodyPr>
          <a:lstStyle/>
          <a:p>
            <a:pPr marL="0" indent="0">
              <a:lnSpc>
                <a:spcPct val="0"/>
              </a:lnSpc>
              <a:buNone/>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Aggregator.getAll</a:t>
            </a:r>
            <a:r>
              <a:rPr lang="en-GB" sz="1200" b="1" dirty="0">
                <a:solidFill>
                  <a:srgbClr val="E0B96F"/>
                </a:solidFill>
                <a:latin typeface="SFMono-Regular"/>
              </a:rPr>
              <a:t>" },     // </a:t>
            </a:r>
            <a:r>
              <a:rPr lang="en-GB" sz="1200" b="1" dirty="0" err="1">
                <a:solidFill>
                  <a:srgbClr val="E0B96F"/>
                </a:solidFill>
                <a:latin typeface="SFMono-Regular"/>
              </a:rPr>
              <a:t>Runner.Test</a:t>
            </a:r>
            <a:endParaRPr lang="en-GB" sz="1200" b="1" dirty="0">
              <a:solidFill>
                <a:srgbClr val="E0B96F"/>
              </a:solidFill>
              <a:latin typeface="SFMono-Regular"/>
            </a:endParaRPr>
          </a:p>
          <a:p>
            <a:pPr marL="0" indent="0">
              <a:lnSpc>
                <a:spcPct val="0"/>
              </a:lnSpc>
              <a:buNone/>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CPSLogger.flush</a:t>
            </a:r>
            <a:r>
              <a:rPr lang="en-GB" sz="1200" b="1" dirty="0">
                <a:solidFill>
                  <a:srgbClr val="E0B96F"/>
                </a:solidFill>
                <a:latin typeface="SFMono-Regular"/>
              </a:rPr>
              <a:t>" },       // </a:t>
            </a:r>
            <a:r>
              <a:rPr lang="en-GB" sz="1200" b="1" dirty="0" err="1">
                <a:solidFill>
                  <a:srgbClr val="E0B96F"/>
                </a:solidFill>
                <a:latin typeface="SFMono-Regular"/>
              </a:rPr>
              <a:t>Runner.Test</a:t>
            </a:r>
            <a:endParaRPr lang="en-GB" sz="1200" b="1" dirty="0">
              <a:solidFill>
                <a:srgbClr val="E0B96F"/>
              </a:solidFill>
              <a:latin typeface="SFMono-Regular"/>
            </a:endParaRPr>
          </a:p>
          <a:p>
            <a:pPr marL="0" indent="0">
              <a:lnSpc>
                <a:spcPct val="0"/>
              </a:lnSpc>
              <a:buNone/>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Aggregator.getAll</a:t>
            </a:r>
            <a:r>
              <a:rPr lang="en-GB" sz="1200" b="1" dirty="0">
                <a:solidFill>
                  <a:srgbClr val="E0B96F"/>
                </a:solidFill>
                <a:latin typeface="SFMono-Regular"/>
              </a:rPr>
              <a:t>" },     // </a:t>
            </a:r>
            <a:r>
              <a:rPr lang="en-GB" sz="1200" b="1" dirty="0" err="1">
                <a:solidFill>
                  <a:srgbClr val="E0B96F"/>
                </a:solidFill>
                <a:latin typeface="SFMono-Regular"/>
              </a:rPr>
              <a:t>Runner.Timeout</a:t>
            </a:r>
            <a:endParaRPr lang="en-GB" sz="1200" b="1" dirty="0">
              <a:solidFill>
                <a:srgbClr val="E0B96F"/>
              </a:solidFill>
              <a:latin typeface="SFMono-Regular"/>
            </a:endParaRPr>
          </a:p>
          <a:p>
            <a:pPr marL="0" indent="0">
              <a:lnSpc>
                <a:spcPct val="0"/>
              </a:lnSpc>
              <a:buNone/>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CPSLogger.flush</a:t>
            </a:r>
            <a:r>
              <a:rPr lang="en-GB" sz="1200" b="1" dirty="0">
                <a:solidFill>
                  <a:srgbClr val="E0B96F"/>
                </a:solidFill>
                <a:latin typeface="SFMono-Regular"/>
              </a:rPr>
              <a:t>" },       // </a:t>
            </a:r>
            <a:r>
              <a:rPr lang="en-GB" sz="1200" b="1" dirty="0" err="1">
                <a:solidFill>
                  <a:srgbClr val="E0B96F"/>
                </a:solidFill>
                <a:latin typeface="SFMono-Regular"/>
              </a:rPr>
              <a:t>Runner.Timeout</a:t>
            </a:r>
            <a:endParaRPr lang="en-GB" sz="1200" b="1" dirty="0">
              <a:solidFill>
                <a:srgbClr val="E0B96F"/>
              </a:solidFill>
              <a:latin typeface="SFMono-Regular"/>
            </a:endParaRPr>
          </a:p>
          <a:p>
            <a:pPr marL="0" indent="0">
              <a:lnSpc>
                <a:spcPct val="0"/>
              </a:lnSpc>
              <a:buNone/>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RAIILogStream.stream</a:t>
            </a:r>
            <a:r>
              <a:rPr lang="en-GB" sz="1200" b="1" dirty="0">
                <a:solidFill>
                  <a:srgbClr val="E0B96F"/>
                </a:solidFill>
                <a:latin typeface="SFMono-Regular"/>
              </a:rPr>
              <a:t>" } ]  // </a:t>
            </a:r>
            <a:r>
              <a:rPr lang="en-GB" sz="1200" b="1" dirty="0" err="1">
                <a:solidFill>
                  <a:srgbClr val="E0B96F"/>
                </a:solidFill>
                <a:latin typeface="SFMono-Regular"/>
              </a:rPr>
              <a:t>Runner.Timeout</a:t>
            </a:r>
            <a:endParaRPr lang="en-GB" sz="1200" b="1" dirty="0">
              <a:solidFill>
                <a:srgbClr val="E0B96F"/>
              </a:solidFill>
              <a:latin typeface="SFMono-Regular"/>
            </a:endParaRPr>
          </a:p>
        </p:txBody>
      </p:sp>
      <p:sp>
        <p:nvSpPr>
          <p:cNvPr id="15" name="TextBox 14">
            <a:extLst>
              <a:ext uri="{FF2B5EF4-FFF2-40B4-BE49-F238E27FC236}">
                <a16:creationId xmlns:a16="http://schemas.microsoft.com/office/drawing/2014/main" id="{36A3F5A0-B9A8-1558-5AE8-0FF7BE904D92}"/>
              </a:ext>
            </a:extLst>
          </p:cNvPr>
          <p:cNvSpPr txBox="1"/>
          <p:nvPr/>
        </p:nvSpPr>
        <p:spPr>
          <a:xfrm>
            <a:off x="727136" y="1658812"/>
            <a:ext cx="2327881" cy="369332"/>
          </a:xfrm>
          <a:prstGeom prst="rect">
            <a:avLst/>
          </a:prstGeom>
          <a:noFill/>
        </p:spPr>
        <p:txBody>
          <a:bodyPr wrap="none" rtlCol="0">
            <a:spAutoFit/>
          </a:bodyPr>
          <a:lstStyle/>
          <a:p>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S1- Reference (REF):</a:t>
            </a:r>
          </a:p>
        </p:txBody>
      </p:sp>
      <p:sp>
        <p:nvSpPr>
          <p:cNvPr id="17" name="TextBox 16">
            <a:extLst>
              <a:ext uri="{FF2B5EF4-FFF2-40B4-BE49-F238E27FC236}">
                <a16:creationId xmlns:a16="http://schemas.microsoft.com/office/drawing/2014/main" id="{7D18244F-1107-EA82-55B0-319BD858FF52}"/>
              </a:ext>
            </a:extLst>
          </p:cNvPr>
          <p:cNvSpPr txBox="1"/>
          <p:nvPr/>
        </p:nvSpPr>
        <p:spPr>
          <a:xfrm>
            <a:off x="727136" y="3796302"/>
            <a:ext cx="2698175" cy="369332"/>
          </a:xfrm>
          <a:prstGeom prst="rect">
            <a:avLst/>
          </a:prstGeom>
          <a:noFill/>
        </p:spPr>
        <p:txBody>
          <a:bodyPr wrap="non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S1- C1_LLM_only (GEN):</a:t>
            </a:r>
          </a:p>
        </p:txBody>
      </p:sp>
      <p:sp>
        <p:nvSpPr>
          <p:cNvPr id="35" name="TextBox 34">
            <a:extLst>
              <a:ext uri="{FF2B5EF4-FFF2-40B4-BE49-F238E27FC236}">
                <a16:creationId xmlns:a16="http://schemas.microsoft.com/office/drawing/2014/main" id="{4D4BB6D0-9C11-B046-1E43-6083B5646D53}"/>
              </a:ext>
            </a:extLst>
          </p:cNvPr>
          <p:cNvSpPr txBox="1"/>
          <p:nvPr/>
        </p:nvSpPr>
        <p:spPr>
          <a:xfrm>
            <a:off x="727135" y="5764936"/>
            <a:ext cx="10515599" cy="907941"/>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So, TP=3 and FN=2: C1 gets both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Runner.Test</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edges right but on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Runner.Timeout</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reports only stream, missing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getAll</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/flush for that test entirely. An LLM reasons over the raw scenario description alone over the source, no static graph, no trace is provided. Baseline for what's inferable with zero pipeline evidence.</a:t>
            </a:r>
          </a:p>
          <a:p>
            <a:endParaRPr lang="en-GB" sz="1100"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9" name="TextBox 38">
            <a:extLst>
              <a:ext uri="{FF2B5EF4-FFF2-40B4-BE49-F238E27FC236}">
                <a16:creationId xmlns:a16="http://schemas.microsoft.com/office/drawing/2014/main" id="{904F95C5-5050-21AD-A345-24B99ED810A9}"/>
              </a:ext>
            </a:extLst>
          </p:cNvPr>
          <p:cNvSpPr txBox="1"/>
          <p:nvPr/>
        </p:nvSpPr>
        <p:spPr>
          <a:xfrm>
            <a:off x="9583947" y="4034236"/>
            <a:ext cx="2001689" cy="954107"/>
          </a:xfrm>
          <a:prstGeom prst="rect">
            <a:avLst/>
          </a:prstGeom>
          <a:noFill/>
        </p:spPr>
        <p:txBody>
          <a:bodyPr wrap="square">
            <a:spAutoFit/>
          </a:bodyPr>
          <a:lstStyle/>
          <a:p>
            <a:r>
              <a:rPr lang="pt-BR" sz="140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TP=3, FP=0, FN=2 P=3/(3+0)=1.00 R=3/(3+2)=.60 F1=2(1)(.6)/(1.6)=.75</a:t>
            </a:r>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0" name="TextBox 39">
            <a:extLst>
              <a:ext uri="{FF2B5EF4-FFF2-40B4-BE49-F238E27FC236}">
                <a16:creationId xmlns:a16="http://schemas.microsoft.com/office/drawing/2014/main" id="{BF568904-0667-E0E4-EAAA-51AB97AEB135}"/>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12</a:t>
            </a:r>
          </a:p>
        </p:txBody>
      </p:sp>
      <p:sp>
        <p:nvSpPr>
          <p:cNvPr id="41" name="TextBox 40">
            <a:extLst>
              <a:ext uri="{FF2B5EF4-FFF2-40B4-BE49-F238E27FC236}">
                <a16:creationId xmlns:a16="http://schemas.microsoft.com/office/drawing/2014/main" id="{0F85268F-046B-D694-0E2E-710B2758B6C6}"/>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477808957"/>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45D12-5A81-9D47-9F77-D19622A332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BB61A5-BDF2-E59C-BBF6-B135C53032CE}"/>
              </a:ext>
            </a:extLst>
          </p:cNvPr>
          <p:cNvSpPr>
            <a:spLocks noGrp="1"/>
          </p:cNvSpPr>
          <p:nvPr>
            <p:ph type="title"/>
          </p:nvPr>
        </p:nvSpPr>
        <p:spPr>
          <a:xfrm>
            <a:off x="532825" y="424728"/>
            <a:ext cx="10331450" cy="1003853"/>
          </a:xfrm>
        </p:spPr>
        <p:txBody>
          <a:bodyPr/>
          <a:lstStyle/>
          <a:p>
            <a:r>
              <a:rPr lang="en-US" noProof="0" dirty="0">
                <a:latin typeface="Sans Serif Collection" panose="020B0502040504020204" pitchFamily="34" charset="0"/>
                <a:ea typeface="Sans Serif Collection" panose="020B0502040504020204" pitchFamily="34" charset="0"/>
                <a:cs typeface="Sans Serif Collection" panose="020B0502040504020204" pitchFamily="34" charset="0"/>
              </a:rPr>
              <a:t>H1 Results: Interconnections and sequence F1</a:t>
            </a:r>
          </a:p>
        </p:txBody>
      </p:sp>
      <p:sp>
        <p:nvSpPr>
          <p:cNvPr id="4" name="TextBox 3">
            <a:extLst>
              <a:ext uri="{FF2B5EF4-FFF2-40B4-BE49-F238E27FC236}">
                <a16:creationId xmlns:a16="http://schemas.microsoft.com/office/drawing/2014/main" id="{BF293A4E-5A48-F94B-BA36-9D716D010F4F}"/>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13</a:t>
            </a:r>
          </a:p>
        </p:txBody>
      </p:sp>
      <p:sp>
        <p:nvSpPr>
          <p:cNvPr id="5" name="TextBox 4">
            <a:extLst>
              <a:ext uri="{FF2B5EF4-FFF2-40B4-BE49-F238E27FC236}">
                <a16:creationId xmlns:a16="http://schemas.microsoft.com/office/drawing/2014/main" id="{EBDCE780-AB2F-19E1-896E-8DDD3CA6348A}"/>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3" name="Table 2">
            <a:extLst>
              <a:ext uri="{FF2B5EF4-FFF2-40B4-BE49-F238E27FC236}">
                <a16:creationId xmlns:a16="http://schemas.microsoft.com/office/drawing/2014/main" id="{AA8F2BF7-B5F9-CA35-1798-C09C3D0DB949}"/>
              </a:ext>
            </a:extLst>
          </p:cNvPr>
          <p:cNvGraphicFramePr>
            <a:graphicFrameLocks noGrp="1"/>
          </p:cNvGraphicFramePr>
          <p:nvPr>
            <p:extLst>
              <p:ext uri="{D42A27DB-BD31-4B8C-83A1-F6EECF244321}">
                <p14:modId xmlns:p14="http://schemas.microsoft.com/office/powerpoint/2010/main" val="3904300071"/>
              </p:ext>
            </p:extLst>
          </p:nvPr>
        </p:nvGraphicFramePr>
        <p:xfrm>
          <a:off x="428625" y="1858298"/>
          <a:ext cx="5489099" cy="2120648"/>
        </p:xfrm>
        <a:graphic>
          <a:graphicData uri="http://schemas.openxmlformats.org/drawingml/2006/table">
            <a:tbl>
              <a:tblPr>
                <a:tableStyleId>{22838BEF-8BB2-4498-84A7-C5851F593DF1}</a:tableStyleId>
              </a:tblPr>
              <a:tblGrid>
                <a:gridCol w="804752">
                  <a:extLst>
                    <a:ext uri="{9D8B030D-6E8A-4147-A177-3AD203B41FA5}">
                      <a16:colId xmlns:a16="http://schemas.microsoft.com/office/drawing/2014/main" val="2990318408"/>
                    </a:ext>
                  </a:extLst>
                </a:gridCol>
                <a:gridCol w="763562">
                  <a:extLst>
                    <a:ext uri="{9D8B030D-6E8A-4147-A177-3AD203B41FA5}">
                      <a16:colId xmlns:a16="http://schemas.microsoft.com/office/drawing/2014/main" val="1496361954"/>
                    </a:ext>
                  </a:extLst>
                </a:gridCol>
                <a:gridCol w="784157">
                  <a:extLst>
                    <a:ext uri="{9D8B030D-6E8A-4147-A177-3AD203B41FA5}">
                      <a16:colId xmlns:a16="http://schemas.microsoft.com/office/drawing/2014/main" val="1236158452"/>
                    </a:ext>
                  </a:extLst>
                </a:gridCol>
                <a:gridCol w="784157">
                  <a:extLst>
                    <a:ext uri="{9D8B030D-6E8A-4147-A177-3AD203B41FA5}">
                      <a16:colId xmlns:a16="http://schemas.microsoft.com/office/drawing/2014/main" val="2433001219"/>
                    </a:ext>
                  </a:extLst>
                </a:gridCol>
                <a:gridCol w="784157">
                  <a:extLst>
                    <a:ext uri="{9D8B030D-6E8A-4147-A177-3AD203B41FA5}">
                      <a16:colId xmlns:a16="http://schemas.microsoft.com/office/drawing/2014/main" val="3633991758"/>
                    </a:ext>
                  </a:extLst>
                </a:gridCol>
                <a:gridCol w="784157">
                  <a:extLst>
                    <a:ext uri="{9D8B030D-6E8A-4147-A177-3AD203B41FA5}">
                      <a16:colId xmlns:a16="http://schemas.microsoft.com/office/drawing/2014/main" val="2043841143"/>
                    </a:ext>
                  </a:extLst>
                </a:gridCol>
                <a:gridCol w="784157">
                  <a:extLst>
                    <a:ext uri="{9D8B030D-6E8A-4147-A177-3AD203B41FA5}">
                      <a16:colId xmlns:a16="http://schemas.microsoft.com/office/drawing/2014/main" val="240613998"/>
                    </a:ext>
                  </a:extLst>
                </a:gridCol>
              </a:tblGrid>
              <a:tr h="547393">
                <a:tc>
                  <a:txBody>
                    <a:bodyPr/>
                    <a:lstStyle/>
                    <a:p>
                      <a:pPr>
                        <a:buNone/>
                      </a:pPr>
                      <a:r>
                        <a:rPr lang="en-US" sz="1200" b="1">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Scenario</a:t>
                      </a:r>
                    </a:p>
                  </a:txBody>
                  <a:tcPr marL="70757" marR="70757" marT="32657" marB="32657" anchor="ctr"/>
                </a:tc>
                <a:tc>
                  <a:txBody>
                    <a:bodyPr/>
                    <a:lstStyle/>
                    <a:p>
                      <a:pPr algn="r">
                        <a:buNone/>
                      </a:pPr>
                      <a:r>
                        <a:rPr lang="en-US" sz="1200" b="1">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C1</a:t>
                      </a:r>
                    </a:p>
                  </a:txBody>
                  <a:tcPr marL="70757" marR="70757" marT="32657" marB="32657" anchor="ctr"/>
                </a:tc>
                <a:tc>
                  <a:txBody>
                    <a:bodyPr/>
                    <a:lstStyle/>
                    <a:p>
                      <a:pPr algn="r">
                        <a:buNone/>
                      </a:pPr>
                      <a:r>
                        <a:rPr lang="en-US" sz="1200" b="1">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C2</a:t>
                      </a:r>
                    </a:p>
                  </a:txBody>
                  <a:tcPr marL="70757" marR="70757" marT="32657" marB="32657" anchor="ctr"/>
                </a:tc>
                <a:tc>
                  <a:txBody>
                    <a:bodyPr/>
                    <a:lstStyle/>
                    <a:p>
                      <a:pPr algn="r">
                        <a:buNone/>
                      </a:pP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C3</a:t>
                      </a:r>
                    </a:p>
                  </a:txBody>
                  <a:tcPr marL="70757" marR="70757" marT="32657" marB="32657" anchor="ctr"/>
                </a:tc>
                <a:tc>
                  <a:txBody>
                    <a:bodyPr/>
                    <a:lstStyle/>
                    <a:p>
                      <a:pPr algn="r">
                        <a:buNone/>
                      </a:pP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C4</a:t>
                      </a:r>
                    </a:p>
                  </a:txBody>
                  <a:tcPr marL="70757" marR="70757" marT="32657" marB="32657" anchor="ctr"/>
                </a:tc>
                <a:tc>
                  <a:txBody>
                    <a:bodyPr/>
                    <a:lstStyle/>
                    <a:p>
                      <a:pPr algn="r">
                        <a:buNone/>
                      </a:pP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C5</a:t>
                      </a:r>
                    </a:p>
                  </a:txBody>
                  <a:tcPr marL="70757" marR="70757" marT="32657" marB="32657" anchor="ctr"/>
                </a:tc>
                <a:tc>
                  <a:txBody>
                    <a:bodyPr/>
                    <a:lstStyle/>
                    <a:p>
                      <a:pPr algn="r">
                        <a:buNone/>
                      </a:pPr>
                      <a:r>
                        <a:rPr lang="en-US" sz="1200" b="1">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C6</a:t>
                      </a:r>
                    </a:p>
                  </a:txBody>
                  <a:tcPr marL="70757" marR="70757" marT="32657" marB="32657" anchor="ctr"/>
                </a:tc>
                <a:extLst>
                  <a:ext uri="{0D108BD9-81ED-4DB2-BD59-A6C34878D82A}">
                    <a16:rowId xmlns:a16="http://schemas.microsoft.com/office/drawing/2014/main" val="1823593290"/>
                  </a:ext>
                </a:extLst>
              </a:tr>
              <a:tr h="314651">
                <a:tc>
                  <a:txBody>
                    <a:bodyPr/>
                    <a:lstStyle/>
                    <a:p>
                      <a:pP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S1</a:t>
                      </a:r>
                    </a:p>
                  </a:txBody>
                  <a:tcPr marL="70757" marR="70757" marT="32657" marB="32657" anchor="ctr"/>
                </a:tc>
                <a:tc>
                  <a:txBody>
                    <a:bodyPr/>
                    <a:lstStyle/>
                    <a:p>
                      <a:pPr algn="r">
                        <a:buNone/>
                      </a:pP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0.750</a:t>
                      </a:r>
                      <a:endPar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tc>
                  <a:txBody>
                    <a:bodyPr/>
                    <a:lstStyle/>
                    <a:p>
                      <a:pPr algn="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0.762</a:t>
                      </a:r>
                    </a:p>
                  </a:txBody>
                  <a:tcPr marL="70757" marR="70757" marT="32657" marB="32657" anchor="ctr"/>
                </a:tc>
                <a:tc>
                  <a:txBody>
                    <a:bodyPr/>
                    <a:lstStyle/>
                    <a:p>
                      <a:pPr algn="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0.829</a:t>
                      </a:r>
                    </a:p>
                  </a:txBody>
                  <a:tcPr marL="70757" marR="70757" marT="32657" marB="32657" anchor="ctr"/>
                </a:tc>
                <a:tc>
                  <a:txBody>
                    <a:bodyPr/>
                    <a:lstStyle/>
                    <a:p>
                      <a:pPr algn="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0.661</a:t>
                      </a:r>
                    </a:p>
                  </a:txBody>
                  <a:tcPr marL="70757" marR="70757" marT="32657" marB="32657" anchor="ctr"/>
                </a:tc>
                <a:tc>
                  <a:txBody>
                    <a:bodyPr/>
                    <a:lstStyle/>
                    <a:p>
                      <a:pPr algn="r">
                        <a:buNone/>
                      </a:pP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1.000</a:t>
                      </a:r>
                      <a:endPar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tc>
                  <a:txBody>
                    <a:bodyPr/>
                    <a:lstStyle/>
                    <a:p>
                      <a:pPr algn="r">
                        <a:buNone/>
                      </a:pP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1.000</a:t>
                      </a:r>
                      <a:endPar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extLst>
                  <a:ext uri="{0D108BD9-81ED-4DB2-BD59-A6C34878D82A}">
                    <a16:rowId xmlns:a16="http://schemas.microsoft.com/office/drawing/2014/main" val="1981257408"/>
                  </a:ext>
                </a:extLst>
              </a:tr>
              <a:tr h="314651">
                <a:tc>
                  <a:txBody>
                    <a:bodyPr/>
                    <a:lstStyle/>
                    <a:p>
                      <a:pPr>
                        <a:buNone/>
                      </a:pPr>
                      <a:r>
                        <a:rPr lang="en-US"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S2</a:t>
                      </a:r>
                    </a:p>
                  </a:txBody>
                  <a:tcPr marL="70757" marR="70757" marT="32657" marB="32657" anchor="ctr"/>
                </a:tc>
                <a:tc>
                  <a:txBody>
                    <a:bodyPr/>
                    <a:lstStyle/>
                    <a:p>
                      <a:pPr algn="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0.000</a:t>
                      </a:r>
                    </a:p>
                  </a:txBody>
                  <a:tcPr marL="70757" marR="70757" marT="32657" marB="32657" anchor="ctr"/>
                </a:tc>
                <a:tc>
                  <a:txBody>
                    <a:bodyPr/>
                    <a:lstStyle/>
                    <a:p>
                      <a:pPr algn="r">
                        <a:buNone/>
                      </a:pP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1.000</a:t>
                      </a:r>
                      <a:endPar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tc>
                  <a:txBody>
                    <a:bodyPr/>
                    <a:lstStyle/>
                    <a:p>
                      <a:pPr algn="r">
                        <a:buNone/>
                      </a:pP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1.000</a:t>
                      </a:r>
                      <a:endPar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tc>
                  <a:txBody>
                    <a:bodyPr/>
                    <a:lstStyle/>
                    <a:p>
                      <a:pPr algn="r">
                        <a:buNone/>
                      </a:pP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1.000</a:t>
                      </a:r>
                      <a:endPar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tc>
                  <a:txBody>
                    <a:bodyPr/>
                    <a:lstStyle/>
                    <a:p>
                      <a:pPr algn="r">
                        <a:buNone/>
                      </a:pP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1.000</a:t>
                      </a:r>
                      <a:endPar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tc>
                  <a:txBody>
                    <a:bodyPr/>
                    <a:lstStyle/>
                    <a:p>
                      <a:pPr algn="r">
                        <a:buNone/>
                      </a:pP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1.000</a:t>
                      </a:r>
                      <a:endPar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extLst>
                  <a:ext uri="{0D108BD9-81ED-4DB2-BD59-A6C34878D82A}">
                    <a16:rowId xmlns:a16="http://schemas.microsoft.com/office/drawing/2014/main" val="2401032389"/>
                  </a:ext>
                </a:extLst>
              </a:tr>
              <a:tr h="314651">
                <a:tc>
                  <a:txBody>
                    <a:bodyPr/>
                    <a:lstStyle/>
                    <a:p>
                      <a:pPr>
                        <a:buNone/>
                      </a:pPr>
                      <a:r>
                        <a:rPr lang="en-US"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S3</a:t>
                      </a:r>
                    </a:p>
                  </a:txBody>
                  <a:tcPr marL="70757" marR="70757" marT="32657" marB="32657" anchor="ctr"/>
                </a:tc>
                <a:tc>
                  <a:txBody>
                    <a:bodyPr/>
                    <a:lstStyle/>
                    <a:p>
                      <a:pPr algn="r">
                        <a:buNone/>
                      </a:pPr>
                      <a:r>
                        <a:rPr lang="en-US"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0.333</a:t>
                      </a:r>
                    </a:p>
                  </a:txBody>
                  <a:tcPr marL="70757" marR="70757" marT="32657" marB="32657" anchor="ctr"/>
                </a:tc>
                <a:tc>
                  <a:txBody>
                    <a:bodyPr/>
                    <a:lstStyle/>
                    <a:p>
                      <a:pPr algn="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0.500</a:t>
                      </a:r>
                    </a:p>
                  </a:txBody>
                  <a:tcPr marL="70757" marR="70757" marT="32657" marB="32657" anchor="ctr"/>
                </a:tc>
                <a:tc>
                  <a:txBody>
                    <a:bodyPr/>
                    <a:lstStyle/>
                    <a:p>
                      <a:pPr algn="r">
                        <a:buNone/>
                      </a:pP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1.000</a:t>
                      </a:r>
                      <a:endPar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tc>
                  <a:txBody>
                    <a:bodyPr/>
                    <a:lstStyle/>
                    <a:p>
                      <a:pPr algn="r">
                        <a:buNone/>
                      </a:pP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1.000</a:t>
                      </a:r>
                      <a:endPar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tc>
                  <a:txBody>
                    <a:bodyPr/>
                    <a:lstStyle/>
                    <a:p>
                      <a:pPr algn="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0.500</a:t>
                      </a:r>
                    </a:p>
                  </a:txBody>
                  <a:tcPr marL="70757" marR="70757" marT="32657" marB="32657" anchor="ctr"/>
                </a:tc>
                <a:tc>
                  <a:txBody>
                    <a:bodyPr/>
                    <a:lstStyle/>
                    <a:p>
                      <a:pPr algn="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0.857</a:t>
                      </a:r>
                    </a:p>
                  </a:txBody>
                  <a:tcPr marL="70757" marR="70757" marT="32657" marB="32657" anchor="ctr"/>
                </a:tc>
                <a:extLst>
                  <a:ext uri="{0D108BD9-81ED-4DB2-BD59-A6C34878D82A}">
                    <a16:rowId xmlns:a16="http://schemas.microsoft.com/office/drawing/2014/main" val="2576646857"/>
                  </a:ext>
                </a:extLst>
              </a:tr>
              <a:tr h="314651">
                <a:tc>
                  <a:txBody>
                    <a:bodyPr/>
                    <a:lstStyle/>
                    <a:p>
                      <a:pPr>
                        <a:buNone/>
                      </a:pPr>
                      <a:r>
                        <a:rPr lang="en-US"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S4</a:t>
                      </a:r>
                    </a:p>
                  </a:txBody>
                  <a:tcPr marL="70757" marR="70757" marT="32657" marB="32657" anchor="ctr"/>
                </a:tc>
                <a:tc>
                  <a:txBody>
                    <a:bodyPr/>
                    <a:lstStyle/>
                    <a:p>
                      <a:pPr algn="r">
                        <a:buNone/>
                      </a:pPr>
                      <a:r>
                        <a:rPr lang="en-US"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0.400</a:t>
                      </a:r>
                    </a:p>
                  </a:txBody>
                  <a:tcPr marL="70757" marR="70757" marT="32657" marB="32657" anchor="ctr"/>
                </a:tc>
                <a:tc>
                  <a:txBody>
                    <a:bodyPr/>
                    <a:lstStyle/>
                    <a:p>
                      <a:pPr algn="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0.667</a:t>
                      </a:r>
                    </a:p>
                  </a:txBody>
                  <a:tcPr marL="70757" marR="70757" marT="32657" marB="32657" anchor="ctr"/>
                </a:tc>
                <a:tc>
                  <a:txBody>
                    <a:bodyPr/>
                    <a:lstStyle/>
                    <a:p>
                      <a:pPr algn="r">
                        <a:buNone/>
                      </a:pPr>
                      <a:r>
                        <a:rPr lang="en-US"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0.667</a:t>
                      </a:r>
                    </a:p>
                  </a:txBody>
                  <a:tcPr marL="70757" marR="70757" marT="32657" marB="32657" anchor="ctr"/>
                </a:tc>
                <a:tc>
                  <a:txBody>
                    <a:bodyPr/>
                    <a:lstStyle/>
                    <a:p>
                      <a:pPr algn="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0.500</a:t>
                      </a:r>
                    </a:p>
                  </a:txBody>
                  <a:tcPr marL="70757" marR="70757" marT="32657" marB="32657" anchor="ctr"/>
                </a:tc>
                <a:tc>
                  <a:txBody>
                    <a:bodyPr/>
                    <a:lstStyle/>
                    <a:p>
                      <a:pPr algn="r">
                        <a:buNone/>
                      </a:pP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1.000</a:t>
                      </a:r>
                      <a:endPar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tc>
                  <a:txBody>
                    <a:bodyPr/>
                    <a:lstStyle/>
                    <a:p>
                      <a:pPr algn="r">
                        <a:buNone/>
                      </a:pPr>
                      <a:r>
                        <a:rPr lang="en-US"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0.500</a:t>
                      </a:r>
                    </a:p>
                  </a:txBody>
                  <a:tcPr marL="70757" marR="70757" marT="32657" marB="32657" anchor="ctr"/>
                </a:tc>
                <a:extLst>
                  <a:ext uri="{0D108BD9-81ED-4DB2-BD59-A6C34878D82A}">
                    <a16:rowId xmlns:a16="http://schemas.microsoft.com/office/drawing/2014/main" val="2482941524"/>
                  </a:ext>
                </a:extLst>
              </a:tr>
              <a:tr h="314651">
                <a:tc>
                  <a:txBody>
                    <a:bodyPr/>
                    <a:lstStyle/>
                    <a:p>
                      <a:pPr>
                        <a:buNone/>
                      </a:pP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Macro F1</a:t>
                      </a:r>
                      <a:endPar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tc>
                  <a:txBody>
                    <a:bodyPr/>
                    <a:lstStyle/>
                    <a:p>
                      <a:pPr algn="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0.371</a:t>
                      </a:r>
                    </a:p>
                  </a:txBody>
                  <a:tcPr marL="70757" marR="70757" marT="32657" marB="32657" anchor="ctr"/>
                </a:tc>
                <a:tc>
                  <a:txBody>
                    <a:bodyPr/>
                    <a:lstStyle/>
                    <a:p>
                      <a:pPr algn="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0.732</a:t>
                      </a:r>
                    </a:p>
                  </a:txBody>
                  <a:tcPr marL="70757" marR="70757" marT="32657" marB="32657" anchor="ctr"/>
                </a:tc>
                <a:tc>
                  <a:txBody>
                    <a:bodyPr/>
                    <a:lstStyle/>
                    <a:p>
                      <a:pPr algn="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0.874</a:t>
                      </a:r>
                    </a:p>
                  </a:txBody>
                  <a:tcPr marL="70757" marR="70757" marT="32657" marB="32657" anchor="ctr"/>
                </a:tc>
                <a:tc>
                  <a:txBody>
                    <a:bodyPr/>
                    <a:lstStyle/>
                    <a:p>
                      <a:pPr algn="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0.790</a:t>
                      </a:r>
                    </a:p>
                  </a:txBody>
                  <a:tcPr marL="70757" marR="70757" marT="32657" marB="32657" anchor="ctr"/>
                </a:tc>
                <a:tc>
                  <a:txBody>
                    <a:bodyPr/>
                    <a:lstStyle/>
                    <a:p>
                      <a:pPr algn="r">
                        <a:buNone/>
                      </a:pPr>
                      <a:r>
                        <a:rPr lang="en-US" sz="1200" b="1" dirty="0">
                          <a:solidFill>
                            <a:schemeClr val="accent6">
                              <a:lumMod val="2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0.875</a:t>
                      </a:r>
                      <a:endParaRPr lang="en-US" sz="1200" dirty="0">
                        <a:solidFill>
                          <a:schemeClr val="accent6">
                            <a:lumMod val="2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tc>
                  <a:txBody>
                    <a:bodyPr/>
                    <a:lstStyle/>
                    <a:p>
                      <a:pPr algn="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0.840</a:t>
                      </a:r>
                    </a:p>
                  </a:txBody>
                  <a:tcPr marL="70757" marR="70757" marT="32657" marB="32657" anchor="ctr"/>
                </a:tc>
                <a:extLst>
                  <a:ext uri="{0D108BD9-81ED-4DB2-BD59-A6C34878D82A}">
                    <a16:rowId xmlns:a16="http://schemas.microsoft.com/office/drawing/2014/main" val="2726488353"/>
                  </a:ext>
                </a:extLst>
              </a:tr>
            </a:tbl>
          </a:graphicData>
        </a:graphic>
      </p:graphicFrame>
      <p:graphicFrame>
        <p:nvGraphicFramePr>
          <p:cNvPr id="6" name="Table 5">
            <a:extLst>
              <a:ext uri="{FF2B5EF4-FFF2-40B4-BE49-F238E27FC236}">
                <a16:creationId xmlns:a16="http://schemas.microsoft.com/office/drawing/2014/main" id="{6A60DDE4-FD81-D0A5-099E-65A18FD51B03}"/>
              </a:ext>
            </a:extLst>
          </p:cNvPr>
          <p:cNvGraphicFramePr>
            <a:graphicFrameLocks noGrp="1"/>
          </p:cNvGraphicFramePr>
          <p:nvPr>
            <p:extLst>
              <p:ext uri="{D42A27DB-BD31-4B8C-83A1-F6EECF244321}">
                <p14:modId xmlns:p14="http://schemas.microsoft.com/office/powerpoint/2010/main" val="740084091"/>
              </p:ext>
            </p:extLst>
          </p:nvPr>
        </p:nvGraphicFramePr>
        <p:xfrm>
          <a:off x="6122055" y="1858298"/>
          <a:ext cx="5489099" cy="2120648"/>
        </p:xfrm>
        <a:graphic>
          <a:graphicData uri="http://schemas.openxmlformats.org/drawingml/2006/table">
            <a:tbl>
              <a:tblPr>
                <a:tableStyleId>{22838BEF-8BB2-4498-84A7-C5851F593DF1}</a:tableStyleId>
              </a:tblPr>
              <a:tblGrid>
                <a:gridCol w="842271">
                  <a:extLst>
                    <a:ext uri="{9D8B030D-6E8A-4147-A177-3AD203B41FA5}">
                      <a16:colId xmlns:a16="http://schemas.microsoft.com/office/drawing/2014/main" val="1732590973"/>
                    </a:ext>
                  </a:extLst>
                </a:gridCol>
                <a:gridCol w="726043">
                  <a:extLst>
                    <a:ext uri="{9D8B030D-6E8A-4147-A177-3AD203B41FA5}">
                      <a16:colId xmlns:a16="http://schemas.microsoft.com/office/drawing/2014/main" val="2474445415"/>
                    </a:ext>
                  </a:extLst>
                </a:gridCol>
                <a:gridCol w="784157">
                  <a:extLst>
                    <a:ext uri="{9D8B030D-6E8A-4147-A177-3AD203B41FA5}">
                      <a16:colId xmlns:a16="http://schemas.microsoft.com/office/drawing/2014/main" val="1519126839"/>
                    </a:ext>
                  </a:extLst>
                </a:gridCol>
                <a:gridCol w="784157">
                  <a:extLst>
                    <a:ext uri="{9D8B030D-6E8A-4147-A177-3AD203B41FA5}">
                      <a16:colId xmlns:a16="http://schemas.microsoft.com/office/drawing/2014/main" val="248320629"/>
                    </a:ext>
                  </a:extLst>
                </a:gridCol>
                <a:gridCol w="784157">
                  <a:extLst>
                    <a:ext uri="{9D8B030D-6E8A-4147-A177-3AD203B41FA5}">
                      <a16:colId xmlns:a16="http://schemas.microsoft.com/office/drawing/2014/main" val="1384890855"/>
                    </a:ext>
                  </a:extLst>
                </a:gridCol>
                <a:gridCol w="784157">
                  <a:extLst>
                    <a:ext uri="{9D8B030D-6E8A-4147-A177-3AD203B41FA5}">
                      <a16:colId xmlns:a16="http://schemas.microsoft.com/office/drawing/2014/main" val="540872785"/>
                    </a:ext>
                  </a:extLst>
                </a:gridCol>
                <a:gridCol w="784157">
                  <a:extLst>
                    <a:ext uri="{9D8B030D-6E8A-4147-A177-3AD203B41FA5}">
                      <a16:colId xmlns:a16="http://schemas.microsoft.com/office/drawing/2014/main" val="1292450594"/>
                    </a:ext>
                  </a:extLst>
                </a:gridCol>
              </a:tblGrid>
              <a:tr h="312548">
                <a:tc>
                  <a:txBody>
                    <a:bodyPr/>
                    <a:lstStyle/>
                    <a:p>
                      <a:pPr>
                        <a:buNone/>
                      </a:pP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Scenario</a:t>
                      </a:r>
                    </a:p>
                  </a:txBody>
                  <a:tcPr marL="70757" marR="70757" marT="32657" marB="32657" anchor="ctr"/>
                </a:tc>
                <a:tc>
                  <a:txBody>
                    <a:bodyPr/>
                    <a:lstStyle/>
                    <a:p>
                      <a:pPr algn="r">
                        <a:buNone/>
                      </a:pP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C1</a:t>
                      </a:r>
                    </a:p>
                  </a:txBody>
                  <a:tcPr marL="70757" marR="70757" marT="32657" marB="32657" anchor="ctr"/>
                </a:tc>
                <a:tc>
                  <a:txBody>
                    <a:bodyPr/>
                    <a:lstStyle/>
                    <a:p>
                      <a:pPr algn="r">
                        <a:buNone/>
                      </a:pPr>
                      <a:r>
                        <a:rPr lang="en-US" sz="1200" b="1">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C2</a:t>
                      </a:r>
                    </a:p>
                  </a:txBody>
                  <a:tcPr marL="70757" marR="70757" marT="32657" marB="32657" anchor="ctr"/>
                </a:tc>
                <a:tc>
                  <a:txBody>
                    <a:bodyPr/>
                    <a:lstStyle/>
                    <a:p>
                      <a:pPr algn="r">
                        <a:buNone/>
                      </a:pPr>
                      <a:r>
                        <a:rPr lang="en-US" sz="1200" b="1">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C3</a:t>
                      </a:r>
                    </a:p>
                  </a:txBody>
                  <a:tcPr marL="70757" marR="70757" marT="32657" marB="32657" anchor="ctr"/>
                </a:tc>
                <a:tc>
                  <a:txBody>
                    <a:bodyPr/>
                    <a:lstStyle/>
                    <a:p>
                      <a:pPr algn="r">
                        <a:buNone/>
                      </a:pPr>
                      <a:r>
                        <a:rPr lang="en-US" sz="1200" b="1">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C4</a:t>
                      </a:r>
                    </a:p>
                  </a:txBody>
                  <a:tcPr marL="70757" marR="70757" marT="32657" marB="32657" anchor="ctr"/>
                </a:tc>
                <a:tc>
                  <a:txBody>
                    <a:bodyPr/>
                    <a:lstStyle/>
                    <a:p>
                      <a:pPr algn="r">
                        <a:buNone/>
                      </a:pPr>
                      <a:r>
                        <a:rPr lang="en-US" sz="1200" b="1">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C5</a:t>
                      </a:r>
                    </a:p>
                  </a:txBody>
                  <a:tcPr marL="70757" marR="70757" marT="32657" marB="32657" anchor="ctr"/>
                </a:tc>
                <a:tc>
                  <a:txBody>
                    <a:bodyPr/>
                    <a:lstStyle/>
                    <a:p>
                      <a:pPr algn="r">
                        <a:buNone/>
                      </a:pPr>
                      <a:r>
                        <a:rPr lang="en-US" sz="1200" b="1">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C6</a:t>
                      </a:r>
                    </a:p>
                  </a:txBody>
                  <a:tcPr marL="70757" marR="70757" marT="32657" marB="32657" anchor="ctr"/>
                </a:tc>
                <a:extLst>
                  <a:ext uri="{0D108BD9-81ED-4DB2-BD59-A6C34878D82A}">
                    <a16:rowId xmlns:a16="http://schemas.microsoft.com/office/drawing/2014/main" val="3113460270"/>
                  </a:ext>
                </a:extLst>
              </a:tr>
              <a:tr h="373888">
                <a:tc>
                  <a:txBody>
                    <a:bodyPr/>
                    <a:lstStyle/>
                    <a:p>
                      <a:pP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S1</a:t>
                      </a:r>
                    </a:p>
                  </a:txBody>
                  <a:tcPr marL="70757" marR="70757" marT="32657" marB="32657" anchor="ctr"/>
                </a:tc>
                <a:tc>
                  <a:txBody>
                    <a:bodyPr/>
                    <a:lstStyle/>
                    <a:p>
                      <a:pPr algn="r">
                        <a:buNone/>
                      </a:pP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0.667</a:t>
                      </a:r>
                      <a:endPar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tc>
                  <a:txBody>
                    <a:bodyPr/>
                    <a:lstStyle/>
                    <a:p>
                      <a:pPr algn="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0.306</a:t>
                      </a:r>
                    </a:p>
                  </a:txBody>
                  <a:tcPr marL="70757" marR="70757" marT="32657" marB="32657" anchor="ctr"/>
                </a:tc>
                <a:tc>
                  <a:txBody>
                    <a:bodyPr/>
                    <a:lstStyle/>
                    <a:p>
                      <a:pPr algn="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0.758</a:t>
                      </a:r>
                    </a:p>
                  </a:txBody>
                  <a:tcPr marL="70757" marR="70757" marT="32657" marB="32657" anchor="ctr"/>
                </a:tc>
                <a:tc>
                  <a:txBody>
                    <a:bodyPr/>
                    <a:lstStyle/>
                    <a:p>
                      <a:pPr algn="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0.758</a:t>
                      </a:r>
                    </a:p>
                  </a:txBody>
                  <a:tcPr marL="70757" marR="70757" marT="32657" marB="32657" anchor="ctr"/>
                </a:tc>
                <a:tc>
                  <a:txBody>
                    <a:bodyPr/>
                    <a:lstStyle/>
                    <a:p>
                      <a:pPr algn="r">
                        <a:buNone/>
                      </a:pP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1.000</a:t>
                      </a:r>
                      <a:endPar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tc>
                  <a:txBody>
                    <a:bodyPr/>
                    <a:lstStyle/>
                    <a:p>
                      <a:pPr algn="r">
                        <a:buNone/>
                      </a:pPr>
                      <a:r>
                        <a:rPr lang="en-US" sz="1200" b="1">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1.000</a:t>
                      </a:r>
                      <a:endParaRPr lang="en-US" sz="120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extLst>
                  <a:ext uri="{0D108BD9-81ED-4DB2-BD59-A6C34878D82A}">
                    <a16:rowId xmlns:a16="http://schemas.microsoft.com/office/drawing/2014/main" val="2674339922"/>
                  </a:ext>
                </a:extLst>
              </a:tr>
              <a:tr h="373888">
                <a:tc>
                  <a:txBody>
                    <a:bodyPr/>
                    <a:lstStyle/>
                    <a:p>
                      <a:pPr>
                        <a:buNone/>
                      </a:pPr>
                      <a:r>
                        <a:rPr lang="en-US"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S2</a:t>
                      </a:r>
                    </a:p>
                  </a:txBody>
                  <a:tcPr marL="70757" marR="70757" marT="32657" marB="32657" anchor="ctr"/>
                </a:tc>
                <a:tc>
                  <a:txBody>
                    <a:bodyPr/>
                    <a:lstStyle/>
                    <a:p>
                      <a:pPr algn="r">
                        <a:buNone/>
                      </a:pPr>
                      <a:r>
                        <a:rPr lang="en-US"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0.000</a:t>
                      </a:r>
                    </a:p>
                  </a:txBody>
                  <a:tcPr marL="70757" marR="70757" marT="32657" marB="32657" anchor="ctr"/>
                </a:tc>
                <a:tc>
                  <a:txBody>
                    <a:bodyPr/>
                    <a:lstStyle/>
                    <a:p>
                      <a:pPr algn="r">
                        <a:buNone/>
                      </a:pP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1.000</a:t>
                      </a:r>
                      <a:endPar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tc>
                  <a:txBody>
                    <a:bodyPr/>
                    <a:lstStyle/>
                    <a:p>
                      <a:pPr algn="r">
                        <a:buNone/>
                      </a:pP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1.000</a:t>
                      </a:r>
                      <a:endPar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tc>
                  <a:txBody>
                    <a:bodyPr/>
                    <a:lstStyle/>
                    <a:p>
                      <a:pPr algn="r">
                        <a:buNone/>
                      </a:pP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1.000</a:t>
                      </a:r>
                      <a:endPar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tc>
                  <a:txBody>
                    <a:bodyPr/>
                    <a:lstStyle/>
                    <a:p>
                      <a:pPr algn="r">
                        <a:buNone/>
                      </a:pP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1.000</a:t>
                      </a:r>
                      <a:endPar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tc>
                  <a:txBody>
                    <a:bodyPr/>
                    <a:lstStyle/>
                    <a:p>
                      <a:pPr algn="r">
                        <a:buNone/>
                      </a:pP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1.000</a:t>
                      </a:r>
                      <a:endPar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extLst>
                  <a:ext uri="{0D108BD9-81ED-4DB2-BD59-A6C34878D82A}">
                    <a16:rowId xmlns:a16="http://schemas.microsoft.com/office/drawing/2014/main" val="206900594"/>
                  </a:ext>
                </a:extLst>
              </a:tr>
              <a:tr h="312548">
                <a:tc>
                  <a:txBody>
                    <a:bodyPr/>
                    <a:lstStyle/>
                    <a:p>
                      <a:pP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S3</a:t>
                      </a:r>
                    </a:p>
                  </a:txBody>
                  <a:tcPr marL="70757" marR="70757" marT="32657" marB="32657" anchor="ctr"/>
                </a:tc>
                <a:tc>
                  <a:txBody>
                    <a:bodyPr/>
                    <a:lstStyle/>
                    <a:p>
                      <a:pPr algn="r">
                        <a:buNone/>
                      </a:pPr>
                      <a:r>
                        <a:rPr lang="en-US"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0.560</a:t>
                      </a:r>
                    </a:p>
                  </a:txBody>
                  <a:tcPr marL="70757" marR="70757" marT="32657" marB="32657" anchor="ctr"/>
                </a:tc>
                <a:tc>
                  <a:txBody>
                    <a:bodyPr/>
                    <a:lstStyle/>
                    <a:p>
                      <a:pPr algn="r">
                        <a:buNone/>
                      </a:pPr>
                      <a:r>
                        <a:rPr lang="en-US"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0.143</a:t>
                      </a:r>
                    </a:p>
                  </a:txBody>
                  <a:tcPr marL="70757" marR="70757" marT="32657" marB="32657" anchor="ctr"/>
                </a:tc>
                <a:tc>
                  <a:txBody>
                    <a:bodyPr/>
                    <a:lstStyle/>
                    <a:p>
                      <a:pPr algn="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0.867</a:t>
                      </a:r>
                    </a:p>
                  </a:txBody>
                  <a:tcPr marL="70757" marR="70757" marT="32657" marB="32657" anchor="ctr"/>
                </a:tc>
                <a:tc>
                  <a:txBody>
                    <a:bodyPr/>
                    <a:lstStyle/>
                    <a:p>
                      <a:pPr algn="r">
                        <a:buNone/>
                      </a:pPr>
                      <a:r>
                        <a:rPr lang="en-US"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0.867</a:t>
                      </a:r>
                    </a:p>
                  </a:txBody>
                  <a:tcPr marL="70757" marR="70757" marT="32657" marB="32657" anchor="ctr"/>
                </a:tc>
                <a:tc>
                  <a:txBody>
                    <a:bodyPr/>
                    <a:lstStyle/>
                    <a:p>
                      <a:pPr algn="r">
                        <a:buNone/>
                      </a:pPr>
                      <a:r>
                        <a:rPr lang="en-US"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0.267</a:t>
                      </a:r>
                    </a:p>
                  </a:txBody>
                  <a:tcPr marL="70757" marR="70757" marT="32657" marB="32657" anchor="ctr"/>
                </a:tc>
                <a:tc>
                  <a:txBody>
                    <a:bodyPr/>
                    <a:lstStyle/>
                    <a:p>
                      <a:pPr algn="r">
                        <a:buNone/>
                      </a:pPr>
                      <a:r>
                        <a:rPr lang="en-US" sz="1200" b="1">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0.896</a:t>
                      </a:r>
                      <a:endParaRPr lang="en-US" sz="120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extLst>
                  <a:ext uri="{0D108BD9-81ED-4DB2-BD59-A6C34878D82A}">
                    <a16:rowId xmlns:a16="http://schemas.microsoft.com/office/drawing/2014/main" val="4287687987"/>
                  </a:ext>
                </a:extLst>
              </a:tr>
              <a:tr h="373888">
                <a:tc>
                  <a:txBody>
                    <a:bodyPr/>
                    <a:lstStyle/>
                    <a:p>
                      <a:pPr>
                        <a:buNone/>
                      </a:pPr>
                      <a:r>
                        <a:rPr lang="en-US"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S4</a:t>
                      </a:r>
                    </a:p>
                  </a:txBody>
                  <a:tcPr marL="70757" marR="70757" marT="32657" marB="32657" anchor="ctr"/>
                </a:tc>
                <a:tc>
                  <a:txBody>
                    <a:bodyPr/>
                    <a:lstStyle/>
                    <a:p>
                      <a:pPr algn="r">
                        <a:buNone/>
                      </a:pPr>
                      <a:r>
                        <a:rPr lang="en-US"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0.000</a:t>
                      </a:r>
                    </a:p>
                  </a:txBody>
                  <a:tcPr marL="70757" marR="70757" marT="32657" marB="32657" anchor="ctr"/>
                </a:tc>
                <a:tc>
                  <a:txBody>
                    <a:bodyPr/>
                    <a:lstStyle/>
                    <a:p>
                      <a:pPr algn="r">
                        <a:buNone/>
                      </a:pPr>
                      <a:r>
                        <a:rPr lang="en-US"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0.667</a:t>
                      </a:r>
                    </a:p>
                  </a:txBody>
                  <a:tcPr marL="70757" marR="70757" marT="32657" marB="32657" anchor="ctr"/>
                </a:tc>
                <a:tc>
                  <a:txBody>
                    <a:bodyPr/>
                    <a:lstStyle/>
                    <a:p>
                      <a:pPr algn="r">
                        <a:buNone/>
                      </a:pPr>
                      <a:r>
                        <a:rPr lang="en-US"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0.667</a:t>
                      </a:r>
                    </a:p>
                  </a:txBody>
                  <a:tcPr marL="70757" marR="70757" marT="32657" marB="32657" anchor="ctr"/>
                </a:tc>
                <a:tc>
                  <a:txBody>
                    <a:bodyPr/>
                    <a:lstStyle/>
                    <a:p>
                      <a:pPr algn="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0.667</a:t>
                      </a:r>
                    </a:p>
                  </a:txBody>
                  <a:tcPr marL="70757" marR="70757" marT="32657" marB="32657" anchor="ctr"/>
                </a:tc>
                <a:tc>
                  <a:txBody>
                    <a:bodyPr/>
                    <a:lstStyle/>
                    <a:p>
                      <a:pPr algn="r">
                        <a:buNone/>
                      </a:pP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1.000</a:t>
                      </a:r>
                      <a:endPar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tc>
                  <a:txBody>
                    <a:bodyPr/>
                    <a:lstStyle/>
                    <a:p>
                      <a:pPr algn="r">
                        <a:buNone/>
                      </a:pPr>
                      <a:r>
                        <a:rPr lang="en-US"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0.667</a:t>
                      </a:r>
                    </a:p>
                  </a:txBody>
                  <a:tcPr marL="70757" marR="70757" marT="32657" marB="32657" anchor="ctr"/>
                </a:tc>
                <a:extLst>
                  <a:ext uri="{0D108BD9-81ED-4DB2-BD59-A6C34878D82A}">
                    <a16:rowId xmlns:a16="http://schemas.microsoft.com/office/drawing/2014/main" val="648453408"/>
                  </a:ext>
                </a:extLst>
              </a:tr>
              <a:tr h="373888">
                <a:tc>
                  <a:txBody>
                    <a:bodyPr/>
                    <a:lstStyle/>
                    <a:p>
                      <a:pPr>
                        <a:buNone/>
                      </a:pP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Macro F1</a:t>
                      </a:r>
                      <a:endPar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tc>
                  <a:txBody>
                    <a:bodyPr/>
                    <a:lstStyle/>
                    <a:p>
                      <a:pPr algn="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0.307</a:t>
                      </a:r>
                    </a:p>
                  </a:txBody>
                  <a:tcPr marL="70757" marR="70757" marT="32657" marB="32657" anchor="ctr"/>
                </a:tc>
                <a:tc>
                  <a:txBody>
                    <a:bodyPr/>
                    <a:lstStyle/>
                    <a:p>
                      <a:pPr algn="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0.529</a:t>
                      </a:r>
                    </a:p>
                  </a:txBody>
                  <a:tcPr marL="70757" marR="70757" marT="32657" marB="32657" anchor="ctr"/>
                </a:tc>
                <a:tc>
                  <a:txBody>
                    <a:bodyPr/>
                    <a:lstStyle/>
                    <a:p>
                      <a:pPr algn="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0.823</a:t>
                      </a:r>
                    </a:p>
                  </a:txBody>
                  <a:tcPr marL="70757" marR="70757" marT="32657" marB="32657" anchor="ctr"/>
                </a:tc>
                <a:tc>
                  <a:txBody>
                    <a:bodyPr/>
                    <a:lstStyle/>
                    <a:p>
                      <a:pPr algn="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0.823</a:t>
                      </a:r>
                    </a:p>
                  </a:txBody>
                  <a:tcPr marL="70757" marR="70757" marT="32657" marB="32657" anchor="ctr"/>
                </a:tc>
                <a:tc>
                  <a:txBody>
                    <a:bodyPr/>
                    <a:lstStyle/>
                    <a:p>
                      <a:pPr algn="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0.817</a:t>
                      </a:r>
                    </a:p>
                  </a:txBody>
                  <a:tcPr marL="70757" marR="70757" marT="32657" marB="32657" anchor="ctr"/>
                </a:tc>
                <a:tc>
                  <a:txBody>
                    <a:bodyPr/>
                    <a:lstStyle/>
                    <a:p>
                      <a:pPr algn="r">
                        <a:buNone/>
                      </a:pPr>
                      <a:r>
                        <a:rPr lang="en-US" sz="1200" b="1" dirty="0">
                          <a:solidFill>
                            <a:schemeClr val="accent6">
                              <a:lumMod val="2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0.891</a:t>
                      </a:r>
                      <a:endParaRPr lang="en-US" sz="1200" dirty="0">
                        <a:solidFill>
                          <a:schemeClr val="accent6">
                            <a:lumMod val="2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extLst>
                  <a:ext uri="{0D108BD9-81ED-4DB2-BD59-A6C34878D82A}">
                    <a16:rowId xmlns:a16="http://schemas.microsoft.com/office/drawing/2014/main" val="963875220"/>
                  </a:ext>
                </a:extLst>
              </a:tr>
            </a:tbl>
          </a:graphicData>
        </a:graphic>
      </p:graphicFrame>
      <p:graphicFrame>
        <p:nvGraphicFramePr>
          <p:cNvPr id="7" name="Table 6">
            <a:extLst>
              <a:ext uri="{FF2B5EF4-FFF2-40B4-BE49-F238E27FC236}">
                <a16:creationId xmlns:a16="http://schemas.microsoft.com/office/drawing/2014/main" id="{BBBDDCB7-7708-2F8F-8B5A-911E85B5526E}"/>
              </a:ext>
            </a:extLst>
          </p:cNvPr>
          <p:cNvGraphicFramePr>
            <a:graphicFrameLocks noGrp="1"/>
          </p:cNvGraphicFramePr>
          <p:nvPr>
            <p:extLst>
              <p:ext uri="{D42A27DB-BD31-4B8C-83A1-F6EECF244321}">
                <p14:modId xmlns:p14="http://schemas.microsoft.com/office/powerpoint/2010/main" val="2926659712"/>
              </p:ext>
            </p:extLst>
          </p:nvPr>
        </p:nvGraphicFramePr>
        <p:xfrm>
          <a:off x="3069822" y="4614530"/>
          <a:ext cx="6531380" cy="1818744"/>
        </p:xfrm>
        <a:graphic>
          <a:graphicData uri="http://schemas.openxmlformats.org/drawingml/2006/table">
            <a:tbl>
              <a:tblPr>
                <a:tableStyleId>{22838BEF-8BB2-4498-84A7-C5851F593DF1}</a:tableStyleId>
              </a:tblPr>
              <a:tblGrid>
                <a:gridCol w="1306276">
                  <a:extLst>
                    <a:ext uri="{9D8B030D-6E8A-4147-A177-3AD203B41FA5}">
                      <a16:colId xmlns:a16="http://schemas.microsoft.com/office/drawing/2014/main" val="230252904"/>
                    </a:ext>
                  </a:extLst>
                </a:gridCol>
                <a:gridCol w="1306276">
                  <a:extLst>
                    <a:ext uri="{9D8B030D-6E8A-4147-A177-3AD203B41FA5}">
                      <a16:colId xmlns:a16="http://schemas.microsoft.com/office/drawing/2014/main" val="3284347211"/>
                    </a:ext>
                  </a:extLst>
                </a:gridCol>
                <a:gridCol w="1306276">
                  <a:extLst>
                    <a:ext uri="{9D8B030D-6E8A-4147-A177-3AD203B41FA5}">
                      <a16:colId xmlns:a16="http://schemas.microsoft.com/office/drawing/2014/main" val="2232504515"/>
                    </a:ext>
                  </a:extLst>
                </a:gridCol>
                <a:gridCol w="1306276">
                  <a:extLst>
                    <a:ext uri="{9D8B030D-6E8A-4147-A177-3AD203B41FA5}">
                      <a16:colId xmlns:a16="http://schemas.microsoft.com/office/drawing/2014/main" val="3151626648"/>
                    </a:ext>
                  </a:extLst>
                </a:gridCol>
                <a:gridCol w="1306276">
                  <a:extLst>
                    <a:ext uri="{9D8B030D-6E8A-4147-A177-3AD203B41FA5}">
                      <a16:colId xmlns:a16="http://schemas.microsoft.com/office/drawing/2014/main" val="595357748"/>
                    </a:ext>
                  </a:extLst>
                </a:gridCol>
              </a:tblGrid>
              <a:tr h="550628">
                <a:tc>
                  <a:txBody>
                    <a:bodyPr/>
                    <a:lstStyle/>
                    <a:p>
                      <a:pPr algn="r">
                        <a:buNone/>
                      </a:pPr>
                      <a:endPar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tc>
                  <a:txBody>
                    <a:bodyPr/>
                    <a:lstStyle/>
                    <a:p>
                      <a:pPr algn="r">
                        <a:buNone/>
                      </a:pPr>
                      <a:r>
                        <a:rPr lang="en-US" sz="1200" b="1" dirty="0" err="1">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Intr</a:t>
                      </a: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(guided)</a:t>
                      </a:r>
                    </a:p>
                  </a:txBody>
                  <a:tcPr marL="70757" marR="70757" marT="32657" marB="32657" anchor="ctr"/>
                </a:tc>
                <a:tc>
                  <a:txBody>
                    <a:bodyPr/>
                    <a:lstStyle/>
                    <a:p>
                      <a:pPr algn="r">
                        <a:buNone/>
                      </a:pPr>
                      <a:r>
                        <a:rPr lang="en-US" sz="1200" b="1" dirty="0" err="1">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Intr</a:t>
                      </a: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(full)</a:t>
                      </a:r>
                    </a:p>
                  </a:txBody>
                  <a:tcPr marL="70757" marR="70757" marT="32657" marB="32657" anchor="ctr"/>
                </a:tc>
                <a:tc>
                  <a:txBody>
                    <a:bodyPr/>
                    <a:lstStyle/>
                    <a:p>
                      <a:pPr algn="r">
                        <a:buNone/>
                      </a:pP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Seq (guided)</a:t>
                      </a:r>
                    </a:p>
                  </a:txBody>
                  <a:tcPr marL="70757" marR="70757" marT="32657" marB="32657" anchor="ctr"/>
                </a:tc>
                <a:tc>
                  <a:txBody>
                    <a:bodyPr/>
                    <a:lstStyle/>
                    <a:p>
                      <a:pPr algn="r">
                        <a:buNone/>
                      </a:pP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Seq (full)</a:t>
                      </a:r>
                    </a:p>
                  </a:txBody>
                  <a:tcPr marL="70757" marR="70757" marT="32657" marB="32657" anchor="ctr"/>
                </a:tc>
                <a:extLst>
                  <a:ext uri="{0D108BD9-81ED-4DB2-BD59-A6C34878D82A}">
                    <a16:rowId xmlns:a16="http://schemas.microsoft.com/office/drawing/2014/main" val="3784379870"/>
                  </a:ext>
                </a:extLst>
              </a:tr>
              <a:tr h="317029">
                <a:tc>
                  <a:txBody>
                    <a:bodyPr/>
                    <a:lstStyle/>
                    <a:p>
                      <a:pPr>
                        <a:buNone/>
                      </a:pPr>
                      <a:r>
                        <a:rPr lang="en-US" sz="1200" b="1"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C3 / C3f</a:t>
                      </a:r>
                      <a:endPar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tc>
                  <a:txBody>
                    <a:bodyPr/>
                    <a:lstStyle/>
                    <a:p>
                      <a:pPr algn="r">
                        <a:buNone/>
                      </a:pPr>
                      <a:r>
                        <a:rPr lang="en-US" sz="1200" b="1" dirty="0">
                          <a:solidFill>
                            <a:schemeClr val="accent6">
                              <a:lumMod val="2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0.865</a:t>
                      </a:r>
                    </a:p>
                  </a:txBody>
                  <a:tcPr marL="70757" marR="70757" marT="32657" marB="32657" anchor="ctr"/>
                </a:tc>
                <a:tc>
                  <a:txBody>
                    <a:bodyPr/>
                    <a:lstStyle/>
                    <a:p>
                      <a:pPr algn="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0.831</a:t>
                      </a:r>
                    </a:p>
                  </a:txBody>
                  <a:tcPr marL="70757" marR="70757" marT="32657" marB="32657" anchor="ctr"/>
                </a:tc>
                <a:tc>
                  <a:txBody>
                    <a:bodyPr/>
                    <a:lstStyle/>
                    <a:p>
                      <a:pPr algn="r">
                        <a:buNone/>
                      </a:pPr>
                      <a:r>
                        <a:rPr lang="en-US" sz="1200" b="1" dirty="0">
                          <a:solidFill>
                            <a:schemeClr val="accent6">
                              <a:lumMod val="2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0.810</a:t>
                      </a:r>
                    </a:p>
                  </a:txBody>
                  <a:tcPr marL="70757" marR="70757" marT="32657" marB="32657" anchor="ctr"/>
                </a:tc>
                <a:tc>
                  <a:txBody>
                    <a:bodyPr/>
                    <a:lstStyle/>
                    <a:p>
                      <a:pPr algn="r">
                        <a:buNone/>
                      </a:pPr>
                      <a:r>
                        <a:rPr lang="en-US"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0.771</a:t>
                      </a:r>
                    </a:p>
                  </a:txBody>
                  <a:tcPr marL="70757" marR="70757" marT="32657" marB="32657" anchor="ctr"/>
                </a:tc>
                <a:extLst>
                  <a:ext uri="{0D108BD9-81ED-4DB2-BD59-A6C34878D82A}">
                    <a16:rowId xmlns:a16="http://schemas.microsoft.com/office/drawing/2014/main" val="4098553934"/>
                  </a:ext>
                </a:extLst>
              </a:tr>
              <a:tr h="317029">
                <a:tc>
                  <a:txBody>
                    <a:bodyPr/>
                    <a:lstStyle/>
                    <a:p>
                      <a:pPr>
                        <a:buNone/>
                      </a:pPr>
                      <a:r>
                        <a:rPr lang="en-US" sz="1200" b="1">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C4 / C4f</a:t>
                      </a:r>
                      <a:endParaRPr lang="en-US" sz="120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tc>
                  <a:txBody>
                    <a:bodyPr/>
                    <a:lstStyle/>
                    <a:p>
                      <a:pPr algn="r">
                        <a:buNone/>
                      </a:pPr>
                      <a:r>
                        <a:rPr lang="en-US" sz="1200" b="1" dirty="0">
                          <a:solidFill>
                            <a:schemeClr val="accent6">
                              <a:lumMod val="2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0.764</a:t>
                      </a:r>
                    </a:p>
                  </a:txBody>
                  <a:tcPr marL="70757" marR="70757" marT="32657" marB="32657" anchor="ctr"/>
                </a:tc>
                <a:tc>
                  <a:txBody>
                    <a:bodyPr/>
                    <a:lstStyle/>
                    <a:p>
                      <a:pPr algn="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0.764</a:t>
                      </a:r>
                    </a:p>
                  </a:txBody>
                  <a:tcPr marL="70757" marR="70757" marT="32657" marB="32657" anchor="ctr"/>
                </a:tc>
                <a:tc>
                  <a:txBody>
                    <a:bodyPr/>
                    <a:lstStyle/>
                    <a:p>
                      <a:pPr algn="r">
                        <a:buNone/>
                      </a:pPr>
                      <a:r>
                        <a:rPr lang="en-US" sz="1200" b="1" dirty="0">
                          <a:solidFill>
                            <a:schemeClr val="accent6">
                              <a:lumMod val="2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0.810</a:t>
                      </a:r>
                    </a:p>
                  </a:txBody>
                  <a:tcPr marL="70757" marR="70757" marT="32657" marB="32657" anchor="ctr"/>
                </a:tc>
                <a:tc>
                  <a:txBody>
                    <a:bodyPr/>
                    <a:lstStyle/>
                    <a:p>
                      <a:pPr algn="r">
                        <a:buNone/>
                      </a:pPr>
                      <a:r>
                        <a:rPr lang="en-US"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0.771</a:t>
                      </a:r>
                    </a:p>
                  </a:txBody>
                  <a:tcPr marL="70757" marR="70757" marT="32657" marB="32657" anchor="ctr"/>
                </a:tc>
                <a:extLst>
                  <a:ext uri="{0D108BD9-81ED-4DB2-BD59-A6C34878D82A}">
                    <a16:rowId xmlns:a16="http://schemas.microsoft.com/office/drawing/2014/main" val="1947479602"/>
                  </a:ext>
                </a:extLst>
              </a:tr>
              <a:tr h="317029">
                <a:tc>
                  <a:txBody>
                    <a:bodyPr/>
                    <a:lstStyle/>
                    <a:p>
                      <a:pPr>
                        <a:buNone/>
                      </a:pPr>
                      <a:r>
                        <a:rPr lang="en-US" sz="1200" b="1">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C5 / C5f</a:t>
                      </a:r>
                      <a:endParaRPr lang="en-US" sz="120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tc>
                  <a:txBody>
                    <a:bodyPr/>
                    <a:lstStyle/>
                    <a:p>
                      <a:pPr algn="r">
                        <a:buNone/>
                      </a:pPr>
                      <a:r>
                        <a:rPr lang="en-US" sz="1200" b="1" dirty="0">
                          <a:solidFill>
                            <a:schemeClr val="accent6">
                              <a:lumMod val="2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0.900</a:t>
                      </a:r>
                    </a:p>
                  </a:txBody>
                  <a:tcPr marL="70757" marR="70757" marT="32657" marB="32657" anchor="ctr"/>
                </a:tc>
                <a:tc>
                  <a:txBody>
                    <a:bodyPr/>
                    <a:lstStyle/>
                    <a:p>
                      <a:pPr algn="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0.833</a:t>
                      </a:r>
                    </a:p>
                  </a:txBody>
                  <a:tcPr marL="70757" marR="70757" marT="32657" marB="32657" anchor="ctr"/>
                </a:tc>
                <a:tc>
                  <a:txBody>
                    <a:bodyPr/>
                    <a:lstStyle/>
                    <a:p>
                      <a:pPr algn="r">
                        <a:buNone/>
                      </a:pPr>
                      <a:r>
                        <a:rPr lang="en-US" sz="1200" b="1" dirty="0">
                          <a:solidFill>
                            <a:schemeClr val="accent6">
                              <a:lumMod val="2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0.853</a:t>
                      </a:r>
                    </a:p>
                  </a:txBody>
                  <a:tcPr marL="70757" marR="70757" marT="32657" marB="32657" anchor="ctr"/>
                </a:tc>
                <a:tc>
                  <a:txBody>
                    <a:bodyPr/>
                    <a:lstStyle/>
                    <a:p>
                      <a:pPr algn="r">
                        <a:buNone/>
                      </a:pPr>
                      <a:r>
                        <a:rPr lang="en-US"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0.787</a:t>
                      </a:r>
                    </a:p>
                  </a:txBody>
                  <a:tcPr marL="70757" marR="70757" marT="32657" marB="32657" anchor="ctr"/>
                </a:tc>
                <a:extLst>
                  <a:ext uri="{0D108BD9-81ED-4DB2-BD59-A6C34878D82A}">
                    <a16:rowId xmlns:a16="http://schemas.microsoft.com/office/drawing/2014/main" val="3383932473"/>
                  </a:ext>
                </a:extLst>
              </a:tr>
              <a:tr h="317029">
                <a:tc>
                  <a:txBody>
                    <a:bodyPr/>
                    <a:lstStyle/>
                    <a:p>
                      <a:pPr>
                        <a:buNone/>
                      </a:pPr>
                      <a:r>
                        <a:rPr lang="en-US" sz="1200" b="1">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C6 / C6f</a:t>
                      </a:r>
                      <a:endParaRPr lang="en-US" sz="120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tc>
                  <a:txBody>
                    <a:bodyPr/>
                    <a:lstStyle/>
                    <a:p>
                      <a:pPr algn="r">
                        <a:buNone/>
                      </a:pPr>
                      <a:r>
                        <a:rPr lang="en-US" sz="1200" b="1" dirty="0">
                          <a:solidFill>
                            <a:schemeClr val="accent6">
                              <a:lumMod val="2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0.871</a:t>
                      </a:r>
                    </a:p>
                  </a:txBody>
                  <a:tcPr marL="70757" marR="70757" marT="32657" marB="32657" anchor="ctr"/>
                </a:tc>
                <a:tc>
                  <a:txBody>
                    <a:bodyPr/>
                    <a:lstStyle/>
                    <a:p>
                      <a:pPr algn="r">
                        <a:buNone/>
                      </a:pPr>
                      <a:r>
                        <a:rPr lang="en-US" sz="1200" b="0"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0.900</a:t>
                      </a:r>
                      <a:endParaRPr lang="en-US" sz="1200" b="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70757" marR="70757" marT="32657" marB="32657" anchor="ctr"/>
                </a:tc>
                <a:tc>
                  <a:txBody>
                    <a:bodyPr/>
                    <a:lstStyle/>
                    <a:p>
                      <a:pPr algn="r">
                        <a:buNone/>
                      </a:pPr>
                      <a:r>
                        <a:rPr lang="en-US" sz="1200" b="1" dirty="0">
                          <a:solidFill>
                            <a:schemeClr val="accent6">
                              <a:lumMod val="2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0.913</a:t>
                      </a:r>
                    </a:p>
                  </a:txBody>
                  <a:tcPr marL="70757" marR="70757" marT="32657" marB="32657" anchor="ctr"/>
                </a:tc>
                <a:tc>
                  <a:txBody>
                    <a:bodyPr/>
                    <a:lstStyle/>
                    <a:p>
                      <a:pPr algn="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0.873</a:t>
                      </a:r>
                    </a:p>
                  </a:txBody>
                  <a:tcPr marL="70757" marR="70757" marT="32657" marB="32657" anchor="ctr"/>
                </a:tc>
                <a:extLst>
                  <a:ext uri="{0D108BD9-81ED-4DB2-BD59-A6C34878D82A}">
                    <a16:rowId xmlns:a16="http://schemas.microsoft.com/office/drawing/2014/main" val="4091483125"/>
                  </a:ext>
                </a:extLst>
              </a:tr>
            </a:tbl>
          </a:graphicData>
        </a:graphic>
      </p:graphicFrame>
      <p:sp>
        <p:nvSpPr>
          <p:cNvPr id="8" name="TextBox 7">
            <a:extLst>
              <a:ext uri="{FF2B5EF4-FFF2-40B4-BE49-F238E27FC236}">
                <a16:creationId xmlns:a16="http://schemas.microsoft.com/office/drawing/2014/main" id="{84F69492-EEA8-E259-C121-95D7E83BE5E0}"/>
              </a:ext>
            </a:extLst>
          </p:cNvPr>
          <p:cNvSpPr txBox="1"/>
          <p:nvPr/>
        </p:nvSpPr>
        <p:spPr>
          <a:xfrm>
            <a:off x="428625" y="1428581"/>
            <a:ext cx="3009157" cy="369332"/>
          </a:xfrm>
          <a:prstGeom prst="rect">
            <a:avLst/>
          </a:prstGeom>
          <a:noFill/>
        </p:spPr>
        <p:txBody>
          <a:bodyPr wrap="none" rtlCol="0">
            <a:spAutoFit/>
          </a:bodyPr>
          <a:lstStyle/>
          <a:p>
            <a:r>
              <a:rPr lang="en-GB" b="1" dirty="0"/>
              <a:t>Interactions F1 — all scenarios</a:t>
            </a:r>
          </a:p>
        </p:txBody>
      </p:sp>
      <p:sp>
        <p:nvSpPr>
          <p:cNvPr id="9" name="TextBox 8">
            <a:extLst>
              <a:ext uri="{FF2B5EF4-FFF2-40B4-BE49-F238E27FC236}">
                <a16:creationId xmlns:a16="http://schemas.microsoft.com/office/drawing/2014/main" id="{2498A0C5-1E0B-7021-64E0-E643C97A31B1}"/>
              </a:ext>
            </a:extLst>
          </p:cNvPr>
          <p:cNvSpPr txBox="1"/>
          <p:nvPr/>
        </p:nvSpPr>
        <p:spPr>
          <a:xfrm>
            <a:off x="6122055" y="1428581"/>
            <a:ext cx="2868093" cy="369332"/>
          </a:xfrm>
          <a:prstGeom prst="rect">
            <a:avLst/>
          </a:prstGeom>
          <a:noFill/>
        </p:spPr>
        <p:txBody>
          <a:bodyPr wrap="none" rtlCol="0">
            <a:spAutoFit/>
          </a:bodyPr>
          <a:lstStyle/>
          <a:p>
            <a:r>
              <a:rPr lang="en-GB" b="1" dirty="0"/>
              <a:t>Sequence F1 — all scenarios</a:t>
            </a:r>
          </a:p>
        </p:txBody>
      </p:sp>
      <p:sp>
        <p:nvSpPr>
          <p:cNvPr id="11" name="TextBox 10">
            <a:extLst>
              <a:ext uri="{FF2B5EF4-FFF2-40B4-BE49-F238E27FC236}">
                <a16:creationId xmlns:a16="http://schemas.microsoft.com/office/drawing/2014/main" id="{CB91CDDA-9132-E7F3-6544-85D8A65EB550}"/>
              </a:ext>
            </a:extLst>
          </p:cNvPr>
          <p:cNvSpPr txBox="1"/>
          <p:nvPr/>
        </p:nvSpPr>
        <p:spPr>
          <a:xfrm>
            <a:off x="2892376" y="4176231"/>
            <a:ext cx="6097772" cy="369332"/>
          </a:xfrm>
          <a:prstGeom prst="rect">
            <a:avLst/>
          </a:prstGeom>
          <a:noFill/>
        </p:spPr>
        <p:txBody>
          <a:bodyPr wrap="square">
            <a:spAutoFit/>
          </a:bodyPr>
          <a:lstStyle/>
          <a:p>
            <a:pPr algn="l">
              <a:spcBef>
                <a:spcPts val="1800"/>
              </a:spcBef>
              <a:spcAft>
                <a:spcPts val="1200"/>
              </a:spcAft>
              <a:buNone/>
            </a:pPr>
            <a:r>
              <a:rPr lang="en-GB" b="1" dirty="0"/>
              <a:t>Macro F1 with guided vs full instrumentation</a:t>
            </a:r>
          </a:p>
        </p:txBody>
      </p:sp>
    </p:spTree>
    <p:extLst>
      <p:ext uri="{BB962C8B-B14F-4D97-AF65-F5344CB8AC3E}">
        <p14:creationId xmlns:p14="http://schemas.microsoft.com/office/powerpoint/2010/main" val="3604313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7DA5C-5AB3-7227-953B-BC873A67AE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BDBCA4-FD76-7568-6FBD-250AFAC6DD25}"/>
              </a:ext>
            </a:extLst>
          </p:cNvPr>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H1 Interpretation — Why the Numbers Look This Way</a:t>
            </a:r>
          </a:p>
        </p:txBody>
      </p:sp>
      <p:sp>
        <p:nvSpPr>
          <p:cNvPr id="3" name="Content Placeholder 2">
            <a:extLst>
              <a:ext uri="{FF2B5EF4-FFF2-40B4-BE49-F238E27FC236}">
                <a16:creationId xmlns:a16="http://schemas.microsoft.com/office/drawing/2014/main" id="{9045F796-9661-F02D-9CBF-28C47C7611AD}"/>
              </a:ext>
            </a:extLst>
          </p:cNvPr>
          <p:cNvSpPr>
            <a:spLocks noGrp="1"/>
          </p:cNvSpPr>
          <p:nvPr>
            <p:ph sz="quarter" idx="11"/>
          </p:nvPr>
        </p:nvSpPr>
        <p:spPr>
          <a:xfrm>
            <a:off x="5736566" y="1020445"/>
            <a:ext cx="5763487" cy="5029200"/>
          </a:xfrm>
        </p:spPr>
        <p:txBody>
          <a:bodyPr>
            <a:normAutofit/>
          </a:bodyPr>
          <a:lstStyle/>
          <a:p>
            <a:r>
              <a:rPr lang="en-US"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C5 (C2 ∩ C3 intersection) is the best condition for interactions</a:t>
            </a:r>
            <a:r>
              <a:rPr lang="en-US" sz="1600" dirty="0">
                <a:latin typeface="Sans Serif Collection" panose="020B0502040504020204" pitchFamily="34" charset="0"/>
                <a:ea typeface="Sans Serif Collection" panose="020B0502040504020204" pitchFamily="34" charset="0"/>
                <a:cs typeface="Sans Serif Collection" panose="020B0502040504020204" pitchFamily="34" charset="0"/>
              </a:rPr>
              <a:t> (macro F1=</a:t>
            </a:r>
            <a:r>
              <a:rPr lang="en-US"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0.875</a:t>
            </a:r>
            <a:r>
              <a:rPr lang="en-US" sz="1600" dirty="0">
                <a:latin typeface="Sans Serif Collection" panose="020B0502040504020204" pitchFamily="34" charset="0"/>
                <a:ea typeface="Sans Serif Collection" panose="020B0502040504020204" pitchFamily="34" charset="0"/>
                <a:cs typeface="Sans Serif Collection" panose="020B0502040504020204" pitchFamily="34" charset="0"/>
              </a:rPr>
              <a:t>).</a:t>
            </a:r>
            <a:br>
              <a:rPr lang="en-US" sz="16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US" sz="1600" dirty="0">
                <a:latin typeface="Sans Serif Collection" panose="020B0502040504020204" pitchFamily="34" charset="0"/>
                <a:ea typeface="Sans Serif Collection" panose="020B0502040504020204" pitchFamily="34" charset="0"/>
                <a:cs typeface="Sans Serif Collection" panose="020B0502040504020204" pitchFamily="34" charset="0"/>
              </a:rPr>
              <a:t>In every scenario where both static and dynamic capture the same edge, the intersection removes noise from both sources.</a:t>
            </a:r>
          </a:p>
          <a:p>
            <a:r>
              <a:rPr lang="en-US"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C6 (LLM + static + dynamic + source code) is the best condition for sequence</a:t>
            </a:r>
            <a:br>
              <a:rPr lang="en-US" sz="16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US" sz="1600" dirty="0">
                <a:latin typeface="Sans Serif Collection" panose="020B0502040504020204" pitchFamily="34" charset="0"/>
                <a:ea typeface="Sans Serif Collection" panose="020B0502040504020204" pitchFamily="34" charset="0"/>
                <a:cs typeface="Sans Serif Collection" panose="020B0502040504020204" pitchFamily="34" charset="0"/>
              </a:rPr>
              <a:t>(macro F1=</a:t>
            </a:r>
            <a:r>
              <a:rPr lang="en-US"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0.891</a:t>
            </a:r>
            <a:r>
              <a:rPr lang="en-US" sz="1600" dirty="0">
                <a:latin typeface="Sans Serif Collection" panose="020B0502040504020204" pitchFamily="34" charset="0"/>
                <a:ea typeface="Sans Serif Collection" panose="020B0502040504020204" pitchFamily="34" charset="0"/>
                <a:cs typeface="Sans Serif Collection" panose="020B0502040504020204" pitchFamily="34" charset="0"/>
              </a:rPr>
              <a:t>). Adding source code enables the LLM to identify and remove test-fixture setup events from the sequence output.</a:t>
            </a:r>
          </a:p>
          <a:p>
            <a:r>
              <a:rPr lang="en-US"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Guided ≥ Full</a:t>
            </a:r>
            <a:r>
              <a:rPr lang="en-US" sz="1600" dirty="0">
                <a:latin typeface="Sans Serif Collection" panose="020B0502040504020204" pitchFamily="34" charset="0"/>
                <a:ea typeface="Sans Serif Collection" panose="020B0502040504020204" pitchFamily="34" charset="0"/>
                <a:cs typeface="Sans Serif Collection" panose="020B0502040504020204" pitchFamily="34" charset="0"/>
              </a:rPr>
              <a:t> for C3-C6  interconnections and sequence. </a:t>
            </a:r>
            <a:endParaRPr lang="en-US" sz="1600" i="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TextBox 3">
            <a:extLst>
              <a:ext uri="{FF2B5EF4-FFF2-40B4-BE49-F238E27FC236}">
                <a16:creationId xmlns:a16="http://schemas.microsoft.com/office/drawing/2014/main" id="{6E11F5D9-21AB-FF6F-F708-568E98DCD3C1}"/>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14</a:t>
            </a:r>
          </a:p>
        </p:txBody>
      </p:sp>
      <p:sp>
        <p:nvSpPr>
          <p:cNvPr id="5" name="TextBox 4">
            <a:extLst>
              <a:ext uri="{FF2B5EF4-FFF2-40B4-BE49-F238E27FC236}">
                <a16:creationId xmlns:a16="http://schemas.microsoft.com/office/drawing/2014/main" id="{8ACC0CCE-F2F7-F6D0-4916-97A8043120ED}"/>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18081309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7BC75-1F99-BA11-567A-2237ED6A49DB}"/>
              </a:ext>
            </a:extLst>
          </p:cNvPr>
          <p:cNvSpPr>
            <a:spLocks noGrp="1"/>
          </p:cNvSpPr>
          <p:nvPr>
            <p:ph type="title"/>
          </p:nvPr>
        </p:nvSpPr>
        <p:spPr>
          <a:xfrm>
            <a:off x="623494" y="485113"/>
            <a:ext cx="10515600" cy="904801"/>
          </a:xfrm>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H2 Experiment</a:t>
            </a:r>
          </a:p>
        </p:txBody>
      </p:sp>
      <p:pic>
        <p:nvPicPr>
          <p:cNvPr id="8" name="Picture 7">
            <a:extLst>
              <a:ext uri="{FF2B5EF4-FFF2-40B4-BE49-F238E27FC236}">
                <a16:creationId xmlns:a16="http://schemas.microsoft.com/office/drawing/2014/main" id="{3C066D3B-0AB3-3A1D-3EAF-7A3B492205FD}"/>
              </a:ext>
            </a:extLst>
          </p:cNvPr>
          <p:cNvPicPr>
            <a:picLocks noChangeAspect="1"/>
          </p:cNvPicPr>
          <p:nvPr/>
        </p:nvPicPr>
        <p:blipFill>
          <a:blip r:embed="rId3"/>
          <a:stretch>
            <a:fillRect/>
          </a:stretch>
        </p:blipFill>
        <p:spPr>
          <a:xfrm>
            <a:off x="754956" y="1615942"/>
            <a:ext cx="3495620" cy="3788261"/>
          </a:xfrm>
          <a:prstGeom prst="rect">
            <a:avLst/>
          </a:prstGeom>
        </p:spPr>
      </p:pic>
      <p:pic>
        <p:nvPicPr>
          <p:cNvPr id="10" name="Picture 9">
            <a:extLst>
              <a:ext uri="{FF2B5EF4-FFF2-40B4-BE49-F238E27FC236}">
                <a16:creationId xmlns:a16="http://schemas.microsoft.com/office/drawing/2014/main" id="{84D5C13B-4C5F-DBE1-96DB-2871F0367965}"/>
              </a:ext>
            </a:extLst>
          </p:cNvPr>
          <p:cNvPicPr>
            <a:picLocks noChangeAspect="1"/>
          </p:cNvPicPr>
          <p:nvPr/>
        </p:nvPicPr>
        <p:blipFill>
          <a:blip r:embed="rId4"/>
          <a:stretch>
            <a:fillRect/>
          </a:stretch>
        </p:blipFill>
        <p:spPr>
          <a:xfrm>
            <a:off x="4382038" y="1615941"/>
            <a:ext cx="4140872" cy="3788261"/>
          </a:xfrm>
          <a:prstGeom prst="rect">
            <a:avLst/>
          </a:prstGeom>
        </p:spPr>
      </p:pic>
      <p:sp>
        <p:nvSpPr>
          <p:cNvPr id="12" name="TextBox 11">
            <a:extLst>
              <a:ext uri="{FF2B5EF4-FFF2-40B4-BE49-F238E27FC236}">
                <a16:creationId xmlns:a16="http://schemas.microsoft.com/office/drawing/2014/main" id="{2981B1F7-91DB-97A4-81B8-278877152924}"/>
              </a:ext>
            </a:extLst>
          </p:cNvPr>
          <p:cNvSpPr txBox="1"/>
          <p:nvPr/>
        </p:nvSpPr>
        <p:spPr>
          <a:xfrm>
            <a:off x="8931773" y="1554301"/>
            <a:ext cx="2677829" cy="4401205"/>
          </a:xfrm>
          <a:prstGeom prst="rect">
            <a:avLst/>
          </a:prstGeom>
          <a:noFill/>
        </p:spPr>
        <p:txBody>
          <a:bodyPr wrap="square">
            <a:spAutoFit/>
          </a:bodyPr>
          <a:lstStyle/>
          <a:p>
            <a:r>
              <a:rPr lang="en-GB" sz="14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Setup:</a:t>
            </a:r>
          </a:p>
          <a:p>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 blind A/B comparison rating form was used: </a:t>
            </a:r>
          </a:p>
          <a:p>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For each scenario (S1–S3), a rater scores two anonymized diagram variants (A vs. B, unlabelled generation method) on 3 questions relevance to the scenario, </a:t>
            </a:r>
            <a:r>
              <a:rPr lang="en-GB" sz="14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accuracy, readability, and practical usefulness </a:t>
            </a:r>
            <a:r>
              <a:rPr lang="en-GB"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on a 1–5 scale plus free-text comments. </a:t>
            </a:r>
          </a:p>
          <a:p>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It closes with two overall questions on which style was preferred and what features they'd want added.</a:t>
            </a:r>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26687482-C8E9-02DD-9CD1-73B38AC8F524}"/>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TextBox 3">
            <a:extLst>
              <a:ext uri="{FF2B5EF4-FFF2-40B4-BE49-F238E27FC236}">
                <a16:creationId xmlns:a16="http://schemas.microsoft.com/office/drawing/2014/main" id="{000C8AD3-3859-E196-0967-DABA1BAFCA9C}"/>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nl-NL"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15</a:t>
            </a:r>
            <a:endPar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24648889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0F8E2-B17A-DF5E-62BB-CF9872B56F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E0D550-FA0B-FD61-B21B-FD26CEE27E23}"/>
              </a:ext>
            </a:extLst>
          </p:cNvPr>
          <p:cNvSpPr>
            <a:spLocks noGrp="1"/>
          </p:cNvSpPr>
          <p:nvPr>
            <p:ph type="title"/>
          </p:nvPr>
        </p:nvSpPr>
        <p:spPr>
          <a:xfrm>
            <a:off x="519060" y="468319"/>
            <a:ext cx="11763376" cy="804488"/>
          </a:xfrm>
        </p:spPr>
        <p:txBody>
          <a:bodyPr>
            <a:normAutofit/>
          </a:bodyPr>
          <a:lstStyle/>
          <a:p>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H2 Results in Detail: Noise, Coverage &amp; Expert Ratings</a:t>
            </a:r>
          </a:p>
        </p:txBody>
      </p:sp>
      <p:sp>
        <p:nvSpPr>
          <p:cNvPr id="3" name="Content Placeholder 2">
            <a:extLst>
              <a:ext uri="{FF2B5EF4-FFF2-40B4-BE49-F238E27FC236}">
                <a16:creationId xmlns:a16="http://schemas.microsoft.com/office/drawing/2014/main" id="{29CD4736-B8C6-18AE-A08F-B14C10D2121A}"/>
              </a:ext>
            </a:extLst>
          </p:cNvPr>
          <p:cNvSpPr>
            <a:spLocks noGrp="1"/>
          </p:cNvSpPr>
          <p:nvPr>
            <p:ph sz="quarter" idx="11"/>
          </p:nvPr>
        </p:nvSpPr>
        <p:spPr>
          <a:xfrm>
            <a:off x="585138" y="1620722"/>
            <a:ext cx="3273429" cy="4428386"/>
          </a:xfrm>
        </p:spPr>
        <p:txBody>
          <a:bodyPr>
            <a:noAutofit/>
          </a:bodyPr>
          <a:lstStyle/>
          <a:p>
            <a:pPr>
              <a:lnSpc>
                <a:spcPct val="110000"/>
              </a:lnSpc>
            </a:pPr>
            <a:r>
              <a:rPr lang="nl-NL"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Setup: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Full instrumentation (probe everything, filter after) vs. Guided (slice first, probe only scenario-relevant call sites), on S1–S3.</a:t>
            </a:r>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10000"/>
              </a:lnSpc>
            </a:pPr>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10000"/>
              </a:lnSpc>
            </a:pPr>
            <a:r>
              <a:rPr lang="nl-NL" sz="1400" b="1" dirty="0" err="1">
                <a:latin typeface="Sans Serif Collection" panose="020B0502040504020204" pitchFamily="34" charset="0"/>
                <a:ea typeface="Sans Serif Collection" panose="020B0502040504020204" pitchFamily="34" charset="0"/>
                <a:cs typeface="Sans Serif Collection" panose="020B0502040504020204" pitchFamily="34" charset="0"/>
              </a:rPr>
              <a:t>Standout</a:t>
            </a:r>
            <a:r>
              <a:rPr lang="nl-NL"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Across 6 raters × 9 scenario-dimension pairs = 54 comparisons: </a:t>
            </a:r>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Guided rated strictly higher in 47</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tied in 6, lower in exactly 1: The single dissent traced to collapsing 7 repeated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Configuration→Logging</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into 1. A trade-off, not a defect.</a:t>
            </a:r>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4" name="Table Placeholder 3">
            <a:extLst>
              <a:ext uri="{FF2B5EF4-FFF2-40B4-BE49-F238E27FC236}">
                <a16:creationId xmlns:a16="http://schemas.microsoft.com/office/drawing/2014/main" id="{F48B1129-C5D0-0BE4-4519-73F3A705E1D2}"/>
              </a:ext>
            </a:extLst>
          </p:cNvPr>
          <p:cNvGraphicFramePr>
            <a:graphicFrameLocks noGrp="1"/>
          </p:cNvGraphicFramePr>
          <p:nvPr>
            <p:ph type="tbl" sz="quarter" idx="10"/>
          </p:nvPr>
        </p:nvGraphicFramePr>
        <p:xfrm>
          <a:off x="4065572" y="1403435"/>
          <a:ext cx="7630707" cy="3581400"/>
        </p:xfrm>
        <a:graphic>
          <a:graphicData uri="http://schemas.openxmlformats.org/drawingml/2006/table">
            <a:tbl>
              <a:tblPr firstRow="1" bandRow="1">
                <a:tableStyleId>{00A15C55-8517-42AA-B614-E9B94910E393}</a:tableStyleId>
              </a:tblPr>
              <a:tblGrid>
                <a:gridCol w="1741432">
                  <a:extLst>
                    <a:ext uri="{9D8B030D-6E8A-4147-A177-3AD203B41FA5}">
                      <a16:colId xmlns:a16="http://schemas.microsoft.com/office/drawing/2014/main" val="20000"/>
                    </a:ext>
                  </a:extLst>
                </a:gridCol>
                <a:gridCol w="1181755">
                  <a:extLst>
                    <a:ext uri="{9D8B030D-6E8A-4147-A177-3AD203B41FA5}">
                      <a16:colId xmlns:a16="http://schemas.microsoft.com/office/drawing/2014/main" val="20001"/>
                    </a:ext>
                  </a:extLst>
                </a:gridCol>
                <a:gridCol w="1111552">
                  <a:extLst>
                    <a:ext uri="{9D8B030D-6E8A-4147-A177-3AD203B41FA5}">
                      <a16:colId xmlns:a16="http://schemas.microsoft.com/office/drawing/2014/main" val="20002"/>
                    </a:ext>
                  </a:extLst>
                </a:gridCol>
                <a:gridCol w="3595968">
                  <a:extLst>
                    <a:ext uri="{9D8B030D-6E8A-4147-A177-3AD203B41FA5}">
                      <a16:colId xmlns:a16="http://schemas.microsoft.com/office/drawing/2014/main" val="2057511108"/>
                    </a:ext>
                  </a:extLst>
                </a:gridCol>
              </a:tblGrid>
              <a:tr h="370840">
                <a:tc>
                  <a:txBody>
                    <a:bodyPr/>
                    <a:lstStyle/>
                    <a:p>
                      <a:pPr marL="0" algn="l" defTabSz="914400" rtl="0" eaLnBrk="1" latinLnBrk="0" hangingPunct="1"/>
                      <a:r>
                        <a:rPr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Metric</a:t>
                      </a:r>
                    </a:p>
                  </a:txBody>
                  <a:tcPr/>
                </a:tc>
                <a:tc>
                  <a:txBody>
                    <a:bodyPr/>
                    <a:lstStyle/>
                    <a:p>
                      <a:pPr marL="0" algn="l" defTabSz="914400" rtl="0" eaLnBrk="1" latinLnBrk="0" hangingPunct="1"/>
                      <a:r>
                        <a:rPr sz="1400" b="1" kern="120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Full</a:t>
                      </a:r>
                    </a:p>
                  </a:txBody>
                  <a:tcPr/>
                </a:tc>
                <a:tc>
                  <a:txBody>
                    <a:bodyPr/>
                    <a:lstStyle/>
                    <a:p>
                      <a:pPr marL="0" algn="l" defTabSz="914400" rtl="0" eaLnBrk="1" latinLnBrk="0" hangingPunct="1"/>
                      <a:r>
                        <a:rPr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Guided</a:t>
                      </a:r>
                    </a:p>
                  </a:txBody>
                  <a:tcPr/>
                </a:tc>
                <a:tc>
                  <a:txBody>
                    <a:bodyPr/>
                    <a:lstStyle/>
                    <a:p>
                      <a:pPr marL="0" algn="l" defTabSz="914400" rtl="0" eaLnBrk="1" latinLnBrk="0" hangingPunct="1"/>
                      <a:r>
                        <a:rPr lang="nl-NL" sz="1400" b="1" kern="1200" dirty="0" err="1">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What</a:t>
                      </a:r>
                      <a:r>
                        <a:rPr lang="nl-NL"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b="1" kern="1200" dirty="0" err="1">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it</a:t>
                      </a:r>
                      <a:r>
                        <a:rPr lang="nl-NL"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 means</a:t>
                      </a:r>
                      <a:endParaRPr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0"/>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Nodes (mean)</a:t>
                      </a:r>
                      <a:endParaRPr lang="nl-NL"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6.0</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3.0</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Full pulls in 2× as many components per scenario as guided on average.</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1"/>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Edges (mean)</a:t>
                      </a:r>
                    </a:p>
                  </a:txBody>
                  <a:tcPr/>
                </a:tc>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9.0</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2.7</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Full shows 3.3× as many component-pairs on average.</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2"/>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Coverage</a:t>
                      </a:r>
                      <a:r>
                        <a:rPr lang="nl-NL"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(0-1.0)</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tc>
                  <a:txBody>
                    <a:bodyPr/>
                    <a:lstStyle/>
                    <a:p>
                      <a:pPr marL="0" algn="l" defTabSz="914400" rtl="0" eaLnBrk="1" latinLnBrk="0" hangingPunct="1"/>
                      <a:r>
                        <a:rPr sz="12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2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a:buNone/>
                      </a:pPr>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Identical</a:t>
                      </a:r>
                    </a:p>
                  </a:txBody>
                  <a:tcPr marL="12700" marR="12700" marT="12700" marB="12700" anchor="ctr"/>
                </a:tc>
                <a:extLst>
                  <a:ext uri="{0D108BD9-81ED-4DB2-BD59-A6C34878D82A}">
                    <a16:rowId xmlns:a16="http://schemas.microsoft.com/office/drawing/2014/main" val="10003"/>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Noise</a:t>
                      </a:r>
                      <a:r>
                        <a:rPr lang="nl-NL"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(0-1.0)</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0.704</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0.000</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70% of Full doesn't belong to scenario.</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4"/>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Accuracy </a:t>
                      </a:r>
                      <a:endParaRPr lang="nl-NL"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(6-rater mean, 1–5)</a:t>
                      </a:r>
                    </a:p>
                  </a:txBody>
                  <a:tcPr/>
                </a:tc>
                <a:tc>
                  <a:txBody>
                    <a:bodyPr/>
                    <a:lstStyle/>
                    <a:p>
                      <a:pPr marL="0" algn="l" defTabSz="914400" rtl="0" eaLnBrk="1" latinLnBrk="0" hangingPunct="1"/>
                      <a:r>
                        <a:rPr sz="12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2.39</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4.61</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Raters penalize diagrams where they can't tell which edges actually matter.</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5"/>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Readability (6-rater mean, 1–5)</a:t>
                      </a:r>
                    </a:p>
                  </a:txBody>
                  <a:tcPr/>
                </a:tc>
                <a:tc>
                  <a:txBody>
                    <a:bodyPr/>
                    <a:lstStyle/>
                    <a:p>
                      <a:pPr marL="0" algn="l" defTabSz="914400" rtl="0" eaLnBrk="1" latinLnBrk="0" hangingPunct="1"/>
                      <a:r>
                        <a:rPr sz="12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2.44</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4.89</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Fewer nodes/edges directly means less to visually parse.</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6"/>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Usefulness (6-rater mean, 1–5)</a:t>
                      </a:r>
                    </a:p>
                  </a:txBody>
                  <a:tcPr/>
                </a:tc>
                <a:tc>
                  <a:txBody>
                    <a:bodyPr/>
                    <a:lstStyle/>
                    <a:p>
                      <a:pPr marL="0" algn="l" defTabSz="914400" rtl="0" eaLnBrk="1" latinLnBrk="0" hangingPunct="1"/>
                      <a:r>
                        <a:rPr sz="12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2.94</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4.00</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One rater found a few "extra" Full-edges is marginally useful as context even while rating them as noise elsewhere.</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7"/>
                  </a:ext>
                </a:extLst>
              </a:tr>
            </a:tbl>
          </a:graphicData>
        </a:graphic>
      </p:graphicFrame>
      <p:sp>
        <p:nvSpPr>
          <p:cNvPr id="5" name="TextBox 4">
            <a:extLst>
              <a:ext uri="{FF2B5EF4-FFF2-40B4-BE49-F238E27FC236}">
                <a16:creationId xmlns:a16="http://schemas.microsoft.com/office/drawing/2014/main" id="{021A638D-68C9-3677-3DC6-138358873F3C}"/>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16</a:t>
            </a:r>
          </a:p>
        </p:txBody>
      </p:sp>
      <p:sp>
        <p:nvSpPr>
          <p:cNvPr id="6" name="TextBox 5">
            <a:extLst>
              <a:ext uri="{FF2B5EF4-FFF2-40B4-BE49-F238E27FC236}">
                <a16:creationId xmlns:a16="http://schemas.microsoft.com/office/drawing/2014/main" id="{7E600C78-BFC2-3CD7-8581-2E68FFC194C6}"/>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1776602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CF060-6FDE-FEBB-189C-F06B719523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68A567-0FAD-A202-B812-E8C3AAFAFB32}"/>
              </a:ext>
            </a:extLst>
          </p:cNvPr>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H3 </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Setup &amp; </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Results : Diagram Utility</a:t>
            </a:r>
          </a:p>
        </p:txBody>
      </p:sp>
      <p:sp>
        <p:nvSpPr>
          <p:cNvPr id="3" name="Content Placeholder 2">
            <a:extLst>
              <a:ext uri="{FF2B5EF4-FFF2-40B4-BE49-F238E27FC236}">
                <a16:creationId xmlns:a16="http://schemas.microsoft.com/office/drawing/2014/main" id="{0508569D-A7F8-B06E-3FF1-0ECC68411579}"/>
              </a:ext>
            </a:extLst>
          </p:cNvPr>
          <p:cNvSpPr>
            <a:spLocks noGrp="1"/>
          </p:cNvSpPr>
          <p:nvPr>
            <p:ph sz="quarter" idx="11"/>
          </p:nvPr>
        </p:nvSpPr>
        <p:spPr>
          <a:xfrm>
            <a:off x="612949" y="2153285"/>
            <a:ext cx="3918858" cy="3790310"/>
          </a:xfrm>
        </p:spPr>
        <p:txBody>
          <a:bodyPr>
            <a:noAutofit/>
          </a:bodyPr>
          <a:lstStyle/>
          <a:p>
            <a:pPr>
              <a:lnSpc>
                <a:spcPct val="100000"/>
              </a:lnSpc>
            </a:pPr>
            <a:r>
              <a:rPr lang="nl-NL"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Setup: </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Does the pipeline's output (the C5 interaction list) help an LLM agent comprehend a scenario — alone, and in combination with source and traces? A single holistic experiment, five conditions, across all four scenarios.</a:t>
            </a:r>
          </a:p>
          <a:p>
            <a:pPr>
              <a:lnSpc>
                <a:spcPct val="100000"/>
              </a:lnSpc>
            </a:pPr>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00000"/>
              </a:lnSpc>
            </a:pPr>
            <a:r>
              <a:rPr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Standout:</a:t>
            </a:r>
            <a:r>
              <a:rPr lang="nl-NL"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Diagram only equals </a:t>
            </a:r>
            <a:r>
              <a:rPr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Source+Trace+Diagram</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on every measure.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Even with no source and no trace, the reconstructed diagram alone is already a sufficient basis for scenario comprehension</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a:t>
            </a:r>
          </a:p>
        </p:txBody>
      </p:sp>
      <p:graphicFrame>
        <p:nvGraphicFramePr>
          <p:cNvPr id="4" name="Table Placeholder 3">
            <a:extLst>
              <a:ext uri="{FF2B5EF4-FFF2-40B4-BE49-F238E27FC236}">
                <a16:creationId xmlns:a16="http://schemas.microsoft.com/office/drawing/2014/main" id="{D2267BF3-C154-2BB8-596B-1D1B59FC1DEA}"/>
              </a:ext>
            </a:extLst>
          </p:cNvPr>
          <p:cNvGraphicFramePr>
            <a:graphicFrameLocks noGrp="1"/>
          </p:cNvGraphicFramePr>
          <p:nvPr>
            <p:ph type="tbl" sz="quarter" idx="10"/>
          </p:nvPr>
        </p:nvGraphicFramePr>
        <p:xfrm>
          <a:off x="4724401" y="2342071"/>
          <a:ext cx="6703828" cy="2372360"/>
        </p:xfrm>
        <a:graphic>
          <a:graphicData uri="http://schemas.openxmlformats.org/drawingml/2006/table">
            <a:tbl>
              <a:tblPr firstRow="1" bandRow="1">
                <a:tableStyleId>{00A15C55-8517-42AA-B614-E9B94910E393}</a:tableStyleId>
              </a:tblPr>
              <a:tblGrid>
                <a:gridCol w="1533526">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647825">
                  <a:extLst>
                    <a:ext uri="{9D8B030D-6E8A-4147-A177-3AD203B41FA5}">
                      <a16:colId xmlns:a16="http://schemas.microsoft.com/office/drawing/2014/main" val="20002"/>
                    </a:ext>
                  </a:extLst>
                </a:gridCol>
                <a:gridCol w="1846077">
                  <a:extLst>
                    <a:ext uri="{9D8B030D-6E8A-4147-A177-3AD203B41FA5}">
                      <a16:colId xmlns:a16="http://schemas.microsoft.com/office/drawing/2014/main" val="20003"/>
                    </a:ext>
                  </a:extLst>
                </a:gridCol>
              </a:tblGrid>
              <a:tr h="370840">
                <a:tc>
                  <a:txBody>
                    <a:bodyPr/>
                    <a:lstStyle/>
                    <a:p>
                      <a:pPr marL="0" algn="l" defTabSz="914400" rtl="0" eaLnBrk="1" latinLnBrk="0" hangingPunct="1"/>
                      <a:r>
                        <a:rPr sz="1400" b="1" kern="120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Condition</a:t>
                      </a:r>
                    </a:p>
                  </a:txBody>
                  <a:tcPr/>
                </a:tc>
                <a:tc>
                  <a:txBody>
                    <a:bodyPr/>
                    <a:lstStyle/>
                    <a:p>
                      <a:pPr marL="0" algn="l" defTabSz="914400" rtl="0" eaLnBrk="1" latinLnBrk="0" hangingPunct="1"/>
                      <a:r>
                        <a:rPr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Component recall</a:t>
                      </a:r>
                    </a:p>
                  </a:txBody>
                  <a:tcPr/>
                </a:tc>
                <a:tc>
                  <a:txBody>
                    <a:bodyPr/>
                    <a:lstStyle/>
                    <a:p>
                      <a:pPr marL="0" algn="l" defTabSz="914400" rtl="0" eaLnBrk="1" latinLnBrk="0" hangingPunct="1"/>
                      <a:r>
                        <a:rPr sz="1400" b="1" kern="120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Interaction recall</a:t>
                      </a:r>
                    </a:p>
                  </a:txBody>
                  <a:tcPr/>
                </a:tc>
                <a:tc>
                  <a:txBody>
                    <a:bodyPr/>
                    <a:lstStyle/>
                    <a:p>
                      <a:pPr marL="0" algn="l" defTabSz="914400" rtl="0" eaLnBrk="1" latinLnBrk="0" hangingPunct="1"/>
                      <a:r>
                        <a:rPr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Completeness (1–5)</a:t>
                      </a:r>
                    </a:p>
                  </a:txBody>
                  <a:tcPr/>
                </a:tc>
                <a:extLst>
                  <a:ext uri="{0D108BD9-81ED-4DB2-BD59-A6C34878D82A}">
                    <a16:rowId xmlns:a16="http://schemas.microsoft.com/office/drawing/2014/main" val="10000"/>
                  </a:ext>
                </a:extLst>
              </a:tr>
              <a:tr h="370840">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Source only</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0.917</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0.800</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4.25</a:t>
                      </a:r>
                    </a:p>
                  </a:txBody>
                  <a:tcPr/>
                </a:tc>
                <a:extLst>
                  <a:ext uri="{0D108BD9-81ED-4DB2-BD59-A6C34878D82A}">
                    <a16:rowId xmlns:a16="http://schemas.microsoft.com/office/drawing/2014/main" val="10001"/>
                  </a:ext>
                </a:extLst>
              </a:tr>
              <a:tr h="370840">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Trace only</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0.917</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0.900</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4.25</a:t>
                      </a:r>
                    </a:p>
                  </a:txBody>
                  <a:tcPr/>
                </a:tc>
                <a:extLst>
                  <a:ext uri="{0D108BD9-81ED-4DB2-BD59-A6C34878D82A}">
                    <a16:rowId xmlns:a16="http://schemas.microsoft.com/office/drawing/2014/main" val="10002"/>
                  </a:ext>
                </a:extLst>
              </a:tr>
              <a:tr h="370840">
                <a:tc>
                  <a:txBody>
                    <a:bodyPr/>
                    <a:lstStyle/>
                    <a:p>
                      <a:pPr marL="0" algn="l" defTabSz="914400" rtl="0" eaLnBrk="1" latinLnBrk="0" hangingPunct="1"/>
                      <a:r>
                        <a:rPr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Diagram only</a:t>
                      </a:r>
                    </a:p>
                  </a:txBody>
                  <a:tcPr/>
                </a:tc>
                <a:tc>
                  <a:txBody>
                    <a:bodyPr/>
                    <a:lstStyle/>
                    <a:p>
                      <a:pPr marL="0" algn="l" defTabSz="914400" rtl="0" eaLnBrk="1" latinLnBrk="0" hangingPunct="1"/>
                      <a:r>
                        <a:rPr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400" b="1"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5.00</a:t>
                      </a:r>
                    </a:p>
                  </a:txBody>
                  <a:tcPr/>
                </a:tc>
                <a:extLst>
                  <a:ext uri="{0D108BD9-81ED-4DB2-BD59-A6C34878D82A}">
                    <a16:rowId xmlns:a16="http://schemas.microsoft.com/office/drawing/2014/main" val="10003"/>
                  </a:ext>
                </a:extLst>
              </a:tr>
              <a:tr h="370840">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Source + Trace</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0.917</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0.900</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4.25</a:t>
                      </a:r>
                    </a:p>
                  </a:txBody>
                  <a:tcPr/>
                </a:tc>
                <a:extLst>
                  <a:ext uri="{0D108BD9-81ED-4DB2-BD59-A6C34878D82A}">
                    <a16:rowId xmlns:a16="http://schemas.microsoft.com/office/drawing/2014/main" val="10004"/>
                  </a:ext>
                </a:extLst>
              </a:tr>
              <a:tr h="370840">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Source + Trace + Diagram</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5.00</a:t>
                      </a:r>
                    </a:p>
                  </a:txBody>
                  <a:tcPr/>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A6D124B3-22D9-7B2F-B43C-89F60FFD6728}"/>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17</a:t>
            </a:r>
          </a:p>
        </p:txBody>
      </p:sp>
      <p:sp>
        <p:nvSpPr>
          <p:cNvPr id="6" name="TextBox 5">
            <a:extLst>
              <a:ext uri="{FF2B5EF4-FFF2-40B4-BE49-F238E27FC236}">
                <a16:creationId xmlns:a16="http://schemas.microsoft.com/office/drawing/2014/main" id="{1BFCFC3B-9C0E-3F2D-AE4C-A92413FC91DB}"/>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2774425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20A4F-7101-8649-2235-1FA62F36279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B614220-A6EE-AA4C-F2F8-89C3B57A2E62}"/>
              </a:ext>
            </a:extLst>
          </p:cNvPr>
          <p:cNvSpPr>
            <a:spLocks noGrp="1"/>
          </p:cNvSpPr>
          <p:nvPr>
            <p:ph type="title"/>
          </p:nvPr>
        </p:nvSpPr>
        <p:spPr>
          <a:xfrm>
            <a:off x="899160" y="472440"/>
            <a:ext cx="10812676" cy="1010642"/>
          </a:xfrm>
        </p:spPr>
        <p:txBody>
          <a:bodyPr anchor="ct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What Was Produced: </a:t>
            </a:r>
            <a:r>
              <a:rPr lang="en-GB" sz="4400" noProof="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v2 Artifacts</a:t>
            </a:r>
          </a:p>
        </p:txBody>
      </p:sp>
      <p:sp>
        <p:nvSpPr>
          <p:cNvPr id="16" name="Content Placeholder 2">
            <a:extLst>
              <a:ext uri="{FF2B5EF4-FFF2-40B4-BE49-F238E27FC236}">
                <a16:creationId xmlns:a16="http://schemas.microsoft.com/office/drawing/2014/main" id="{C45B1DC2-6D66-0019-6D2C-1258A2009072}"/>
              </a:ext>
            </a:extLst>
          </p:cNvPr>
          <p:cNvSpPr>
            <a:spLocks noGrp="1"/>
          </p:cNvSpPr>
          <p:nvPr>
            <p:ph sz="quarter" idx="10"/>
          </p:nvPr>
        </p:nvSpPr>
        <p:spPr>
          <a:xfrm>
            <a:off x="480165" y="1509404"/>
            <a:ext cx="6058858" cy="4968518"/>
          </a:xfrm>
        </p:spPr>
        <p:txBody>
          <a:bodyPr>
            <a:noAutofit/>
          </a:bodyPr>
          <a:lstStyle/>
          <a:p>
            <a:pPr>
              <a:lnSpc>
                <a:spcPct val="120000"/>
              </a:lnSpc>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Structural, Sequence and Interconnection Model:</a:t>
            </a:r>
          </a:p>
          <a:p>
            <a:pPr marL="285750" indent="-285750">
              <a:lnSpc>
                <a:spcPct val="120000"/>
              </a:lnSpc>
              <a:buFont typeface="Arial" panose="020B0604020202020204" pitchFamily="34" charset="0"/>
              <a:buChar char="•"/>
            </a:pP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v2 structural and sequence models are generated using the </a:t>
            </a:r>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draw-</a:t>
            </a:r>
            <a:r>
              <a:rPr lang="en-GB" sz="1400" b="1"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-structural-model</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draw-</a:t>
            </a:r>
            <a:r>
              <a:rPr lang="en-GB" sz="1400" b="1"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-sequence-model</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agent skills. </a:t>
            </a:r>
          </a:p>
          <a:p>
            <a:pPr marL="285750" indent="-285750">
              <a:lnSpc>
                <a:spcPct val="120000"/>
              </a:lnSpc>
              <a:buFont typeface="Arial" panose="020B0604020202020204" pitchFamily="34" charset="0"/>
              <a:buChar char="•"/>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Each element becomes a typed port pair (calls&lt;X&gt; / provides&lt;X&gt;) joined by a connect statement in the structural model, representing provider-consumer relationships between components. </a:t>
            </a:r>
          </a:p>
          <a:p>
            <a:pPr marL="285750" indent="-285750">
              <a:lnSpc>
                <a:spcPct val="120000"/>
              </a:lnSpc>
              <a:buFont typeface="Arial" panose="020B0604020202020204" pitchFamily="34" charset="0"/>
              <a:buChar char="•"/>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Each sequence step becomes a labelled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SynchronousCall</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part (with ref from/ref to Lifeline references) in the sequence model.</a:t>
            </a:r>
          </a:p>
          <a:p>
            <a:pPr marL="285750" indent="-285750">
              <a:lnSpc>
                <a:spcPct val="120000"/>
              </a:lnSpc>
              <a:buFont typeface="Arial" panose="020B0604020202020204" pitchFamily="34" charset="0"/>
              <a:buChar char="•"/>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Interaction flows built from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interactions.json</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sequence.json</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a:t>
            </a:r>
          </a:p>
          <a:p>
            <a:pPr marL="285750" indent="-285750">
              <a:lnSpc>
                <a:spcPct val="120000"/>
              </a:lnSpc>
              <a:buFont typeface="Arial" panose="020B0604020202020204" pitchFamily="34" charset="0"/>
              <a:buChar char="•"/>
            </a:pPr>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20000"/>
              </a:lnSpc>
            </a:pP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v2 models are generated from C6 (the full pipeline) output, one structural, one sequence diagram per scenario (S1, S2, S3, S4)</a:t>
            </a:r>
          </a:p>
        </p:txBody>
      </p:sp>
      <p:sp>
        <p:nvSpPr>
          <p:cNvPr id="4" name="Slide Number Placeholder 3" hidden="1">
            <a:extLst>
              <a:ext uri="{FF2B5EF4-FFF2-40B4-BE49-F238E27FC236}">
                <a16:creationId xmlns:a16="http://schemas.microsoft.com/office/drawing/2014/main" id="{4D424BCD-1D72-3D95-50E8-517CBB9CD28E}"/>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18</a:t>
            </a:fld>
            <a:endParaRPr lang="en-GB" sz="300" noProof="0" dirty="0"/>
          </a:p>
        </p:txBody>
      </p:sp>
      <p:sp>
        <p:nvSpPr>
          <p:cNvPr id="2" name="TextBox 1">
            <a:extLst>
              <a:ext uri="{FF2B5EF4-FFF2-40B4-BE49-F238E27FC236}">
                <a16:creationId xmlns:a16="http://schemas.microsoft.com/office/drawing/2014/main" id="{AA3C0FEF-1962-EB5E-2545-2B97167382F0}"/>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18</a:t>
            </a:r>
          </a:p>
        </p:txBody>
      </p:sp>
      <p:sp>
        <p:nvSpPr>
          <p:cNvPr id="5" name="TextBox 4">
            <a:extLst>
              <a:ext uri="{FF2B5EF4-FFF2-40B4-BE49-F238E27FC236}">
                <a16:creationId xmlns:a16="http://schemas.microsoft.com/office/drawing/2014/main" id="{17E9CBBA-2DEC-9FD9-4246-A4C8EAF3CD33}"/>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6" name="Picture 5">
            <a:extLst>
              <a:ext uri="{FF2B5EF4-FFF2-40B4-BE49-F238E27FC236}">
                <a16:creationId xmlns:a16="http://schemas.microsoft.com/office/drawing/2014/main" id="{036A080B-E8DE-1783-F2A2-C8462089FB79}"/>
              </a:ext>
            </a:extLst>
          </p:cNvPr>
          <p:cNvPicPr>
            <a:picLocks noChangeAspect="1"/>
          </p:cNvPicPr>
          <p:nvPr/>
        </p:nvPicPr>
        <p:blipFill>
          <a:blip r:embed="rId3"/>
          <a:srcRect l="8996" r="11519" b="27598"/>
          <a:stretch>
            <a:fillRect/>
          </a:stretch>
        </p:blipFill>
        <p:spPr>
          <a:xfrm>
            <a:off x="7838035" y="1552575"/>
            <a:ext cx="3797600" cy="2878682"/>
          </a:xfrm>
          <a:prstGeom prst="rect">
            <a:avLst/>
          </a:prstGeom>
        </p:spPr>
      </p:pic>
      <p:pic>
        <p:nvPicPr>
          <p:cNvPr id="8" name="Picture 7">
            <a:extLst>
              <a:ext uri="{FF2B5EF4-FFF2-40B4-BE49-F238E27FC236}">
                <a16:creationId xmlns:a16="http://schemas.microsoft.com/office/drawing/2014/main" id="{4E506FAE-892E-6757-3EB0-4F9F942CEA05}"/>
              </a:ext>
            </a:extLst>
          </p:cNvPr>
          <p:cNvPicPr>
            <a:picLocks noChangeAspect="1"/>
          </p:cNvPicPr>
          <p:nvPr/>
        </p:nvPicPr>
        <p:blipFill>
          <a:blip r:embed="rId4"/>
          <a:stretch>
            <a:fillRect/>
          </a:stretch>
        </p:blipFill>
        <p:spPr>
          <a:xfrm>
            <a:off x="7915274" y="4667251"/>
            <a:ext cx="3720359" cy="1726284"/>
          </a:xfrm>
          <a:prstGeom prst="rect">
            <a:avLst/>
          </a:prstGeom>
        </p:spPr>
      </p:pic>
    </p:spTree>
    <p:extLst>
      <p:ext uri="{BB962C8B-B14F-4D97-AF65-F5344CB8AC3E}">
        <p14:creationId xmlns:p14="http://schemas.microsoft.com/office/powerpoint/2010/main" val="3895424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AD44B-5581-FB66-1D0A-36FF3AE55DE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C7AD4E3-5FA5-1E2F-B9AE-F34C3844A0BB}"/>
              </a:ext>
            </a:extLst>
          </p:cNvPr>
          <p:cNvSpPr>
            <a:spLocks noGrp="1"/>
          </p:cNvSpPr>
          <p:nvPr>
            <p:ph type="title"/>
          </p:nvPr>
        </p:nvSpPr>
        <p:spPr>
          <a:xfrm>
            <a:off x="577970" y="334677"/>
            <a:ext cx="10812676" cy="1010642"/>
          </a:xfrm>
        </p:spPr>
        <p:txBody>
          <a:bodyPr anchor="ctr">
            <a:noAutofit/>
          </a:bodyPr>
          <a:lstStyle/>
          <a:p>
            <a:r>
              <a:rPr lang="en-GB" sz="3200" dirty="0">
                <a:latin typeface="Sans Serif Collection" panose="020B0502040504020204" pitchFamily="34" charset="0"/>
                <a:ea typeface="Sans Serif Collection" panose="020B0502040504020204" pitchFamily="34" charset="0"/>
                <a:cs typeface="Sans Serif Collection" panose="020B0502040504020204" pitchFamily="34" charset="0"/>
              </a:rPr>
              <a:t>Practitioner Validation</a:t>
            </a:r>
            <a:endParaRPr lang="en-GB" sz="3200"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6" name="Content Placeholder 2">
            <a:extLst>
              <a:ext uri="{FF2B5EF4-FFF2-40B4-BE49-F238E27FC236}">
                <a16:creationId xmlns:a16="http://schemas.microsoft.com/office/drawing/2014/main" id="{93FCB616-61BD-05E7-8A4A-17019134E94B}"/>
              </a:ext>
            </a:extLst>
          </p:cNvPr>
          <p:cNvSpPr>
            <a:spLocks noGrp="1"/>
          </p:cNvSpPr>
          <p:nvPr>
            <p:ph sz="quarter" idx="10"/>
          </p:nvPr>
        </p:nvSpPr>
        <p:spPr>
          <a:xfrm>
            <a:off x="577970" y="1665962"/>
            <a:ext cx="3372929" cy="4475758"/>
          </a:xfrm>
        </p:spPr>
        <p:txBody>
          <a:bodyPr>
            <a:normAutofit lnSpcReduction="10000"/>
          </a:bodyPr>
          <a:lstStyle/>
          <a:p>
            <a:pPr>
              <a:lnSpc>
                <a:spcPct val="110000"/>
              </a:lnSpc>
            </a:pPr>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Goal:</a:t>
            </a:r>
          </a:p>
          <a:p>
            <a:pPr>
              <a:lnSpc>
                <a:spcPct val="110000"/>
              </a:lnSpc>
            </a:pPr>
            <a:r>
              <a:rPr lang="en-GB" sz="1500" dirty="0">
                <a:latin typeface="Sans Serif Collection" panose="020B0502040504020204" pitchFamily="34" charset="0"/>
                <a:ea typeface="Sans Serif Collection" panose="020B0502040504020204" pitchFamily="34" charset="0"/>
                <a:cs typeface="Sans Serif Collection" panose="020B0502040504020204" pitchFamily="34" charset="0"/>
              </a:rPr>
              <a:t>Does the Static Half Transfer to a Second, Larger Codebase?</a:t>
            </a:r>
          </a:p>
          <a:p>
            <a:pPr>
              <a:lnSpc>
                <a:spcPct val="110000"/>
              </a:lnSpc>
            </a:pPr>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Setup:</a:t>
            </a:r>
          </a:p>
          <a:p>
            <a:pPr>
              <a:lnSpc>
                <a:spcPct val="110000"/>
              </a:lnSpc>
            </a:pPr>
            <a:r>
              <a:rPr lang="en-GB" sz="1400" i="1" dirty="0">
                <a:latin typeface="Sans Serif Collection" panose="020B0502040504020204" pitchFamily="34" charset="0"/>
                <a:ea typeface="Sans Serif Collection" panose="020B0502040504020204" pitchFamily="34" charset="0"/>
                <a:cs typeface="Sans Serif Collection" panose="020B0502040504020204" pitchFamily="34" charset="0"/>
              </a:rPr>
              <a:t>Renaissance MCP</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 The static-extraction + graph-querying backend exposed as an MCP tool inside GitHub Copilot.</a:t>
            </a:r>
          </a:p>
          <a:p>
            <a:pPr>
              <a:lnSpc>
                <a:spcPct val="110000"/>
              </a:lnSpc>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Trialled by 4 engineers at an industrial partner on a </a:t>
            </a:r>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second C++ codebase, orders of magnitude larger than </a:t>
            </a:r>
            <a:r>
              <a:rPr lang="en-GB" sz="1400" b="1"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10000"/>
              </a:lnSpc>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Not a repeat of H1/H2/H3: unblinded, semi-structured hands-on session + interviews with static-extraction only, no runtime tracing.</a:t>
            </a:r>
          </a:p>
          <a:p>
            <a:pPr>
              <a:lnSpc>
                <a:spcPct val="110000"/>
              </a:lnSpc>
            </a:pPr>
            <a:endPar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Slide Number Placeholder 3" hidden="1">
            <a:extLst>
              <a:ext uri="{FF2B5EF4-FFF2-40B4-BE49-F238E27FC236}">
                <a16:creationId xmlns:a16="http://schemas.microsoft.com/office/drawing/2014/main" id="{50F477AE-4813-41AF-CB0D-04D712761363}"/>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19</a:t>
            </a:fld>
            <a:endParaRPr lang="en-GB" sz="300" noProof="0" dirty="0"/>
          </a:p>
        </p:txBody>
      </p:sp>
      <p:sp>
        <p:nvSpPr>
          <p:cNvPr id="3" name="TextBox 2">
            <a:extLst>
              <a:ext uri="{FF2B5EF4-FFF2-40B4-BE49-F238E27FC236}">
                <a16:creationId xmlns:a16="http://schemas.microsoft.com/office/drawing/2014/main" id="{17163299-8776-5CA6-6D1E-C13CF8C91DA2}"/>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19</a:t>
            </a:r>
          </a:p>
        </p:txBody>
      </p:sp>
      <p:sp>
        <p:nvSpPr>
          <p:cNvPr id="5" name="TextBox 4">
            <a:extLst>
              <a:ext uri="{FF2B5EF4-FFF2-40B4-BE49-F238E27FC236}">
                <a16:creationId xmlns:a16="http://schemas.microsoft.com/office/drawing/2014/main" id="{338FC515-45F7-4C71-ECF0-456C813F7699}"/>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2" name="Table 1">
            <a:extLst>
              <a:ext uri="{FF2B5EF4-FFF2-40B4-BE49-F238E27FC236}">
                <a16:creationId xmlns:a16="http://schemas.microsoft.com/office/drawing/2014/main" id="{19A76627-D44B-E398-6117-3AAD366FBF5A}"/>
              </a:ext>
            </a:extLst>
          </p:cNvPr>
          <p:cNvGraphicFramePr>
            <a:graphicFrameLocks noGrp="1"/>
          </p:cNvGraphicFramePr>
          <p:nvPr>
            <p:extLst>
              <p:ext uri="{D42A27DB-BD31-4B8C-83A1-F6EECF244321}">
                <p14:modId xmlns:p14="http://schemas.microsoft.com/office/powerpoint/2010/main" val="3485106146"/>
              </p:ext>
            </p:extLst>
          </p:nvPr>
        </p:nvGraphicFramePr>
        <p:xfrm>
          <a:off x="4313208" y="1907038"/>
          <a:ext cx="7398628" cy="3993606"/>
        </p:xfrm>
        <a:graphic>
          <a:graphicData uri="http://schemas.openxmlformats.org/drawingml/2006/table">
            <a:tbl>
              <a:tblPr>
                <a:tableStyleId>{BDBED569-4797-4DF1-A0F4-6AAB3CD982D8}</a:tableStyleId>
              </a:tblPr>
              <a:tblGrid>
                <a:gridCol w="3699314">
                  <a:extLst>
                    <a:ext uri="{9D8B030D-6E8A-4147-A177-3AD203B41FA5}">
                      <a16:colId xmlns:a16="http://schemas.microsoft.com/office/drawing/2014/main" val="1657701692"/>
                    </a:ext>
                  </a:extLst>
                </a:gridCol>
                <a:gridCol w="3699314">
                  <a:extLst>
                    <a:ext uri="{9D8B030D-6E8A-4147-A177-3AD203B41FA5}">
                      <a16:colId xmlns:a16="http://schemas.microsoft.com/office/drawing/2014/main" val="3538775350"/>
                    </a:ext>
                  </a:extLst>
                </a:gridCol>
              </a:tblGrid>
              <a:tr h="396664">
                <a:tc>
                  <a:txBody>
                    <a:bodyPr/>
                    <a:lstStyle/>
                    <a:p>
                      <a:pPr>
                        <a:buNone/>
                      </a:pPr>
                      <a:r>
                        <a:rPr lang="en-GB" sz="16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Interview Findings</a:t>
                      </a:r>
                    </a:p>
                  </a:txBody>
                  <a:tcPr marL="6774" marR="6774" marT="6774" marB="6774" anchor="ctr">
                    <a:solidFill>
                      <a:schemeClr val="accent5">
                        <a:lumMod val="75000"/>
                      </a:schemeClr>
                    </a:solidFill>
                  </a:tcPr>
                </a:tc>
                <a:tc>
                  <a:txBody>
                    <a:bodyPr/>
                    <a:lstStyle/>
                    <a:p>
                      <a:pPr>
                        <a:buNone/>
                      </a:pPr>
                      <a:r>
                        <a:rPr lang="en-GB" sz="16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Thesis Connection</a:t>
                      </a:r>
                    </a:p>
                  </a:txBody>
                  <a:tcPr marL="6774" marR="6774" marT="6774" marB="6774" anchor="ctr">
                    <a:solidFill>
                      <a:schemeClr val="accent5">
                        <a:lumMod val="75000"/>
                      </a:schemeClr>
                    </a:solidFill>
                  </a:tcPr>
                </a:tc>
                <a:extLst>
                  <a:ext uri="{0D108BD9-81ED-4DB2-BD59-A6C34878D82A}">
                    <a16:rowId xmlns:a16="http://schemas.microsoft.com/office/drawing/2014/main" val="330282827"/>
                  </a:ext>
                </a:extLst>
              </a:tr>
              <a:tr h="832629">
                <a:tc>
                  <a:txBody>
                    <a:bodyPr/>
                    <a:lstStyle/>
                    <a:p>
                      <a:pPr>
                        <a:buNone/>
                      </a:pPr>
                      <a:r>
                        <a:rPr lang="en-GB" sz="12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P3</a:t>
                      </a: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resolved the proxy-leak defect using only the static graph in 5 min vs. ~5 months (anecdotal).</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Same mechanism as </a:t>
                      </a:r>
                      <a:r>
                        <a:rPr lang="en-GB" sz="12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S4/C2</a:t>
                      </a: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static extraction alone finds architecturally-present, runtime-invisible interactions.</a:t>
                      </a:r>
                    </a:p>
                  </a:txBody>
                  <a:tcPr marL="12700" marR="12700" marT="12700" marB="12700" anchor="ctr"/>
                </a:tc>
                <a:extLst>
                  <a:ext uri="{0D108BD9-81ED-4DB2-BD59-A6C34878D82A}">
                    <a16:rowId xmlns:a16="http://schemas.microsoft.com/office/drawing/2014/main" val="804984145"/>
                  </a:ext>
                </a:extLst>
              </a:tr>
              <a:tr h="832629">
                <a:tc>
                  <a:txBody>
                    <a:bodyPr/>
                    <a:lstStyle/>
                    <a:p>
                      <a:pPr>
                        <a:buNone/>
                      </a:pPr>
                      <a:r>
                        <a:rPr lang="en-GB" sz="12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P2</a:t>
                      </a: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's tool found a stub definition invisible to code search.</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Static analysis catches blind spots a disagreeing dynamic source could confirm. But untested here (no trace was collected).</a:t>
                      </a:r>
                    </a:p>
                  </a:txBody>
                  <a:tcPr marL="12700" marR="12700" marT="12700" marB="12700" anchor="ctr"/>
                </a:tc>
                <a:extLst>
                  <a:ext uri="{0D108BD9-81ED-4DB2-BD59-A6C34878D82A}">
                    <a16:rowId xmlns:a16="http://schemas.microsoft.com/office/drawing/2014/main" val="2392130471"/>
                  </a:ext>
                </a:extLst>
              </a:tr>
              <a:tr h="669131">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Codebase leans heavily on proxies, virtual interfaces, dynamic connect/disconnect.</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Exactly the regime where </a:t>
                      </a:r>
                      <a:r>
                        <a:rPr lang="en-GB" sz="12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C5</a:t>
                      </a: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should beat </a:t>
                      </a:r>
                      <a:r>
                        <a:rPr lang="en-GB" sz="12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C4</a:t>
                      </a: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per the S4 mechanism. </a:t>
                      </a:r>
                    </a:p>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Predicted, not measured, at this scale. Future Work</a:t>
                      </a:r>
                    </a:p>
                  </a:txBody>
                  <a:tcPr marL="12700" marR="12700" marT="12700" marB="12700" anchor="ctr"/>
                </a:tc>
                <a:extLst>
                  <a:ext uri="{0D108BD9-81ED-4DB2-BD59-A6C34878D82A}">
                    <a16:rowId xmlns:a16="http://schemas.microsoft.com/office/drawing/2014/main" val="2013520227"/>
                  </a:ext>
                </a:extLst>
              </a:tr>
              <a:tr h="505633">
                <a:tc>
                  <a:txBody>
                    <a:bodyPr/>
                    <a:lstStyle/>
                    <a:p>
                      <a:pPr>
                        <a:buNone/>
                      </a:pPr>
                      <a:r>
                        <a:rPr lang="en-GB" sz="12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Dependency/structural diagrams rated useful by all 4</a:t>
                      </a: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cleaner than existing tooling for P3.</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Validates the interface dependency table. This thesis’s one of the core static artifact.</a:t>
                      </a:r>
                    </a:p>
                  </a:txBody>
                  <a:tcPr marL="12700" marR="12700" marT="12700" marB="12700" anchor="ctr"/>
                </a:tc>
                <a:extLst>
                  <a:ext uri="{0D108BD9-81ED-4DB2-BD59-A6C34878D82A}">
                    <a16:rowId xmlns:a16="http://schemas.microsoft.com/office/drawing/2014/main" val="2033257130"/>
                  </a:ext>
                </a:extLst>
              </a:tr>
              <a:tr h="669131">
                <a:tc>
                  <a:txBody>
                    <a:bodyPr/>
                    <a:lstStyle/>
                    <a:p>
                      <a:pPr>
                        <a:buNone/>
                      </a:pPr>
                      <a:r>
                        <a:rPr lang="en-GB" sz="12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Sequence diagrams valued</a:t>
                      </a: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but event labels judged too abstract without inline detail.</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Motivates the hover-detail request via the existing</a:t>
                      </a:r>
                      <a:r>
                        <a:rPr lang="en-GB" sz="1200" b="1" dirty="0">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200" b="1" dirty="0" err="1">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sourceLineNumber</a:t>
                      </a:r>
                      <a:r>
                        <a:rPr lang="en-GB" sz="1200" b="1" dirty="0">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property carried on </a:t>
                      </a:r>
                      <a:r>
                        <a:rPr lang="en-GB" sz="1200" dirty="0" err="1">
                          <a:effectLst/>
                          <a:latin typeface="Sans Serif Collection" panose="020B0502040504020204" pitchFamily="34" charset="0"/>
                          <a:ea typeface="Sans Serif Collection" panose="020B0502040504020204" pitchFamily="34" charset="0"/>
                          <a:cs typeface="Sans Serif Collection" panose="020B0502040504020204" pitchFamily="34" charset="0"/>
                        </a:rPr>
                        <a:t>CppCalls</a:t>
                      </a: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edges — future work for </a:t>
                      </a:r>
                      <a:r>
                        <a:rPr lang="en-GB" sz="1200" dirty="0" err="1">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generation.</a:t>
                      </a:r>
                    </a:p>
                  </a:txBody>
                  <a:tcPr marL="12700" marR="12700" marT="12700" marB="12700" anchor="ctr"/>
                </a:tc>
                <a:extLst>
                  <a:ext uri="{0D108BD9-81ED-4DB2-BD59-A6C34878D82A}">
                    <a16:rowId xmlns:a16="http://schemas.microsoft.com/office/drawing/2014/main" val="4157758076"/>
                  </a:ext>
                </a:extLst>
              </a:tr>
            </a:tbl>
          </a:graphicData>
        </a:graphic>
      </p:graphicFrame>
    </p:spTree>
    <p:extLst>
      <p:ext uri="{BB962C8B-B14F-4D97-AF65-F5344CB8AC3E}">
        <p14:creationId xmlns:p14="http://schemas.microsoft.com/office/powerpoint/2010/main" val="7180163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8B258-5FBE-54F3-D423-1362813F1C8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7087B98-5115-7DC1-5F91-063DBD972D1F}"/>
              </a:ext>
            </a:extLst>
          </p:cNvPr>
          <p:cNvSpPr>
            <a:spLocks noGrp="1"/>
          </p:cNvSpPr>
          <p:nvPr>
            <p:ph type="title"/>
          </p:nvPr>
        </p:nvSpPr>
        <p:spPr>
          <a:xfrm>
            <a:off x="929639" y="246988"/>
            <a:ext cx="10331450" cy="1531525"/>
          </a:xfrm>
        </p:spPr>
        <p:txBody>
          <a:bodyPr anchor="ctr">
            <a:normAutofit/>
          </a:bodyPr>
          <a:lstStyle/>
          <a:p>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Research Questions: How it Each Stands</a:t>
            </a:r>
          </a:p>
        </p:txBody>
      </p:sp>
      <p:sp>
        <p:nvSpPr>
          <p:cNvPr id="4" name="Slide Number Placeholder 3" hidden="1">
            <a:extLst>
              <a:ext uri="{FF2B5EF4-FFF2-40B4-BE49-F238E27FC236}">
                <a16:creationId xmlns:a16="http://schemas.microsoft.com/office/drawing/2014/main" id="{2870E81F-812D-4E6D-B3EB-ADD7548F0366}"/>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20</a:t>
            </a:fld>
            <a:endParaRPr lang="en-GB" sz="300" noProof="0" dirty="0"/>
          </a:p>
        </p:txBody>
      </p:sp>
      <p:graphicFrame>
        <p:nvGraphicFramePr>
          <p:cNvPr id="2" name="Content Placeholder 1">
            <a:extLst>
              <a:ext uri="{FF2B5EF4-FFF2-40B4-BE49-F238E27FC236}">
                <a16:creationId xmlns:a16="http://schemas.microsoft.com/office/drawing/2014/main" id="{B3F6C3BA-42AD-F1AE-415C-BBA6416FC1F4}"/>
              </a:ext>
            </a:extLst>
          </p:cNvPr>
          <p:cNvGraphicFramePr>
            <a:graphicFrameLocks noGrp="1"/>
          </p:cNvGraphicFramePr>
          <p:nvPr>
            <p:ph type="tbl" sz="quarter" idx="10"/>
            <p:extLst>
              <p:ext uri="{D42A27DB-BD31-4B8C-83A1-F6EECF244321}">
                <p14:modId xmlns:p14="http://schemas.microsoft.com/office/powerpoint/2010/main" val="2636043355"/>
              </p:ext>
            </p:extLst>
          </p:nvPr>
        </p:nvGraphicFramePr>
        <p:xfrm>
          <a:off x="513715" y="1556372"/>
          <a:ext cx="11163299" cy="4573746"/>
        </p:xfrm>
        <a:graphic>
          <a:graphicData uri="http://schemas.openxmlformats.org/drawingml/2006/table">
            <a:tbl>
              <a:tblPr/>
              <a:tblGrid>
                <a:gridCol w="647700">
                  <a:extLst>
                    <a:ext uri="{9D8B030D-6E8A-4147-A177-3AD203B41FA5}">
                      <a16:colId xmlns:a16="http://schemas.microsoft.com/office/drawing/2014/main" val="2746331087"/>
                    </a:ext>
                  </a:extLst>
                </a:gridCol>
                <a:gridCol w="4429760">
                  <a:extLst>
                    <a:ext uri="{9D8B030D-6E8A-4147-A177-3AD203B41FA5}">
                      <a16:colId xmlns:a16="http://schemas.microsoft.com/office/drawing/2014/main" val="65337149"/>
                    </a:ext>
                  </a:extLst>
                </a:gridCol>
                <a:gridCol w="6085839">
                  <a:extLst>
                    <a:ext uri="{9D8B030D-6E8A-4147-A177-3AD203B41FA5}">
                      <a16:colId xmlns:a16="http://schemas.microsoft.com/office/drawing/2014/main" val="2053829212"/>
                    </a:ext>
                  </a:extLst>
                </a:gridCol>
              </a:tblGrid>
              <a:tr h="392364">
                <a:tc>
                  <a:txBody>
                    <a:bodyPr/>
                    <a:lstStyle/>
                    <a:p>
                      <a:pPr algn="ctr" fontAlgn="ctr">
                        <a:buNone/>
                      </a:pPr>
                      <a:r>
                        <a:rPr lang="en-GB" sz="1600" b="1" kern="1200"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RQ</a:t>
                      </a:r>
                    </a:p>
                  </a:txBody>
                  <a:tcPr marL="73356" marR="73356" marT="36678" marB="3667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buNone/>
                      </a:pPr>
                      <a:r>
                        <a:rPr lang="en-GB" sz="1600" b="1" kern="120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Question</a:t>
                      </a:r>
                    </a:p>
                  </a:txBody>
                  <a:tcPr marL="73356" marR="73356" marT="36678" marB="366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buNone/>
                      </a:pPr>
                      <a:r>
                        <a:rPr lang="en-GB" sz="1600" b="1" kern="1200"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Status</a:t>
                      </a:r>
                    </a:p>
                  </a:txBody>
                  <a:tcPr marL="73356" marR="73356" marT="36678" marB="36678"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452667613"/>
                  </a:ext>
                </a:extLst>
              </a:tr>
              <a:tr h="1808559">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RQ1</a:t>
                      </a:r>
                    </a:p>
                  </a:txBody>
                  <a:tcPr marL="73356" marR="73356" marT="36678" marB="3667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Does combining a static call graph with runtime execution traces reconstruct scenario-specific Interaction Models more accurately than either source alone?</a:t>
                      </a:r>
                    </a:p>
                  </a:txBody>
                  <a:tcPr marL="73356" marR="73356" marT="36678" marB="366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Confirmed (H1): Intersection (C5) reaches macro-F1 = 0.875. Full pipeline (C6) reaches 0.840. Sequence (C6) reaches macro-F1 = 0.891.</a:t>
                      </a:r>
                    </a:p>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Guided trace ≥ Full trace for C3-C6  interconnections and sequence.</a:t>
                      </a:r>
                    </a:p>
                  </a:txBody>
                  <a:tcPr marL="73356" marR="73356" marT="36678" marB="36678"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3817409112"/>
                  </a:ext>
                </a:extLst>
              </a:tr>
              <a:tr h="1310841">
                <a:tc>
                  <a:txBody>
                    <a:bodyPr/>
                    <a:lstStyle/>
                    <a:p>
                      <a:pPr algn="l" fontAlgn="ctr">
                        <a:buNone/>
                      </a:pPr>
                      <a:r>
                        <a:rPr lang="en-GB" sz="140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RQ2</a:t>
                      </a:r>
                    </a:p>
                  </a:txBody>
                  <a:tcPr marL="73356" marR="73356" marT="36678" marB="3667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Does guiding trace collection with the static call graph remove reconstruction noise without losing scenario coverage?</a:t>
                      </a:r>
                    </a:p>
                  </a:txBody>
                  <a:tcPr marL="73356" marR="73356" marT="36678" marB="366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Confirmed (H2): Guided instrumentation cuts retained nodes by 50% and edges by 70%; A blinded panel preferred guided diagram in 47 of 54 comparisons.</a:t>
                      </a:r>
                    </a:p>
                  </a:txBody>
                  <a:tcPr marL="73356" marR="73356" marT="36678" marB="36678"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3722425099"/>
                  </a:ext>
                </a:extLst>
              </a:tr>
              <a:tr h="1061982">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RQ3</a:t>
                      </a:r>
                    </a:p>
                  </a:txBody>
                  <a:tcPr marL="73356" marR="73356" marT="36678" marB="3667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How well does a reconstructed SysML Interaction Model consolidate static and dynamic evidence into a single artefact sufficient for system-behaviour comprehension?</a:t>
                      </a:r>
                    </a:p>
                  </a:txBody>
                  <a:tcPr marL="73356" marR="73356" marT="36678" marB="366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Confirmed (H3): The diagram alone allows LLM to reach full component recall, interaction recall and completeness.</a:t>
                      </a:r>
                    </a:p>
                  </a:txBody>
                  <a:tcPr marL="73356" marR="73356" marT="36678" marB="36678"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220703080"/>
                  </a:ext>
                </a:extLst>
              </a:tr>
            </a:tbl>
          </a:graphicData>
        </a:graphic>
      </p:graphicFrame>
      <p:sp>
        <p:nvSpPr>
          <p:cNvPr id="3" name="TextBox 2">
            <a:extLst>
              <a:ext uri="{FF2B5EF4-FFF2-40B4-BE49-F238E27FC236}">
                <a16:creationId xmlns:a16="http://schemas.microsoft.com/office/drawing/2014/main" id="{74F63558-684E-4F6D-8ACF-DE31A6C46DAF}"/>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20</a:t>
            </a:r>
          </a:p>
        </p:txBody>
      </p:sp>
      <p:sp>
        <p:nvSpPr>
          <p:cNvPr id="5" name="TextBox 4">
            <a:extLst>
              <a:ext uri="{FF2B5EF4-FFF2-40B4-BE49-F238E27FC236}">
                <a16:creationId xmlns:a16="http://schemas.microsoft.com/office/drawing/2014/main" id="{9438FD26-9C16-2373-B6E5-34B199F8121D}"/>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3438108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66A27-BE9E-6E14-B891-F4F2899B574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D16B6CA-61A2-8F41-6D65-5699A0ACBDD1}"/>
              </a:ext>
            </a:extLst>
          </p:cNvPr>
          <p:cNvSpPr>
            <a:spLocks noGrp="1"/>
          </p:cNvSpPr>
          <p:nvPr>
            <p:ph type="title"/>
          </p:nvPr>
        </p:nvSpPr>
        <p:spPr>
          <a:xfrm>
            <a:off x="767751" y="189838"/>
            <a:ext cx="10331450" cy="1531525"/>
          </a:xfrm>
        </p:spPr>
        <p:txBody>
          <a:bodyPr anchor="ctr">
            <a:normAutofit/>
          </a:bodyPr>
          <a:lstStyle/>
          <a:p>
            <a:r>
              <a:rPr lang="en-GB" sz="3250" dirty="0">
                <a:latin typeface="Sans Serif Collection" panose="020B0502040504020204" pitchFamily="34" charset="0"/>
                <a:ea typeface="Sans Serif Collection" panose="020B0502040504020204" pitchFamily="34" charset="0"/>
                <a:cs typeface="Sans Serif Collection" panose="020B0502040504020204" pitchFamily="34" charset="0"/>
              </a:rPr>
              <a:t>Challenges Encountered &amp; How They Were Resolved</a:t>
            </a:r>
            <a:endParaRPr lang="en-GB" sz="3250"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Slide Number Placeholder 3" hidden="1">
            <a:extLst>
              <a:ext uri="{FF2B5EF4-FFF2-40B4-BE49-F238E27FC236}">
                <a16:creationId xmlns:a16="http://schemas.microsoft.com/office/drawing/2014/main" id="{08FCEE41-4FC7-DC14-918B-8FED476BD066}"/>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21</a:t>
            </a:fld>
            <a:endParaRPr lang="en-GB" sz="300" noProof="0" dirty="0"/>
          </a:p>
        </p:txBody>
      </p:sp>
      <p:graphicFrame>
        <p:nvGraphicFramePr>
          <p:cNvPr id="6" name="Content Placeholder 1">
            <a:extLst>
              <a:ext uri="{FF2B5EF4-FFF2-40B4-BE49-F238E27FC236}">
                <a16:creationId xmlns:a16="http://schemas.microsoft.com/office/drawing/2014/main" id="{96A5AD17-46DB-3E97-D0CC-2D076DC1CCD2}"/>
              </a:ext>
            </a:extLst>
          </p:cNvPr>
          <p:cNvGraphicFramePr>
            <a:graphicFrameLocks/>
          </p:cNvGraphicFramePr>
          <p:nvPr>
            <p:extLst>
              <p:ext uri="{D42A27DB-BD31-4B8C-83A1-F6EECF244321}">
                <p14:modId xmlns:p14="http://schemas.microsoft.com/office/powerpoint/2010/main" val="607417011"/>
              </p:ext>
            </p:extLst>
          </p:nvPr>
        </p:nvGraphicFramePr>
        <p:xfrm>
          <a:off x="767751" y="1417249"/>
          <a:ext cx="10834777" cy="4397852"/>
        </p:xfrm>
        <a:graphic>
          <a:graphicData uri="http://schemas.openxmlformats.org/drawingml/2006/table">
            <a:tbl>
              <a:tblPr firstRow="1" bandRow="1">
                <a:tableStyleId>{1E171933-4619-4E11-9A3F-F7608DF75F80}</a:tableStyleId>
              </a:tblPr>
              <a:tblGrid>
                <a:gridCol w="4680549">
                  <a:extLst>
                    <a:ext uri="{9D8B030D-6E8A-4147-A177-3AD203B41FA5}">
                      <a16:colId xmlns:a16="http://schemas.microsoft.com/office/drawing/2014/main" val="2730377011"/>
                    </a:ext>
                  </a:extLst>
                </a:gridCol>
                <a:gridCol w="6154228">
                  <a:extLst>
                    <a:ext uri="{9D8B030D-6E8A-4147-A177-3AD203B41FA5}">
                      <a16:colId xmlns:a16="http://schemas.microsoft.com/office/drawing/2014/main" val="2636965091"/>
                    </a:ext>
                  </a:extLst>
                </a:gridCol>
              </a:tblGrid>
              <a:tr h="417674">
                <a:tc>
                  <a:txBody>
                    <a:bodyPr/>
                    <a:lstStyle/>
                    <a:p>
                      <a:pPr marL="0" algn="ctr" defTabSz="914400" rtl="0" eaLnBrk="1" fontAlgn="ctr" latinLnBrk="0" hangingPunct="1">
                        <a:buNone/>
                      </a:pPr>
                      <a:r>
                        <a:rPr lang="en-GB" sz="1800" b="0" kern="1200"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Challenges</a:t>
                      </a:r>
                    </a:p>
                  </a:txBody>
                  <a:tcPr marL="137406" marR="73401" marT="105697" marB="105697" anchor="ctr">
                    <a:lnR w="12700" cap="flat" cmpd="sng" algn="ctr">
                      <a:solidFill>
                        <a:schemeClr val="tx1"/>
                      </a:solidFill>
                      <a:prstDash val="solid"/>
                      <a:round/>
                      <a:headEnd type="none" w="med" len="med"/>
                      <a:tailEnd type="none" w="med" len="med"/>
                    </a:lnR>
                  </a:tcPr>
                </a:tc>
                <a:tc>
                  <a:txBody>
                    <a:bodyPr/>
                    <a:lstStyle/>
                    <a:p>
                      <a:pPr marL="0" algn="ctr" defTabSz="914400" rtl="0" eaLnBrk="1" fontAlgn="ctr" latinLnBrk="0" hangingPunct="1">
                        <a:buNone/>
                      </a:pPr>
                      <a:r>
                        <a:rPr lang="en-GB" sz="1800" b="0" kern="1200"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Solutions</a:t>
                      </a:r>
                    </a:p>
                  </a:txBody>
                  <a:tcPr marL="137406" marR="73401" marT="105697" marB="105697"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594827040"/>
                  </a:ext>
                </a:extLst>
              </a:tr>
              <a:tr h="1092542">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 is context-sensitive — regex/simple parsers fail</a:t>
                      </a:r>
                    </a:p>
                  </a:txBody>
                  <a:tcPr marL="137406" marR="73401" marT="105697" marB="105697"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Used the Renaissance semantic-extraction tool + Neo4j property graph.</a:t>
                      </a:r>
                    </a:p>
                  </a:txBody>
                  <a:tcPr marL="137406" marR="73401" marT="105697" marB="105697"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9094160"/>
                  </a:ext>
                </a:extLst>
              </a:tr>
              <a:tr h="863527">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Thousands of dependencies make </a:t>
                      </a:r>
                      <a:r>
                        <a:rPr lang="en-GB" sz="16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toolchains very slow</a:t>
                      </a:r>
                    </a:p>
                  </a:txBody>
                  <a:tcPr marL="137406" marR="73401" marT="105697" marB="105697"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scenario-scoped Cypher queries trim the graph before diagram generation, hence helps with reproduction speed.</a:t>
                      </a:r>
                    </a:p>
                  </a:txBody>
                  <a:tcPr marL="137406" marR="73401" marT="105697" marB="105697"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2923729"/>
                  </a:ext>
                </a:extLst>
              </a:tr>
              <a:tr h="863527">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Hardcoded scenario scoping is brittle</a:t>
                      </a:r>
                    </a:p>
                  </a:txBody>
                  <a:tcPr marL="137406" marR="73401" marT="105697" marB="105697"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Agent skill architecture (12 skills) expresses scenario definition as a natural-language query via text-to-cypher</a:t>
                      </a:r>
                    </a:p>
                  </a:txBody>
                  <a:tcPr marL="137406" marR="73401" marT="105697" marB="105697"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5254770"/>
                  </a:ext>
                </a:extLst>
              </a:tr>
              <a:tr h="1092542">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Traces alone even sliced contains noise (setup-teardown).</a:t>
                      </a:r>
                    </a:p>
                  </a:txBody>
                  <a:tcPr marL="137406" marR="73401" marT="105697" marB="105697"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Scenario-scoping helps with improving the precision.</a:t>
                      </a:r>
                    </a:p>
                  </a:txBody>
                  <a:tcPr marL="137406" marR="73401" marT="105697" marB="105697"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88827111"/>
                  </a:ext>
                </a:extLst>
              </a:tr>
            </a:tbl>
          </a:graphicData>
        </a:graphic>
      </p:graphicFrame>
      <p:sp>
        <p:nvSpPr>
          <p:cNvPr id="5" name="TextBox 4">
            <a:extLst>
              <a:ext uri="{FF2B5EF4-FFF2-40B4-BE49-F238E27FC236}">
                <a16:creationId xmlns:a16="http://schemas.microsoft.com/office/drawing/2014/main" id="{E2E5BFE2-6233-A80D-DCE8-6AD2612ED306}"/>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21</a:t>
            </a:r>
          </a:p>
        </p:txBody>
      </p:sp>
      <p:sp>
        <p:nvSpPr>
          <p:cNvPr id="8" name="TextBox 7">
            <a:extLst>
              <a:ext uri="{FF2B5EF4-FFF2-40B4-BE49-F238E27FC236}">
                <a16:creationId xmlns:a16="http://schemas.microsoft.com/office/drawing/2014/main" id="{1C69E99E-2EB4-DCE3-0F15-53DFDF216026}"/>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10369949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0B8F0-4059-133C-14A9-12FFD9AB1A1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5F46EA8-CBF1-FFFF-B12C-BF6C0C564574}"/>
              </a:ext>
            </a:extLst>
          </p:cNvPr>
          <p:cNvSpPr>
            <a:spLocks noGrp="1"/>
          </p:cNvSpPr>
          <p:nvPr>
            <p:ph type="title"/>
          </p:nvPr>
        </p:nvSpPr>
        <p:spPr>
          <a:xfrm>
            <a:off x="600076" y="324763"/>
            <a:ext cx="10812676" cy="1010642"/>
          </a:xfrm>
        </p:spPr>
        <p:txBody>
          <a:bodyPr anchor="ct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Overall Summary</a:t>
            </a:r>
          </a:p>
        </p:txBody>
      </p:sp>
      <p:sp>
        <p:nvSpPr>
          <p:cNvPr id="16" name="Content Placeholder 2">
            <a:extLst>
              <a:ext uri="{FF2B5EF4-FFF2-40B4-BE49-F238E27FC236}">
                <a16:creationId xmlns:a16="http://schemas.microsoft.com/office/drawing/2014/main" id="{63AC61B4-0312-A64E-2CEA-39A8B773EC66}"/>
              </a:ext>
            </a:extLst>
          </p:cNvPr>
          <p:cNvSpPr>
            <a:spLocks noGrp="1"/>
          </p:cNvSpPr>
          <p:nvPr>
            <p:ph sz="quarter" idx="10"/>
          </p:nvPr>
        </p:nvSpPr>
        <p:spPr>
          <a:xfrm>
            <a:off x="600076" y="1514475"/>
            <a:ext cx="10896599" cy="4781550"/>
          </a:xfrm>
        </p:spPr>
        <p:txBody>
          <a:bodyPr>
            <a:normAutofit fontScale="62500" lnSpcReduction="20000"/>
          </a:bodyPr>
          <a:lstStyle/>
          <a:p>
            <a:r>
              <a:rPr lang="en-GB" sz="2200" b="1" dirty="0">
                <a:latin typeface="Sans Serif Collection" panose="020B0502040504020204" pitchFamily="34" charset="0"/>
                <a:ea typeface="Sans Serif Collection" panose="020B0502040504020204" pitchFamily="34" charset="0"/>
                <a:cs typeface="Sans Serif Collection" panose="020B0502040504020204" pitchFamily="34" charset="0"/>
              </a:rPr>
              <a:t>What was proposed:</a:t>
            </a:r>
          </a:p>
          <a:p>
            <a:r>
              <a:rPr lang="en-GB" sz="2100" dirty="0">
                <a:latin typeface="Sans Serif Collection" panose="020B0502040504020204" pitchFamily="34" charset="0"/>
                <a:ea typeface="Sans Serif Collection" panose="020B0502040504020204" pitchFamily="34" charset="0"/>
                <a:cs typeface="Sans Serif Collection" panose="020B0502040504020204" pitchFamily="34" charset="0"/>
              </a:rPr>
              <a:t>Hybrid static + trace pipeline → generates scenario-specific </a:t>
            </a:r>
            <a:r>
              <a:rPr lang="en-GB" sz="210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2100" dirty="0">
                <a:latin typeface="Sans Serif Collection" panose="020B0502040504020204" pitchFamily="34" charset="0"/>
                <a:ea typeface="Sans Serif Collection" panose="020B0502040504020204" pitchFamily="34" charset="0"/>
                <a:cs typeface="Sans Serif Collection" panose="020B0502040504020204" pitchFamily="34" charset="0"/>
              </a:rPr>
              <a:t> v2 interaction diagrams</a:t>
            </a:r>
          </a:p>
          <a:p>
            <a:pPr marL="285750" indent="-285750">
              <a:buFont typeface="Arial" panose="020B0604020202020204" pitchFamily="34" charset="0"/>
              <a:buChar char="•"/>
            </a:pPr>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2200" b="1" dirty="0">
                <a:latin typeface="Sans Serif Collection" panose="020B0502040504020204" pitchFamily="34" charset="0"/>
                <a:ea typeface="Sans Serif Collection" panose="020B0502040504020204" pitchFamily="34" charset="0"/>
                <a:cs typeface="Sans Serif Collection" panose="020B0502040504020204" pitchFamily="34" charset="0"/>
              </a:rPr>
              <a:t>What was delivered:</a:t>
            </a:r>
          </a:p>
          <a:p>
            <a:pPr marL="742950" lvl="1" indent="-285750">
              <a:lnSpc>
                <a:spcPct val="120000"/>
              </a:lnSpc>
              <a:buFont typeface="Arial" panose="020B0604020202020204" pitchFamily="34" charset="0"/>
              <a:buChar char="•"/>
            </a:pP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Neo4j knowledge graph of </a:t>
            </a:r>
            <a:r>
              <a:rPr lang="en-GB" sz="2000"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 - 121 components, 2,574 ordered static interactions</a:t>
            </a:r>
          </a:p>
          <a:p>
            <a:pPr marL="742950" lvl="1" indent="-285750">
              <a:lnSpc>
                <a:spcPct val="120000"/>
              </a:lnSpc>
              <a:buFont typeface="Arial" panose="020B0604020202020204" pitchFamily="34" charset="0"/>
              <a:buChar char="•"/>
            </a:pP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12 composable agent skills spanning extraction → scenario scoping → instrumentation → agentic synthesis → </a:t>
            </a:r>
            <a:r>
              <a:rPr lang="en-GB" sz="200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 v2 diagram generation</a:t>
            </a:r>
          </a:p>
          <a:p>
            <a:pPr marL="742950" lvl="1" indent="-285750">
              <a:lnSpc>
                <a:spcPct val="120000"/>
              </a:lnSpc>
              <a:buFont typeface="Arial" panose="020B0604020202020204" pitchFamily="34" charset="0"/>
              <a:buChar char="•"/>
            </a:pPr>
            <a:r>
              <a:rPr lang="en-GB" sz="2000" dirty="0" err="1">
                <a:latin typeface="Sans Serif Collection" panose="020B0502040504020204" pitchFamily="34" charset="0"/>
                <a:ea typeface="Sans Serif Collection" panose="020B0502040504020204" pitchFamily="34" charset="0"/>
                <a:cs typeface="Sans Serif Collection" panose="020B0502040504020204" pitchFamily="34" charset="0"/>
              </a:rPr>
              <a:t>csp_matcher</a:t>
            </a: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 runtime instrumentation tool.</a:t>
            </a:r>
          </a:p>
          <a:p>
            <a:pPr marL="742950" lvl="1" indent="-285750">
              <a:lnSpc>
                <a:spcPct val="120000"/>
              </a:lnSpc>
              <a:buFont typeface="Arial" panose="020B0604020202020204" pitchFamily="34" charset="0"/>
              <a:buChar char="•"/>
            </a:pP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H1/H2/H3 confirmed on 6 scenarios: Intersection macro-F1 0.875 and Full pipeline macro-F1 0.840; Guided instrumentation cuts retained nodes by 50% and edges by 70%; the reconstructed diagram alone achieves perfect comprehension recall</a:t>
            </a:r>
          </a:p>
          <a:p>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2200" b="1" dirty="0">
                <a:latin typeface="Sans Serif Collection" panose="020B0502040504020204" pitchFamily="34" charset="0"/>
                <a:ea typeface="Sans Serif Collection" panose="020B0502040504020204" pitchFamily="34" charset="0"/>
                <a:cs typeface="Sans Serif Collection" panose="020B0502040504020204" pitchFamily="34" charset="0"/>
              </a:rPr>
              <a:t>Beyond the plan:</a:t>
            </a:r>
          </a:p>
          <a:p>
            <a:pPr>
              <a:lnSpc>
                <a:spcPct val="120000"/>
              </a:lnSpc>
            </a:pPr>
            <a:r>
              <a:rPr lang="en-GB" sz="1900" dirty="0">
                <a:latin typeface="Sans Serif Collection" panose="020B0502040504020204" pitchFamily="34" charset="0"/>
                <a:ea typeface="Sans Serif Collection" panose="020B0502040504020204" pitchFamily="34" charset="0"/>
                <a:cs typeface="Sans Serif Collection" panose="020B0502040504020204" pitchFamily="34" charset="0"/>
              </a:rPr>
              <a:t>Exploratory practitioner session - 4 engineers, second much larger industrial codebase, via GitHub Copilot MCP integration; tried to resolve a real proxy-leak defect using only the static graph.</a:t>
            </a:r>
          </a:p>
          <a:p>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2200" b="1" dirty="0">
                <a:latin typeface="Sans Serif Collection" panose="020B0502040504020204" pitchFamily="34" charset="0"/>
                <a:ea typeface="Sans Serif Collection" panose="020B0502040504020204" pitchFamily="34" charset="0"/>
                <a:cs typeface="Sans Serif Collection" panose="020B0502040504020204" pitchFamily="34" charset="0"/>
              </a:rPr>
              <a:t>Future work:</a:t>
            </a:r>
          </a:p>
          <a:p>
            <a:pPr>
              <a:lnSpc>
                <a:spcPct val="120000"/>
              </a:lnSpc>
            </a:pP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Controlled replication on a second system, richer diagram labelling &amp; interactivity and improved pipeline.</a:t>
            </a:r>
            <a:endParaRPr lang="en-GB" sz="2000"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Slide Number Placeholder 3" hidden="1">
            <a:extLst>
              <a:ext uri="{FF2B5EF4-FFF2-40B4-BE49-F238E27FC236}">
                <a16:creationId xmlns:a16="http://schemas.microsoft.com/office/drawing/2014/main" id="{10FB718E-3D81-EB4C-82FE-267B28C1ADE6}"/>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22</a:t>
            </a:fld>
            <a:endParaRPr lang="en-GB" sz="300" noProof="0" dirty="0"/>
          </a:p>
        </p:txBody>
      </p:sp>
      <p:sp>
        <p:nvSpPr>
          <p:cNvPr id="3" name="TextBox 2">
            <a:extLst>
              <a:ext uri="{FF2B5EF4-FFF2-40B4-BE49-F238E27FC236}">
                <a16:creationId xmlns:a16="http://schemas.microsoft.com/office/drawing/2014/main" id="{BCC9DE02-9593-0781-7EB2-105C6586F2AF}"/>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22</a:t>
            </a:r>
          </a:p>
        </p:txBody>
      </p:sp>
      <p:sp>
        <p:nvSpPr>
          <p:cNvPr id="5" name="TextBox 4">
            <a:extLst>
              <a:ext uri="{FF2B5EF4-FFF2-40B4-BE49-F238E27FC236}">
                <a16:creationId xmlns:a16="http://schemas.microsoft.com/office/drawing/2014/main" id="{E4E6F684-6B49-B497-39E7-71DE67F8FD15}"/>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1691418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4E8099C-C777-3AC7-87B4-C55ADA229774}"/>
              </a:ext>
            </a:extLst>
          </p:cNvPr>
          <p:cNvSpPr>
            <a:spLocks noGrp="1"/>
          </p:cNvSpPr>
          <p:nvPr>
            <p:ph type="title"/>
          </p:nvPr>
        </p:nvSpPr>
        <p:spPr>
          <a:xfrm>
            <a:off x="497840" y="1595120"/>
            <a:ext cx="11338560" cy="4795520"/>
          </a:xfrm>
        </p:spPr>
        <p:txBody>
          <a:bodyPr>
            <a:noAutofit/>
          </a:bodyPr>
          <a:lstStyle/>
          <a:p>
            <a:pPr>
              <a:lnSpc>
                <a:spcPct val="100000"/>
              </a:lnSpc>
            </a:pPr>
            <a:r>
              <a:rPr lang="en-GB" sz="1200" b="1" dirty="0">
                <a:latin typeface="Sans Serif Collection" panose="020B0502040504020204" pitchFamily="34" charset="0"/>
                <a:ea typeface="Sans Serif Collection" panose="020B0502040504020204" pitchFamily="34" charset="0"/>
                <a:cs typeface="Sans Serif Collection" panose="020B0502040504020204" pitchFamily="34" charset="0"/>
              </a:rPr>
              <a:t>[1] </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Grove, D., DeFouw, G., Dean, J., Chambers, C. "Call Graph Construction in Object-Oriented Languages." Proc. 12th ACM SIGPLAN Conference on Object-Oriented Programming, Systems, Languages, and Applications (OOPSLA), 108–124, 1997.</a:t>
            </a: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1" dirty="0">
                <a:latin typeface="Sans Serif Collection" panose="020B0502040504020204" pitchFamily="34" charset="0"/>
                <a:ea typeface="Sans Serif Collection" panose="020B0502040504020204" pitchFamily="34" charset="0"/>
                <a:cs typeface="Sans Serif Collection" panose="020B0502040504020204" pitchFamily="34" charset="0"/>
              </a:rPr>
              <a:t>[2] </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Briand, L. C., Labiche, Y., Leduc, J. "Toward the Reverse Engineering of UML Sequence Diagrams for Distributed Java Software." IEEE Transactions on Software Engineering, 32(9), 642–663, 2006.</a:t>
            </a: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1" dirty="0">
                <a:latin typeface="Sans Serif Collection" panose="020B0502040504020204" pitchFamily="34" charset="0"/>
                <a:ea typeface="Sans Serif Collection" panose="020B0502040504020204" pitchFamily="34" charset="0"/>
                <a:cs typeface="Sans Serif Collection" panose="020B0502040504020204" pitchFamily="34" charset="0"/>
              </a:rPr>
              <a:t>[3] </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Labiche, Y., </a:t>
            </a:r>
            <a:r>
              <a:rPr lang="en-GB" sz="1200" dirty="0" err="1">
                <a:latin typeface="Sans Serif Collection" panose="020B0502040504020204" pitchFamily="34" charset="0"/>
                <a:ea typeface="Sans Serif Collection" panose="020B0502040504020204" pitchFamily="34" charset="0"/>
                <a:cs typeface="Sans Serif Collection" panose="020B0502040504020204" pitchFamily="34" charset="0"/>
              </a:rPr>
              <a:t>Kolbah</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B., </a:t>
            </a:r>
            <a:r>
              <a:rPr lang="en-GB" sz="1200" dirty="0" err="1">
                <a:latin typeface="Sans Serif Collection" panose="020B0502040504020204" pitchFamily="34" charset="0"/>
                <a:ea typeface="Sans Serif Collection" panose="020B0502040504020204" pitchFamily="34" charset="0"/>
                <a:cs typeface="Sans Serif Collection" panose="020B0502040504020204" pitchFamily="34" charset="0"/>
              </a:rPr>
              <a:t>Mehrfard</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H. "Combining Static and Dynamic Analyses to Reverse-Engineer Scenario Diagrams." Proc. 29th IEEE International Conference on Software Maintenance (ICSM), 130–139, 2013.</a:t>
            </a: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1" dirty="0">
                <a:latin typeface="Sans Serif Collection" panose="020B0502040504020204" pitchFamily="34" charset="0"/>
                <a:ea typeface="Sans Serif Collection" panose="020B0502040504020204" pitchFamily="34" charset="0"/>
                <a:cs typeface="Sans Serif Collection" panose="020B0502040504020204" pitchFamily="34" charset="0"/>
              </a:rPr>
              <a:t>[4] </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Abdelmalek, H., </a:t>
            </a:r>
            <a:r>
              <a:rPr lang="en-GB" sz="1200" dirty="0" err="1">
                <a:latin typeface="Sans Serif Collection" panose="020B0502040504020204" pitchFamily="34" charset="0"/>
                <a:ea typeface="Sans Serif Collection" panose="020B0502040504020204" pitchFamily="34" charset="0"/>
                <a:cs typeface="Sans Serif Collection" panose="020B0502040504020204" pitchFamily="34" charset="0"/>
              </a:rPr>
              <a:t>Khriss</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I., </a:t>
            </a:r>
            <a:r>
              <a:rPr lang="en-GB" sz="1200" dirty="0" err="1">
                <a:latin typeface="Sans Serif Collection" panose="020B0502040504020204" pitchFamily="34" charset="0"/>
                <a:ea typeface="Sans Serif Collection" panose="020B0502040504020204" pitchFamily="34" charset="0"/>
                <a:cs typeface="Sans Serif Collection" panose="020B0502040504020204" pitchFamily="34" charset="0"/>
              </a:rPr>
              <a:t>Jakimi</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A. "Towards a Hybrid Approach to Reverse Engineer </a:t>
            </a:r>
            <a:r>
              <a:rPr lang="en-GB" sz="1200" dirty="0" err="1">
                <a:latin typeface="Sans Serif Collection" panose="020B0502040504020204" pitchFamily="34" charset="0"/>
                <a:ea typeface="Sans Serif Collection" panose="020B0502040504020204" pitchFamily="34" charset="0"/>
                <a:cs typeface="Sans Serif Collection" panose="020B0502040504020204" pitchFamily="34" charset="0"/>
              </a:rPr>
              <a:t>Behavioral</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UML Diagrams from Source Code." Journal of Theoretical and Applied Information Technology (JATIT), Vol. 101, No. 22, 30 November 2023.</a:t>
            </a: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1" dirty="0">
                <a:latin typeface="Sans Serif Collection" panose="020B0502040504020204" pitchFamily="34" charset="0"/>
                <a:ea typeface="Sans Serif Collection" panose="020B0502040504020204" pitchFamily="34" charset="0"/>
                <a:cs typeface="Sans Serif Collection" panose="020B0502040504020204" pitchFamily="34" charset="0"/>
              </a:rPr>
              <a:t>[5] </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Kienle, H. M., Müller, H. A. "Requirements of Architecture Reconstruction Tools." Architectures for Adaptive Software Systems (LNCS), 1–22, 2009.</a:t>
            </a: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1" dirty="0">
                <a:latin typeface="Sans Serif Collection" panose="020B0502040504020204" pitchFamily="34" charset="0"/>
                <a:ea typeface="Sans Serif Collection" panose="020B0502040504020204" pitchFamily="34" charset="0"/>
                <a:cs typeface="Sans Serif Collection" panose="020B0502040504020204" pitchFamily="34" charset="0"/>
              </a:rPr>
              <a:t>[6]</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Manning, C. D., Raghavan, P., Schütze, H. </a:t>
            </a:r>
            <a:r>
              <a:rPr lang="en-GB" sz="1200" i="1" dirty="0">
                <a:latin typeface="Sans Serif Collection" panose="020B0502040504020204" pitchFamily="34" charset="0"/>
                <a:ea typeface="Sans Serif Collection" panose="020B0502040504020204" pitchFamily="34" charset="0"/>
                <a:cs typeface="Sans Serif Collection" panose="020B0502040504020204" pitchFamily="34" charset="0"/>
              </a:rPr>
              <a:t>Introduction to Information Retrieval</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Cambridge University Press, 2008.</a:t>
            </a: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1" dirty="0">
                <a:latin typeface="Sans Serif Collection" panose="020B0502040504020204" pitchFamily="34" charset="0"/>
                <a:ea typeface="Sans Serif Collection" panose="020B0502040504020204" pitchFamily="34" charset="0"/>
                <a:cs typeface="Sans Serif Collection" panose="020B0502040504020204" pitchFamily="34" charset="0"/>
              </a:rPr>
              <a:t>[7]</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Theile, M., </a:t>
            </a:r>
            <a:r>
              <a:rPr lang="en-GB" sz="1200" dirty="0" err="1">
                <a:latin typeface="Sans Serif Collection" panose="020B0502040504020204" pitchFamily="34" charset="0"/>
                <a:ea typeface="Sans Serif Collection" panose="020B0502040504020204" pitchFamily="34" charset="0"/>
                <a:cs typeface="Sans Serif Collection" panose="020B0502040504020204" pitchFamily="34" charset="0"/>
              </a:rPr>
              <a:t>Dantsker</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O. D., Nai, R., Caccamo, M., Yu, S. "</a:t>
            </a:r>
            <a:r>
              <a:rPr lang="en-GB" sz="1200" dirty="0" err="1">
                <a:latin typeface="Sans Serif Collection" panose="020B0502040504020204" pitchFamily="34" charset="0"/>
                <a:ea typeface="Sans Serif Collection" panose="020B0502040504020204" pitchFamily="34" charset="0"/>
                <a:cs typeface="Sans Serif Collection" panose="020B0502040504020204" pitchFamily="34" charset="0"/>
              </a:rPr>
              <a:t>uavAP</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A Modular Autopilot Framework for UAVs." </a:t>
            </a:r>
            <a:r>
              <a:rPr lang="en-GB" sz="1200" i="1" dirty="0">
                <a:latin typeface="Sans Serif Collection" panose="020B0502040504020204" pitchFamily="34" charset="0"/>
                <a:ea typeface="Sans Serif Collection" panose="020B0502040504020204" pitchFamily="34" charset="0"/>
                <a:cs typeface="Sans Serif Collection" panose="020B0502040504020204" pitchFamily="34" charset="0"/>
              </a:rPr>
              <a:t>AIAA AVIATION 2020 Forum</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3268, 2020. </a:t>
            </a:r>
            <a:r>
              <a:rPr lang="en-GB" sz="1200" i="1"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en-GB" sz="1200" i="1"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sz="1200" i="1" dirty="0">
                <a:latin typeface="Sans Serif Collection" panose="020B0502040504020204" pitchFamily="34" charset="0"/>
                <a:ea typeface="Sans Serif Collection" panose="020B0502040504020204" pitchFamily="34" charset="0"/>
                <a:cs typeface="Sans Serif Collection" panose="020B0502040504020204" pitchFamily="34" charset="0"/>
              </a:rPr>
              <a:t>, the case study framework)</a:t>
            </a: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endPar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6" name="TextBox 5">
            <a:extLst>
              <a:ext uri="{FF2B5EF4-FFF2-40B4-BE49-F238E27FC236}">
                <a16:creationId xmlns:a16="http://schemas.microsoft.com/office/drawing/2014/main" id="{9AFA26A1-C2AB-A918-E7FF-9E50EA44C03A}"/>
              </a:ext>
            </a:extLst>
          </p:cNvPr>
          <p:cNvSpPr txBox="1"/>
          <p:nvPr/>
        </p:nvSpPr>
        <p:spPr>
          <a:xfrm>
            <a:off x="822960" y="548640"/>
            <a:ext cx="4439920" cy="769441"/>
          </a:xfrm>
          <a:prstGeom prst="rect">
            <a:avLst/>
          </a:prstGeom>
          <a:noFill/>
        </p:spPr>
        <p:txBody>
          <a:bodyPr wrap="square" rtlCol="0">
            <a:spAutoFit/>
          </a:bodyPr>
          <a:lstStyle/>
          <a:p>
            <a:r>
              <a:rPr lang="en-GB" sz="440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References</a:t>
            </a:r>
          </a:p>
        </p:txBody>
      </p:sp>
      <p:sp>
        <p:nvSpPr>
          <p:cNvPr id="2" name="TextBox 1">
            <a:extLst>
              <a:ext uri="{FF2B5EF4-FFF2-40B4-BE49-F238E27FC236}">
                <a16:creationId xmlns:a16="http://schemas.microsoft.com/office/drawing/2014/main" id="{DC28284A-CBE8-982A-C19A-9E40BD499EAD}"/>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4FE607EE-3BAB-53D9-33D6-ECE2F7F3D7A0}"/>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40</a:t>
            </a:r>
          </a:p>
        </p:txBody>
      </p:sp>
    </p:spTree>
    <p:extLst>
      <p:ext uri="{BB962C8B-B14F-4D97-AF65-F5344CB8AC3E}">
        <p14:creationId xmlns:p14="http://schemas.microsoft.com/office/powerpoint/2010/main" val="35678202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C535802-DB35-5202-271B-346ADCC4750D}"/>
            </a:ext>
          </a:extLst>
        </p:cNvPr>
        <p:cNvGrpSpPr/>
        <p:nvPr/>
      </p:nvGrpSpPr>
      <p:grpSpPr>
        <a:xfrm>
          <a:off x="0" y="0"/>
          <a:ext cx="0" cy="0"/>
          <a:chOff x="0" y="0"/>
          <a:chExt cx="0" cy="0"/>
        </a:xfrm>
      </p:grpSpPr>
      <p:pic>
        <p:nvPicPr>
          <p:cNvPr id="10" name="Picture Placeholder 9" descr="A group of potted plants">
            <a:extLst>
              <a:ext uri="{FF2B5EF4-FFF2-40B4-BE49-F238E27FC236}">
                <a16:creationId xmlns:a16="http://schemas.microsoft.com/office/drawing/2014/main" id="{8B349AA6-C218-A58F-1747-08FBA2E8F063}"/>
              </a:ext>
            </a:extLst>
          </p:cNvPr>
          <p:cNvPicPr>
            <a:picLocks noGrp="1" noChangeAspect="1"/>
          </p:cNvPicPr>
          <p:nvPr>
            <p:ph type="pic" sz="quarter" idx="10"/>
          </p:nvPr>
        </p:nvPicPr>
        <p:blipFill>
          <a:blip r:embed="rId3"/>
          <a:srcRect l="15" r="15"/>
          <a:stretch/>
        </p:blipFill>
        <p:spPr>
          <a:xfrm>
            <a:off x="458788" y="457200"/>
            <a:ext cx="11274425" cy="5943600"/>
          </a:xfrm>
        </p:spPr>
      </p:pic>
      <p:sp>
        <p:nvSpPr>
          <p:cNvPr id="3" name="Title 2">
            <a:extLst>
              <a:ext uri="{FF2B5EF4-FFF2-40B4-BE49-F238E27FC236}">
                <a16:creationId xmlns:a16="http://schemas.microsoft.com/office/drawing/2014/main" id="{319B96FB-0DC3-09B0-B46F-AA12B7D44714}"/>
              </a:ext>
            </a:extLst>
          </p:cNvPr>
          <p:cNvSpPr>
            <a:spLocks noGrp="1"/>
          </p:cNvSpPr>
          <p:nvPr>
            <p:ph type="title"/>
          </p:nvPr>
        </p:nvSpPr>
        <p:spPr>
          <a:xfrm>
            <a:off x="6853447" y="1355070"/>
            <a:ext cx="4424153" cy="1352682"/>
          </a:xfrm>
        </p:spPr>
        <p:txBody>
          <a:bodyPr>
            <a:noAutofit/>
          </a:bodyPr>
          <a:lstStyle/>
          <a:p>
            <a:pPr algn="ctr"/>
            <a:r>
              <a:rPr lang="en-GB" sz="5400" noProof="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rPr>
              <a:t>Thank you! </a:t>
            </a:r>
            <a:endParaRPr lang="en-GB" sz="3200" i="1" noProof="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TextBox 3">
            <a:extLst>
              <a:ext uri="{FF2B5EF4-FFF2-40B4-BE49-F238E27FC236}">
                <a16:creationId xmlns:a16="http://schemas.microsoft.com/office/drawing/2014/main" id="{44BA06EE-E227-0764-7A87-7BC7EF2AC46E}"/>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6276099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CEC6CB7-18A0-8F88-01DB-E645199373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4D8537-6546-C2E5-D11D-7A1FEAD06C8C}"/>
              </a:ext>
            </a:extLst>
          </p:cNvPr>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H1 Experiment Design</a:t>
            </a:r>
          </a:p>
        </p:txBody>
      </p:sp>
      <p:sp>
        <p:nvSpPr>
          <p:cNvPr id="3" name="Content Placeholder 2">
            <a:extLst>
              <a:ext uri="{FF2B5EF4-FFF2-40B4-BE49-F238E27FC236}">
                <a16:creationId xmlns:a16="http://schemas.microsoft.com/office/drawing/2014/main" id="{1F07DA3B-F8FA-CBD6-0F0A-8942DC67E0CB}"/>
              </a:ext>
            </a:extLst>
          </p:cNvPr>
          <p:cNvSpPr>
            <a:spLocks noGrp="1"/>
          </p:cNvSpPr>
          <p:nvPr>
            <p:ph sz="quarter" idx="11"/>
          </p:nvPr>
        </p:nvSpPr>
        <p:spPr>
          <a:xfrm>
            <a:off x="5210175" y="1020445"/>
            <a:ext cx="6238875" cy="5029200"/>
          </a:xfrm>
        </p:spPr>
        <p:txBody>
          <a:bodyPr>
            <a:noAutofit/>
          </a:bodyPr>
          <a:lstStyle/>
          <a:p>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Five conditions, scored against a </a:t>
            </a:r>
            <a:r>
              <a:rPr lang="nl-NL"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ground</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truth</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across all four scenarios:</a:t>
            </a: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C1 — LLM-only (no code context)</a:t>
            </a: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C2 — Static graph only</a:t>
            </a: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C3 — Runtime traces only</a:t>
            </a: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C4 — Static ∪ Dynamic (raw union)</a:t>
            </a:r>
            <a:endPar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lvl="1"/>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C5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Intersection (Static ∩ Dynamic)</a:t>
            </a:r>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6</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 Full pipeline (C4 + agent synthesis</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pruning false positives)</a:t>
            </a:r>
          </a:p>
          <a:p>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Every entry in REF (reference) and GEN (generated) is a normalized (source, target, interaction) triple.</a:t>
            </a:r>
            <a:endParaRPr lang="en-US"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Metrics</a:t>
            </a:r>
            <a:r>
              <a:rPr lang="en-US" sz="1400" dirty="0">
                <a:latin typeface="Sans Serif Collection" panose="020B0502040504020204" pitchFamily="34" charset="0"/>
                <a:ea typeface="Sans Serif Collection" panose="020B0502040504020204" pitchFamily="34" charset="0"/>
                <a:cs typeface="Sans Serif Collection" panose="020B0502040504020204" pitchFamily="34" charset="0"/>
              </a:rPr>
              <a:t> applied over these triple</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P</a:t>
            </a:r>
            <a:r>
              <a:rPr lang="nl-NL"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recision</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 |</a:t>
            </a:r>
            <a:r>
              <a:rPr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gen∩ref</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|/|gen|</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 =&gt;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TP / (TP + FP)</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R</a:t>
            </a:r>
            <a:r>
              <a:rPr lang="nl-NL"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ecall</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 |</a:t>
            </a:r>
            <a:r>
              <a:rPr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gen∩ref</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|/|ref|</a:t>
            </a:r>
            <a:r>
              <a:rPr lang="en-US" sz="1400" dirty="0">
                <a:latin typeface="Sans Serif Collection" panose="020B0502040504020204" pitchFamily="34" charset="0"/>
                <a:ea typeface="Sans Serif Collection" panose="020B0502040504020204" pitchFamily="34" charset="0"/>
                <a:cs typeface="Sans Serif Collection" panose="020B0502040504020204" pitchFamily="34" charset="0"/>
              </a:rPr>
              <a:t>=&gt;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R = TP / (TP + FN)</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F1 = 2PR/(P+R)</a:t>
            </a:r>
          </a:p>
        </p:txBody>
      </p:sp>
      <p:sp>
        <p:nvSpPr>
          <p:cNvPr id="4" name="TextBox 3">
            <a:extLst>
              <a:ext uri="{FF2B5EF4-FFF2-40B4-BE49-F238E27FC236}">
                <a16:creationId xmlns:a16="http://schemas.microsoft.com/office/drawing/2014/main" id="{BE87E391-9FA9-E6FC-39BD-1DFE938FFA5D}"/>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12</a:t>
            </a:r>
          </a:p>
        </p:txBody>
      </p:sp>
      <p:sp>
        <p:nvSpPr>
          <p:cNvPr id="5" name="TextBox 4">
            <a:extLst>
              <a:ext uri="{FF2B5EF4-FFF2-40B4-BE49-F238E27FC236}">
                <a16:creationId xmlns:a16="http://schemas.microsoft.com/office/drawing/2014/main" id="{6AA8CA0D-18F1-D576-263E-E715E47A5620}"/>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2462881452"/>
      </p:ext>
    </p:extLst>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6338EC5-BE9A-6E47-6B55-0CB106C354D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E485791-A2EB-C732-D6FE-FE1289F5DCDD}"/>
              </a:ext>
            </a:extLst>
          </p:cNvPr>
          <p:cNvSpPr>
            <a:spLocks noGrp="1"/>
          </p:cNvSpPr>
          <p:nvPr>
            <p:ph type="title"/>
          </p:nvPr>
        </p:nvSpPr>
        <p:spPr>
          <a:xfrm>
            <a:off x="899160" y="655320"/>
            <a:ext cx="10812676" cy="1010642"/>
          </a:xfrm>
        </p:spPr>
        <p:txBody>
          <a:bodyPr anchor="ctr">
            <a:noAutofit/>
          </a:bodyPr>
          <a:lstStyle/>
          <a:p>
            <a:r>
              <a:rPr lang="en-GB" sz="3200" dirty="0">
                <a:latin typeface="Sans Serif Collection" panose="020B0502040504020204" pitchFamily="34" charset="0"/>
                <a:ea typeface="Sans Serif Collection" panose="020B0502040504020204" pitchFamily="34" charset="0"/>
                <a:cs typeface="Sans Serif Collection" panose="020B0502040504020204" pitchFamily="34" charset="0"/>
              </a:rPr>
              <a:t>Trace Collection &amp; Practitioner Validation</a:t>
            </a:r>
            <a:endParaRPr lang="en-GB" sz="3200"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6" name="Content Placeholder 2">
            <a:extLst>
              <a:ext uri="{FF2B5EF4-FFF2-40B4-BE49-F238E27FC236}">
                <a16:creationId xmlns:a16="http://schemas.microsoft.com/office/drawing/2014/main" id="{ABF9F93B-3027-9133-BC8F-319B94455BC0}"/>
              </a:ext>
            </a:extLst>
          </p:cNvPr>
          <p:cNvSpPr>
            <a:spLocks noGrp="1"/>
          </p:cNvSpPr>
          <p:nvPr>
            <p:ph sz="quarter" idx="10"/>
          </p:nvPr>
        </p:nvSpPr>
        <p:spPr>
          <a:xfrm>
            <a:off x="899160" y="1665962"/>
            <a:ext cx="10662363" cy="4475758"/>
          </a:xfrm>
        </p:spPr>
        <p:txBody>
          <a:bodyPr>
            <a:normAutofit/>
          </a:bodyPr>
          <a:lstStyle/>
          <a:p>
            <a:pPr>
              <a:lnSpc>
                <a:spcPct val="110000"/>
              </a:lnSpc>
            </a:pPr>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Goal:</a:t>
            </a:r>
          </a:p>
          <a:p>
            <a:pPr>
              <a:lnSpc>
                <a:spcPct val="110000"/>
              </a:lnSpc>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Capture timestamped runtime Trace events from the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system</a:t>
            </a:r>
          </a:p>
          <a:p>
            <a:pPr>
              <a:lnSpc>
                <a:spcPct val="110000"/>
              </a:lnSpc>
            </a:pPr>
            <a:endPar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10000"/>
              </a:lnSpc>
            </a:pPr>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What was delivered:</a:t>
            </a:r>
          </a:p>
          <a:p>
            <a:pPr marL="342900" indent="-342900">
              <a:lnSpc>
                <a:spcPct val="110000"/>
              </a:lnSpc>
              <a:buFont typeface="+mj-lt"/>
              <a:buAutoNum type="arabicPeriod"/>
            </a:pP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csp_matcher</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a Clang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LibTooling</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-based instrumentation tool (developed with Dr. Rosilde Corvino) — AST-level pattern matching inserts and removes trace probes</a:t>
            </a:r>
          </a:p>
          <a:p>
            <a:pPr marL="342900" indent="-342900">
              <a:lnSpc>
                <a:spcPct val="110000"/>
              </a:lnSpc>
              <a:buFont typeface="+mj-lt"/>
              <a:buAutoNum type="arabicPeriod"/>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Practitioner validation session: 4 engineers, second industrial codebase (orders of magnitude larger than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via a GitHub Copilot MCP integration</a:t>
            </a:r>
          </a:p>
          <a:p>
            <a:pPr marL="1257300" lvl="2" indent="-342900">
              <a:lnSpc>
                <a:spcPct val="110000"/>
              </a:lnSpc>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Task: locate a real, previously-resolved proxy-leak defect using only the static graph</a:t>
            </a:r>
          </a:p>
          <a:p>
            <a:pPr marL="1257300" lvl="2" indent="-342900">
              <a:lnSpc>
                <a:spcPct val="110000"/>
              </a:lnSpc>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Participants correctly identified the modified file, the relevant test, and the proxy's construction/release sites</a:t>
            </a:r>
          </a:p>
          <a:p>
            <a:pPr marL="1257300" lvl="2" indent="-342900">
              <a:lnSpc>
                <a:spcPct val="110000"/>
              </a:lnSpc>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Independent cross-check: a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ClangSharp</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libclang</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GraphML</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extractor validated against the Renaissance/Neo4j extraction</a:t>
            </a:r>
          </a:p>
          <a:p>
            <a:pPr>
              <a:lnSpc>
                <a:spcPct val="110000"/>
              </a:lnSpc>
            </a:pPr>
            <a:endPar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Slide Number Placeholder 3" hidden="1">
            <a:extLst>
              <a:ext uri="{FF2B5EF4-FFF2-40B4-BE49-F238E27FC236}">
                <a16:creationId xmlns:a16="http://schemas.microsoft.com/office/drawing/2014/main" id="{8E1B12D6-A854-E9E7-4CFB-C6A2DFC1920D}"/>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26</a:t>
            </a:fld>
            <a:endParaRPr lang="en-GB" sz="300" noProof="0" dirty="0"/>
          </a:p>
        </p:txBody>
      </p:sp>
      <p:sp>
        <p:nvSpPr>
          <p:cNvPr id="3" name="TextBox 2">
            <a:extLst>
              <a:ext uri="{FF2B5EF4-FFF2-40B4-BE49-F238E27FC236}">
                <a16:creationId xmlns:a16="http://schemas.microsoft.com/office/drawing/2014/main" id="{B6B8AEBE-3DDA-C16F-57FF-BB246E863B8C}"/>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19</a:t>
            </a:r>
          </a:p>
        </p:txBody>
      </p:sp>
      <p:sp>
        <p:nvSpPr>
          <p:cNvPr id="5" name="TextBox 4">
            <a:extLst>
              <a:ext uri="{FF2B5EF4-FFF2-40B4-BE49-F238E27FC236}">
                <a16:creationId xmlns:a16="http://schemas.microsoft.com/office/drawing/2014/main" id="{89182D48-7D72-D9FB-04EC-95D4BD5094A3}"/>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38932373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304888D-B78B-26F5-9075-CDA3C673C95A}"/>
              </a:ext>
            </a:extLst>
          </p:cNvPr>
          <p:cNvSpPr>
            <a:spLocks noGrp="1"/>
          </p:cNvSpPr>
          <p:nvPr>
            <p:ph type="title"/>
          </p:nvPr>
        </p:nvSpPr>
        <p:spPr>
          <a:xfrm>
            <a:off x="897855" y="771276"/>
            <a:ext cx="10339137" cy="2759243"/>
          </a:xfrm>
        </p:spPr>
        <p:txBody>
          <a:bodyPr>
            <a:normAutofit/>
          </a:bodyPr>
          <a:lstStyle/>
          <a:p>
            <a:r>
              <a:rPr lang="en-GB" sz="4000" b="1" noProof="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Analysis for Synthesizing Interaction Diagrams in Event-Driven Systems</a:t>
            </a:r>
            <a:endParaRPr lang="en-GB" sz="4000"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028" name="Picture 4" descr="Philips presenteert nieuw logo ...">
            <a:extLst>
              <a:ext uri="{FF2B5EF4-FFF2-40B4-BE49-F238E27FC236}">
                <a16:creationId xmlns:a16="http://schemas.microsoft.com/office/drawing/2014/main" id="{11EE4F73-C7C2-102D-6A8F-A82E10C71B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7416" y="5124593"/>
            <a:ext cx="962131" cy="96213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 name="Picture 1" descr="tno_esi.jpg">
            <a:extLst>
              <a:ext uri="{FF2B5EF4-FFF2-40B4-BE49-F238E27FC236}">
                <a16:creationId xmlns:a16="http://schemas.microsoft.com/office/drawing/2014/main" id="{6A37B4F1-FC67-A443-C19C-CDEA24F12629}"/>
              </a:ext>
            </a:extLst>
          </p:cNvPr>
          <p:cNvPicPr>
            <a:picLocks noChangeAspect="1"/>
          </p:cNvPicPr>
          <p:nvPr/>
        </p:nvPicPr>
        <p:blipFill>
          <a:blip r:embed="rId4"/>
          <a:stretch>
            <a:fillRect/>
          </a:stretch>
        </p:blipFill>
        <p:spPr>
          <a:xfrm>
            <a:off x="8995223" y="5217038"/>
            <a:ext cx="1580572" cy="777240"/>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AA025104-E305-DCD7-48A0-21B1E60F4054}"/>
              </a:ext>
            </a:extLst>
          </p:cNvPr>
          <p:cNvSpPr txBox="1"/>
          <p:nvPr/>
        </p:nvSpPr>
        <p:spPr>
          <a:xfrm>
            <a:off x="897855" y="488122"/>
            <a:ext cx="8778240" cy="283154"/>
          </a:xfrm>
          <a:prstGeom prst="rect">
            <a:avLst/>
          </a:prstGeom>
          <a:noFill/>
        </p:spPr>
        <p:txBody>
          <a:bodyPr wrap="square" lIns="45720" tIns="18288" rIns="45720" bIns="18288" anchor="t">
            <a:spAutoFit/>
          </a:bodyPr>
          <a:lstStyle/>
          <a:p>
            <a:r>
              <a:rPr lang="en-GB" sz="1600" b="1" i="0"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MSc Software Engineering  ·  Thesis Defence </a:t>
            </a:r>
            <a:r>
              <a:rPr lang="en-GB" sz="1600" b="1"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 University of Amsterdam </a:t>
            </a:r>
            <a:endParaRPr lang="en-GB" sz="1600" b="1" i="0"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9" name="TextBox 8">
            <a:extLst>
              <a:ext uri="{FF2B5EF4-FFF2-40B4-BE49-F238E27FC236}">
                <a16:creationId xmlns:a16="http://schemas.microsoft.com/office/drawing/2014/main" id="{CB96DAB6-6BF6-BBB3-83A9-D9E152C0C022}"/>
              </a:ext>
            </a:extLst>
          </p:cNvPr>
          <p:cNvSpPr txBox="1"/>
          <p:nvPr/>
        </p:nvSpPr>
        <p:spPr>
          <a:xfrm>
            <a:off x="897855" y="3272034"/>
            <a:ext cx="10607040" cy="313932"/>
          </a:xfrm>
          <a:prstGeom prst="rect">
            <a:avLst/>
          </a:prstGeom>
          <a:noFill/>
        </p:spPr>
        <p:txBody>
          <a:bodyPr wrap="square" lIns="45720" tIns="18288" rIns="45720" bIns="18288" anchor="t">
            <a:spAutoFit/>
          </a:bodyPr>
          <a:lstStyle/>
          <a:p>
            <a:pPr algn="l"/>
            <a:r>
              <a:rPr lang="en-GB" b="0" i="1"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Scenario-Specific Interaction Diagrams in </a:t>
            </a:r>
            <a:r>
              <a:rPr lang="en-GB" b="0" i="1" noProof="0" dirty="0" err="1">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b="0" i="1"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v2</a:t>
            </a:r>
          </a:p>
        </p:txBody>
      </p:sp>
      <p:graphicFrame>
        <p:nvGraphicFramePr>
          <p:cNvPr id="10" name="Table 9">
            <a:extLst>
              <a:ext uri="{FF2B5EF4-FFF2-40B4-BE49-F238E27FC236}">
                <a16:creationId xmlns:a16="http://schemas.microsoft.com/office/drawing/2014/main" id="{2FDE0A35-5321-F4D8-375D-F5263EA96C46}"/>
              </a:ext>
            </a:extLst>
          </p:cNvPr>
          <p:cNvGraphicFramePr>
            <a:graphicFrameLocks noGrp="1"/>
          </p:cNvGraphicFramePr>
          <p:nvPr>
            <p:extLst>
              <p:ext uri="{D42A27DB-BD31-4B8C-83A1-F6EECF244321}">
                <p14:modId xmlns:p14="http://schemas.microsoft.com/office/powerpoint/2010/main" val="2004723319"/>
              </p:ext>
            </p:extLst>
          </p:nvPr>
        </p:nvGraphicFramePr>
        <p:xfrm>
          <a:off x="751527" y="4712213"/>
          <a:ext cx="7087547" cy="1767468"/>
        </p:xfrm>
        <a:graphic>
          <a:graphicData uri="http://schemas.openxmlformats.org/drawingml/2006/table">
            <a:tbl>
              <a:tblPr firstRow="1" bandRow="1">
                <a:tableStyleId>{68D230F3-CF80-4859-8CE7-A43EE81993B5}</a:tableStyleId>
              </a:tblPr>
              <a:tblGrid>
                <a:gridCol w="2058348">
                  <a:extLst>
                    <a:ext uri="{9D8B030D-6E8A-4147-A177-3AD203B41FA5}">
                      <a16:colId xmlns:a16="http://schemas.microsoft.com/office/drawing/2014/main" val="3782566438"/>
                    </a:ext>
                  </a:extLst>
                </a:gridCol>
                <a:gridCol w="5029199">
                  <a:extLst>
                    <a:ext uri="{9D8B030D-6E8A-4147-A177-3AD203B41FA5}">
                      <a16:colId xmlns:a16="http://schemas.microsoft.com/office/drawing/2014/main" val="3996036463"/>
                    </a:ext>
                  </a:extLst>
                </a:gridCol>
              </a:tblGrid>
              <a:tr h="247011">
                <a:tc>
                  <a:txBody>
                    <a:bodyPr/>
                    <a:lstStyle/>
                    <a:p>
                      <a:r>
                        <a:rPr lang="en-GB" sz="1600" b="0" noProof="0" dirty="0"/>
                        <a:t>Student: </a:t>
                      </a:r>
                    </a:p>
                  </a:txBody>
                  <a:tcPr/>
                </a:tc>
                <a:tc>
                  <a:txBody>
                    <a:bodyPr/>
                    <a:lstStyle/>
                    <a:p>
                      <a:r>
                        <a:rPr lang="en-GB" sz="1600" b="0" noProof="0" dirty="0"/>
                        <a:t>Prathik Anand Krishnan </a:t>
                      </a:r>
                    </a:p>
                  </a:txBody>
                  <a:tcPr/>
                </a:tc>
                <a:extLst>
                  <a:ext uri="{0D108BD9-81ED-4DB2-BD59-A6C34878D82A}">
                    <a16:rowId xmlns:a16="http://schemas.microsoft.com/office/drawing/2014/main" val="4092784579"/>
                  </a:ext>
                </a:extLst>
              </a:tr>
              <a:tr h="226813">
                <a:tc>
                  <a:txBody>
                    <a:bodyPr/>
                    <a:lstStyle/>
                    <a:p>
                      <a:r>
                        <a:rPr lang="en-GB" sz="1600" noProof="0" dirty="0"/>
                        <a:t>Daily Supervisor: </a:t>
                      </a:r>
                    </a:p>
                  </a:txBody>
                  <a:tcPr/>
                </a:tc>
                <a:tc>
                  <a:txBody>
                    <a:bodyPr/>
                    <a:lstStyle/>
                    <a:p>
                      <a:r>
                        <a:rPr lang="en-GB" sz="1600" noProof="0" dirty="0"/>
                        <a:t>Dr. Rosilde Corvino, TNO – ESI</a:t>
                      </a:r>
                    </a:p>
                  </a:txBody>
                  <a:tcPr/>
                </a:tc>
                <a:extLst>
                  <a:ext uri="{0D108BD9-81ED-4DB2-BD59-A6C34878D82A}">
                    <a16:rowId xmlns:a16="http://schemas.microsoft.com/office/drawing/2014/main" val="3126369861"/>
                  </a:ext>
                </a:extLst>
              </a:tr>
              <a:tr h="263008">
                <a:tc>
                  <a:txBody>
                    <a:bodyPr/>
                    <a:lstStyle/>
                    <a:p>
                      <a:r>
                        <a:rPr lang="en-GB" sz="1600" noProof="0" dirty="0"/>
                        <a:t>Academic Supervisor: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noProof="0" dirty="0"/>
                        <a:t>Dr. L. Thomas van Binsbergen (CCI, </a:t>
                      </a:r>
                      <a:r>
                        <a:rPr lang="en-GB" sz="1600" noProof="0" dirty="0" err="1"/>
                        <a:t>UvA</a:t>
                      </a:r>
                      <a:r>
                        <a:rPr lang="en-GB" sz="1600" noProof="0" dirty="0"/>
                        <a:t>)</a:t>
                      </a:r>
                    </a:p>
                  </a:txBody>
                  <a:tcPr/>
                </a:tc>
                <a:extLst>
                  <a:ext uri="{0D108BD9-81ED-4DB2-BD59-A6C34878D82A}">
                    <a16:rowId xmlns:a16="http://schemas.microsoft.com/office/drawing/2014/main" val="2381025709"/>
                  </a:ext>
                </a:extLst>
              </a:tr>
              <a:tr h="296789">
                <a:tc>
                  <a:txBody>
                    <a:bodyPr/>
                    <a:lstStyle/>
                    <a:p>
                      <a:r>
                        <a:rPr lang="en-GB" sz="1600" noProof="0" dirty="0"/>
                        <a:t>Second Reader: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noProof="0" dirty="0"/>
                        <a:t>Prof. Dr. Benny Åkesson (PCS, </a:t>
                      </a:r>
                      <a:r>
                        <a:rPr lang="en-GB" sz="1600" noProof="0" dirty="0" err="1"/>
                        <a:t>UvA</a:t>
                      </a:r>
                      <a:r>
                        <a:rPr lang="en-GB" sz="1600" noProof="0" dirty="0"/>
                        <a:t>)</a:t>
                      </a:r>
                    </a:p>
                  </a:txBody>
                  <a:tcPr/>
                </a:tc>
                <a:extLst>
                  <a:ext uri="{0D108BD9-81ED-4DB2-BD59-A6C34878D82A}">
                    <a16:rowId xmlns:a16="http://schemas.microsoft.com/office/drawing/2014/main" val="3140636901"/>
                  </a:ext>
                </a:extLst>
              </a:tr>
              <a:tr h="426348">
                <a:tc>
                  <a:txBody>
                    <a:bodyPr/>
                    <a:lstStyle/>
                    <a:p>
                      <a:r>
                        <a:rPr lang="en-GB" sz="1600" noProof="0" dirty="0"/>
                        <a:t>Host Organization: </a:t>
                      </a:r>
                    </a:p>
                  </a:txBody>
                  <a:tcPr/>
                </a:tc>
                <a:tc>
                  <a:txBody>
                    <a:bodyPr/>
                    <a:lstStyle/>
                    <a:p>
                      <a:r>
                        <a:rPr lang="en-GB" sz="1600" noProof="0" dirty="0"/>
                        <a:t>TNO – ESI, Eindhoven, High Tech Campus 25</a:t>
                      </a:r>
                    </a:p>
                  </a:txBody>
                  <a:tcPr/>
                </a:tc>
                <a:extLst>
                  <a:ext uri="{0D108BD9-81ED-4DB2-BD59-A6C34878D82A}">
                    <a16:rowId xmlns:a16="http://schemas.microsoft.com/office/drawing/2014/main" val="1166871269"/>
                  </a:ext>
                </a:extLst>
              </a:tr>
            </a:tbl>
          </a:graphicData>
        </a:graphic>
      </p:graphicFrame>
      <p:sp>
        <p:nvSpPr>
          <p:cNvPr id="3" name="TextBox 2">
            <a:extLst>
              <a:ext uri="{FF2B5EF4-FFF2-40B4-BE49-F238E27FC236}">
                <a16:creationId xmlns:a16="http://schemas.microsoft.com/office/drawing/2014/main" id="{B28E6B06-7E98-8D8B-A031-6061E9E13EC8}"/>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a:t>
            </a:r>
          </a:p>
        </p:txBody>
      </p:sp>
      <p:sp>
        <p:nvSpPr>
          <p:cNvPr id="4" name="TextBox 3">
            <a:extLst>
              <a:ext uri="{FF2B5EF4-FFF2-40B4-BE49-F238E27FC236}">
                <a16:creationId xmlns:a16="http://schemas.microsoft.com/office/drawing/2014/main" id="{DB1F3E77-C022-72EE-91DF-E49F3FC6F873}"/>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36715775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p:cNvSpPr/>
          <p:nvPr/>
        </p:nvSpPr>
        <p:spPr>
          <a:xfrm flipV="1">
            <a:off x="428625" y="967311"/>
            <a:ext cx="11367135" cy="83493"/>
          </a:xfrm>
          <a:prstGeom prst="rect">
            <a:avLst/>
          </a:prstGeom>
          <a:solidFill>
            <a:schemeClr val="accent5">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5" name="TextBox 4"/>
          <p:cNvSpPr txBox="1"/>
          <p:nvPr/>
        </p:nvSpPr>
        <p:spPr>
          <a:xfrm>
            <a:off x="502920" y="481161"/>
            <a:ext cx="10241280" cy="467820"/>
          </a:xfrm>
          <a:prstGeom prst="rect">
            <a:avLst/>
          </a:prstGeom>
          <a:noFill/>
        </p:spPr>
        <p:txBody>
          <a:bodyPr wrap="square" lIns="45720" tIns="18288" rIns="45720" bIns="18288" anchor="t">
            <a:spAutoFit/>
          </a:bodyPr>
          <a:lstStyle/>
          <a:p>
            <a:r>
              <a:rPr lang="en-GB" sz="2800" b="1"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Agenda</a:t>
            </a:r>
          </a:p>
        </p:txBody>
      </p:sp>
      <p:sp>
        <p:nvSpPr>
          <p:cNvPr id="7" name="Rounded Rectangle 6"/>
          <p:cNvSpPr/>
          <p:nvPr/>
        </p:nvSpPr>
        <p:spPr>
          <a:xfrm>
            <a:off x="640080" y="1417320"/>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1</a:t>
            </a:r>
          </a:p>
        </p:txBody>
      </p:sp>
      <p:sp>
        <p:nvSpPr>
          <p:cNvPr id="8" name="TextBox 7"/>
          <p:cNvSpPr txBox="1"/>
          <p:nvPr/>
        </p:nvSpPr>
        <p:spPr>
          <a:xfrm>
            <a:off x="1325880" y="1554501"/>
            <a:ext cx="301752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Motivation</a:t>
            </a:r>
          </a:p>
        </p:txBody>
      </p:sp>
      <p:sp>
        <p:nvSpPr>
          <p:cNvPr id="10" name="Rounded Rectangle 9"/>
          <p:cNvSpPr/>
          <p:nvPr/>
        </p:nvSpPr>
        <p:spPr>
          <a:xfrm>
            <a:off x="640080" y="2075688"/>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2</a:t>
            </a:r>
          </a:p>
        </p:txBody>
      </p:sp>
      <p:sp>
        <p:nvSpPr>
          <p:cNvPr id="11" name="TextBox 10"/>
          <p:cNvSpPr txBox="1"/>
          <p:nvPr/>
        </p:nvSpPr>
        <p:spPr>
          <a:xfrm>
            <a:off x="1325880" y="2882056"/>
            <a:ext cx="301752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Research Questions</a:t>
            </a:r>
          </a:p>
        </p:txBody>
      </p:sp>
      <p:sp>
        <p:nvSpPr>
          <p:cNvPr id="13" name="Rounded Rectangle 12"/>
          <p:cNvSpPr/>
          <p:nvPr/>
        </p:nvSpPr>
        <p:spPr>
          <a:xfrm>
            <a:off x="640080" y="2734056"/>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3</a:t>
            </a:r>
          </a:p>
        </p:txBody>
      </p:sp>
      <p:sp>
        <p:nvSpPr>
          <p:cNvPr id="14" name="TextBox 13"/>
          <p:cNvSpPr txBox="1"/>
          <p:nvPr/>
        </p:nvSpPr>
        <p:spPr>
          <a:xfrm>
            <a:off x="1303020" y="2223688"/>
            <a:ext cx="301752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State-of-the-art &amp; Gaps</a:t>
            </a:r>
          </a:p>
        </p:txBody>
      </p:sp>
      <p:sp>
        <p:nvSpPr>
          <p:cNvPr id="16" name="Rounded Rectangle 15"/>
          <p:cNvSpPr/>
          <p:nvPr/>
        </p:nvSpPr>
        <p:spPr>
          <a:xfrm>
            <a:off x="640080" y="3392424"/>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4</a:t>
            </a:r>
          </a:p>
        </p:txBody>
      </p:sp>
      <p:sp>
        <p:nvSpPr>
          <p:cNvPr id="17" name="TextBox 16"/>
          <p:cNvSpPr txBox="1"/>
          <p:nvPr/>
        </p:nvSpPr>
        <p:spPr>
          <a:xfrm>
            <a:off x="1303020" y="3491866"/>
            <a:ext cx="5208312"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Approach, Methodology &amp; Implementation</a:t>
            </a:r>
          </a:p>
        </p:txBody>
      </p:sp>
      <p:sp>
        <p:nvSpPr>
          <p:cNvPr id="19" name="Rounded Rectangle 18"/>
          <p:cNvSpPr/>
          <p:nvPr/>
        </p:nvSpPr>
        <p:spPr>
          <a:xfrm>
            <a:off x="640080" y="4050792"/>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5</a:t>
            </a:r>
          </a:p>
        </p:txBody>
      </p:sp>
      <p:sp>
        <p:nvSpPr>
          <p:cNvPr id="20" name="TextBox 19"/>
          <p:cNvSpPr txBox="1"/>
          <p:nvPr/>
        </p:nvSpPr>
        <p:spPr>
          <a:xfrm>
            <a:off x="1325880" y="4146649"/>
            <a:ext cx="301752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Experiments</a:t>
            </a:r>
          </a:p>
        </p:txBody>
      </p:sp>
      <p:sp>
        <p:nvSpPr>
          <p:cNvPr id="22" name="Rounded Rectangle 21"/>
          <p:cNvSpPr/>
          <p:nvPr/>
        </p:nvSpPr>
        <p:spPr>
          <a:xfrm>
            <a:off x="640080" y="4709160"/>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6</a:t>
            </a:r>
          </a:p>
        </p:txBody>
      </p:sp>
      <p:sp>
        <p:nvSpPr>
          <p:cNvPr id="23" name="TextBox 22"/>
          <p:cNvSpPr txBox="1"/>
          <p:nvPr/>
        </p:nvSpPr>
        <p:spPr>
          <a:xfrm>
            <a:off x="1325880" y="4857160"/>
            <a:ext cx="301752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Results &amp; Findings</a:t>
            </a:r>
          </a:p>
        </p:txBody>
      </p:sp>
      <p:sp>
        <p:nvSpPr>
          <p:cNvPr id="25" name="Rounded Rectangle 24"/>
          <p:cNvSpPr/>
          <p:nvPr/>
        </p:nvSpPr>
        <p:spPr>
          <a:xfrm>
            <a:off x="640080" y="5367528"/>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7</a:t>
            </a:r>
          </a:p>
        </p:txBody>
      </p:sp>
      <p:sp>
        <p:nvSpPr>
          <p:cNvPr id="26" name="TextBox 25"/>
          <p:cNvSpPr txBox="1"/>
          <p:nvPr/>
        </p:nvSpPr>
        <p:spPr>
          <a:xfrm>
            <a:off x="1325880" y="5483669"/>
            <a:ext cx="486537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Contributions, Limitations &amp; Conclusion</a:t>
            </a:r>
          </a:p>
        </p:txBody>
      </p:sp>
      <p:sp>
        <p:nvSpPr>
          <p:cNvPr id="28" name="TextBox 27"/>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a:t>
            </a:r>
          </a:p>
        </p:txBody>
      </p:sp>
      <p:sp>
        <p:nvSpPr>
          <p:cNvPr id="31" name="TextBox 30">
            <a:extLst>
              <a:ext uri="{FF2B5EF4-FFF2-40B4-BE49-F238E27FC236}">
                <a16:creationId xmlns:a16="http://schemas.microsoft.com/office/drawing/2014/main" id="{4D39682C-D4FA-3E18-2354-96D6BEFEC4EB}"/>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9FB9128-2C95-2F26-9AD5-BF40568AFEE5}"/>
              </a:ext>
            </a:extLst>
          </p:cNvPr>
          <p:cNvSpPr>
            <a:spLocks noGrp="1"/>
          </p:cNvSpPr>
          <p:nvPr>
            <p:ph type="title"/>
          </p:nvPr>
        </p:nvSpPr>
        <p:spPr>
          <a:xfrm>
            <a:off x="428625" y="531206"/>
            <a:ext cx="10359659" cy="1325563"/>
          </a:xfrm>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Problem Statement &amp; Motivation</a:t>
            </a:r>
          </a:p>
        </p:txBody>
      </p:sp>
      <p:sp>
        <p:nvSpPr>
          <p:cNvPr id="6" name="Content Placeholder 5">
            <a:extLst>
              <a:ext uri="{FF2B5EF4-FFF2-40B4-BE49-F238E27FC236}">
                <a16:creationId xmlns:a16="http://schemas.microsoft.com/office/drawing/2014/main" id="{A9EB73A2-0158-D260-CF98-AE91CC0CE504}"/>
              </a:ext>
            </a:extLst>
          </p:cNvPr>
          <p:cNvSpPr>
            <a:spLocks noGrp="1"/>
          </p:cNvSpPr>
          <p:nvPr>
            <p:ph sz="quarter" idx="10"/>
          </p:nvPr>
        </p:nvSpPr>
        <p:spPr>
          <a:xfrm>
            <a:off x="1723915" y="1605158"/>
            <a:ext cx="7769077" cy="5112205"/>
          </a:xfrm>
        </p:spPr>
        <p:txBody>
          <a:bodyPr>
            <a:normAutofit/>
          </a:bodyPr>
          <a:lstStyle/>
          <a:p>
            <a:pPr marL="0" indent="0" algn="ctr">
              <a:lnSpc>
                <a:spcPts val="1000"/>
              </a:lnSpc>
              <a:buNone/>
            </a:pPr>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Large Mission Critical Event-Driven Systems</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Concurrent &amp; Asynchronous</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Traces - Incomplete / Noisy - often instrumentation limited</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Static Code Analysis - Over-Approximates behaviour</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a:t>
            </a:r>
          </a:p>
          <a:p>
            <a:pPr marL="0" indent="0" algn="ctr">
              <a:lnSpc>
                <a:spcPts val="1000"/>
              </a:lnSpc>
              <a:buNone/>
            </a:pPr>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R</a:t>
            </a:r>
            <a:r>
              <a:rPr lang="en-GB" b="1" noProof="0" dirty="0" err="1">
                <a:latin typeface="Sans Serif Collection" panose="020B0502040504020204" pitchFamily="34" charset="0"/>
                <a:ea typeface="Sans Serif Collection" panose="020B0502040504020204" pitchFamily="34" charset="0"/>
                <a:cs typeface="Sans Serif Collection" panose="020B0502040504020204" pitchFamily="34" charset="0"/>
              </a:rPr>
              <a:t>everse</a:t>
            </a: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-engineered manually &amp; Costly to maintain</a:t>
            </a:r>
          </a:p>
          <a:p>
            <a:pPr marL="0" indent="0" algn="ctr">
              <a:lnSpc>
                <a:spcPts val="1000"/>
              </a:lnSpc>
              <a:buNone/>
            </a:pPr>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a:t>
            </a:r>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No Scenario-Specific Accurate Interaction Diagrams</a:t>
            </a:r>
          </a:p>
          <a:p>
            <a:endParaRPr lang="en-GB" noProof="0" dirty="0"/>
          </a:p>
        </p:txBody>
      </p:sp>
      <p:sp>
        <p:nvSpPr>
          <p:cNvPr id="7" name="TextBox 6">
            <a:extLst>
              <a:ext uri="{FF2B5EF4-FFF2-40B4-BE49-F238E27FC236}">
                <a16:creationId xmlns:a16="http://schemas.microsoft.com/office/drawing/2014/main" id="{A5926F1F-4ADB-3D43-114C-249B56C3D910}"/>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1" name="TextBox 10">
            <a:extLst>
              <a:ext uri="{FF2B5EF4-FFF2-40B4-BE49-F238E27FC236}">
                <a16:creationId xmlns:a16="http://schemas.microsoft.com/office/drawing/2014/main" id="{AF0E3B83-CF63-5298-8814-03C33B66D769}"/>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nl-NL"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3</a:t>
            </a:r>
            <a:endPar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1733368833"/>
      </p:ext>
    </p:extLst>
  </p:cSld>
  <p:clrMapOvr>
    <a:masterClrMapping/>
  </p:clrMapOvr>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B0A9F6B-B714-24A4-1731-04239F0C6E2C}"/>
              </a:ext>
            </a:extLst>
          </p:cNvPr>
          <p:cNvSpPr>
            <a:spLocks noGrp="1"/>
          </p:cNvSpPr>
          <p:nvPr>
            <p:ph type="title"/>
          </p:nvPr>
        </p:nvSpPr>
        <p:spPr>
          <a:xfrm>
            <a:off x="575034" y="371623"/>
            <a:ext cx="9762309" cy="1163190"/>
          </a:xfrm>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State of the Art &amp; Research Gap</a:t>
            </a:r>
          </a:p>
        </p:txBody>
      </p:sp>
      <p:sp>
        <p:nvSpPr>
          <p:cNvPr id="5" name="Content Placeholder 9">
            <a:extLst>
              <a:ext uri="{FF2B5EF4-FFF2-40B4-BE49-F238E27FC236}">
                <a16:creationId xmlns:a16="http://schemas.microsoft.com/office/drawing/2014/main" id="{3D6F48DD-3E1C-ACE5-C1C5-A45079769380}"/>
              </a:ext>
            </a:extLst>
          </p:cNvPr>
          <p:cNvSpPr txBox="1">
            <a:spLocks/>
          </p:cNvSpPr>
          <p:nvPr/>
        </p:nvSpPr>
        <p:spPr>
          <a:xfrm>
            <a:off x="575034" y="5167029"/>
            <a:ext cx="11001079" cy="1243198"/>
          </a:xfrm>
          <a:prstGeom prst="rect">
            <a:avLst/>
          </a:prstGeom>
        </p:spPr>
        <p:txBody>
          <a:bodyPr vert="horz" lIns="91440" tIns="45720" rIns="91440" bIns="45720" rtlCol="0">
            <a:noAutofit/>
          </a:bodyPr>
          <a:lstStyle>
            <a:lvl1pPr marL="0" indent="0" algn="l" defTabSz="914400" rtl="0" eaLnBrk="1" latinLnBrk="0" hangingPunct="1">
              <a:lnSpc>
                <a:spcPct val="125000"/>
              </a:lnSpc>
              <a:spcBef>
                <a:spcPts val="0"/>
              </a:spcBef>
              <a:buFont typeface="Arial" panose="020B0604020202020204" pitchFamily="34" charset="0"/>
              <a:buNone/>
              <a:defRPr sz="1800" kern="1200">
                <a:solidFill>
                  <a:schemeClr val="tx1">
                    <a:lumMod val="65000"/>
                    <a:lumOff val="35000"/>
                  </a:schemeClr>
                </a:solidFill>
                <a:latin typeface="+mn-lt"/>
                <a:ea typeface="+mn-ea"/>
                <a:cs typeface="+mn-cs"/>
              </a:defRPr>
            </a:lvl1pPr>
            <a:lvl2pPr marL="457200" indent="0" algn="l" defTabSz="914400" rtl="0" eaLnBrk="1" latinLnBrk="0" hangingPunct="1">
              <a:lnSpc>
                <a:spcPct val="125000"/>
              </a:lnSpc>
              <a:spcBef>
                <a:spcPts val="0"/>
              </a:spcBef>
              <a:buFont typeface="Arial" panose="020B0604020202020204" pitchFamily="34" charset="0"/>
              <a:buNone/>
              <a:defRPr sz="1600" kern="1200">
                <a:solidFill>
                  <a:schemeClr val="tx1">
                    <a:lumMod val="65000"/>
                    <a:lumOff val="35000"/>
                  </a:schemeClr>
                </a:solidFill>
                <a:latin typeface="+mn-lt"/>
                <a:ea typeface="+mn-ea"/>
                <a:cs typeface="+mn-cs"/>
              </a:defRPr>
            </a:lvl2pPr>
            <a:lvl3pPr marL="914400" indent="0" algn="l" defTabSz="914400" rtl="0" eaLnBrk="1" latinLnBrk="0" hangingPunct="1">
              <a:lnSpc>
                <a:spcPct val="125000"/>
              </a:lnSpc>
              <a:spcBef>
                <a:spcPts val="0"/>
              </a:spcBef>
              <a:buFont typeface="Arial" panose="020B0604020202020204" pitchFamily="34" charset="0"/>
              <a:buNone/>
              <a:defRPr sz="1400" kern="1200">
                <a:solidFill>
                  <a:schemeClr val="tx1">
                    <a:lumMod val="65000"/>
                    <a:lumOff val="35000"/>
                  </a:schemeClr>
                </a:solidFill>
                <a:latin typeface="+mn-lt"/>
                <a:ea typeface="+mn-ea"/>
                <a:cs typeface="+mn-cs"/>
              </a:defRPr>
            </a:lvl3pPr>
            <a:lvl4pPr marL="1371600" indent="0" algn="l" defTabSz="914400" rtl="0" eaLnBrk="1" latinLnBrk="0" hangingPunct="1">
              <a:lnSpc>
                <a:spcPct val="125000"/>
              </a:lnSpc>
              <a:spcBef>
                <a:spcPts val="0"/>
              </a:spcBef>
              <a:buFont typeface="Arial" panose="020B0604020202020204" pitchFamily="34" charset="0"/>
              <a:buNone/>
              <a:defRPr sz="1200" kern="1200">
                <a:solidFill>
                  <a:schemeClr val="tx1">
                    <a:lumMod val="65000"/>
                    <a:lumOff val="35000"/>
                  </a:schemeClr>
                </a:solidFill>
                <a:latin typeface="+mn-lt"/>
                <a:ea typeface="+mn-ea"/>
                <a:cs typeface="+mn-cs"/>
              </a:defRPr>
            </a:lvl4pPr>
            <a:lvl5pPr marL="1828800" indent="0" algn="l" defTabSz="914400" rtl="0" eaLnBrk="1" latinLnBrk="0" hangingPunct="1">
              <a:lnSpc>
                <a:spcPct val="125000"/>
              </a:lnSpc>
              <a:spcBef>
                <a:spcPts val="0"/>
              </a:spcBef>
              <a:buFont typeface="Arial" panose="020B0604020202020204" pitchFamily="34" charset="0"/>
              <a:buNone/>
              <a:defRPr sz="12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Research Gap:</a:t>
            </a:r>
          </a:p>
          <a:p>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No existing approach infers unobserved interactions by combining static structure and runtime traces for generating scenario-specific interaction models in </a:t>
            </a:r>
            <a:r>
              <a:rPr lang="en-GB" sz="2000" noProof="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v2 [1][3].</a:t>
            </a:r>
          </a:p>
        </p:txBody>
      </p:sp>
      <p:graphicFrame>
        <p:nvGraphicFramePr>
          <p:cNvPr id="6" name="Table 11">
            <a:extLst>
              <a:ext uri="{FF2B5EF4-FFF2-40B4-BE49-F238E27FC236}">
                <a16:creationId xmlns:a16="http://schemas.microsoft.com/office/drawing/2014/main" id="{FB861C55-1872-A622-0070-5A489AABAC03}"/>
              </a:ext>
            </a:extLst>
          </p:cNvPr>
          <p:cNvGraphicFramePr>
            <a:graphicFrameLocks/>
          </p:cNvGraphicFramePr>
          <p:nvPr>
            <p:extLst>
              <p:ext uri="{D42A27DB-BD31-4B8C-83A1-F6EECF244321}">
                <p14:modId xmlns:p14="http://schemas.microsoft.com/office/powerpoint/2010/main" val="1162724711"/>
              </p:ext>
            </p:extLst>
          </p:nvPr>
        </p:nvGraphicFramePr>
        <p:xfrm>
          <a:off x="575035" y="2069678"/>
          <a:ext cx="11001080" cy="2718643"/>
        </p:xfrm>
        <a:graphic>
          <a:graphicData uri="http://schemas.openxmlformats.org/drawingml/2006/table">
            <a:tbl>
              <a:tblPr firstRow="1" bandRow="1">
                <a:tableStyleId>{5FD0F851-EC5A-4D38-B0AD-8093EC10F338}</a:tableStyleId>
              </a:tblPr>
              <a:tblGrid>
                <a:gridCol w="3415940">
                  <a:extLst>
                    <a:ext uri="{9D8B030D-6E8A-4147-A177-3AD203B41FA5}">
                      <a16:colId xmlns:a16="http://schemas.microsoft.com/office/drawing/2014/main" val="3233966979"/>
                    </a:ext>
                  </a:extLst>
                </a:gridCol>
                <a:gridCol w="3095625">
                  <a:extLst>
                    <a:ext uri="{9D8B030D-6E8A-4147-A177-3AD203B41FA5}">
                      <a16:colId xmlns:a16="http://schemas.microsoft.com/office/drawing/2014/main" val="1158840958"/>
                    </a:ext>
                  </a:extLst>
                </a:gridCol>
                <a:gridCol w="4489515">
                  <a:extLst>
                    <a:ext uri="{9D8B030D-6E8A-4147-A177-3AD203B41FA5}">
                      <a16:colId xmlns:a16="http://schemas.microsoft.com/office/drawing/2014/main" val="1014947327"/>
                    </a:ext>
                  </a:extLst>
                </a:gridCol>
              </a:tblGrid>
              <a:tr h="43657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Trace-Based [1]</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Static Analysis [2]</a:t>
                      </a:r>
                    </a:p>
                  </a:txBody>
                  <a:tcPr marL="95186" marR="95186" marT="47593" marB="47593"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Hybrid (Existing) [1][3]</a:t>
                      </a:r>
                    </a:p>
                  </a:txBody>
                  <a:tcPr marL="95186" marR="95186" marT="47593" marB="47593"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13590700"/>
                  </a:ext>
                </a:extLst>
              </a:tr>
              <a:tr h="760689">
                <a:tc>
                  <a:txBody>
                    <a:bodyPr/>
                    <a:lstStyle/>
                    <a:p>
                      <a:pPr algn="l"/>
                      <a:r>
                        <a:rPr lang="en-GB" sz="2400" b="1" kern="1200" noProof="0" dirty="0">
                          <a:solidFill>
                            <a:schemeClr val="tx1"/>
                          </a:solidFill>
                          <a:latin typeface="+mn-lt"/>
                          <a:ea typeface="+mn-ea"/>
                          <a:cs typeface="+mn-cs"/>
                        </a:rPr>
                        <a:t>+</a:t>
                      </a:r>
                      <a:r>
                        <a:rPr lang="en-GB" sz="2000" noProof="0" dirty="0"/>
                        <a:t> </a:t>
                      </a:r>
                      <a:r>
                        <a:rPr lang="en-GB" sz="2000" b="1" kern="1200" noProof="0" dirty="0">
                          <a:solidFill>
                            <a:schemeClr val="tx1"/>
                          </a:solidFill>
                          <a:latin typeface="+mn-lt"/>
                          <a:ea typeface="+mn-ea"/>
                          <a:cs typeface="+mn-cs"/>
                        </a:rPr>
                        <a:t>Concrete observed behaviour</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kern="1200" noProof="0" dirty="0">
                          <a:solidFill>
                            <a:schemeClr val="tx1"/>
                          </a:solidFill>
                          <a:latin typeface="+mn-lt"/>
                          <a:ea typeface="+mn-ea"/>
                          <a:cs typeface="+mn-cs"/>
                        </a:rPr>
                        <a:t>+</a:t>
                      </a:r>
                      <a:r>
                        <a:rPr lang="en-GB" sz="2000" noProof="0" dirty="0"/>
                        <a:t> </a:t>
                      </a:r>
                      <a:r>
                        <a:rPr lang="en-GB" sz="2000" b="1" kern="1200" noProof="0" dirty="0">
                          <a:solidFill>
                            <a:schemeClr val="tx1"/>
                          </a:solidFill>
                          <a:latin typeface="+mn-lt"/>
                          <a:ea typeface="+mn-ea"/>
                          <a:cs typeface="+mn-cs"/>
                        </a:rPr>
                        <a:t>Complete static structure</a:t>
                      </a:r>
                    </a:p>
                  </a:txBody>
                  <a:tcPr marL="95186" marR="95186" marT="47593" marB="47593" anchor="ctr">
                    <a:lnL>
                      <a:noFill/>
                    </a:lnL>
                    <a:lnR>
                      <a:noFill/>
                    </a:lnR>
                    <a:lnT w="12700" cmpd="sng">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kern="1200" noProof="0" dirty="0">
                          <a:solidFill>
                            <a:schemeClr val="tx1"/>
                          </a:solidFill>
                          <a:latin typeface="+mn-lt"/>
                          <a:ea typeface="+mn-ea"/>
                          <a:cs typeface="+mn-cs"/>
                        </a:rPr>
                        <a:t>+</a:t>
                      </a:r>
                      <a:r>
                        <a:rPr lang="en-GB" sz="2000" noProof="0" dirty="0"/>
                        <a:t> </a:t>
                      </a:r>
                      <a:r>
                        <a:rPr lang="en-GB" sz="2000" b="1" noProof="0" dirty="0"/>
                        <a:t>Used to reduce runtime logging</a:t>
                      </a:r>
                    </a:p>
                  </a:txBody>
                  <a:tcPr marL="95186" marR="95186" marT="47593" marB="47593" anchor="ctr">
                    <a:lnL>
                      <a:noFill/>
                    </a:lnL>
                    <a:lnR>
                      <a:noFill/>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830826746"/>
                  </a:ext>
                </a:extLst>
              </a:tr>
              <a:tr h="7606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000" b="1" kern="1200" dirty="0">
                          <a:solidFill>
                            <a:schemeClr val="tx1"/>
                          </a:solidFill>
                          <a:latin typeface="+mn-lt"/>
                          <a:ea typeface="+mn-ea"/>
                          <a:cs typeface="+mn-cs"/>
                        </a:rPr>
                        <a:t>—</a:t>
                      </a:r>
                      <a:r>
                        <a:rPr lang="en-GB" sz="2000" b="1" noProof="0" dirty="0"/>
                        <a:t> Incomplete traces</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000" b="1" kern="1200" dirty="0">
                          <a:solidFill>
                            <a:schemeClr val="tx1"/>
                          </a:solidFill>
                          <a:latin typeface="+mn-lt"/>
                          <a:ea typeface="+mn-ea"/>
                          <a:cs typeface="+mn-cs"/>
                        </a:rPr>
                        <a:t>—</a:t>
                      </a:r>
                      <a:r>
                        <a:rPr lang="en-GB" sz="2000" b="1" noProof="0" dirty="0"/>
                        <a:t> Over-approximation</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000" b="1" kern="1200" dirty="0">
                          <a:solidFill>
                            <a:schemeClr val="tx1"/>
                          </a:solidFill>
                          <a:latin typeface="+mn-lt"/>
                          <a:ea typeface="+mn-ea"/>
                          <a:cs typeface="+mn-cs"/>
                        </a:rPr>
                        <a:t>—</a:t>
                      </a:r>
                      <a:r>
                        <a:rPr lang="en-GB" sz="2000" noProof="0" dirty="0"/>
                        <a:t> </a:t>
                      </a:r>
                      <a:r>
                        <a:rPr lang="en-GB" sz="2000" b="1" noProof="0" dirty="0"/>
                        <a:t>Assumes observed traces are complete</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17333721"/>
                  </a:ext>
                </a:extLst>
              </a:tr>
              <a:tr h="7606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000" b="1" kern="1200" dirty="0">
                          <a:solidFill>
                            <a:schemeClr val="tx1"/>
                          </a:solidFill>
                          <a:latin typeface="+mn-lt"/>
                          <a:ea typeface="+mn-ea"/>
                          <a:cs typeface="+mn-cs"/>
                        </a:rPr>
                        <a:t>—</a:t>
                      </a:r>
                      <a:r>
                        <a:rPr lang="en-GB" sz="2000" b="1" noProof="0" dirty="0"/>
                        <a:t> Missing interactions</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000" b="1" kern="1200" dirty="0">
                          <a:solidFill>
                            <a:schemeClr val="tx1"/>
                          </a:solidFill>
                          <a:latin typeface="+mn-lt"/>
                          <a:ea typeface="+mn-ea"/>
                          <a:cs typeface="+mn-cs"/>
                        </a:rPr>
                        <a:t>—</a:t>
                      </a:r>
                      <a:r>
                        <a:rPr lang="en-GB" sz="2000" b="1" noProof="0" dirty="0"/>
                        <a:t> No scenario focus</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000" b="1" kern="1200" dirty="0">
                          <a:solidFill>
                            <a:schemeClr val="tx1"/>
                          </a:solidFill>
                          <a:latin typeface="+mn-lt"/>
                          <a:ea typeface="+mn-ea"/>
                          <a:cs typeface="+mn-cs"/>
                        </a:rPr>
                        <a:t>—</a:t>
                      </a:r>
                      <a:r>
                        <a:rPr lang="en-GB" sz="2000" noProof="0" dirty="0"/>
                        <a:t> </a:t>
                      </a:r>
                      <a:r>
                        <a:rPr lang="en-GB" sz="2000" b="1" noProof="0" dirty="0"/>
                        <a:t>Doesn’t complete missing interactions</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321589815"/>
                  </a:ext>
                </a:extLst>
              </a:tr>
            </a:tbl>
          </a:graphicData>
        </a:graphic>
      </p:graphicFrame>
      <p:sp>
        <p:nvSpPr>
          <p:cNvPr id="10" name="TextBox 9">
            <a:extLst>
              <a:ext uri="{FF2B5EF4-FFF2-40B4-BE49-F238E27FC236}">
                <a16:creationId xmlns:a16="http://schemas.microsoft.com/office/drawing/2014/main" id="{CDF981B8-6D37-1DA3-FB3A-7B5D4CC0AAB6}"/>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1" name="TextBox 10">
            <a:extLst>
              <a:ext uri="{FF2B5EF4-FFF2-40B4-BE49-F238E27FC236}">
                <a16:creationId xmlns:a16="http://schemas.microsoft.com/office/drawing/2014/main" id="{5D316AE4-3CC1-39EB-B171-F056FFAC6BE8}"/>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nl-NL"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4</a:t>
            </a:r>
            <a:endPar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3" name="Picture 2">
            <a:extLst>
              <a:ext uri="{FF2B5EF4-FFF2-40B4-BE49-F238E27FC236}">
                <a16:creationId xmlns:a16="http://schemas.microsoft.com/office/drawing/2014/main" id="{B50EA2D5-0170-005E-6678-CCFA1F1CEDDF}"/>
              </a:ext>
            </a:extLst>
          </p:cNvPr>
          <p:cNvPicPr>
            <a:picLocks noChangeAspect="1"/>
          </p:cNvPicPr>
          <p:nvPr/>
        </p:nvPicPr>
        <p:blipFill>
          <a:blip r:embed="rId4"/>
          <a:stretch>
            <a:fillRect/>
          </a:stretch>
        </p:blipFill>
        <p:spPr>
          <a:xfrm>
            <a:off x="3276526" y="2125401"/>
            <a:ext cx="5638948" cy="2607197"/>
          </a:xfrm>
          <a:prstGeom prst="rect">
            <a:avLst/>
          </a:prstGeom>
        </p:spPr>
      </p:pic>
    </p:spTree>
    <p:extLst>
      <p:ext uri="{BB962C8B-B14F-4D97-AF65-F5344CB8AC3E}">
        <p14:creationId xmlns:p14="http://schemas.microsoft.com/office/powerpoint/2010/main" val="1386263332"/>
      </p:ext>
    </p:extLst>
  </p:cSld>
  <p:clrMapOvr>
    <a:masterClrMapping/>
  </p:clrMapOvr>
  <p:extLst>
    <p:ext uri="{6950BFC3-D8DA-4A85-94F7-54DA5524770B}">
      <p188:commentRel xmlns:p188="http://schemas.microsoft.com/office/powerpoint/2018/8/main" r:id="rId3"/>
    </p:ext>
  </p:extLst>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3BCC3DA-44CF-3B7A-804C-65813CF7001C}"/>
              </a:ext>
            </a:extLst>
          </p:cNvPr>
          <p:cNvSpPr>
            <a:spLocks noGrp="1"/>
          </p:cNvSpPr>
          <p:nvPr>
            <p:ph type="title"/>
          </p:nvPr>
        </p:nvSpPr>
        <p:spPr>
          <a:xfrm>
            <a:off x="912629" y="598947"/>
            <a:ext cx="10515600" cy="1325563"/>
          </a:xfrm>
        </p:spPr>
        <p:txBody>
          <a:bodyPr anchor="ctr">
            <a:normAutofit/>
          </a:bodyPr>
          <a:lstStyle/>
          <a:p>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Research </a:t>
            </a:r>
            <a:r>
              <a:rPr lang="nl-NL" dirty="0" err="1">
                <a:latin typeface="Sans Serif Collection" panose="020B0502040504020204" pitchFamily="34" charset="0"/>
                <a:ea typeface="Sans Serif Collection" panose="020B0502040504020204" pitchFamily="34" charset="0"/>
                <a:cs typeface="Sans Serif Collection" panose="020B0502040504020204" pitchFamily="34" charset="0"/>
              </a:rPr>
              <a:t>Questions</a:t>
            </a:r>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13" name="Table Placeholder 10">
            <a:extLst>
              <a:ext uri="{FF2B5EF4-FFF2-40B4-BE49-F238E27FC236}">
                <a16:creationId xmlns:a16="http://schemas.microsoft.com/office/drawing/2014/main" id="{C3318B82-77E9-F5AA-CF25-4DE202CC619E}"/>
              </a:ext>
            </a:extLst>
          </p:cNvPr>
          <p:cNvGraphicFramePr>
            <a:graphicFrameLocks noGrp="1"/>
          </p:cNvGraphicFramePr>
          <p:nvPr>
            <p:ph type="tbl" sz="quarter" idx="10"/>
            <p:extLst>
              <p:ext uri="{D42A27DB-BD31-4B8C-83A1-F6EECF244321}">
                <p14:modId xmlns:p14="http://schemas.microsoft.com/office/powerpoint/2010/main" val="1161022277"/>
              </p:ext>
            </p:extLst>
          </p:nvPr>
        </p:nvGraphicFramePr>
        <p:xfrm>
          <a:off x="4477109" y="1924504"/>
          <a:ext cx="6800491" cy="40190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Content Placeholder 1">
            <a:extLst>
              <a:ext uri="{FF2B5EF4-FFF2-40B4-BE49-F238E27FC236}">
                <a16:creationId xmlns:a16="http://schemas.microsoft.com/office/drawing/2014/main" id="{62E9F026-49B3-CA6B-FA9C-B1B79E760792}"/>
              </a:ext>
            </a:extLst>
          </p:cNvPr>
          <p:cNvGraphicFramePr>
            <a:graphicFrameLocks noGrp="1"/>
          </p:cNvGraphicFramePr>
          <p:nvPr>
            <p:ph sz="quarter" idx="11"/>
            <p:extLst>
              <p:ext uri="{D42A27DB-BD31-4B8C-83A1-F6EECF244321}">
                <p14:modId xmlns:p14="http://schemas.microsoft.com/office/powerpoint/2010/main" val="1182084113"/>
              </p:ext>
            </p:extLst>
          </p:nvPr>
        </p:nvGraphicFramePr>
        <p:xfrm>
          <a:off x="646980" y="1924504"/>
          <a:ext cx="3433313" cy="401909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 name="TextBox 1">
            <a:extLst>
              <a:ext uri="{FF2B5EF4-FFF2-40B4-BE49-F238E27FC236}">
                <a16:creationId xmlns:a16="http://schemas.microsoft.com/office/drawing/2014/main" id="{A022FF79-EC3A-D453-2479-FFFA72B067F5}"/>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5</a:t>
            </a:r>
          </a:p>
        </p:txBody>
      </p:sp>
      <p:sp>
        <p:nvSpPr>
          <p:cNvPr id="4" name="TextBox 3">
            <a:extLst>
              <a:ext uri="{FF2B5EF4-FFF2-40B4-BE49-F238E27FC236}">
                <a16:creationId xmlns:a16="http://schemas.microsoft.com/office/drawing/2014/main" id="{518A4E05-6229-FB6C-8F60-A208087782C8}"/>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1904507137"/>
      </p:ext>
    </p:extLst>
  </p:cSld>
  <p:clrMapOvr>
    <a:masterClrMapping/>
  </p:clrMapOvr>
  <p:extLst>
    <p:ext uri="{6950BFC3-D8DA-4A85-94F7-54DA5524770B}">
      <p188:commentRel xmlns:p188="http://schemas.microsoft.com/office/powerpoint/2018/8/main" r:id="rId2"/>
    </p:ext>
  </p:extLst>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99160" y="655320"/>
            <a:ext cx="9626600" cy="1224280"/>
          </a:xfrm>
        </p:spPr>
        <p:txBody>
          <a:bodyPr>
            <a:normAutofit/>
          </a:bodyPr>
          <a:lstStyle/>
          <a:p>
            <a:r>
              <a:rPr lang="nl-NL" sz="4400" dirty="0">
                <a:latin typeface="Sans Serif Collection" panose="020B0502040504020204" pitchFamily="34" charset="0"/>
                <a:ea typeface="Sans Serif Collection" panose="020B0502040504020204" pitchFamily="34" charset="0"/>
                <a:cs typeface="Sans Serif Collection" panose="020B0502040504020204" pitchFamily="34" charset="0"/>
              </a:rPr>
              <a:t>Codebase </a:t>
            </a:r>
            <a:r>
              <a:rPr lang="nl-NL" sz="4400" dirty="0" err="1">
                <a:latin typeface="Sans Serif Collection" panose="020B0502040504020204" pitchFamily="34" charset="0"/>
                <a:ea typeface="Sans Serif Collection" panose="020B0502040504020204" pitchFamily="34" charset="0"/>
                <a:cs typeface="Sans Serif Collection" panose="020B0502040504020204" pitchFamily="34" charset="0"/>
              </a:rPr>
              <a:t>Selected</a:t>
            </a:r>
            <a:r>
              <a:rPr lang="nl-NL" sz="4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4400" dirty="0">
                <a:latin typeface="Sans Serif Collection" panose="020B0502040504020204" pitchFamily="34" charset="0"/>
                <a:ea typeface="Sans Serif Collection" panose="020B0502040504020204" pitchFamily="34" charset="0"/>
                <a:cs typeface="Sans Serif Collection" panose="020B0502040504020204" pitchFamily="34" charset="0"/>
              </a:rPr>
              <a:t>C</a:t>
            </a:r>
            <a:r>
              <a:rPr lang="nl-NL" sz="4400" dirty="0" err="1">
                <a:latin typeface="Sans Serif Collection" panose="020B0502040504020204" pitchFamily="34" charset="0"/>
                <a:ea typeface="Sans Serif Collection" panose="020B0502040504020204" pitchFamily="34" charset="0"/>
                <a:cs typeface="Sans Serif Collection" panose="020B0502040504020204" pitchFamily="34" charset="0"/>
              </a:rPr>
              <a:t>ps</a:t>
            </a:r>
            <a:r>
              <a:rPr sz="4400" dirty="0">
                <a:latin typeface="Sans Serif Collection" panose="020B0502040504020204" pitchFamily="34" charset="0"/>
                <a:ea typeface="Sans Serif Collection" panose="020B0502040504020204" pitchFamily="34" charset="0"/>
                <a:cs typeface="Sans Serif Collection" panose="020B0502040504020204" pitchFamily="34" charset="0"/>
              </a:rPr>
              <a:t>Core</a:t>
            </a:r>
            <a:r>
              <a:rPr lang="nl-NL" sz="4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2800" dirty="0">
                <a:latin typeface="Sans Serif Collection" panose="020B0502040504020204" pitchFamily="34" charset="0"/>
                <a:ea typeface="Sans Serif Collection" panose="020B0502040504020204" pitchFamily="34" charset="0"/>
                <a:cs typeface="Sans Serif Collection" panose="020B0502040504020204" pitchFamily="34" charset="0"/>
              </a:rPr>
              <a:t>[7]</a:t>
            </a:r>
            <a:endParaRPr sz="4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Content Placeholder 2"/>
          <p:cNvSpPr>
            <a:spLocks noGrp="1"/>
          </p:cNvSpPr>
          <p:nvPr>
            <p:ph sz="quarter" idx="10"/>
          </p:nvPr>
        </p:nvSpPr>
        <p:spPr>
          <a:xfrm>
            <a:off x="899160" y="1971040"/>
            <a:ext cx="10662919" cy="4155440"/>
          </a:xfrm>
        </p:spPr>
        <p:txBody>
          <a:bodyPr>
            <a:normAutofit lnSpcReduction="10000"/>
          </a:bodyPr>
          <a:lstStyle/>
          <a:p>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C</a:t>
            </a:r>
            <a:r>
              <a:rPr dirty="0" err="1">
                <a:latin typeface="Sans Serif Collection" panose="020B0502040504020204" pitchFamily="34" charset="0"/>
                <a:ea typeface="Sans Serif Collection" panose="020B0502040504020204" pitchFamily="34" charset="0"/>
                <a:cs typeface="Sans Serif Collection" panose="020B0502040504020204" pitchFamily="34" charset="0"/>
              </a:rPr>
              <a:t>odebase</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dirty="0" err="1">
                <a:latin typeface="Sans Serif Collection" panose="020B0502040504020204" pitchFamily="34" charset="0"/>
                <a:ea typeface="Sans Serif Collection" panose="020B0502040504020204" pitchFamily="34" charset="0"/>
                <a:cs typeface="Sans Serif Collection" panose="020B0502040504020204" pitchFamily="34" charset="0"/>
              </a:rPr>
              <a:t>overview</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 </a:t>
            </a:r>
            <a:endParaRPr lang="nl-NL"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85750" indent="-285750">
              <a:buFont typeface="Arial" panose="020B0604020202020204" pitchFamily="34" charset="0"/>
              <a:buChar char="•"/>
            </a:pP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A Modular Autopilot Framework </a:t>
            </a:r>
            <a:r>
              <a:rPr lang="nl-NL" dirty="0" err="1">
                <a:latin typeface="Sans Serif Collection" panose="020B0502040504020204" pitchFamily="34" charset="0"/>
                <a:ea typeface="Sans Serif Collection" panose="020B0502040504020204" pitchFamily="34" charset="0"/>
                <a:cs typeface="Sans Serif Collection" panose="020B0502040504020204" pitchFamily="34" charset="0"/>
              </a:rPr>
              <a:t>for</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dirty="0" err="1">
                <a:latin typeface="Sans Serif Collection" panose="020B0502040504020204" pitchFamily="34" charset="0"/>
                <a:ea typeface="Sans Serif Collection" panose="020B0502040504020204" pitchFamily="34" charset="0"/>
                <a:cs typeface="Sans Serif Collection" panose="020B0502040504020204" pitchFamily="34" charset="0"/>
              </a:rPr>
              <a:t>UAVs</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 [7]</a:t>
            </a:r>
          </a:p>
          <a:p>
            <a:pPr marL="285750" indent="-285750">
              <a:buFont typeface="Arial" panose="020B0604020202020204" pitchFamily="34" charset="0"/>
              <a:buChar char="•"/>
            </a:pPr>
            <a:r>
              <a:rPr dirty="0">
                <a:latin typeface="Sans Serif Collection" panose="020B0502040504020204" pitchFamily="34" charset="0"/>
                <a:ea typeface="Sans Serif Collection" panose="020B0502040504020204" pitchFamily="34" charset="0"/>
                <a:cs typeface="Sans Serif Collection" panose="020B0502040504020204" pitchFamily="34" charset="0"/>
              </a:rPr>
              <a:t>154 source/header files </a:t>
            </a:r>
            <a:endParaRPr lang="nl-NL"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85750" indent="-285750">
              <a:buFont typeface="Arial" panose="020B0604020202020204" pitchFamily="34" charset="0"/>
              <a:buChar char="•"/>
            </a:pPr>
            <a:r>
              <a:rPr dirty="0">
                <a:latin typeface="Sans Serif Collection" panose="020B0502040504020204" pitchFamily="34" charset="0"/>
                <a:ea typeface="Sans Serif Collection" panose="020B0502040504020204" pitchFamily="34" charset="0"/>
                <a:cs typeface="Sans Serif Collection" panose="020B0502040504020204" pitchFamily="34" charset="0"/>
              </a:rPr>
              <a:t>~13,000 LOC (3,800 in .</a:t>
            </a:r>
            <a:r>
              <a:rPr dirty="0" err="1">
                <a:latin typeface="Sans Serif Collection" panose="020B0502040504020204" pitchFamily="34" charset="0"/>
                <a:ea typeface="Sans Serif Collection" panose="020B0502040504020204" pitchFamily="34" charset="0"/>
                <a:cs typeface="Sans Serif Collection" panose="020B0502040504020204" pitchFamily="34" charset="0"/>
              </a:rPr>
              <a:t>cpp</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 files, 9,200 in headers)</a:t>
            </a:r>
          </a:p>
          <a:p>
            <a:endParaRPr lang="nl-NL"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85750" indent="-285750">
              <a:buFont typeface="Arial" panose="020B0604020202020204" pitchFamily="34" charset="0"/>
              <a:buChar char="•"/>
            </a:pPr>
            <a:r>
              <a:rPr dirty="0">
                <a:latin typeface="Sans Serif Collection" panose="020B0502040504020204" pitchFamily="34" charset="0"/>
                <a:ea typeface="Sans Serif Collection" panose="020B0502040504020204" pitchFamily="34" charset="0"/>
                <a:cs typeface="Sans Serif Collection" panose="020B0502040504020204" pitchFamily="34" charset="0"/>
              </a:rPr>
              <a:t>Heavy template-based static polymorphism (~470 occurrences) vs. only 32 virtual method signatures across 12 files</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 A</a:t>
            </a:r>
            <a:r>
              <a:rPr dirty="0" err="1">
                <a:latin typeface="Sans Serif Collection" panose="020B0502040504020204" pitchFamily="34" charset="0"/>
                <a:ea typeface="Sans Serif Collection" panose="020B0502040504020204" pitchFamily="34" charset="0"/>
                <a:cs typeface="Sans Serif Collection" panose="020B0502040504020204" pitchFamily="34" charset="0"/>
              </a:rPr>
              <a:t>ll</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 confined to one module (Utilities) or per-module config boundaries</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a:t>
            </a:r>
            <a:endParaRPr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85750" indent="-285750">
              <a:buFont typeface="Arial" panose="020B0604020202020204" pitchFamily="34" charset="0"/>
              <a:buChar char="•"/>
            </a:pPr>
            <a:endParaRPr lang="nl-NL"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85750" indent="-285750">
              <a:buFont typeface="Arial" panose="020B0604020202020204" pitchFamily="34" charset="0"/>
              <a:buChar char="•"/>
            </a:pPr>
            <a:r>
              <a:rPr dirty="0">
                <a:latin typeface="Sans Serif Collection" panose="020B0502040504020204" pitchFamily="34" charset="0"/>
                <a:ea typeface="Sans Serif Collection" panose="020B0502040504020204" pitchFamily="34" charset="0"/>
                <a:cs typeface="Sans Serif Collection" panose="020B0502040504020204" pitchFamily="34" charset="0"/>
              </a:rPr>
              <a:t>No cross-module call resolves through a virtual table</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 I</a:t>
            </a:r>
            <a:r>
              <a:rPr dirty="0" err="1">
                <a:latin typeface="Sans Serif Collection" panose="020B0502040504020204" pitchFamily="34" charset="0"/>
                <a:ea typeface="Sans Serif Collection" panose="020B0502040504020204" pitchFamily="34" charset="0"/>
                <a:cs typeface="Sans Serif Collection" panose="020B0502040504020204" pitchFamily="34" charset="0"/>
              </a:rPr>
              <a:t>nter</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-module calls go through concrete class references or boost::signals2 slot connections</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a:t>
            </a:r>
            <a:endParaRPr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85750" indent="-285750">
              <a:buFont typeface="Arial" panose="020B0604020202020204" pitchFamily="34" charset="0"/>
              <a:buChar char="•"/>
            </a:pPr>
            <a:endParaRPr lang="nl-NL"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85750" indent="-285750">
              <a:buFont typeface="Arial" panose="020B0604020202020204" pitchFamily="34" charset="0"/>
              <a:buChar char="•"/>
            </a:pPr>
            <a:r>
              <a:rPr dirty="0">
                <a:latin typeface="Sans Serif Collection" panose="020B0502040504020204" pitchFamily="34" charset="0"/>
                <a:ea typeface="Sans Serif Collection" panose="020B0502040504020204" pitchFamily="34" charset="0"/>
                <a:cs typeface="Sans Serif Collection" panose="020B0502040504020204" pitchFamily="34" charset="0"/>
              </a:rPr>
              <a:t>Test suite: 1,425 assertions across 61 test cases </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is </a:t>
            </a:r>
            <a:r>
              <a:rPr lang="nl-NL" dirty="0" err="1">
                <a:latin typeface="Sans Serif Collection" panose="020B0502040504020204" pitchFamily="34" charset="0"/>
                <a:ea typeface="Sans Serif Collection" panose="020B0502040504020204" pitchFamily="34" charset="0"/>
                <a:cs typeface="Sans Serif Collection" panose="020B0502040504020204" pitchFamily="34" charset="0"/>
              </a:rPr>
              <a:t>the</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ground truth for </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behavioural</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 verification</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a:t>
            </a:r>
            <a:endParaRPr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5" name="TextBox 4">
            <a:extLst>
              <a:ext uri="{FF2B5EF4-FFF2-40B4-BE49-F238E27FC236}">
                <a16:creationId xmlns:a16="http://schemas.microsoft.com/office/drawing/2014/main" id="{338FC515-45F7-4C71-ECF0-456C813F7699}"/>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73A264E-DCFB-9679-60C3-5EBC1EAA716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DB6F400-8C27-B795-7BA6-8BF2C4DCC1CD}"/>
              </a:ext>
            </a:extLst>
          </p:cNvPr>
          <p:cNvSpPr>
            <a:spLocks noGrp="1"/>
          </p:cNvSpPr>
          <p:nvPr>
            <p:ph type="title"/>
          </p:nvPr>
        </p:nvSpPr>
        <p:spPr>
          <a:xfrm>
            <a:off x="929640" y="485113"/>
            <a:ext cx="10515600" cy="1531525"/>
          </a:xfrm>
        </p:spPr>
        <p:txBody>
          <a:bodyPr vert="horz" lIns="91440" tIns="45720" rIns="91440" bIns="45720" rtlCol="0" anchor="ctr">
            <a:normAutofit/>
          </a:bodyPr>
          <a:lstStyle/>
          <a:p>
            <a:r>
              <a:rPr lang="en-GB" sz="440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Approach: Agent Skill Pipeline</a:t>
            </a:r>
          </a:p>
        </p:txBody>
      </p:sp>
      <p:sp>
        <p:nvSpPr>
          <p:cNvPr id="3" name="Rectangle 1">
            <a:extLst>
              <a:ext uri="{FF2B5EF4-FFF2-40B4-BE49-F238E27FC236}">
                <a16:creationId xmlns:a16="http://schemas.microsoft.com/office/drawing/2014/main" id="{4983592E-EF52-E037-AB61-B0C859B0BA67}"/>
              </a:ext>
            </a:extLst>
          </p:cNvPr>
          <p:cNvSpPr>
            <a:spLocks noChangeArrowheads="1"/>
          </p:cNvSpPr>
          <p:nvPr/>
        </p:nvSpPr>
        <p:spPr bwMode="auto">
          <a:xfrm>
            <a:off x="8496299" y="1658679"/>
            <a:ext cx="3087053" cy="3995044"/>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fontScale="85000" lnSpcReduction="10000"/>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28600" lvl="0" indent="-228600" eaLnBrk="1" hangingPunct="1">
              <a:spcBef>
                <a:spcPts val="1000"/>
              </a:spcBef>
              <a:spcAft>
                <a:spcPts val="1200"/>
              </a:spcAft>
              <a:buFont typeface="Arial" panose="020B0604020202020204" pitchFamily="34" charset="0"/>
              <a:buChar char="•"/>
            </a:pPr>
            <a:r>
              <a:rPr lang="en-US" altLang="en-US" dirty="0">
                <a:solidFill>
                  <a:schemeClr val="tx1">
                    <a:lumMod val="65000"/>
                    <a:lumOff val="35000"/>
                  </a:schemeClr>
                </a:solidFill>
                <a:latin typeface="+mn-lt"/>
                <a:ea typeface="Sans Serif Collection" panose="020B0502040504020204" pitchFamily="34" charset="0"/>
                <a:cs typeface="Sans Serif Collection" panose="020B0502040504020204" pitchFamily="34" charset="0"/>
              </a:rPr>
              <a:t>Twelve modular, composable, LLM-invocable skills: eleven follow a fixed rule set, one (agentic synthesis) applies judgement instead.</a:t>
            </a:r>
          </a:p>
          <a:p>
            <a:pPr marL="228600" lvl="0" indent="-228600" eaLnBrk="1" hangingPunct="1">
              <a:spcBef>
                <a:spcPts val="1000"/>
              </a:spcBef>
              <a:spcAft>
                <a:spcPts val="1200"/>
              </a:spcAft>
              <a:buFont typeface="Arial" panose="020B0604020202020204" pitchFamily="34" charset="0"/>
              <a:buChar char="•"/>
            </a:pPr>
            <a:r>
              <a:rPr lang="en-US" altLang="en-US" dirty="0">
                <a:solidFill>
                  <a:schemeClr val="tx1">
                    <a:lumMod val="65000"/>
                    <a:lumOff val="35000"/>
                  </a:schemeClr>
                </a:solidFill>
                <a:latin typeface="+mn-lt"/>
                <a:ea typeface="Sans Serif Collection" panose="020B0502040504020204" pitchFamily="34" charset="0"/>
                <a:cs typeface="Sans Serif Collection" panose="020B0502040504020204" pitchFamily="34" charset="0"/>
              </a:rPr>
              <a:t>Key design property: each skill is independently testable. Scenario focus is expressed as a natural-language query, translated into a Cypher query that scopes the graph before instrumentation runs — this is what makes guided instrumentation possible, the mechanism RQ2 actually tests (guiding trace collection with the static graph to remove noise without losing coverage).</a:t>
            </a:r>
          </a:p>
        </p:txBody>
      </p:sp>
      <p:sp>
        <p:nvSpPr>
          <p:cNvPr id="4" name="Slide Number Placeholder 3" hidden="1">
            <a:extLst>
              <a:ext uri="{FF2B5EF4-FFF2-40B4-BE49-F238E27FC236}">
                <a16:creationId xmlns:a16="http://schemas.microsoft.com/office/drawing/2014/main" id="{F53C3FC5-C17B-9D1F-A664-ABF4B21D0BB8}"/>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33</a:t>
            </a:fld>
            <a:endParaRPr lang="en-GB" sz="300" noProof="0" dirty="0"/>
          </a:p>
        </p:txBody>
      </p:sp>
      <p:graphicFrame>
        <p:nvGraphicFramePr>
          <p:cNvPr id="2" name="Content Placeholder 1">
            <a:extLst>
              <a:ext uri="{FF2B5EF4-FFF2-40B4-BE49-F238E27FC236}">
                <a16:creationId xmlns:a16="http://schemas.microsoft.com/office/drawing/2014/main" id="{E1E2C492-E755-8476-18BF-466E1303CE7A}"/>
              </a:ext>
            </a:extLst>
          </p:cNvPr>
          <p:cNvGraphicFramePr>
            <a:graphicFrameLocks noGrp="1"/>
          </p:cNvGraphicFramePr>
          <p:nvPr>
            <p:ph sz="quarter" idx="10"/>
            <p:extLst>
              <p:ext uri="{D42A27DB-BD31-4B8C-83A1-F6EECF244321}">
                <p14:modId xmlns:p14="http://schemas.microsoft.com/office/powerpoint/2010/main" val="1602669097"/>
              </p:ext>
            </p:extLst>
          </p:nvPr>
        </p:nvGraphicFramePr>
        <p:xfrm>
          <a:off x="608647" y="2016638"/>
          <a:ext cx="7724775" cy="3506880"/>
        </p:xfrm>
        <a:graphic>
          <a:graphicData uri="http://schemas.openxmlformats.org/drawingml/2006/table">
            <a:tbl>
              <a:tblPr firstRow="1" bandRow="1">
                <a:tableStyleId>{17292A2E-F333-43FB-9621-5CBBE7FDCDCB}</a:tableStyleId>
              </a:tblPr>
              <a:tblGrid>
                <a:gridCol w="3695701">
                  <a:extLst>
                    <a:ext uri="{9D8B030D-6E8A-4147-A177-3AD203B41FA5}">
                      <a16:colId xmlns:a16="http://schemas.microsoft.com/office/drawing/2014/main" val="192472615"/>
                    </a:ext>
                  </a:extLst>
                </a:gridCol>
                <a:gridCol w="4029074">
                  <a:extLst>
                    <a:ext uri="{9D8B030D-6E8A-4147-A177-3AD203B41FA5}">
                      <a16:colId xmlns:a16="http://schemas.microsoft.com/office/drawing/2014/main" val="172023201"/>
                    </a:ext>
                  </a:extLst>
                </a:gridCol>
              </a:tblGrid>
              <a:tr h="371955">
                <a:tc>
                  <a:txBody>
                    <a:bodyPr/>
                    <a:lstStyle/>
                    <a:p>
                      <a:pPr algn="ctr">
                        <a:buNone/>
                      </a:pPr>
                      <a:r>
                        <a:rPr lang="en-GB" sz="1200" b="1" noProof="0" dirty="0">
                          <a:solidFill>
                            <a:srgbClr val="FFFFFF"/>
                          </a:solidFill>
                          <a:effectLst/>
                        </a:rPr>
                        <a:t>Skill</a:t>
                      </a:r>
                      <a:endParaRPr lang="en-GB" sz="1200" b="1" noProof="0" dirty="0">
                        <a:solidFill>
                          <a:srgbClr val="FFFFF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tc>
                  <a:txBody>
                    <a:bodyPr/>
                    <a:lstStyle/>
                    <a:p>
                      <a:pPr algn="ctr">
                        <a:buNone/>
                      </a:pPr>
                      <a:r>
                        <a:rPr lang="en-GB" sz="1200" b="1" dirty="0">
                          <a:solidFill>
                            <a:srgbClr val="FFFFFF"/>
                          </a:solidFill>
                          <a:effectLst/>
                        </a:rPr>
                        <a:t>Role in Final Pipeline</a:t>
                      </a:r>
                      <a:endParaRPr lang="en-GB" sz="1200" b="1" dirty="0">
                        <a:solidFill>
                          <a:srgbClr val="FFFFF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extLst>
                  <a:ext uri="{0D108BD9-81ED-4DB2-BD59-A6C34878D82A}">
                    <a16:rowId xmlns:a16="http://schemas.microsoft.com/office/drawing/2014/main" val="3305239541"/>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get-neo4j-schema</a:t>
                      </a:r>
                    </a:p>
                  </a:txBody>
                  <a:tcPr marL="137900" marR="82740" marT="82740" marB="82740" anchor="ctr"/>
                </a:tc>
                <a:tc>
                  <a:txBody>
                    <a:bodyPr/>
                    <a:lstStyle/>
                    <a:p>
                      <a:pPr>
                        <a:buNone/>
                      </a:pP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Static Analysis - graph introspection</a:t>
                      </a:r>
                    </a:p>
                  </a:txBody>
                  <a:tcPr marL="137900" marR="82740" marT="82740" marB="82740" anchor="ctr"/>
                </a:tc>
                <a:extLst>
                  <a:ext uri="{0D108BD9-81ED-4DB2-BD59-A6C34878D82A}">
                    <a16:rowId xmlns:a16="http://schemas.microsoft.com/office/drawing/2014/main" val="1423872608"/>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text-to-cypher + get-cypher + </a:t>
                      </a:r>
                      <a:r>
                        <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cypher-to-output</a:t>
                      </a:r>
                      <a:endPar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tc>
                  <a:txBody>
                    <a:bodyPr/>
                    <a:lstStyle/>
                    <a:p>
                      <a:pPr>
                        <a:buNone/>
                      </a:pPr>
                      <a:r>
                        <a:rPr lang="en-GB" sz="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Scenario-scoped query generation, execution &amp; standalone Cypher authoring</a:t>
                      </a:r>
                    </a:p>
                  </a:txBody>
                  <a:tcPr marL="137900" marR="82740" marT="82740" marB="82740" anchor="ctr"/>
                </a:tc>
                <a:extLst>
                  <a:ext uri="{0D108BD9-81ED-4DB2-BD59-A6C34878D82A}">
                    <a16:rowId xmlns:a16="http://schemas.microsoft.com/office/drawing/2014/main" val="1936271751"/>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get-interface-dependency-table</a:t>
                      </a:r>
                    </a:p>
                  </a:txBody>
                  <a:tcPr marL="137900" marR="82740" marT="82740" marB="827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Static Analysis - </a:t>
                      </a:r>
                      <a:r>
                        <a:rPr lang="en-GB" sz="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Structural dependency extraction</a:t>
                      </a:r>
                    </a:p>
                  </a:txBody>
                  <a:tcPr marL="137900" marR="82740" marT="82740" marB="82740" anchor="ctr"/>
                </a:tc>
                <a:extLst>
                  <a:ext uri="{0D108BD9-81ED-4DB2-BD59-A6C34878D82A}">
                    <a16:rowId xmlns:a16="http://schemas.microsoft.com/office/drawing/2014/main" val="4238485289"/>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get-sequence-dependency-table</a:t>
                      </a:r>
                    </a:p>
                  </a:txBody>
                  <a:tcPr marL="137900" marR="82740" marT="82740" marB="82740" anchor="ctr"/>
                </a:tc>
                <a:tc>
                  <a:txBody>
                    <a:bodyPr/>
                    <a:lstStyle/>
                    <a:p>
                      <a:pPr>
                        <a:buNone/>
                      </a:pP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Static Analysis – Sequence / call chain extraction</a:t>
                      </a:r>
                    </a:p>
                  </a:txBody>
                  <a:tcPr marL="137900" marR="82740" marT="82740" marB="82740" anchor="ctr"/>
                </a:tc>
                <a:extLst>
                  <a:ext uri="{0D108BD9-81ED-4DB2-BD59-A6C34878D82A}">
                    <a16:rowId xmlns:a16="http://schemas.microsoft.com/office/drawing/2014/main" val="695541207"/>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draw-</a:t>
                      </a:r>
                      <a:r>
                        <a:rPr lang="en-GB" sz="1200" b="1" noProof="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-structural-model</a:t>
                      </a:r>
                    </a:p>
                  </a:txBody>
                  <a:tcPr marL="137900" marR="82740" marT="82740" marB="82740" anchor="ctr"/>
                </a:tc>
                <a:tc>
                  <a:txBody>
                    <a:bodyPr/>
                    <a:lstStyle/>
                    <a:p>
                      <a:pPr>
                        <a:buNone/>
                      </a:pPr>
                      <a:r>
                        <a:rPr lang="en-GB" sz="1200" noProof="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v2 Output - BDD/IBD</a:t>
                      </a:r>
                    </a:p>
                  </a:txBody>
                  <a:tcPr marL="137900" marR="82740" marT="82740" marB="82740" anchor="ctr"/>
                </a:tc>
                <a:extLst>
                  <a:ext uri="{0D108BD9-81ED-4DB2-BD59-A6C34878D82A}">
                    <a16:rowId xmlns:a16="http://schemas.microsoft.com/office/drawing/2014/main" val="3840244188"/>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draw-</a:t>
                      </a:r>
                      <a:r>
                        <a:rPr lang="en-GB" sz="1200" b="1" noProof="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-sequence-model</a:t>
                      </a:r>
                    </a:p>
                  </a:txBody>
                  <a:tcPr marL="137900" marR="82740" marT="82740" marB="82740" anchor="ctr"/>
                </a:tc>
                <a:tc>
                  <a:txBody>
                    <a:bodyPr/>
                    <a:lstStyle/>
                    <a:p>
                      <a:pPr>
                        <a:buNone/>
                      </a:pPr>
                      <a:r>
                        <a:rPr lang="en-GB" sz="1200" noProof="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v2 Output - Sequence Diagram</a:t>
                      </a:r>
                    </a:p>
                  </a:txBody>
                  <a:tcPr marL="137900" marR="82740" marT="82740" marB="82740" anchor="ctr"/>
                </a:tc>
                <a:extLst>
                  <a:ext uri="{0D108BD9-81ED-4DB2-BD59-A6C34878D82A}">
                    <a16:rowId xmlns:a16="http://schemas.microsoft.com/office/drawing/2014/main" val="797272443"/>
                  </a:ext>
                </a:extLst>
              </a:tr>
              <a:tr h="371955">
                <a:tc>
                  <a:txBody>
                    <a:bodyPr/>
                    <a:lstStyle/>
                    <a:p>
                      <a:pPr>
                        <a:buNone/>
                      </a:pPr>
                      <a:r>
                        <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add-runtime-instrumentation</a:t>
                      </a:r>
                    </a:p>
                  </a:txBody>
                  <a:tcPr marL="137900" marR="82740" marT="82740" marB="827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Trace Collection - </a:t>
                      </a:r>
                      <a:r>
                        <a:rPr lang="en-GB" sz="120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csp_matcher</a:t>
                      </a:r>
                      <a:r>
                        <a:rPr lang="en-GB" sz="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probe injection</a:t>
                      </a:r>
                      <a:endPar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extLst>
                  <a:ext uri="{0D108BD9-81ED-4DB2-BD59-A6C34878D82A}">
                    <a16:rowId xmlns:a16="http://schemas.microsoft.com/office/drawing/2014/main" val="1589877789"/>
                  </a:ext>
                </a:extLst>
              </a:tr>
              <a:tr h="371955">
                <a:tc>
                  <a:txBody>
                    <a:bodyPr/>
                    <a:lstStyle/>
                    <a:p>
                      <a:pPr>
                        <a:buNone/>
                      </a:pPr>
                      <a:r>
                        <a:rPr lang="nl-NL"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agentic-synthesis</a:t>
                      </a:r>
                      <a:endPar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Evidence judgement, pruning false positives</a:t>
                      </a:r>
                      <a:endParaRPr lang="en-GB" sz="1200" kern="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extLst>
                  <a:ext uri="{0D108BD9-81ED-4DB2-BD59-A6C34878D82A}">
                    <a16:rowId xmlns:a16="http://schemas.microsoft.com/office/drawing/2014/main" val="1654161368"/>
                  </a:ext>
                </a:extLst>
              </a:tr>
            </a:tbl>
          </a:graphicData>
        </a:graphic>
      </p:graphicFrame>
      <p:sp>
        <p:nvSpPr>
          <p:cNvPr id="6" name="TextBox 5">
            <a:extLst>
              <a:ext uri="{FF2B5EF4-FFF2-40B4-BE49-F238E27FC236}">
                <a16:creationId xmlns:a16="http://schemas.microsoft.com/office/drawing/2014/main" id="{F62EAA60-68DE-807D-C5E5-CAD34E20E54E}"/>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7</a:t>
            </a:r>
          </a:p>
        </p:txBody>
      </p:sp>
      <p:sp>
        <p:nvSpPr>
          <p:cNvPr id="8" name="TextBox 7">
            <a:extLst>
              <a:ext uri="{FF2B5EF4-FFF2-40B4-BE49-F238E27FC236}">
                <a16:creationId xmlns:a16="http://schemas.microsoft.com/office/drawing/2014/main" id="{EA4222C4-4043-63BF-D489-A9966694E43A}"/>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1297803354"/>
      </p:ext>
    </p:extLst>
  </p:cSld>
  <p:clrMapOvr>
    <a:masterClrMapping/>
  </p:clrMapOvr>
  <p:extLst>
    <p:ext uri="{6950BFC3-D8DA-4A85-94F7-54DA5524770B}">
      <p188:commentRel xmlns:p188="http://schemas.microsoft.com/office/powerpoint/2018/8/main" r:id="rId3"/>
    </p:ext>
  </p:extLst>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Four Evaluation Scenarios</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dirty="0" err="1">
                <a:latin typeface="Sans Serif Collection" panose="020B0502040504020204" pitchFamily="34" charset="0"/>
                <a:ea typeface="Sans Serif Collection" panose="020B0502040504020204" pitchFamily="34" charset="0"/>
                <a:cs typeface="Sans Serif Collection" panose="020B0502040504020204" pitchFamily="34" charset="0"/>
              </a:rPr>
              <a:t>were</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dirty="0" err="1">
                <a:latin typeface="Sans Serif Collection" panose="020B0502040504020204" pitchFamily="34" charset="0"/>
                <a:ea typeface="Sans Serif Collection" panose="020B0502040504020204" pitchFamily="34" charset="0"/>
                <a:cs typeface="Sans Serif Collection" panose="020B0502040504020204" pitchFamily="34" charset="0"/>
              </a:rPr>
              <a:t>Selected</a:t>
            </a:r>
            <a:endParaRPr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BEF7BFC5-D2EA-7D6A-4FF6-A213076BD6C0}"/>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8</a:t>
            </a:r>
          </a:p>
        </p:txBody>
      </p:sp>
      <p:sp>
        <p:nvSpPr>
          <p:cNvPr id="5" name="TextBox 4">
            <a:extLst>
              <a:ext uri="{FF2B5EF4-FFF2-40B4-BE49-F238E27FC236}">
                <a16:creationId xmlns:a16="http://schemas.microsoft.com/office/drawing/2014/main" id="{2EFDC53F-4B81-85FE-06C0-62DEE2D6CE09}"/>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6" name="Table 5">
            <a:extLst>
              <a:ext uri="{FF2B5EF4-FFF2-40B4-BE49-F238E27FC236}">
                <a16:creationId xmlns:a16="http://schemas.microsoft.com/office/drawing/2014/main" id="{7543644A-209D-E4C1-2BAC-78135FD641E7}"/>
              </a:ext>
            </a:extLst>
          </p:cNvPr>
          <p:cNvGraphicFramePr>
            <a:graphicFrameLocks noGrp="1"/>
          </p:cNvGraphicFramePr>
          <p:nvPr>
            <p:extLst>
              <p:ext uri="{D42A27DB-BD31-4B8C-83A1-F6EECF244321}">
                <p14:modId xmlns:p14="http://schemas.microsoft.com/office/powerpoint/2010/main" val="3666668969"/>
              </p:ext>
            </p:extLst>
          </p:nvPr>
        </p:nvGraphicFramePr>
        <p:xfrm>
          <a:off x="1436546" y="1821896"/>
          <a:ext cx="9578164" cy="3675483"/>
        </p:xfrm>
        <a:graphic>
          <a:graphicData uri="http://schemas.openxmlformats.org/drawingml/2006/table">
            <a:tbl>
              <a:tblPr firstRow="1" bandRow="1">
                <a:tableStyleId>{00A15C55-8517-42AA-B614-E9B94910E393}</a:tableStyleId>
              </a:tblPr>
              <a:tblGrid>
                <a:gridCol w="1123615">
                  <a:extLst>
                    <a:ext uri="{9D8B030D-6E8A-4147-A177-3AD203B41FA5}">
                      <a16:colId xmlns:a16="http://schemas.microsoft.com/office/drawing/2014/main" val="3317597387"/>
                    </a:ext>
                  </a:extLst>
                </a:gridCol>
                <a:gridCol w="1319722">
                  <a:extLst>
                    <a:ext uri="{9D8B030D-6E8A-4147-A177-3AD203B41FA5}">
                      <a16:colId xmlns:a16="http://schemas.microsoft.com/office/drawing/2014/main" val="1082157230"/>
                    </a:ext>
                  </a:extLst>
                </a:gridCol>
                <a:gridCol w="2003332">
                  <a:extLst>
                    <a:ext uri="{9D8B030D-6E8A-4147-A177-3AD203B41FA5}">
                      <a16:colId xmlns:a16="http://schemas.microsoft.com/office/drawing/2014/main" val="3974945007"/>
                    </a:ext>
                  </a:extLst>
                </a:gridCol>
                <a:gridCol w="5131495">
                  <a:extLst>
                    <a:ext uri="{9D8B030D-6E8A-4147-A177-3AD203B41FA5}">
                      <a16:colId xmlns:a16="http://schemas.microsoft.com/office/drawing/2014/main" val="1857059950"/>
                    </a:ext>
                  </a:extLst>
                </a:gridCol>
              </a:tblGrid>
              <a:tr h="591695">
                <a:tc>
                  <a:txBody>
                    <a:bodyPr/>
                    <a:lstStyle/>
                    <a:p>
                      <a:r>
                        <a:rPr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Scenario</a:t>
                      </a:r>
                    </a:p>
                  </a:txBody>
                  <a:tcPr anchor="ctr"/>
                </a:tc>
                <a:tc>
                  <a:txBody>
                    <a:bodyPr/>
                    <a:lstStyle/>
                    <a:p>
                      <a:r>
                        <a:rPr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Nature</a:t>
                      </a:r>
                    </a:p>
                  </a:txBody>
                  <a:tcPr anchor="ctr"/>
                </a:tc>
                <a:tc>
                  <a:txBody>
                    <a:bodyPr/>
                    <a:lstStyle/>
                    <a:p>
                      <a:r>
                        <a:rPr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What it exercises</a:t>
                      </a:r>
                    </a:p>
                  </a:txBody>
                  <a:tcPr anchor="ctr"/>
                </a:tc>
                <a:tc>
                  <a:txBody>
                    <a:bodyPr/>
                    <a:lstStyle/>
                    <a:p>
                      <a:r>
                        <a:rPr lang="en-GB" sz="1600" b="1" kern="1200" dirty="0">
                          <a:solidFill>
                            <a:schemeClr val="lt1"/>
                          </a:solidFill>
                          <a:latin typeface="Sans Serif Collection" panose="020B0502040504020204" pitchFamily="34" charset="0"/>
                          <a:ea typeface="Sans Serif Collection" panose="020B0502040504020204" pitchFamily="34" charset="0"/>
                          <a:cs typeface="Sans Serif Collection" panose="020B0502040504020204" pitchFamily="34" charset="0"/>
                        </a:rPr>
                        <a:t>Test Case Reference</a:t>
                      </a:r>
                    </a:p>
                  </a:txBody>
                  <a:tcPr anchor="ctr"/>
                </a:tc>
                <a:extLst>
                  <a:ext uri="{0D108BD9-81ED-4DB2-BD59-A6C34878D82A}">
                    <a16:rowId xmlns:a16="http://schemas.microsoft.com/office/drawing/2014/main" val="1687419732"/>
                  </a:ext>
                </a:extLst>
              </a:tr>
              <a:tr h="607289">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S1</a:t>
                      </a:r>
                    </a:p>
                  </a:txBody>
                  <a:tcPr anchor="ctr"/>
                </a:tc>
                <a:tc>
                  <a:txBody>
                    <a:bodyPr/>
                    <a:lstStyle/>
                    <a:p>
                      <a:pPr marL="0" algn="l" defTabSz="914400" rtl="0" eaLnBrk="1" latinLnBrk="0" hangingPunct="1"/>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Pre-</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existing</a:t>
                      </a:r>
                      <a:endPar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tc>
                  <a:txBody>
                    <a:bodyPr/>
                    <a:lstStyle/>
                    <a:p>
                      <a:pPr marL="0" algn="l" defTabSz="914400" rtl="0" eaLnBrk="1" latinLnBrk="0" hangingPunct="1"/>
                      <a:r>
                        <a:rPr lang="en-GB"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Aggregation cha</a:t>
                      </a:r>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in</a:t>
                      </a:r>
                    </a:p>
                  </a:txBody>
                  <a:tcPr anchor="ctr"/>
                </a:tc>
                <a:tc>
                  <a:txBody>
                    <a:bodyPr/>
                    <a:lstStyle/>
                    <a:p>
                      <a:pPr marL="0" algn="l" defTabSz="914400" rtl="0" eaLnBrk="1" latinLnBrk="0" hangingPunct="1">
                        <a:buNone/>
                      </a:pP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RunnerTest.cpp</a:t>
                      </a:r>
                      <a:b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b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a:t>
                      </a: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Runner Test“, "</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a:t>
                      </a: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Runner </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Timeout</a:t>
                      </a: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t>
                      </a:r>
                      <a:endParaRPr lang="en-GB"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2700" marR="12700" marT="12700" marB="12700" anchor="ctr"/>
                </a:tc>
                <a:extLst>
                  <a:ext uri="{0D108BD9-81ED-4DB2-BD59-A6C34878D82A}">
                    <a16:rowId xmlns:a16="http://schemas.microsoft.com/office/drawing/2014/main" val="1138243158"/>
                  </a:ext>
                </a:extLst>
              </a:tr>
              <a:tr h="872671">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S2</a:t>
                      </a:r>
                    </a:p>
                  </a:txBody>
                  <a:tcPr anchor="ctr"/>
                </a:tc>
                <a:tc>
                  <a:txBody>
                    <a:bodyPr/>
                    <a:lstStyle/>
                    <a:p>
                      <a:pPr marL="0" algn="l" defTabSz="914400" rtl="0" eaLnBrk="1" latinLnBrk="0" hangingPunct="1"/>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Pre-</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existing</a:t>
                      </a:r>
                      <a:endPar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Config mapping</a:t>
                      </a:r>
                    </a:p>
                  </a:txBody>
                  <a:tcPr anchor="ctr"/>
                </a:tc>
                <a:tc>
                  <a:txBody>
                    <a:bodyPr/>
                    <a:lstStyle/>
                    <a:p>
                      <a:pPr marL="0" algn="l" defTabSz="914400" rtl="0" eaLnBrk="1" latinLnBrk="0" hangingPunct="1"/>
                      <a:r>
                        <a:rPr lang="nl-NL"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PropertyMapperTest.cpp</a:t>
                      </a:r>
                      <a:b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b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All</a:t>
                      </a: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TEST_CASES (</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one</a:t>
                      </a: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per property type)</a:t>
                      </a:r>
                      <a:endParaRPr lang="en-GB"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extLst>
                  <a:ext uri="{0D108BD9-81ED-4DB2-BD59-A6C34878D82A}">
                    <a16:rowId xmlns:a16="http://schemas.microsoft.com/office/drawing/2014/main" val="1488196117"/>
                  </a:ext>
                </a:extLst>
              </a:tr>
              <a:tr h="801914">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S3</a:t>
                      </a:r>
                    </a:p>
                  </a:txBody>
                  <a:tcPr anchor="ctr"/>
                </a:tc>
                <a:tc>
                  <a:txBody>
                    <a:bodyPr/>
                    <a:lstStyle/>
                    <a:p>
                      <a:pPr marL="0" algn="l" defTabSz="914400" rtl="0" eaLnBrk="1" latinLnBrk="0" hangingPunct="1"/>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Pre-</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existing</a:t>
                      </a:r>
                      <a:endPar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Multi-component runner</a:t>
                      </a:r>
                    </a:p>
                  </a:txBody>
                  <a:tcPr anchor="ctr"/>
                </a:tc>
                <a:tc>
                  <a:txBody>
                    <a:bodyPr/>
                    <a:lstStyle/>
                    <a:p>
                      <a:pPr marL="0" algn="l" defTabSz="914400" rtl="0" eaLnBrk="1" latinLnBrk="0" hangingPunct="1"/>
                      <a:r>
                        <a:rPr lang="nl-NL"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RunnerTest.cpp  </a:t>
                      </a:r>
                      <a:r>
                        <a:rPr lang="nl-NL" sz="1400" b="1"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and</a:t>
                      </a:r>
                      <a:r>
                        <a:rPr lang="nl-NL"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IPCTest.cpp</a:t>
                      </a:r>
                      <a:b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b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a:t>
                      </a: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Runner Test", "IPC Test 1"</a:t>
                      </a:r>
                      <a:endParaRPr lang="en-GB"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extLst>
                  <a:ext uri="{0D108BD9-81ED-4DB2-BD59-A6C34878D82A}">
                    <a16:rowId xmlns:a16="http://schemas.microsoft.com/office/drawing/2014/main" val="1452621448"/>
                  </a:ext>
                </a:extLst>
              </a:tr>
              <a:tr h="801914">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S4</a:t>
                      </a:r>
                    </a:p>
                  </a:txBody>
                  <a:tcPr anchor="ct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Constructed</a:t>
                      </a:r>
                    </a:p>
                  </a:txBody>
                  <a:tcPr anchor="ct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Publish/subscribe dual-gap fault path</a:t>
                      </a:r>
                    </a:p>
                  </a:txBody>
                  <a:tcPr anchor="ctr"/>
                </a:tc>
                <a:tc>
                  <a:txBody>
                    <a:bodyPr/>
                    <a:lstStyle/>
                    <a:p>
                      <a:pPr marL="0" algn="l" defTabSz="914400" rtl="0" eaLnBrk="1" latinLnBrk="0" hangingPunct="1"/>
                      <a:r>
                        <a:rPr lang="nl-NL"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StageEventBridgeTest.cpp</a:t>
                      </a:r>
                      <a:b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b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"Stage Event Bridge Pub-Sub Routing"</a:t>
                      </a:r>
                      <a:endParaRPr lang="en-GB"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extLst>
                  <a:ext uri="{0D108BD9-81ED-4DB2-BD59-A6C34878D82A}">
                    <a16:rowId xmlns:a16="http://schemas.microsoft.com/office/drawing/2014/main" val="729570164"/>
                  </a:ext>
                </a:extLst>
              </a:tr>
            </a:tbl>
          </a:graphicData>
        </a:graphic>
      </p:graphicFrame>
    </p:spTree>
  </p:cSld>
  <p:clrMapOvr>
    <a:masterClrMapping/>
  </p:clrMapOvr>
  <p:extLst>
    <p:ext uri="{6950BFC3-D8DA-4A85-94F7-54DA5524770B}">
      <p188:commentRel xmlns:p188="http://schemas.microsoft.com/office/powerpoint/2018/8/main" r:id="rId2"/>
    </p:ext>
  </p:extLst>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D3F8F970-CA33-DCA4-E937-E4720988CCF9}"/>
              </a:ext>
            </a:extLst>
          </p:cNvPr>
          <p:cNvPicPr>
            <a:picLocks noGrp="1" noChangeAspect="1"/>
          </p:cNvPicPr>
          <p:nvPr>
            <p:ph sz="quarter" idx="11"/>
          </p:nvPr>
        </p:nvPicPr>
        <p:blipFill>
          <a:blip r:embed="rId3"/>
          <a:stretch>
            <a:fillRect/>
          </a:stretch>
        </p:blipFill>
        <p:spPr>
          <a:xfrm>
            <a:off x="6308726" y="2334030"/>
            <a:ext cx="5305821" cy="2695169"/>
          </a:xfrm>
          <a:prstGeom prst="rect">
            <a:avLst/>
          </a:prstGeom>
        </p:spPr>
      </p:pic>
      <p:pic>
        <p:nvPicPr>
          <p:cNvPr id="8" name="Content Placeholder 7">
            <a:extLst>
              <a:ext uri="{FF2B5EF4-FFF2-40B4-BE49-F238E27FC236}">
                <a16:creationId xmlns:a16="http://schemas.microsoft.com/office/drawing/2014/main" id="{AB6993C9-EF92-9AE2-6550-5168BD9C0BA2}"/>
              </a:ext>
            </a:extLst>
          </p:cNvPr>
          <p:cNvPicPr>
            <a:picLocks noGrp="1" noChangeAspect="1"/>
          </p:cNvPicPr>
          <p:nvPr>
            <p:ph sz="quarter" idx="10"/>
          </p:nvPr>
        </p:nvPicPr>
        <p:blipFill>
          <a:blip r:embed="rId4"/>
          <a:stretch>
            <a:fillRect/>
          </a:stretch>
        </p:blipFill>
        <p:spPr>
          <a:xfrm>
            <a:off x="428158" y="2334031"/>
            <a:ext cx="5667842" cy="3590520"/>
          </a:xfrm>
          <a:prstGeom prst="rect">
            <a:avLst/>
          </a:prstGeom>
        </p:spPr>
      </p:pic>
      <p:pic>
        <p:nvPicPr>
          <p:cNvPr id="16" name="Picture 15">
            <a:extLst>
              <a:ext uri="{FF2B5EF4-FFF2-40B4-BE49-F238E27FC236}">
                <a16:creationId xmlns:a16="http://schemas.microsoft.com/office/drawing/2014/main" id="{9CD4E56B-6AFC-F01A-AA48-D5406A1505A7}"/>
              </a:ext>
            </a:extLst>
          </p:cNvPr>
          <p:cNvPicPr>
            <a:picLocks noChangeAspect="1"/>
          </p:cNvPicPr>
          <p:nvPr/>
        </p:nvPicPr>
        <p:blipFill>
          <a:blip r:embed="rId5"/>
          <a:stretch>
            <a:fillRect/>
          </a:stretch>
        </p:blipFill>
        <p:spPr>
          <a:xfrm>
            <a:off x="5684154" y="2397368"/>
            <a:ext cx="5973235" cy="3069889"/>
          </a:xfrm>
          <a:prstGeom prst="rect">
            <a:avLst/>
          </a:prstGeom>
        </p:spPr>
      </p:pic>
      <p:pic>
        <p:nvPicPr>
          <p:cNvPr id="14" name="Picture 13">
            <a:extLst>
              <a:ext uri="{FF2B5EF4-FFF2-40B4-BE49-F238E27FC236}">
                <a16:creationId xmlns:a16="http://schemas.microsoft.com/office/drawing/2014/main" id="{819CB94B-7A11-9D9B-B145-F3F0C72E2E1B}"/>
              </a:ext>
            </a:extLst>
          </p:cNvPr>
          <p:cNvPicPr>
            <a:picLocks noChangeAspect="1"/>
          </p:cNvPicPr>
          <p:nvPr/>
        </p:nvPicPr>
        <p:blipFill>
          <a:blip r:embed="rId6"/>
          <a:stretch>
            <a:fillRect/>
          </a:stretch>
        </p:blipFill>
        <p:spPr>
          <a:xfrm>
            <a:off x="397440" y="2016638"/>
            <a:ext cx="5102692" cy="3651541"/>
          </a:xfrm>
          <a:prstGeom prst="rect">
            <a:avLst/>
          </a:prstGeom>
        </p:spPr>
      </p:pic>
      <p:sp>
        <p:nvSpPr>
          <p:cNvPr id="2" name="Title 1">
            <a:extLst>
              <a:ext uri="{FF2B5EF4-FFF2-40B4-BE49-F238E27FC236}">
                <a16:creationId xmlns:a16="http://schemas.microsoft.com/office/drawing/2014/main" id="{AEADC854-5E2F-BDB8-FF94-963110FBE4C7}"/>
              </a:ext>
            </a:extLst>
          </p:cNvPr>
          <p:cNvSpPr>
            <a:spLocks noGrp="1"/>
          </p:cNvSpPr>
          <p:nvPr>
            <p:ph type="title"/>
          </p:nvPr>
        </p:nvSpPr>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Reference Diagrams - Ground Truths</a:t>
            </a:r>
          </a:p>
        </p:txBody>
      </p:sp>
      <p:sp>
        <p:nvSpPr>
          <p:cNvPr id="11" name="TextBox 10">
            <a:extLst>
              <a:ext uri="{FF2B5EF4-FFF2-40B4-BE49-F238E27FC236}">
                <a16:creationId xmlns:a16="http://schemas.microsoft.com/office/drawing/2014/main" id="{5074E685-A21D-79BB-D884-FB494599D09E}"/>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8</a:t>
            </a:r>
          </a:p>
        </p:txBody>
      </p:sp>
      <p:sp>
        <p:nvSpPr>
          <p:cNvPr id="12" name="TextBox 11">
            <a:extLst>
              <a:ext uri="{FF2B5EF4-FFF2-40B4-BE49-F238E27FC236}">
                <a16:creationId xmlns:a16="http://schemas.microsoft.com/office/drawing/2014/main" id="{BFD5DEAC-2CCE-8107-E8A1-3F655334B653}"/>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860189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0"/>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2"/>
    </p:ext>
  </p:extLs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EA4BD-C045-D678-F555-4BD7EA8E12F4}"/>
              </a:ext>
            </a:extLst>
          </p:cNvPr>
          <p:cNvSpPr>
            <a:spLocks noGrp="1"/>
          </p:cNvSpPr>
          <p:nvPr>
            <p:ph type="title"/>
          </p:nvPr>
        </p:nvSpPr>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Ground Truth Explanation</a:t>
            </a:r>
          </a:p>
        </p:txBody>
      </p:sp>
      <p:pic>
        <p:nvPicPr>
          <p:cNvPr id="8" name="Content Placeholder 7">
            <a:extLst>
              <a:ext uri="{FF2B5EF4-FFF2-40B4-BE49-F238E27FC236}">
                <a16:creationId xmlns:a16="http://schemas.microsoft.com/office/drawing/2014/main" id="{07DEE5D7-2F88-B852-FB2A-3175B8EF5E50}"/>
              </a:ext>
            </a:extLst>
          </p:cNvPr>
          <p:cNvPicPr>
            <a:picLocks noGrp="1" noChangeAspect="1"/>
          </p:cNvPicPr>
          <p:nvPr>
            <p:ph sz="quarter" idx="10"/>
          </p:nvPr>
        </p:nvPicPr>
        <p:blipFill>
          <a:blip r:embed="rId2"/>
          <a:stretch>
            <a:fillRect/>
          </a:stretch>
        </p:blipFill>
        <p:spPr>
          <a:xfrm>
            <a:off x="428625" y="2124073"/>
            <a:ext cx="6160095" cy="3902357"/>
          </a:xfrm>
          <a:prstGeom prst="rect">
            <a:avLst/>
          </a:prstGeom>
        </p:spPr>
      </p:pic>
      <p:sp>
        <p:nvSpPr>
          <p:cNvPr id="9" name="TextBox 8">
            <a:extLst>
              <a:ext uri="{FF2B5EF4-FFF2-40B4-BE49-F238E27FC236}">
                <a16:creationId xmlns:a16="http://schemas.microsoft.com/office/drawing/2014/main" id="{5D323234-7F1E-72FC-26CB-1022A39C37E8}"/>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8</a:t>
            </a:r>
          </a:p>
        </p:txBody>
      </p:sp>
      <p:sp>
        <p:nvSpPr>
          <p:cNvPr id="10" name="TextBox 9">
            <a:extLst>
              <a:ext uri="{FF2B5EF4-FFF2-40B4-BE49-F238E27FC236}">
                <a16:creationId xmlns:a16="http://schemas.microsoft.com/office/drawing/2014/main" id="{E186F6DE-281F-2DD9-610A-54263FD28D24}"/>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6" name="Picture 15">
            <a:extLst>
              <a:ext uri="{FF2B5EF4-FFF2-40B4-BE49-F238E27FC236}">
                <a16:creationId xmlns:a16="http://schemas.microsoft.com/office/drawing/2014/main" id="{43CFF186-DD5B-59EB-CDBB-02E7DAD8AFC0}"/>
              </a:ext>
            </a:extLst>
          </p:cNvPr>
          <p:cNvPicPr>
            <a:picLocks noChangeAspect="1"/>
          </p:cNvPicPr>
          <p:nvPr/>
        </p:nvPicPr>
        <p:blipFill>
          <a:blip r:embed="rId3"/>
          <a:stretch>
            <a:fillRect/>
          </a:stretch>
        </p:blipFill>
        <p:spPr>
          <a:xfrm>
            <a:off x="6651035" y="1779304"/>
            <a:ext cx="4888864" cy="4247127"/>
          </a:xfrm>
          <a:prstGeom prst="rect">
            <a:avLst/>
          </a:prstGeom>
        </p:spPr>
      </p:pic>
      <p:pic>
        <p:nvPicPr>
          <p:cNvPr id="18" name="Picture 17">
            <a:extLst>
              <a:ext uri="{FF2B5EF4-FFF2-40B4-BE49-F238E27FC236}">
                <a16:creationId xmlns:a16="http://schemas.microsoft.com/office/drawing/2014/main" id="{9289B3CA-FD2E-1AAF-9DDB-FBCD6B6BD907}"/>
              </a:ext>
            </a:extLst>
          </p:cNvPr>
          <p:cNvPicPr>
            <a:picLocks noChangeAspect="1"/>
          </p:cNvPicPr>
          <p:nvPr/>
        </p:nvPicPr>
        <p:blipFill>
          <a:blip r:embed="rId4"/>
          <a:stretch>
            <a:fillRect/>
          </a:stretch>
        </p:blipFill>
        <p:spPr>
          <a:xfrm>
            <a:off x="7231678" y="1693419"/>
            <a:ext cx="3649757" cy="4679468"/>
          </a:xfrm>
          <a:prstGeom prst="rect">
            <a:avLst/>
          </a:prstGeom>
        </p:spPr>
      </p:pic>
      <p:pic>
        <p:nvPicPr>
          <p:cNvPr id="22" name="Picture 21">
            <a:extLst>
              <a:ext uri="{FF2B5EF4-FFF2-40B4-BE49-F238E27FC236}">
                <a16:creationId xmlns:a16="http://schemas.microsoft.com/office/drawing/2014/main" id="{247C21D5-4C8F-F05C-56D3-AF649F62EB45}"/>
              </a:ext>
            </a:extLst>
          </p:cNvPr>
          <p:cNvPicPr>
            <a:picLocks noChangeAspect="1"/>
          </p:cNvPicPr>
          <p:nvPr/>
        </p:nvPicPr>
        <p:blipFill>
          <a:blip r:embed="rId5"/>
          <a:stretch>
            <a:fillRect/>
          </a:stretch>
        </p:blipFill>
        <p:spPr>
          <a:xfrm>
            <a:off x="6651035" y="1922715"/>
            <a:ext cx="5007565" cy="3866780"/>
          </a:xfrm>
          <a:prstGeom prst="rect">
            <a:avLst/>
          </a:prstGeom>
        </p:spPr>
      </p:pic>
    </p:spTree>
    <p:extLst>
      <p:ext uri="{BB962C8B-B14F-4D97-AF65-F5344CB8AC3E}">
        <p14:creationId xmlns:p14="http://schemas.microsoft.com/office/powerpoint/2010/main" val="1776051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BCB503F-C8C7-1E25-4E1F-9A0CBEAF0E0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A558886-49C0-70C3-CFE9-C9529F2E70A5}"/>
              </a:ext>
            </a:extLst>
          </p:cNvPr>
          <p:cNvSpPr>
            <a:spLocks noGrp="1"/>
          </p:cNvSpPr>
          <p:nvPr>
            <p:ph type="title"/>
          </p:nvPr>
        </p:nvSpPr>
        <p:spPr>
          <a:xfrm>
            <a:off x="566058" y="371623"/>
            <a:ext cx="9762309" cy="1163190"/>
          </a:xfrm>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Methodology </a:t>
            </a:r>
            <a:r>
              <a:rPr lang="en-GB" sz="4400" dirty="0">
                <a:latin typeface="Sans Serif Collection" panose="020B0502040504020204" pitchFamily="34" charset="0"/>
                <a:ea typeface="Sans Serif Collection" panose="020B0502040504020204" pitchFamily="34" charset="0"/>
                <a:cs typeface="Sans Serif Collection" panose="020B0502040504020204" pitchFamily="34" charset="0"/>
              </a:rPr>
              <a:t>- The Hybrid Pipeline </a:t>
            </a:r>
          </a:p>
        </p:txBody>
      </p:sp>
      <p:sp>
        <p:nvSpPr>
          <p:cNvPr id="36" name="TextBox 35">
            <a:extLst>
              <a:ext uri="{FF2B5EF4-FFF2-40B4-BE49-F238E27FC236}">
                <a16:creationId xmlns:a16="http://schemas.microsoft.com/office/drawing/2014/main" id="{27174933-27B1-ABED-4ADC-9C0AD7B6F927}"/>
              </a:ext>
            </a:extLst>
          </p:cNvPr>
          <p:cNvSpPr txBox="1"/>
          <p:nvPr/>
        </p:nvSpPr>
        <p:spPr>
          <a:xfrm>
            <a:off x="434885" y="4939009"/>
            <a:ext cx="10549140" cy="1129796"/>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400" b="1" i="0" u="none" strike="noStrike" kern="1200" cap="none" spc="0" normalizeH="0" baseline="0" noProof="0" dirty="0">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Final status:</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All six stages complete, evaluated across four </a:t>
            </a:r>
            <a:r>
              <a:rPr kumimoji="0" lang="en-GB" sz="1400" b="0" i="0" u="none" strike="noStrike" kern="1200" cap="none" spc="0" normalizeH="0" baseline="0" noProof="0" dirty="0" err="1">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kumimoji="0" lang="en-GB" sz="1400" b="0" i="0" u="none" strike="noStrike" kern="1200" cap="none" spc="0" normalizeH="0" baseline="0" noProof="0" dirty="0">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 scenarios (S1–S4) + An exploratory practitioner session on a second, much larger industrial codebase.</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Three hypotheses H1, H2, H3 were confirmed.</a:t>
            </a:r>
          </a:p>
        </p:txBody>
      </p:sp>
      <p:sp>
        <p:nvSpPr>
          <p:cNvPr id="22" name="TextBox 21">
            <a:extLst>
              <a:ext uri="{FF2B5EF4-FFF2-40B4-BE49-F238E27FC236}">
                <a16:creationId xmlns:a16="http://schemas.microsoft.com/office/drawing/2014/main" id="{5BA40749-1B04-F722-0888-E58432F7203F}"/>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6</a:t>
            </a:r>
          </a:p>
        </p:txBody>
      </p:sp>
      <p:sp>
        <p:nvSpPr>
          <p:cNvPr id="23" name="TextBox 22">
            <a:extLst>
              <a:ext uri="{FF2B5EF4-FFF2-40B4-BE49-F238E27FC236}">
                <a16:creationId xmlns:a16="http://schemas.microsoft.com/office/drawing/2014/main" id="{0D36927F-FBEE-328A-A0AA-07B023875711}"/>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2" name="Diagram 1">
            <a:extLst>
              <a:ext uri="{FF2B5EF4-FFF2-40B4-BE49-F238E27FC236}">
                <a16:creationId xmlns:a16="http://schemas.microsoft.com/office/drawing/2014/main" id="{4F29B389-FF29-8DEA-573B-B456D3A7C7FB}"/>
              </a:ext>
            </a:extLst>
          </p:cNvPr>
          <p:cNvGraphicFramePr/>
          <p:nvPr>
            <p:extLst>
              <p:ext uri="{D42A27DB-BD31-4B8C-83A1-F6EECF244321}">
                <p14:modId xmlns:p14="http://schemas.microsoft.com/office/powerpoint/2010/main" val="3333407988"/>
              </p:ext>
            </p:extLst>
          </p:nvPr>
        </p:nvGraphicFramePr>
        <p:xfrm>
          <a:off x="779520" y="1698940"/>
          <a:ext cx="10549140" cy="32400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3AA03E84-2A54-0D8D-E377-A9D1DA1C18B1}"/>
              </a:ext>
            </a:extLst>
          </p:cNvPr>
          <p:cNvPicPr>
            <a:picLocks noChangeAspect="1"/>
          </p:cNvPicPr>
          <p:nvPr/>
        </p:nvPicPr>
        <p:blipFill>
          <a:blip r:embed="rId8"/>
          <a:stretch>
            <a:fillRect/>
          </a:stretch>
        </p:blipFill>
        <p:spPr>
          <a:xfrm>
            <a:off x="5879488" y="19295"/>
            <a:ext cx="5238750" cy="6610350"/>
          </a:xfrm>
          <a:prstGeom prst="rect">
            <a:avLst/>
          </a:prstGeom>
        </p:spPr>
      </p:pic>
    </p:spTree>
    <p:extLst>
      <p:ext uri="{BB962C8B-B14F-4D97-AF65-F5344CB8AC3E}">
        <p14:creationId xmlns:p14="http://schemas.microsoft.com/office/powerpoint/2010/main" val="26619000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415"/>
            <a:ext cx="10331450" cy="1531525"/>
          </a:xfrm>
        </p:spPr>
        <p:txBody>
          <a:bodyPr>
            <a:normAutofit/>
          </a:bodyPr>
          <a:lstStyle/>
          <a:p>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Stage 1 </a:t>
            </a:r>
            <a:r>
              <a:rPr lang="nl-NL" sz="2800"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 Static Extraction: C++ → Property Graph</a:t>
            </a:r>
          </a:p>
        </p:txBody>
      </p:sp>
      <p:sp>
        <p:nvSpPr>
          <p:cNvPr id="3" name="Rounded Rectangle 2"/>
          <p:cNvSpPr/>
          <p:nvPr/>
        </p:nvSpPr>
        <p:spPr>
          <a:xfrm>
            <a:off x="10088880" y="320040"/>
            <a:ext cx="1737360" cy="384048"/>
          </a:xfrm>
          <a:prstGeom prst="roundRect">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88880" y="320040"/>
            <a:ext cx="1737360" cy="384048"/>
          </a:xfrm>
          <a:prstGeom prst="rect">
            <a:avLst/>
          </a:prstGeom>
          <a:noFill/>
        </p:spPr>
        <p:txBody>
          <a:bodyPr wrap="square" lIns="45720" tIns="18288" rIns="45720" bIns="18288" anchor="ctr">
            <a:spAutoFit/>
          </a:bodyPr>
          <a:lstStyle/>
          <a:p>
            <a:pPr algn="ctr"/>
            <a:r>
              <a:rPr sz="1200" b="1" i="0">
                <a:solidFill>
                  <a:srgbClr val="FFFFFF"/>
                </a:solidFill>
                <a:latin typeface="Calibri"/>
              </a:rPr>
              <a:t>STAGE 1 / 6</a:t>
            </a:r>
          </a:p>
        </p:txBody>
      </p:sp>
      <p:sp>
        <p:nvSpPr>
          <p:cNvPr id="8" name="TextBox 7"/>
          <p:cNvSpPr txBox="1"/>
          <p:nvPr/>
        </p:nvSpPr>
        <p:spPr>
          <a:xfrm>
            <a:off x="457200" y="2331720"/>
            <a:ext cx="11247120" cy="467820"/>
          </a:xfrm>
          <a:prstGeom prst="rect">
            <a:avLst/>
          </a:prstGeom>
          <a:noFill/>
        </p:spPr>
        <p:txBody>
          <a:bodyPr wrap="square" lIns="45720" tIns="18288" rIns="45720" bIns="18288" anchor="t">
            <a:spAutoFit/>
          </a:bodyPr>
          <a:lstStyle/>
          <a:p>
            <a:pPr algn="l"/>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Renaissance</a:t>
            </a:r>
            <a:r>
              <a:rPr lang="nl-NL"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tool</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parses the whole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codebase</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into a Neo4j property graph: one node per declaration, definition, header, source file and folder</a:t>
            </a:r>
            <a:r>
              <a:rPr lang="nl-NL"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O</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ne edge per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CppCalls</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CppContains</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CppUses</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 Include / Source /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ParentFolder</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relationship.</a:t>
            </a:r>
          </a:p>
        </p:txBody>
      </p:sp>
      <p:sp>
        <p:nvSpPr>
          <p:cNvPr id="9" name="Rounded Rectangle 8"/>
          <p:cNvSpPr/>
          <p:nvPr/>
        </p:nvSpPr>
        <p:spPr>
          <a:xfrm>
            <a:off x="1145309" y="3592116"/>
            <a:ext cx="1923924" cy="777240"/>
          </a:xfrm>
          <a:prstGeom prst="roundRect">
            <a:avLst>
              <a:gd name="adj" fmla="val 4000"/>
            </a:avLst>
          </a:prstGeom>
          <a:solidFill>
            <a:srgbClr val="E4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28188" y="3683556"/>
            <a:ext cx="1741045" cy="606320"/>
          </a:xfrm>
          <a:prstGeom prst="rect">
            <a:avLst/>
          </a:prstGeom>
          <a:noFill/>
        </p:spPr>
        <p:txBody>
          <a:bodyPr wrap="square" lIns="45720" tIns="18288" rIns="45720" bIns="18288" anchor="t">
            <a:spAutoFit/>
          </a:bodyPr>
          <a:lstStyle/>
          <a:p>
            <a:pPr algn="l"/>
            <a:r>
              <a:rPr sz="2600" b="1" i="0" dirty="0">
                <a:solidFill>
                  <a:srgbClr val="55736D"/>
                </a:solidFill>
                <a:latin typeface="Calibri"/>
              </a:rPr>
              <a:t>67,104</a:t>
            </a:r>
          </a:p>
          <a:p>
            <a:pPr algn="l"/>
            <a:r>
              <a:rPr sz="1100" b="0" i="0" dirty="0">
                <a:solidFill>
                  <a:srgbClr val="5A636E"/>
                </a:solidFill>
                <a:latin typeface="Calibri"/>
              </a:rPr>
              <a:t>nodes in the </a:t>
            </a:r>
            <a:r>
              <a:rPr lang="nl-NL" sz="1100" b="0" i="0" dirty="0">
                <a:solidFill>
                  <a:srgbClr val="5A636E"/>
                </a:solidFill>
                <a:latin typeface="Calibri"/>
              </a:rPr>
              <a:t>property</a:t>
            </a:r>
            <a:r>
              <a:rPr sz="1100" b="0" i="0" dirty="0">
                <a:solidFill>
                  <a:srgbClr val="5A636E"/>
                </a:solidFill>
                <a:latin typeface="Calibri"/>
              </a:rPr>
              <a:t> graph</a:t>
            </a:r>
          </a:p>
        </p:txBody>
      </p:sp>
      <p:sp>
        <p:nvSpPr>
          <p:cNvPr id="11" name="Rounded Rectangle 10"/>
          <p:cNvSpPr/>
          <p:nvPr/>
        </p:nvSpPr>
        <p:spPr>
          <a:xfrm>
            <a:off x="4184073" y="3012948"/>
            <a:ext cx="6862618" cy="1920240"/>
          </a:xfrm>
          <a:prstGeom prst="roundRect">
            <a:avLst/>
          </a:prstGeom>
          <a:solidFill>
            <a:srgbClr val="201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21233" y="3104388"/>
            <a:ext cx="7772400" cy="1737360"/>
          </a:xfrm>
          <a:prstGeom prst="rect">
            <a:avLst/>
          </a:prstGeom>
          <a:noFill/>
        </p:spPr>
        <p:txBody>
          <a:bodyPr wrap="square">
            <a:spAutoFit/>
          </a:bodyPr>
          <a:lstStyle/>
          <a:p>
            <a:pPr>
              <a:spcAft>
                <a:spcPts val="100"/>
              </a:spcAft>
            </a:pPr>
            <a:r>
              <a:rPr sz="1100" dirty="0">
                <a:solidFill>
                  <a:srgbClr val="ECE8DD"/>
                </a:solidFill>
                <a:latin typeface="Consolas"/>
              </a:rPr>
              <a:t>type=</a:t>
            </a:r>
            <a:r>
              <a:rPr sz="1100" dirty="0" err="1">
                <a:solidFill>
                  <a:srgbClr val="ECE8DD"/>
                </a:solidFill>
                <a:latin typeface="Consolas"/>
              </a:rPr>
              <a:t>CppCalls</a:t>
            </a:r>
            <a:endParaRPr sz="1100" dirty="0">
              <a:solidFill>
                <a:srgbClr val="ECE8DD"/>
              </a:solidFill>
              <a:latin typeface="Consolas"/>
            </a:endParaRPr>
          </a:p>
          <a:p>
            <a:pPr>
              <a:spcAft>
                <a:spcPts val="100"/>
              </a:spcAft>
            </a:pPr>
            <a:r>
              <a:rPr sz="1100" dirty="0">
                <a:solidFill>
                  <a:srgbClr val="ECE8DD"/>
                </a:solidFill>
                <a:latin typeface="Consolas"/>
              </a:rPr>
              <a:t>source=</a:t>
            </a:r>
            <a:r>
              <a:rPr sz="1100" dirty="0" err="1">
                <a:solidFill>
                  <a:srgbClr val="ECE8DD"/>
                </a:solidFill>
                <a:latin typeface="Consolas"/>
              </a:rPr>
              <a:t>cpp_funcdef</a:t>
            </a:r>
            <a:r>
              <a:rPr sz="1100" dirty="0">
                <a:solidFill>
                  <a:srgbClr val="ECE8DD"/>
                </a:solidFill>
                <a:latin typeface="Consolas"/>
              </a:rPr>
              <a:t>//</a:t>
            </a:r>
            <a:r>
              <a:rPr sz="1100" dirty="0" err="1">
                <a:solidFill>
                  <a:srgbClr val="ECE8DD"/>
                </a:solidFill>
                <a:latin typeface="Consolas"/>
              </a:rPr>
              <a:t>src</a:t>
            </a:r>
            <a:r>
              <a:rPr sz="1100" dirty="0">
                <a:solidFill>
                  <a:srgbClr val="ECE8DD"/>
                </a:solidFill>
                <a:latin typeface="Consolas"/>
              </a:rPr>
              <a:t>/Synchronization/SynchronizedRunner.cpp/</a:t>
            </a:r>
          </a:p>
          <a:p>
            <a:pPr>
              <a:spcAft>
                <a:spcPts val="100"/>
              </a:spcAft>
            </a:pPr>
            <a:r>
              <a:rPr sz="1100" dirty="0">
                <a:solidFill>
                  <a:srgbClr val="ECE8DD"/>
                </a:solidFill>
                <a:latin typeface="Consolas"/>
              </a:rPr>
              <a:t>        </a:t>
            </a:r>
            <a:r>
              <a:rPr sz="1100" dirty="0" err="1">
                <a:solidFill>
                  <a:srgbClr val="ECE8DD"/>
                </a:solidFill>
                <a:latin typeface="Consolas"/>
              </a:rPr>
              <a:t>SynchronizedRunner.runSynchronized</a:t>
            </a:r>
            <a:endParaRPr sz="1100" dirty="0">
              <a:solidFill>
                <a:srgbClr val="ECE8DD"/>
              </a:solidFill>
              <a:latin typeface="Consolas"/>
            </a:endParaRPr>
          </a:p>
          <a:p>
            <a:pPr>
              <a:spcAft>
                <a:spcPts val="100"/>
              </a:spcAft>
            </a:pPr>
            <a:r>
              <a:rPr sz="1100" b="1" dirty="0">
                <a:solidFill>
                  <a:srgbClr val="E0B96F"/>
                </a:solidFill>
                <a:latin typeface="Consolas"/>
              </a:rPr>
              <a:t>target=</a:t>
            </a:r>
            <a:r>
              <a:rPr sz="1100" b="1" dirty="0" err="1">
                <a:solidFill>
                  <a:srgbClr val="E0B96F"/>
                </a:solidFill>
                <a:latin typeface="Consolas"/>
              </a:rPr>
              <a:t>cpp_funcdec</a:t>
            </a:r>
            <a:r>
              <a:rPr sz="1100" b="1" dirty="0">
                <a:solidFill>
                  <a:srgbClr val="E0B96F"/>
                </a:solidFill>
                <a:latin typeface="Consolas"/>
              </a:rPr>
              <a:t>//include/</a:t>
            </a:r>
            <a:r>
              <a:rPr sz="1100" b="1" dirty="0" err="1">
                <a:solidFill>
                  <a:srgbClr val="E0B96F"/>
                </a:solidFill>
                <a:latin typeface="Consolas"/>
              </a:rPr>
              <a:t>cpsCore</a:t>
            </a:r>
            <a:r>
              <a:rPr sz="1100" b="1" dirty="0">
                <a:solidFill>
                  <a:srgbClr val="E0B96F"/>
                </a:solidFill>
                <a:latin typeface="Consolas"/>
              </a:rPr>
              <a:t>/Logging/</a:t>
            </a:r>
            <a:r>
              <a:rPr sz="1100" b="1" dirty="0" err="1">
                <a:solidFill>
                  <a:srgbClr val="E0B96F"/>
                </a:solidFill>
                <a:latin typeface="Consolas"/>
              </a:rPr>
              <a:t>CPSLogger.h</a:t>
            </a:r>
            <a:r>
              <a:rPr sz="1100" b="1" dirty="0">
                <a:solidFill>
                  <a:srgbClr val="E0B96F"/>
                </a:solidFill>
                <a:latin typeface="Consolas"/>
              </a:rPr>
              <a:t>/</a:t>
            </a:r>
            <a:r>
              <a:rPr sz="1100" b="1" dirty="0" err="1">
                <a:solidFill>
                  <a:srgbClr val="E0B96F"/>
                </a:solidFill>
                <a:latin typeface="Consolas"/>
              </a:rPr>
              <a:t>CPSLogger.instance</a:t>
            </a:r>
            <a:endParaRPr sz="1100" b="1" dirty="0">
              <a:solidFill>
                <a:srgbClr val="E0B96F"/>
              </a:solidFill>
              <a:latin typeface="Consolas"/>
            </a:endParaRPr>
          </a:p>
          <a:p>
            <a:pPr>
              <a:spcAft>
                <a:spcPts val="100"/>
              </a:spcAft>
            </a:pPr>
            <a:endParaRPr sz="1100" b="1" dirty="0">
              <a:solidFill>
                <a:srgbClr val="E0B96F"/>
              </a:solidFill>
              <a:latin typeface="Consolas"/>
            </a:endParaRPr>
          </a:p>
          <a:p>
            <a:pPr>
              <a:spcAft>
                <a:spcPts val="100"/>
              </a:spcAft>
            </a:pPr>
            <a:r>
              <a:rPr sz="1100" dirty="0">
                <a:solidFill>
                  <a:srgbClr val="ECE8DD"/>
                </a:solidFill>
                <a:latin typeface="Consolas"/>
              </a:rPr>
              <a:t># sibling edge, same call site, different target:</a:t>
            </a:r>
          </a:p>
          <a:p>
            <a:pPr>
              <a:spcAft>
                <a:spcPts val="100"/>
              </a:spcAft>
            </a:pPr>
            <a:r>
              <a:rPr sz="1100" dirty="0">
                <a:solidFill>
                  <a:srgbClr val="ECE8DD"/>
                </a:solidFill>
                <a:latin typeface="Consolas"/>
              </a:rPr>
              <a:t>type=</a:t>
            </a:r>
            <a:r>
              <a:rPr sz="1100" dirty="0" err="1">
                <a:solidFill>
                  <a:srgbClr val="ECE8DD"/>
                </a:solidFill>
                <a:latin typeface="Consolas"/>
              </a:rPr>
              <a:t>CppCalls</a:t>
            </a:r>
            <a:r>
              <a:rPr sz="1100" dirty="0">
                <a:solidFill>
                  <a:srgbClr val="ECE8DD"/>
                </a:solidFill>
                <a:latin typeface="Consolas"/>
              </a:rPr>
              <a:t>  ...  target=.../</a:t>
            </a:r>
            <a:r>
              <a:rPr sz="1100" dirty="0" err="1">
                <a:solidFill>
                  <a:srgbClr val="ECE8DD"/>
                </a:solidFill>
                <a:latin typeface="Consolas"/>
              </a:rPr>
              <a:t>CPSLogger.h</a:t>
            </a:r>
            <a:r>
              <a:rPr sz="1100" dirty="0">
                <a:solidFill>
                  <a:srgbClr val="ECE8DD"/>
                </a:solidFill>
                <a:latin typeface="Consolas"/>
              </a:rPr>
              <a:t>/</a:t>
            </a:r>
            <a:r>
              <a:rPr sz="1100" dirty="0" err="1">
                <a:solidFill>
                  <a:srgbClr val="ECE8DD"/>
                </a:solidFill>
                <a:latin typeface="Consolas"/>
              </a:rPr>
              <a:t>CPSLogger.flush</a:t>
            </a:r>
            <a:endParaRPr sz="1100" dirty="0">
              <a:solidFill>
                <a:srgbClr val="ECE8DD"/>
              </a:solidFill>
              <a:latin typeface="Consolas"/>
            </a:endParaRPr>
          </a:p>
        </p:txBody>
      </p:sp>
      <p:sp>
        <p:nvSpPr>
          <p:cNvPr id="13" name="TextBox 12"/>
          <p:cNvSpPr txBox="1"/>
          <p:nvPr/>
        </p:nvSpPr>
        <p:spPr>
          <a:xfrm>
            <a:off x="457200" y="5340096"/>
            <a:ext cx="11247120" cy="637097"/>
          </a:xfrm>
          <a:prstGeom prst="rect">
            <a:avLst/>
          </a:prstGeom>
          <a:noFill/>
        </p:spPr>
        <p:txBody>
          <a:bodyPr wrap="square" lIns="45720" tIns="18288" rIns="45720" bIns="18288" anchor="t">
            <a:spAutoFit/>
          </a:bodyPr>
          <a:lstStyle/>
          <a:p>
            <a:pPr algn="l"/>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Our running edge exists as a raw </a:t>
            </a:r>
            <a:r>
              <a:rPr sz="1300" b="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CppCalls</a:t>
            </a:r>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relationship between two function nodes, with a near-identical sibling edge to </a:t>
            </a:r>
            <a:r>
              <a:rPr sz="1300" b="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CPSLogger.flush</a:t>
            </a:r>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both fired from the exact same C++ statement. Nothing scenario-specific has happened yet</a:t>
            </a:r>
            <a:r>
              <a:rPr lang="nl-NL"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a:t>
            </a:r>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endParaRPr lang="nl-NL"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gn="l"/>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Stage 2 is what carves S1 out of the other 67k nodes.</a:t>
            </a:r>
          </a:p>
        </p:txBody>
      </p:sp>
      <p:sp>
        <p:nvSpPr>
          <p:cNvPr id="14" name="Rounded Rectangle 4">
            <a:extLst>
              <a:ext uri="{FF2B5EF4-FFF2-40B4-BE49-F238E27FC236}">
                <a16:creationId xmlns:a16="http://schemas.microsoft.com/office/drawing/2014/main" id="{A287BC65-1EBD-BC50-1C21-748FCCF28995}"/>
              </a:ext>
            </a:extLst>
          </p:cNvPr>
          <p:cNvSpPr/>
          <p:nvPr/>
        </p:nvSpPr>
        <p:spPr>
          <a:xfrm>
            <a:off x="457200" y="1508760"/>
            <a:ext cx="11274552" cy="612648"/>
          </a:xfrm>
          <a:prstGeom prst="roundRect">
            <a:avLst>
              <a:gd name="adj" fmla="val 4000"/>
            </a:avLst>
          </a:prstGeom>
          <a:solidFill>
            <a:srgbClr val="F7ECDD"/>
          </a:solidFill>
          <a:ln w="12700">
            <a:solidFill>
              <a:srgbClr val="B879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7140F2D6-9AA8-C35C-3936-F5414E2C08B4}"/>
              </a:ext>
            </a:extLst>
          </p:cNvPr>
          <p:cNvSpPr txBox="1"/>
          <p:nvPr/>
        </p:nvSpPr>
        <p:spPr>
          <a:xfrm>
            <a:off x="640080" y="1554480"/>
            <a:ext cx="10972800" cy="274320"/>
          </a:xfrm>
          <a:prstGeom prst="rect">
            <a:avLst/>
          </a:prstGeom>
          <a:noFill/>
        </p:spPr>
        <p:txBody>
          <a:bodyPr wrap="square" lIns="45720" tIns="18288" rIns="45720" bIns="18288" anchor="t">
            <a:spAutoFit/>
          </a:bodyPr>
          <a:lstStyle/>
          <a:p>
            <a:pPr algn="l"/>
            <a:r>
              <a:rPr sz="1000" b="1" i="0" dirty="0">
                <a:solidFill>
                  <a:srgbClr val="B8792F"/>
                </a:solidFill>
                <a:latin typeface="Calibri"/>
              </a:rPr>
              <a:t>RUNNING EDGE, ALL SIX STAGES</a:t>
            </a:r>
          </a:p>
        </p:txBody>
      </p:sp>
      <p:sp>
        <p:nvSpPr>
          <p:cNvPr id="16" name="TextBox 15">
            <a:extLst>
              <a:ext uri="{FF2B5EF4-FFF2-40B4-BE49-F238E27FC236}">
                <a16:creationId xmlns:a16="http://schemas.microsoft.com/office/drawing/2014/main" id="{1523D8A4-5BDF-4D5C-2B89-B3BCE11520D0}"/>
              </a:ext>
            </a:extLst>
          </p:cNvPr>
          <p:cNvSpPr txBox="1"/>
          <p:nvPr/>
        </p:nvSpPr>
        <p:spPr>
          <a:xfrm>
            <a:off x="640080" y="1737360"/>
            <a:ext cx="10972800" cy="267766"/>
          </a:xfrm>
          <a:prstGeom prst="rect">
            <a:avLst/>
          </a:prstGeom>
          <a:noFill/>
        </p:spPr>
        <p:txBody>
          <a:bodyPr wrap="square" lIns="45720" tIns="18288" rIns="45720" bIns="18288" anchor="t">
            <a:spAutoFit/>
          </a:bodyPr>
          <a:lstStyle/>
          <a:p>
            <a:pPr algn="l"/>
            <a:r>
              <a:rPr sz="1500" i="0" dirty="0">
                <a:solidFill>
                  <a:srgbClr val="222A33"/>
                </a:solidFill>
                <a:latin typeface="Consolas"/>
              </a:rPr>
              <a:t>Synchronization::</a:t>
            </a:r>
            <a:r>
              <a:rPr sz="1500" i="0" dirty="0" err="1">
                <a:solidFill>
                  <a:srgbClr val="222A33"/>
                </a:solidFill>
                <a:latin typeface="Consolas"/>
              </a:rPr>
              <a:t>SynchronizedRunner</a:t>
            </a:r>
            <a:r>
              <a:rPr sz="1500" i="0" dirty="0">
                <a:solidFill>
                  <a:srgbClr val="222A33"/>
                </a:solidFill>
                <a:latin typeface="Consolas"/>
              </a:rPr>
              <a:t>::</a:t>
            </a:r>
            <a:r>
              <a:rPr sz="1500" i="0" dirty="0" err="1">
                <a:solidFill>
                  <a:srgbClr val="222A33"/>
                </a:solidFill>
                <a:latin typeface="Consolas"/>
              </a:rPr>
              <a:t>runSynchronized</a:t>
            </a:r>
            <a:r>
              <a:rPr sz="1500" i="0" dirty="0">
                <a:solidFill>
                  <a:srgbClr val="222A33"/>
                </a:solidFill>
                <a:latin typeface="Consolas"/>
              </a:rPr>
              <a:t>  →  Logging::</a:t>
            </a:r>
            <a:r>
              <a:rPr sz="1500" i="0" dirty="0" err="1">
                <a:solidFill>
                  <a:srgbClr val="222A33"/>
                </a:solidFill>
                <a:latin typeface="Consolas"/>
              </a:rPr>
              <a:t>CPSLogger</a:t>
            </a:r>
            <a:r>
              <a:rPr sz="1500" i="0" dirty="0">
                <a:solidFill>
                  <a:srgbClr val="222A33"/>
                </a:solidFill>
                <a:latin typeface="Consolas"/>
              </a:rPr>
              <a:t>::instance</a:t>
            </a:r>
          </a:p>
        </p:txBody>
      </p:sp>
    </p:spTree>
  </p:cSld>
  <p:clrMapOvr>
    <a:masterClrMapping/>
  </p:clrMapOvr>
  <p:extLst>
    <p:ext uri="{6950BFC3-D8DA-4A85-94F7-54DA5524770B}">
      <p188:commentRel xmlns:p188="http://schemas.microsoft.com/office/powerpoint/2018/8/main" r:id="rId2"/>
    </p:ext>
  </p:extLst>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99654"/>
            <a:ext cx="10739882" cy="1069367"/>
          </a:xfrm>
        </p:spPr>
        <p:txBody>
          <a:bodyPr>
            <a:normAutofit/>
          </a:bodyPr>
          <a:lstStyle/>
          <a:p>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Stage 2 </a:t>
            </a:r>
            <a:r>
              <a:rPr lang="nl-NL" sz="2800"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 Code Graph Query: Property Graph → S1 Subgraph</a:t>
            </a:r>
          </a:p>
        </p:txBody>
      </p:sp>
      <p:sp>
        <p:nvSpPr>
          <p:cNvPr id="3" name="Rounded Rectangle 2"/>
          <p:cNvSpPr/>
          <p:nvPr/>
        </p:nvSpPr>
        <p:spPr>
          <a:xfrm>
            <a:off x="10088880" y="320040"/>
            <a:ext cx="1737360" cy="384048"/>
          </a:xfrm>
          <a:prstGeom prst="roundRect">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88880" y="320040"/>
            <a:ext cx="1737360" cy="384048"/>
          </a:xfrm>
          <a:prstGeom prst="rect">
            <a:avLst/>
          </a:prstGeom>
          <a:noFill/>
        </p:spPr>
        <p:txBody>
          <a:bodyPr wrap="square" lIns="45720" tIns="18288" rIns="45720" bIns="18288" anchor="ctr">
            <a:spAutoFit/>
          </a:bodyPr>
          <a:lstStyle/>
          <a:p>
            <a:pPr algn="ctr"/>
            <a:r>
              <a:rPr sz="1200" b="1" i="0" dirty="0">
                <a:solidFill>
                  <a:srgbClr val="FFFFFF"/>
                </a:solidFill>
                <a:latin typeface="Calibri"/>
              </a:rPr>
              <a:t>STAGE 2 / 6</a:t>
            </a:r>
          </a:p>
        </p:txBody>
      </p:sp>
      <p:sp>
        <p:nvSpPr>
          <p:cNvPr id="5" name="Rounded Rectangle 4"/>
          <p:cNvSpPr/>
          <p:nvPr/>
        </p:nvSpPr>
        <p:spPr>
          <a:xfrm>
            <a:off x="457200" y="1568082"/>
            <a:ext cx="11274552" cy="437043"/>
          </a:xfrm>
          <a:prstGeom prst="roundRect">
            <a:avLst>
              <a:gd name="adj" fmla="val 4000"/>
            </a:avLst>
          </a:prstGeom>
          <a:solidFill>
            <a:srgbClr val="F7ECDD"/>
          </a:solidFill>
          <a:ln w="12700">
            <a:solidFill>
              <a:srgbClr val="B879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91424"/>
            <a:ext cx="10972800" cy="274320"/>
          </a:xfrm>
          <a:prstGeom prst="rect">
            <a:avLst/>
          </a:prstGeom>
          <a:noFill/>
        </p:spPr>
        <p:txBody>
          <a:bodyPr wrap="square" lIns="45720" tIns="18288" rIns="45720" bIns="18288" anchor="t">
            <a:spAutoFit/>
          </a:bodyPr>
          <a:lstStyle/>
          <a:p>
            <a:pPr algn="l"/>
            <a:r>
              <a:rPr sz="1000" b="1" i="0" dirty="0">
                <a:solidFill>
                  <a:srgbClr val="B8792F"/>
                </a:solidFill>
                <a:latin typeface="Calibri"/>
              </a:rPr>
              <a:t>RUNNING EDGE, ALL SIX STAGES</a:t>
            </a:r>
          </a:p>
        </p:txBody>
      </p:sp>
      <p:sp>
        <p:nvSpPr>
          <p:cNvPr id="7" name="TextBox 6"/>
          <p:cNvSpPr txBox="1"/>
          <p:nvPr/>
        </p:nvSpPr>
        <p:spPr>
          <a:xfrm>
            <a:off x="640080" y="1737360"/>
            <a:ext cx="10972800" cy="267766"/>
          </a:xfrm>
          <a:prstGeom prst="rect">
            <a:avLst/>
          </a:prstGeom>
          <a:noFill/>
        </p:spPr>
        <p:txBody>
          <a:bodyPr wrap="square" lIns="45720" tIns="18288" rIns="45720" bIns="18288" anchor="t">
            <a:spAutoFit/>
          </a:bodyPr>
          <a:lstStyle/>
          <a:p>
            <a:pPr algn="l"/>
            <a:r>
              <a:rPr sz="1500" i="0" dirty="0">
                <a:solidFill>
                  <a:srgbClr val="222A33"/>
                </a:solidFill>
                <a:latin typeface="Consolas"/>
              </a:rPr>
              <a:t>Synchronization::</a:t>
            </a:r>
            <a:r>
              <a:rPr sz="1500" i="0" dirty="0" err="1">
                <a:solidFill>
                  <a:srgbClr val="222A33"/>
                </a:solidFill>
                <a:latin typeface="Consolas"/>
              </a:rPr>
              <a:t>SynchronizedRunner</a:t>
            </a:r>
            <a:r>
              <a:rPr sz="1500" i="0" dirty="0">
                <a:solidFill>
                  <a:srgbClr val="222A33"/>
                </a:solidFill>
                <a:latin typeface="Consolas"/>
              </a:rPr>
              <a:t>::</a:t>
            </a:r>
            <a:r>
              <a:rPr sz="1500" i="0" dirty="0" err="1">
                <a:solidFill>
                  <a:srgbClr val="222A33"/>
                </a:solidFill>
                <a:latin typeface="Consolas"/>
              </a:rPr>
              <a:t>runSynchronized</a:t>
            </a:r>
            <a:r>
              <a:rPr sz="1500" i="0" dirty="0">
                <a:solidFill>
                  <a:srgbClr val="222A33"/>
                </a:solidFill>
                <a:latin typeface="Consolas"/>
              </a:rPr>
              <a:t>  →  Logging::</a:t>
            </a:r>
            <a:r>
              <a:rPr sz="1500" i="0" dirty="0" err="1">
                <a:solidFill>
                  <a:srgbClr val="222A33"/>
                </a:solidFill>
                <a:latin typeface="Consolas"/>
              </a:rPr>
              <a:t>CPSLogger</a:t>
            </a:r>
            <a:r>
              <a:rPr sz="1500" i="0" dirty="0">
                <a:solidFill>
                  <a:srgbClr val="222A33"/>
                </a:solidFill>
                <a:latin typeface="Consolas"/>
              </a:rPr>
              <a:t>::instance</a:t>
            </a:r>
          </a:p>
        </p:txBody>
      </p:sp>
      <p:sp>
        <p:nvSpPr>
          <p:cNvPr id="8" name="TextBox 7"/>
          <p:cNvSpPr txBox="1"/>
          <p:nvPr/>
        </p:nvSpPr>
        <p:spPr>
          <a:xfrm>
            <a:off x="457200" y="2251041"/>
            <a:ext cx="11247120" cy="467820"/>
          </a:xfrm>
          <a:prstGeom prst="rect">
            <a:avLst/>
          </a:prstGeom>
          <a:noFill/>
        </p:spPr>
        <p:txBody>
          <a:bodyPr wrap="square" lIns="45720" tIns="18288" rIns="45720" bIns="18288" anchor="t">
            <a:spAutoFit/>
          </a:bodyPr>
          <a:lstStyle/>
          <a:p>
            <a:pPr algn="l"/>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User text: S1 scenario → Cypher query via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text-to-cypher</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(schema-aware, built on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get-neo4j-schema</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cypher-to-output</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skill then executes that query against the live graph, returning the S1-scoped subgraph.</a:t>
            </a:r>
            <a:endParaRPr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9" name="Rounded Rectangle 8"/>
          <p:cNvSpPr/>
          <p:nvPr/>
        </p:nvSpPr>
        <p:spPr>
          <a:xfrm>
            <a:off x="1978891" y="3048418"/>
            <a:ext cx="7968673" cy="2181444"/>
          </a:xfrm>
          <a:prstGeom prst="roundRect">
            <a:avLst/>
          </a:prstGeom>
          <a:solidFill>
            <a:srgbClr val="201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116051" y="3139858"/>
            <a:ext cx="8213605" cy="1782539"/>
          </a:xfrm>
          <a:prstGeom prst="rect">
            <a:avLst/>
          </a:prstGeom>
          <a:noFill/>
        </p:spPr>
        <p:txBody>
          <a:bodyPr wrap="square">
            <a:spAutoFit/>
          </a:bodyPr>
          <a:lstStyle/>
          <a:p>
            <a:pPr>
              <a:spcAft>
                <a:spcPts val="100"/>
              </a:spcAft>
            </a:pPr>
            <a:r>
              <a:rPr sz="1300" dirty="0">
                <a:solidFill>
                  <a:srgbClr val="ECE8DD"/>
                </a:solidFill>
                <a:latin typeface="Consolas"/>
              </a:rPr>
              <a:t>// scoped to S1: Synchronization / Aggregation / Logging</a:t>
            </a:r>
          </a:p>
          <a:p>
            <a:pPr>
              <a:spcAft>
                <a:spcPts val="100"/>
              </a:spcAft>
            </a:pPr>
            <a:r>
              <a:rPr sz="1300" dirty="0">
                <a:solidFill>
                  <a:srgbClr val="ECE8DD"/>
                </a:solidFill>
                <a:latin typeface="Consolas"/>
              </a:rPr>
              <a:t>MATCH (caller)-[:</a:t>
            </a:r>
            <a:r>
              <a:rPr sz="1300" dirty="0" err="1">
                <a:solidFill>
                  <a:srgbClr val="ECE8DD"/>
                </a:solidFill>
                <a:latin typeface="Consolas"/>
              </a:rPr>
              <a:t>CppCalls</a:t>
            </a:r>
            <a:r>
              <a:rPr sz="1300" dirty="0">
                <a:solidFill>
                  <a:srgbClr val="ECE8DD"/>
                </a:solidFill>
                <a:latin typeface="Consolas"/>
              </a:rPr>
              <a:t>]-&gt;(callee)</a:t>
            </a:r>
          </a:p>
          <a:p>
            <a:pPr>
              <a:spcAft>
                <a:spcPts val="100"/>
              </a:spcAft>
            </a:pPr>
            <a:r>
              <a:rPr sz="1300" dirty="0">
                <a:solidFill>
                  <a:srgbClr val="ECE8DD"/>
                </a:solidFill>
                <a:latin typeface="Consolas"/>
              </a:rPr>
              <a:t>WHERE (caller.name CONTAINS '/</a:t>
            </a:r>
            <a:r>
              <a:rPr sz="1300" dirty="0" err="1">
                <a:solidFill>
                  <a:srgbClr val="ECE8DD"/>
                </a:solidFill>
                <a:latin typeface="Consolas"/>
              </a:rPr>
              <a:t>src</a:t>
            </a:r>
            <a:r>
              <a:rPr sz="1300" dirty="0">
                <a:solidFill>
                  <a:srgbClr val="ECE8DD"/>
                </a:solidFill>
                <a:latin typeface="Consolas"/>
              </a:rPr>
              <a:t>/Synchronization/'</a:t>
            </a:r>
          </a:p>
          <a:p>
            <a:pPr>
              <a:spcAft>
                <a:spcPts val="100"/>
              </a:spcAft>
            </a:pPr>
            <a:r>
              <a:rPr sz="1300" dirty="0">
                <a:solidFill>
                  <a:srgbClr val="ECE8DD"/>
                </a:solidFill>
                <a:latin typeface="Consolas"/>
              </a:rPr>
              <a:t>    OR caller.name CONTAINS '/include/</a:t>
            </a:r>
            <a:r>
              <a:rPr sz="1300" dirty="0" err="1">
                <a:solidFill>
                  <a:srgbClr val="ECE8DD"/>
                </a:solidFill>
                <a:latin typeface="Consolas"/>
              </a:rPr>
              <a:t>cpsCore</a:t>
            </a:r>
            <a:r>
              <a:rPr sz="1300" dirty="0">
                <a:solidFill>
                  <a:srgbClr val="ECE8DD"/>
                </a:solidFill>
                <a:latin typeface="Consolas"/>
              </a:rPr>
              <a:t>/Synchronization/')</a:t>
            </a:r>
          </a:p>
          <a:p>
            <a:pPr>
              <a:spcAft>
                <a:spcPts val="100"/>
              </a:spcAft>
            </a:pPr>
            <a:r>
              <a:rPr sz="1300" dirty="0">
                <a:solidFill>
                  <a:srgbClr val="ECE8DD"/>
                </a:solidFill>
                <a:latin typeface="Consolas"/>
              </a:rPr>
              <a:t>  AND (callee.name CONTAINS '/Aggregation/' OR callee.name CONTAINS '/Logging/')</a:t>
            </a:r>
          </a:p>
          <a:p>
            <a:pPr>
              <a:spcAft>
                <a:spcPts val="100"/>
              </a:spcAft>
            </a:pPr>
            <a:r>
              <a:rPr sz="1300" dirty="0">
                <a:solidFill>
                  <a:srgbClr val="ECE8DD"/>
                </a:solidFill>
                <a:latin typeface="Consolas"/>
              </a:rPr>
              <a:t>RETURN DISTINCT</a:t>
            </a:r>
          </a:p>
          <a:p>
            <a:pPr>
              <a:spcAft>
                <a:spcPts val="100"/>
              </a:spcAft>
            </a:pPr>
            <a:r>
              <a:rPr sz="1300" dirty="0">
                <a:solidFill>
                  <a:srgbClr val="ECE8DD"/>
                </a:solidFill>
                <a:latin typeface="Consolas"/>
              </a:rPr>
              <a:t>    caller.name AS </a:t>
            </a:r>
            <a:r>
              <a:rPr sz="1300" dirty="0" err="1">
                <a:solidFill>
                  <a:srgbClr val="ECE8DD"/>
                </a:solidFill>
                <a:latin typeface="Consolas"/>
              </a:rPr>
              <a:t>callerName</a:t>
            </a:r>
            <a:r>
              <a:rPr sz="1300" dirty="0">
                <a:solidFill>
                  <a:srgbClr val="ECE8DD"/>
                </a:solidFill>
                <a:latin typeface="Consolas"/>
              </a:rPr>
              <a:t>, </a:t>
            </a:r>
            <a:r>
              <a:rPr sz="1300" dirty="0" err="1">
                <a:solidFill>
                  <a:srgbClr val="ECE8DD"/>
                </a:solidFill>
                <a:latin typeface="Consolas"/>
              </a:rPr>
              <a:t>caller.symbol</a:t>
            </a:r>
            <a:r>
              <a:rPr sz="1300" dirty="0">
                <a:solidFill>
                  <a:srgbClr val="ECE8DD"/>
                </a:solidFill>
                <a:latin typeface="Consolas"/>
              </a:rPr>
              <a:t> AS </a:t>
            </a:r>
            <a:r>
              <a:rPr sz="1300" dirty="0" err="1">
                <a:solidFill>
                  <a:srgbClr val="ECE8DD"/>
                </a:solidFill>
                <a:latin typeface="Consolas"/>
              </a:rPr>
              <a:t>callerSymbol</a:t>
            </a:r>
            <a:r>
              <a:rPr sz="1300" dirty="0">
                <a:solidFill>
                  <a:srgbClr val="ECE8DD"/>
                </a:solidFill>
                <a:latin typeface="Consolas"/>
              </a:rPr>
              <a:t>,</a:t>
            </a:r>
          </a:p>
          <a:p>
            <a:pPr>
              <a:spcAft>
                <a:spcPts val="100"/>
              </a:spcAft>
            </a:pPr>
            <a:r>
              <a:rPr sz="1300" dirty="0">
                <a:solidFill>
                  <a:srgbClr val="ECE8DD"/>
                </a:solidFill>
                <a:latin typeface="Consolas"/>
              </a:rPr>
              <a:t>    callee.name AS </a:t>
            </a:r>
            <a:r>
              <a:rPr sz="1300" dirty="0" err="1">
                <a:solidFill>
                  <a:srgbClr val="ECE8DD"/>
                </a:solidFill>
                <a:latin typeface="Consolas"/>
              </a:rPr>
              <a:t>calleeName</a:t>
            </a:r>
            <a:r>
              <a:rPr sz="1300" dirty="0">
                <a:solidFill>
                  <a:srgbClr val="ECE8DD"/>
                </a:solidFill>
                <a:latin typeface="Consolas"/>
              </a:rPr>
              <a:t>, </a:t>
            </a:r>
            <a:r>
              <a:rPr sz="1300" dirty="0" err="1">
                <a:solidFill>
                  <a:srgbClr val="ECE8DD"/>
                </a:solidFill>
                <a:latin typeface="Consolas"/>
              </a:rPr>
              <a:t>callee.symbol</a:t>
            </a:r>
            <a:r>
              <a:rPr sz="1300" dirty="0">
                <a:solidFill>
                  <a:srgbClr val="ECE8DD"/>
                </a:solidFill>
                <a:latin typeface="Consolas"/>
              </a:rPr>
              <a:t> AS </a:t>
            </a:r>
            <a:r>
              <a:rPr sz="1300" dirty="0" err="1">
                <a:solidFill>
                  <a:srgbClr val="ECE8DD"/>
                </a:solidFill>
                <a:latin typeface="Consolas"/>
              </a:rPr>
              <a:t>calleeSymbol</a:t>
            </a:r>
            <a:endParaRPr sz="1300" dirty="0">
              <a:solidFill>
                <a:srgbClr val="ECE8DD"/>
              </a:solidFill>
              <a:latin typeface="Consolas"/>
            </a:endParaRPr>
          </a:p>
        </p:txBody>
      </p:sp>
      <p:sp>
        <p:nvSpPr>
          <p:cNvPr id="11" name="TextBox 10"/>
          <p:cNvSpPr txBox="1"/>
          <p:nvPr/>
        </p:nvSpPr>
        <p:spPr>
          <a:xfrm>
            <a:off x="502920" y="5708073"/>
            <a:ext cx="11247120" cy="437043"/>
          </a:xfrm>
          <a:prstGeom prst="rect">
            <a:avLst/>
          </a:prstGeom>
          <a:noFill/>
        </p:spPr>
        <p:txBody>
          <a:bodyPr wrap="square" lIns="45720" tIns="18288" rIns="45720" bIns="18288" anchor="t">
            <a:spAutoFit/>
          </a:bodyPr>
          <a:lstStyle/>
          <a:p>
            <a:pPr algn="l"/>
            <a:r>
              <a:rPr sz="13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Our running edge survives the filter — SynchronizedRunner.cpp is under /</a:t>
            </a:r>
            <a:r>
              <a:rPr sz="130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src</a:t>
            </a:r>
            <a:r>
              <a:rPr sz="13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/Synchronization/ </a:t>
            </a:r>
            <a:endParaRPr lang="nl-NL" sz="13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gn="l"/>
            <a:r>
              <a:rPr sz="130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CPSLogger.h</a:t>
            </a:r>
            <a:r>
              <a:rPr sz="13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is under /include/</a:t>
            </a:r>
            <a:r>
              <a:rPr sz="130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sz="13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/Logging/</a:t>
            </a:r>
          </a:p>
        </p:txBody>
      </p:sp>
    </p:spTree>
  </p:cSld>
  <p:clrMapOvr>
    <a:masterClrMapping/>
  </p:clrMapOvr>
  <p:extLst>
    <p:ext uri="{6950BFC3-D8DA-4A85-94F7-54DA5524770B}">
      <p188:commentRel xmlns:p188="http://schemas.microsoft.com/office/powerpoint/2018/8/main" r:id="rId2"/>
    </p:ext>
  </p:extLst>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21208" y="485114"/>
            <a:ext cx="10739882" cy="1177892"/>
          </a:xfrm>
        </p:spPr>
        <p:txBody>
          <a:bodyPr/>
          <a:lstStyle/>
          <a:p>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Stage 3</a:t>
            </a:r>
            <a:r>
              <a:rPr lang="nl-NL" sz="2800" dirty="0">
                <a:latin typeface="Sans Serif Collection" panose="020B0502040504020204" pitchFamily="34" charset="0"/>
                <a:ea typeface="Sans Serif Collection" panose="020B0502040504020204" pitchFamily="34" charset="0"/>
                <a:cs typeface="Sans Serif Collection" panose="020B0502040504020204" pitchFamily="34" charset="0"/>
              </a:rPr>
              <a:t> : </a:t>
            </a:r>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Dependency Matrix Extraction: Subgraph → Call Table</a:t>
            </a:r>
          </a:p>
        </p:txBody>
      </p:sp>
      <p:sp>
        <p:nvSpPr>
          <p:cNvPr id="3" name="Rounded Rectangle 2"/>
          <p:cNvSpPr/>
          <p:nvPr/>
        </p:nvSpPr>
        <p:spPr>
          <a:xfrm>
            <a:off x="10088880" y="320040"/>
            <a:ext cx="1737360" cy="384048"/>
          </a:xfrm>
          <a:prstGeom prst="roundRect">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p:cNvSpPr txBox="1"/>
          <p:nvPr/>
        </p:nvSpPr>
        <p:spPr>
          <a:xfrm>
            <a:off x="10088880" y="401264"/>
            <a:ext cx="1737360" cy="221599"/>
          </a:xfrm>
          <a:prstGeom prst="rect">
            <a:avLst/>
          </a:prstGeom>
          <a:noFill/>
        </p:spPr>
        <p:txBody>
          <a:bodyPr wrap="square" lIns="45720" tIns="18288" rIns="45720" bIns="18288" anchor="ctr">
            <a:spAutoFit/>
          </a:bodyPr>
          <a:lstStyle/>
          <a:p>
            <a:pPr algn="ctr"/>
            <a:r>
              <a:rPr sz="1200" b="1" i="0" dirty="0">
                <a:solidFill>
                  <a:srgbClr val="FFFFFF"/>
                </a:solidFill>
                <a:latin typeface="Calibri" panose="020F0502020204030204" pitchFamily="34" charset="0"/>
                <a:ea typeface="Calibri" panose="020F0502020204030204" pitchFamily="34" charset="0"/>
                <a:cs typeface="Calibri" panose="020F0502020204030204" pitchFamily="34" charset="0"/>
              </a:rPr>
              <a:t>STAGE 3 / 6</a:t>
            </a:r>
          </a:p>
        </p:txBody>
      </p:sp>
      <p:sp>
        <p:nvSpPr>
          <p:cNvPr id="8" name="TextBox 7"/>
          <p:cNvSpPr txBox="1"/>
          <p:nvPr/>
        </p:nvSpPr>
        <p:spPr>
          <a:xfrm>
            <a:off x="457200" y="1838035"/>
            <a:ext cx="11247120" cy="467820"/>
          </a:xfrm>
          <a:prstGeom prst="rect">
            <a:avLst/>
          </a:prstGeom>
          <a:noFill/>
        </p:spPr>
        <p:txBody>
          <a:bodyPr wrap="square" lIns="45720" tIns="18288" rIns="45720" bIns="18288" anchor="t">
            <a:spAutoFit/>
          </a:bodyPr>
          <a:lstStyle/>
          <a:p>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The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get-sequence-dependency-table</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skill flattens the graph into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sequence_dependency_table.csv :  </a:t>
            </a:r>
            <a:r>
              <a:rPr lang="en-GB" sz="140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one row per edge. O</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ne row per </a:t>
            </a:r>
            <a:r>
              <a:rPr lang="en-GB"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CppCalls</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edge via a direct Cypher query </a:t>
            </a:r>
            <a:r>
              <a:rPr lang="en-GB"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with file paths standing in for components</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This is the static ground truth.</a:t>
            </a:r>
            <a:endPar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9" name="Table 8"/>
          <p:cNvGraphicFramePr>
            <a:graphicFrameLocks noGrp="1"/>
          </p:cNvGraphicFramePr>
          <p:nvPr>
            <p:extLst>
              <p:ext uri="{D42A27DB-BD31-4B8C-83A1-F6EECF244321}">
                <p14:modId xmlns:p14="http://schemas.microsoft.com/office/powerpoint/2010/main" val="3778124203"/>
              </p:ext>
            </p:extLst>
          </p:nvPr>
        </p:nvGraphicFramePr>
        <p:xfrm>
          <a:off x="470921" y="2480884"/>
          <a:ext cx="11247115" cy="2743200"/>
        </p:xfrm>
        <a:graphic>
          <a:graphicData uri="http://schemas.openxmlformats.org/drawingml/2006/table">
            <a:tbl>
              <a:tblPr firstRow="1" bandRow="1">
                <a:tableStyleId>{5C22544A-7EE6-4342-B048-85BDC9FD1C3A}</a:tableStyleId>
              </a:tblPr>
              <a:tblGrid>
                <a:gridCol w="811647">
                  <a:extLst>
                    <a:ext uri="{9D8B030D-6E8A-4147-A177-3AD203B41FA5}">
                      <a16:colId xmlns:a16="http://schemas.microsoft.com/office/drawing/2014/main" val="20000"/>
                    </a:ext>
                  </a:extLst>
                </a:gridCol>
                <a:gridCol w="1275446">
                  <a:extLst>
                    <a:ext uri="{9D8B030D-6E8A-4147-A177-3AD203B41FA5}">
                      <a16:colId xmlns:a16="http://schemas.microsoft.com/office/drawing/2014/main" val="20001"/>
                    </a:ext>
                  </a:extLst>
                </a:gridCol>
                <a:gridCol w="3014691">
                  <a:extLst>
                    <a:ext uri="{9D8B030D-6E8A-4147-A177-3AD203B41FA5}">
                      <a16:colId xmlns:a16="http://schemas.microsoft.com/office/drawing/2014/main" val="20002"/>
                    </a:ext>
                  </a:extLst>
                </a:gridCol>
                <a:gridCol w="2318993">
                  <a:extLst>
                    <a:ext uri="{9D8B030D-6E8A-4147-A177-3AD203B41FA5}">
                      <a16:colId xmlns:a16="http://schemas.microsoft.com/office/drawing/2014/main" val="20003"/>
                    </a:ext>
                  </a:extLst>
                </a:gridCol>
                <a:gridCol w="2318993">
                  <a:extLst>
                    <a:ext uri="{9D8B030D-6E8A-4147-A177-3AD203B41FA5}">
                      <a16:colId xmlns:a16="http://schemas.microsoft.com/office/drawing/2014/main" val="20004"/>
                    </a:ext>
                  </a:extLst>
                </a:gridCol>
                <a:gridCol w="1507345">
                  <a:extLst>
                    <a:ext uri="{9D8B030D-6E8A-4147-A177-3AD203B41FA5}">
                      <a16:colId xmlns:a16="http://schemas.microsoft.com/office/drawing/2014/main" val="20005"/>
                    </a:ext>
                  </a:extLst>
                </a:gridCol>
              </a:tblGrid>
              <a:tr h="457200">
                <a:tc>
                  <a:txBody>
                    <a:bodyPr/>
                    <a:lstStyle/>
                    <a:p>
                      <a:pPr algn="ctr"/>
                      <a:r>
                        <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Seq</a:t>
                      </a:r>
                    </a:p>
                  </a:txBody>
                  <a:tcPr marL="54864" marR="54864" anchor="ctr">
                    <a:solidFill>
                      <a:srgbClr val="55736D"/>
                    </a:solidFill>
                  </a:tcPr>
                </a:tc>
                <a:tc>
                  <a:txBody>
                    <a:bodyPr/>
                    <a:lstStyle/>
                    <a:p>
                      <a:pPr algn="ctr"/>
                      <a:r>
                        <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Event</a:t>
                      </a:r>
                    </a:p>
                  </a:txBody>
                  <a:tcPr marL="54864" marR="54864" anchor="ctr">
                    <a:solidFill>
                      <a:srgbClr val="55736D"/>
                    </a:solidFill>
                  </a:tcPr>
                </a:tc>
                <a:tc>
                  <a:txBody>
                    <a:bodyPr/>
                    <a:lstStyle/>
                    <a:p>
                      <a:pPr algn="l"/>
                      <a:r>
                        <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Client file</a:t>
                      </a:r>
                    </a:p>
                  </a:txBody>
                  <a:tcPr marL="54864" marR="54864" anchor="ctr">
                    <a:solidFill>
                      <a:srgbClr val="55736D"/>
                    </a:solidFill>
                  </a:tcPr>
                </a:tc>
                <a:tc>
                  <a:txBody>
                    <a:bodyPr/>
                    <a:lstStyle/>
                    <a:p>
                      <a:pPr algn="l"/>
                      <a:r>
                        <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Client </a:t>
                      </a:r>
                      <a:r>
                        <a:rPr sz="1200" b="1" dirty="0" err="1">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fn</a:t>
                      </a:r>
                      <a:endPar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54864" marR="54864" anchor="ctr">
                    <a:solidFill>
                      <a:srgbClr val="55736D"/>
                    </a:solidFill>
                  </a:tcPr>
                </a:tc>
                <a:tc>
                  <a:txBody>
                    <a:bodyPr/>
                    <a:lstStyle/>
                    <a:p>
                      <a:pPr algn="l"/>
                      <a:r>
                        <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Server file</a:t>
                      </a:r>
                    </a:p>
                  </a:txBody>
                  <a:tcPr marL="54864" marR="54864" anchor="ctr">
                    <a:solidFill>
                      <a:srgbClr val="55736D"/>
                    </a:solidFill>
                  </a:tcPr>
                </a:tc>
                <a:tc>
                  <a:txBody>
                    <a:bodyPr/>
                    <a:lstStyle/>
                    <a:p>
                      <a:pPr algn="l"/>
                      <a:r>
                        <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Server </a:t>
                      </a:r>
                      <a:r>
                        <a:rPr sz="1200" b="1" dirty="0" err="1">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fn</a:t>
                      </a:r>
                      <a:endPar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54864" marR="54864" anchor="ctr">
                    <a:solidFill>
                      <a:srgbClr val="55736D"/>
                    </a:solidFill>
                  </a:tcPr>
                </a:tc>
                <a:extLst>
                  <a:ext uri="{0D108BD9-81ED-4DB2-BD59-A6C34878D82A}">
                    <a16:rowId xmlns:a16="http://schemas.microsoft.com/office/drawing/2014/main" val="10000"/>
                  </a:ext>
                </a:extLst>
              </a:tr>
              <a:tr h="457200">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149</a:t>
                      </a:r>
                    </a:p>
                  </a:txBody>
                  <a:tcPr marL="54864" marR="54864" anchor="ctr">
                    <a:solidFill>
                      <a:srgbClr val="FFFFFF"/>
                    </a:solidFill>
                  </a:tcPr>
                </a:tc>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getAll</a:t>
                      </a:r>
                    </a:p>
                  </a:txBody>
                  <a:tcPr marL="54864" marR="54864" anchor="ctr">
                    <a:solidFill>
                      <a:srgbClr val="FFFFFF"/>
                    </a:solidFill>
                  </a:tcPr>
                </a:tc>
                <a:tc>
                  <a:txBody>
                    <a:bodyPr/>
                    <a:lstStyle/>
                    <a:p>
                      <a:pPr algn="l"/>
                      <a:r>
                        <a:rPr sz="1200" b="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SynchronizedRunner.cpp</a:t>
                      </a:r>
                    </a:p>
                  </a:txBody>
                  <a:tcPr marL="54864" marR="54864" anchor="ctr">
                    <a:solidFill>
                      <a:srgbClr val="FFFFFF"/>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runSynchronized</a:t>
                      </a:r>
                    </a:p>
                  </a:txBody>
                  <a:tcPr marL="54864" marR="54864" anchor="ctr">
                    <a:solidFill>
                      <a:srgbClr val="FFFFFF"/>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Aggregator.h</a:t>
                      </a:r>
                    </a:p>
                  </a:txBody>
                  <a:tcPr marL="54864" marR="54864" anchor="ctr">
                    <a:solidFill>
                      <a:srgbClr val="FFFFFF"/>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getAll</a:t>
                      </a:r>
                    </a:p>
                  </a:txBody>
                  <a:tcPr marL="54864" marR="54864" anchor="ctr">
                    <a:solidFill>
                      <a:srgbClr val="FFFFFF"/>
                    </a:solidFill>
                  </a:tcPr>
                </a:tc>
                <a:extLst>
                  <a:ext uri="{0D108BD9-81ED-4DB2-BD59-A6C34878D82A}">
                    <a16:rowId xmlns:a16="http://schemas.microsoft.com/office/drawing/2014/main" val="10001"/>
                  </a:ext>
                </a:extLst>
              </a:tr>
              <a:tr h="457200">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264</a:t>
                      </a:r>
                    </a:p>
                  </a:txBody>
                  <a:tcPr marL="54864" marR="54864" anchor="ctr">
                    <a:solidFill>
                      <a:srgbClr val="F4F6F8"/>
                    </a:solidFill>
                  </a:tcPr>
                </a:tc>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run</a:t>
                      </a:r>
                    </a:p>
                  </a:txBody>
                  <a:tcPr marL="54864" marR="54864" anchor="ctr">
                    <a:solidFill>
                      <a:srgbClr val="F4F6F8"/>
                    </a:solidFill>
                  </a:tcPr>
                </a:tc>
                <a:tc>
                  <a:txBody>
                    <a:bodyPr/>
                    <a:lstStyle/>
                    <a:p>
                      <a:pPr algn="l"/>
                      <a:r>
                        <a:rPr sz="1200" b="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SynchronizedRunner.cpp</a:t>
                      </a:r>
                    </a:p>
                  </a:txBody>
                  <a:tcPr marL="54864" marR="54864" anchor="ctr">
                    <a:solidFill>
                      <a:srgbClr val="F4F6F8"/>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runSynchronized</a:t>
                      </a:r>
                    </a:p>
                  </a:txBody>
                  <a:tcPr marL="54864" marR="54864" anchor="ctr">
                    <a:solidFill>
                      <a:srgbClr val="F4F6F8"/>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IRunnableObject.h</a:t>
                      </a:r>
                    </a:p>
                  </a:txBody>
                  <a:tcPr marL="54864" marR="54864" anchor="ctr">
                    <a:solidFill>
                      <a:srgbClr val="F4F6F8"/>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run</a:t>
                      </a:r>
                    </a:p>
                  </a:txBody>
                  <a:tcPr marL="54864" marR="54864" anchor="ctr">
                    <a:solidFill>
                      <a:srgbClr val="F4F6F8"/>
                    </a:solidFill>
                  </a:tcPr>
                </a:tc>
                <a:extLst>
                  <a:ext uri="{0D108BD9-81ED-4DB2-BD59-A6C34878D82A}">
                    <a16:rowId xmlns:a16="http://schemas.microsoft.com/office/drawing/2014/main" val="10002"/>
                  </a:ext>
                </a:extLst>
              </a:tr>
              <a:tr h="457200">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291</a:t>
                      </a:r>
                    </a:p>
                  </a:txBody>
                  <a:tcPr marL="54864" marR="54864" anchor="ctr">
                    <a:solidFill>
                      <a:srgbClr val="F7ECDD"/>
                    </a:solidFill>
                  </a:tcPr>
                </a:tc>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flush</a:t>
                      </a:r>
                    </a:p>
                  </a:txBody>
                  <a:tcPr marL="54864" marR="54864" anchor="ctr">
                    <a:solidFill>
                      <a:srgbClr val="F7ECDD"/>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SynchronizedRunner.cpp</a:t>
                      </a:r>
                    </a:p>
                  </a:txBody>
                  <a:tcPr marL="54864" marR="54864" anchor="ctr">
                    <a:solidFill>
                      <a:srgbClr val="F7ECDD"/>
                    </a:solidFill>
                  </a:tcPr>
                </a:tc>
                <a:tc>
                  <a:txBody>
                    <a:bodyPr/>
                    <a:lstStyle/>
                    <a:p>
                      <a:pPr algn="l"/>
                      <a:r>
                        <a:rPr sz="1200" b="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runSynchronized</a:t>
                      </a:r>
                      <a:endParaRPr sz="1200" b="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54864" marR="54864" anchor="ctr">
                    <a:solidFill>
                      <a:srgbClr val="F7ECDD"/>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CPSLogger.h</a:t>
                      </a:r>
                    </a:p>
                  </a:txBody>
                  <a:tcPr marL="54864" marR="54864" anchor="ctr">
                    <a:solidFill>
                      <a:srgbClr val="F7ECDD"/>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flush</a:t>
                      </a:r>
                    </a:p>
                  </a:txBody>
                  <a:tcPr marL="54864" marR="54864" anchor="ctr">
                    <a:solidFill>
                      <a:srgbClr val="F7ECDD"/>
                    </a:solidFill>
                  </a:tcPr>
                </a:tc>
                <a:extLst>
                  <a:ext uri="{0D108BD9-81ED-4DB2-BD59-A6C34878D82A}">
                    <a16:rowId xmlns:a16="http://schemas.microsoft.com/office/drawing/2014/main" val="10003"/>
                  </a:ext>
                </a:extLst>
              </a:tr>
              <a:tr h="457200">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292</a:t>
                      </a:r>
                    </a:p>
                  </a:txBody>
                  <a:tcPr marL="54864" marR="54864" anchor="ctr">
                    <a:solidFill>
                      <a:srgbClr val="F7ECDD"/>
                    </a:solidFill>
                  </a:tcPr>
                </a:tc>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instance</a:t>
                      </a:r>
                    </a:p>
                  </a:txBody>
                  <a:tcPr marL="54864" marR="54864" anchor="ctr">
                    <a:solidFill>
                      <a:srgbClr val="F7ECDD"/>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SynchronizedRunner.cpp</a:t>
                      </a:r>
                    </a:p>
                  </a:txBody>
                  <a:tcPr marL="54864" marR="54864" anchor="ctr">
                    <a:solidFill>
                      <a:srgbClr val="F7ECDD"/>
                    </a:solidFill>
                  </a:tcPr>
                </a:tc>
                <a:tc>
                  <a:txBody>
                    <a:bodyPr/>
                    <a:lstStyle/>
                    <a:p>
                      <a:pPr algn="l"/>
                      <a:r>
                        <a:rPr sz="1200" b="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runSynchronized</a:t>
                      </a:r>
                      <a:endParaRPr sz="1200" b="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54864" marR="54864" anchor="ctr">
                    <a:solidFill>
                      <a:srgbClr val="F7ECDD"/>
                    </a:solidFill>
                  </a:tcPr>
                </a:tc>
                <a:tc>
                  <a:txBody>
                    <a:bodyPr/>
                    <a:lstStyle/>
                    <a:p>
                      <a:pPr algn="l"/>
                      <a:r>
                        <a:rPr sz="1200" b="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CPSLogger.h</a:t>
                      </a:r>
                      <a:endParaRPr sz="1200" b="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54864" marR="54864" anchor="ctr">
                    <a:solidFill>
                      <a:srgbClr val="F7ECDD"/>
                    </a:solidFill>
                  </a:tcPr>
                </a:tc>
                <a:tc>
                  <a:txBody>
                    <a:bodyPr/>
                    <a:lstStyle/>
                    <a:p>
                      <a:pPr algn="l"/>
                      <a:r>
                        <a:rPr sz="1200" b="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instance</a:t>
                      </a:r>
                    </a:p>
                  </a:txBody>
                  <a:tcPr marL="54864" marR="54864" anchor="ctr">
                    <a:solidFill>
                      <a:srgbClr val="F7ECDD"/>
                    </a:solidFill>
                  </a:tcPr>
                </a:tc>
                <a:extLst>
                  <a:ext uri="{0D108BD9-81ED-4DB2-BD59-A6C34878D82A}">
                    <a16:rowId xmlns:a16="http://schemas.microsoft.com/office/drawing/2014/main" val="10004"/>
                  </a:ext>
                </a:extLst>
              </a:tr>
              <a:tr h="457200">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139</a:t>
                      </a:r>
                    </a:p>
                  </a:txBody>
                  <a:tcPr marL="54864" marR="54864" anchor="ctr">
                    <a:solidFill>
                      <a:srgbClr val="FFFFFF"/>
                    </a:solidFill>
                  </a:tcPr>
                </a:tc>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stream</a:t>
                      </a:r>
                    </a:p>
                  </a:txBody>
                  <a:tcPr marL="54864" marR="54864" anchor="ctr">
                    <a:solidFill>
                      <a:srgbClr val="FFFFFF"/>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SynchronizedRunnerMaster.cpp</a:t>
                      </a:r>
                    </a:p>
                  </a:txBody>
                  <a:tcPr marL="54864" marR="54864" anchor="ctr">
                    <a:solidFill>
                      <a:srgbClr val="FFFFFF"/>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SynchronizedRunnerMaster</a:t>
                      </a:r>
                    </a:p>
                  </a:txBody>
                  <a:tcPr marL="54864" marR="54864" anchor="ctr">
                    <a:solidFill>
                      <a:srgbClr val="FFFFFF"/>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CPSLogger.h</a:t>
                      </a:r>
                    </a:p>
                  </a:txBody>
                  <a:tcPr marL="54864" marR="54864" anchor="ctr">
                    <a:solidFill>
                      <a:srgbClr val="FFFFFF"/>
                    </a:solidFill>
                  </a:tcPr>
                </a:tc>
                <a:tc>
                  <a:txBody>
                    <a:bodyPr/>
                    <a:lstStyle/>
                    <a:p>
                      <a:pPr algn="l"/>
                      <a:r>
                        <a:rPr sz="1200" b="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stream</a:t>
                      </a:r>
                    </a:p>
                  </a:txBody>
                  <a:tcPr marL="54864" marR="54864" anchor="ctr">
                    <a:solidFill>
                      <a:srgbClr val="FFFFFF"/>
                    </a:solidFill>
                  </a:tcPr>
                </a:tc>
                <a:extLst>
                  <a:ext uri="{0D108BD9-81ED-4DB2-BD59-A6C34878D82A}">
                    <a16:rowId xmlns:a16="http://schemas.microsoft.com/office/drawing/2014/main" val="10005"/>
                  </a:ext>
                </a:extLst>
              </a:tr>
            </a:tbl>
          </a:graphicData>
        </a:graphic>
      </p:graphicFrame>
      <p:sp>
        <p:nvSpPr>
          <p:cNvPr id="10" name="TextBox 9"/>
          <p:cNvSpPr txBox="1"/>
          <p:nvPr/>
        </p:nvSpPr>
        <p:spPr>
          <a:xfrm>
            <a:off x="470916" y="5798589"/>
            <a:ext cx="11247120" cy="437043"/>
          </a:xfrm>
          <a:prstGeom prst="rect">
            <a:avLst/>
          </a:prstGeom>
          <a:noFill/>
        </p:spPr>
        <p:txBody>
          <a:bodyPr wrap="square" lIns="45720" tIns="18288" rIns="45720" bIns="18288" anchor="t">
            <a:spAutoFit/>
          </a:bodyPr>
          <a:lstStyle/>
          <a:p>
            <a:pPr algn="l"/>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Highlighted rows 291–292: two separate </a:t>
            </a:r>
            <a:r>
              <a:rPr sz="1300" b="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CppCalls</a:t>
            </a:r>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edges from the exact same call site (</a:t>
            </a:r>
            <a:r>
              <a:rPr sz="1300" b="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CPSLogger</a:t>
            </a:r>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::instance()-&gt;flush();) </a:t>
            </a:r>
            <a:endParaRPr lang="nl-NL"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gn="l"/>
            <a:r>
              <a:rPr lang="en-GB" sz="13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E</a:t>
            </a:r>
            <a:r>
              <a:rPr sz="1300" b="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xtracted</a:t>
            </a:r>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as two rows because they're two distinct function calls chained on one line.</a:t>
            </a:r>
          </a:p>
        </p:txBody>
      </p:sp>
    </p:spTree>
  </p:cSld>
  <p:clrMapOvr>
    <a:masterClrMapping/>
  </p:clrMapOvr>
  <p:extLst>
    <p:ext uri="{6950BFC3-D8DA-4A85-94F7-54DA5524770B}">
      <p188:commentRel xmlns:p188="http://schemas.microsoft.com/office/powerpoint/2018/8/main" r:id="rId2"/>
    </p:ext>
  </p:extLst>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12064"/>
            <a:ext cx="10331450" cy="795047"/>
          </a:xfrm>
        </p:spPr>
        <p:txBody>
          <a:bodyPr>
            <a:normAutofit/>
          </a:bodyPr>
          <a:lstStyle/>
          <a:p>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Stage 4 </a:t>
            </a:r>
            <a:r>
              <a:rPr lang="nl-NL" sz="2800"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 Trace Instrumentation &amp; Runtime Tracing</a:t>
            </a:r>
          </a:p>
        </p:txBody>
      </p:sp>
      <p:sp>
        <p:nvSpPr>
          <p:cNvPr id="3" name="Rounded Rectangle 2"/>
          <p:cNvSpPr/>
          <p:nvPr/>
        </p:nvSpPr>
        <p:spPr>
          <a:xfrm>
            <a:off x="10088880" y="320040"/>
            <a:ext cx="1737360" cy="384048"/>
          </a:xfrm>
          <a:prstGeom prst="roundRect">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88880" y="320040"/>
            <a:ext cx="1737360" cy="384048"/>
          </a:xfrm>
          <a:prstGeom prst="rect">
            <a:avLst/>
          </a:prstGeom>
          <a:noFill/>
        </p:spPr>
        <p:txBody>
          <a:bodyPr wrap="square" lIns="45720" tIns="18288" rIns="45720" bIns="18288" anchor="ctr">
            <a:spAutoFit/>
          </a:bodyPr>
          <a:lstStyle/>
          <a:p>
            <a:pPr algn="ctr"/>
            <a:r>
              <a:rPr sz="1200" b="1" i="0" dirty="0">
                <a:solidFill>
                  <a:srgbClr val="FFFFFF"/>
                </a:solidFill>
                <a:latin typeface="Calibri"/>
              </a:rPr>
              <a:t>STAGE 4 / 6</a:t>
            </a:r>
          </a:p>
        </p:txBody>
      </p:sp>
      <p:sp>
        <p:nvSpPr>
          <p:cNvPr id="5" name="Rounded Rectangle 4"/>
          <p:cNvSpPr/>
          <p:nvPr/>
        </p:nvSpPr>
        <p:spPr>
          <a:xfrm>
            <a:off x="457200" y="1527048"/>
            <a:ext cx="11274552" cy="504952"/>
          </a:xfrm>
          <a:prstGeom prst="roundRect">
            <a:avLst>
              <a:gd name="adj" fmla="val 4000"/>
            </a:avLst>
          </a:prstGeom>
          <a:solidFill>
            <a:srgbClr val="F7ECDD"/>
          </a:solidFill>
          <a:ln w="12700">
            <a:solidFill>
              <a:srgbClr val="B879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46167"/>
            <a:ext cx="10972800" cy="274320"/>
          </a:xfrm>
          <a:prstGeom prst="rect">
            <a:avLst/>
          </a:prstGeom>
          <a:noFill/>
        </p:spPr>
        <p:txBody>
          <a:bodyPr wrap="square" lIns="45720" tIns="18288" rIns="45720" bIns="18288" anchor="t">
            <a:spAutoFit/>
          </a:bodyPr>
          <a:lstStyle/>
          <a:p>
            <a:pPr algn="l"/>
            <a:r>
              <a:rPr sz="1000" b="1" i="0" dirty="0">
                <a:solidFill>
                  <a:srgbClr val="B8792F"/>
                </a:solidFill>
                <a:latin typeface="Calibri"/>
              </a:rPr>
              <a:t>RUNNING EDGE, ALL SIX STAGES</a:t>
            </a:r>
          </a:p>
        </p:txBody>
      </p:sp>
      <p:sp>
        <p:nvSpPr>
          <p:cNvPr id="7" name="TextBox 6"/>
          <p:cNvSpPr txBox="1"/>
          <p:nvPr/>
        </p:nvSpPr>
        <p:spPr>
          <a:xfrm>
            <a:off x="640080" y="1737360"/>
            <a:ext cx="10972800" cy="267766"/>
          </a:xfrm>
          <a:prstGeom prst="rect">
            <a:avLst/>
          </a:prstGeom>
          <a:noFill/>
        </p:spPr>
        <p:txBody>
          <a:bodyPr wrap="square" lIns="45720" tIns="18288" rIns="45720" bIns="18288" anchor="t">
            <a:spAutoFit/>
          </a:bodyPr>
          <a:lstStyle/>
          <a:p>
            <a:pPr algn="l"/>
            <a:r>
              <a:rPr sz="1500" i="0" dirty="0">
                <a:solidFill>
                  <a:srgbClr val="222A33"/>
                </a:solidFill>
                <a:latin typeface="Consolas"/>
              </a:rPr>
              <a:t>Synchronization::</a:t>
            </a:r>
            <a:r>
              <a:rPr sz="1500" i="0" dirty="0" err="1">
                <a:solidFill>
                  <a:srgbClr val="222A33"/>
                </a:solidFill>
                <a:latin typeface="Consolas"/>
              </a:rPr>
              <a:t>SynchronizedRunner</a:t>
            </a:r>
            <a:r>
              <a:rPr sz="1500" i="0" dirty="0">
                <a:solidFill>
                  <a:srgbClr val="222A33"/>
                </a:solidFill>
                <a:latin typeface="Consolas"/>
              </a:rPr>
              <a:t>::</a:t>
            </a:r>
            <a:r>
              <a:rPr sz="1500" i="0" dirty="0" err="1">
                <a:solidFill>
                  <a:srgbClr val="222A33"/>
                </a:solidFill>
                <a:latin typeface="Consolas"/>
              </a:rPr>
              <a:t>runSynchronized</a:t>
            </a:r>
            <a:r>
              <a:rPr sz="1500" i="0" dirty="0">
                <a:solidFill>
                  <a:srgbClr val="222A33"/>
                </a:solidFill>
                <a:latin typeface="Consolas"/>
              </a:rPr>
              <a:t>  →  Logging::</a:t>
            </a:r>
            <a:r>
              <a:rPr sz="1500" i="0" dirty="0" err="1">
                <a:solidFill>
                  <a:srgbClr val="222A33"/>
                </a:solidFill>
                <a:latin typeface="Consolas"/>
              </a:rPr>
              <a:t>CPSLogger</a:t>
            </a:r>
            <a:r>
              <a:rPr sz="1500" i="0" dirty="0">
                <a:solidFill>
                  <a:srgbClr val="222A33"/>
                </a:solidFill>
                <a:latin typeface="Consolas"/>
              </a:rPr>
              <a:t>::instance</a:t>
            </a:r>
          </a:p>
        </p:txBody>
      </p:sp>
      <p:sp>
        <p:nvSpPr>
          <p:cNvPr id="8" name="TextBox 7"/>
          <p:cNvSpPr txBox="1"/>
          <p:nvPr/>
        </p:nvSpPr>
        <p:spPr>
          <a:xfrm>
            <a:off x="457200" y="2286000"/>
            <a:ext cx="11247120" cy="683264"/>
          </a:xfrm>
          <a:prstGeom prst="rect">
            <a:avLst/>
          </a:prstGeom>
          <a:noFill/>
        </p:spPr>
        <p:txBody>
          <a:bodyPr wrap="square" lIns="45720" tIns="18288" rIns="45720" bIns="18288" anchor="t">
            <a:spAutoFit/>
          </a:bodyPr>
          <a:lstStyle/>
          <a:p>
            <a:r>
              <a:rPr lang="en-GB"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The </a:t>
            </a:r>
            <a:r>
              <a:rPr lang="en-GB" sz="1400" b="1"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add-runtime-instrumentation</a:t>
            </a:r>
            <a:r>
              <a:rPr lang="en-GB"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skill injects trace emission points at the relevant call sites. rebuilds and runs the binary ("</a:t>
            </a:r>
            <a:r>
              <a:rPr lang="en-GB" sz="140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MultiThreaded</a:t>
            </a:r>
            <a:r>
              <a:rPr lang="en-GB"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Test 1", "IPC Test 1", "Synchronized Runner Test"), turning the captured [TRACE] output into </a:t>
            </a:r>
            <a:r>
              <a:rPr lang="en-GB" sz="1400" b="1"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runtime_traces.txt.</a:t>
            </a:r>
          </a:p>
          <a:p>
            <a:r>
              <a:rPr lang="en-GB"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Every call the dependency matrix said could happen is now checked against what did happen, in real chronological order.</a:t>
            </a:r>
          </a:p>
        </p:txBody>
      </p:sp>
      <p:sp>
        <p:nvSpPr>
          <p:cNvPr id="9" name="Rounded Rectangle 8"/>
          <p:cNvSpPr/>
          <p:nvPr/>
        </p:nvSpPr>
        <p:spPr>
          <a:xfrm>
            <a:off x="1510145" y="3100415"/>
            <a:ext cx="8963891" cy="2542309"/>
          </a:xfrm>
          <a:prstGeom prst="roundRect">
            <a:avLst/>
          </a:prstGeom>
          <a:solidFill>
            <a:srgbClr val="201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647305" y="3191855"/>
            <a:ext cx="8745260" cy="2172390"/>
          </a:xfrm>
          <a:prstGeom prst="rect">
            <a:avLst/>
          </a:prstGeom>
          <a:noFill/>
        </p:spPr>
        <p:txBody>
          <a:bodyPr wrap="square">
            <a:spAutoFit/>
          </a:bodyPr>
          <a:lstStyle/>
          <a:p>
            <a:pPr>
              <a:spcAft>
                <a:spcPts val="100"/>
              </a:spcAft>
            </a:pPr>
            <a:r>
              <a:rPr sz="1050">
                <a:solidFill>
                  <a:srgbClr val="ECE8DD"/>
                </a:solidFill>
                <a:latin typeface="Consolas"/>
              </a:rPr>
              <a:t>EventTimestamp | EventName | ClientComponent | ClientFunction | ServerComponent | ServerFunction</a:t>
            </a:r>
          </a:p>
          <a:p>
            <a:pPr>
              <a:spcAft>
                <a:spcPts val="100"/>
              </a:spcAft>
            </a:pPr>
            <a:r>
              <a:rPr sz="1050">
                <a:solidFill>
                  <a:srgbClr val="ECE8DD"/>
                </a:solidFill>
                <a:latin typeface="Consolas"/>
              </a:rPr>
              <a:t>...686645Z|Aggregator.getAll|Synchronization|AggregatableRunner.notifyAggregationOnUpdate|Aggregation|...</a:t>
            </a:r>
          </a:p>
          <a:p>
            <a:pPr>
              <a:spcAft>
                <a:spcPts val="100"/>
              </a:spcAft>
            </a:pPr>
            <a:r>
              <a:rPr sz="1050">
                <a:solidFill>
                  <a:srgbClr val="ECE8DD"/>
                </a:solidFill>
                <a:latin typeface="Consolas"/>
              </a:rPr>
              <a:t>...687645Z|RAIILogStream.stream|Synchronization|SimpleRunner.runAllStages|Logging|...</a:t>
            </a:r>
          </a:p>
          <a:p>
            <a:pPr>
              <a:spcAft>
                <a:spcPts val="100"/>
              </a:spcAft>
            </a:pPr>
            <a:r>
              <a:rPr sz="1050">
                <a:solidFill>
                  <a:srgbClr val="ECE8DD"/>
                </a:solidFill>
                <a:latin typeface="Consolas"/>
              </a:rPr>
              <a:t>...688645Z|Aggregator.getAll|Synchronization|SimpleRunner.runStage|Aggregation|...</a:t>
            </a:r>
          </a:p>
          <a:p>
            <a:pPr>
              <a:spcAft>
                <a:spcPts val="100"/>
              </a:spcAft>
            </a:pPr>
            <a:r>
              <a:rPr sz="1050">
                <a:solidFill>
                  <a:srgbClr val="ECE8DD"/>
                </a:solidFill>
                <a:latin typeface="Consolas"/>
              </a:rPr>
              <a:t>...689645Z|RAIILogStream.stream|Synchronization|SimpleRunner.runStage|Logging|...</a:t>
            </a:r>
          </a:p>
          <a:p>
            <a:pPr>
              <a:spcAft>
                <a:spcPts val="100"/>
              </a:spcAft>
            </a:pPr>
            <a:r>
              <a:rPr sz="1050">
                <a:solidFill>
                  <a:srgbClr val="ECE8DD"/>
                </a:solidFill>
                <a:latin typeface="Consolas"/>
              </a:rPr>
              <a:t>...691645Z|RAIILogStream.stream|Synchronization|SimpleRunner.runStages|Logging|...</a:t>
            </a:r>
          </a:p>
          <a:p>
            <a:pPr>
              <a:spcAft>
                <a:spcPts val="100"/>
              </a:spcAft>
            </a:pPr>
            <a:r>
              <a:rPr sz="1050">
                <a:solidFill>
                  <a:srgbClr val="ECE8DD"/>
                </a:solidFill>
                <a:latin typeface="Consolas"/>
              </a:rPr>
              <a:t>...693645Z|Aggregator.getAll|Synchronization|SynchronizedRunner.runSynchronized|Aggregation|...</a:t>
            </a:r>
          </a:p>
          <a:p>
            <a:pPr>
              <a:spcAft>
                <a:spcPts val="100"/>
              </a:spcAft>
            </a:pPr>
            <a:r>
              <a:rPr sz="1050" b="1">
                <a:solidFill>
                  <a:srgbClr val="E0B96F"/>
                </a:solidFill>
                <a:latin typeface="Consolas"/>
              </a:rPr>
              <a:t>...694645Z|CPSLogger.flush|Synchronization|SynchronizedRunner.runSynchronized|Logging|CPSLogger.flush</a:t>
            </a:r>
          </a:p>
          <a:p>
            <a:pPr>
              <a:spcAft>
                <a:spcPts val="100"/>
              </a:spcAft>
            </a:pPr>
            <a:r>
              <a:rPr sz="1050" b="1">
                <a:solidFill>
                  <a:srgbClr val="E0B96F"/>
                </a:solidFill>
                <a:latin typeface="Consolas"/>
              </a:rPr>
              <a:t>...695645Z|CPSLogger.instance|Synchronization|SynchronizedRunner.runSynchronized|Logging|CPSLogger.instance</a:t>
            </a:r>
          </a:p>
          <a:p>
            <a:pPr>
              <a:spcAft>
                <a:spcPts val="100"/>
              </a:spcAft>
            </a:pPr>
            <a:r>
              <a:rPr sz="1050">
                <a:solidFill>
                  <a:srgbClr val="ECE8DD"/>
                </a:solidFill>
                <a:latin typeface="Consolas"/>
              </a:rPr>
              <a:t>...696645Z|RAIILogStream.stream|Synchronization|SynchronizedRunnerMaster.SynchronizedRunnerMaster|...</a:t>
            </a:r>
          </a:p>
          <a:p>
            <a:pPr>
              <a:spcAft>
                <a:spcPts val="100"/>
              </a:spcAft>
            </a:pPr>
            <a:r>
              <a:rPr sz="1050">
                <a:solidFill>
                  <a:srgbClr val="ECE8DD"/>
                </a:solidFill>
                <a:latin typeface="Consolas"/>
              </a:rPr>
              <a:t>...697645Z|RAIILogStream.stream|Synchronization|SynchronizedRunnerMaster.runAllStages|Logging|...</a:t>
            </a:r>
          </a:p>
          <a:p>
            <a:pPr>
              <a:spcAft>
                <a:spcPts val="100"/>
              </a:spcAft>
            </a:pPr>
            <a:r>
              <a:rPr sz="1050">
                <a:solidFill>
                  <a:srgbClr val="ECE8DD"/>
                </a:solidFill>
                <a:latin typeface="Consolas"/>
              </a:rPr>
              <a:t>...698645Z|RAIILogStream.stream|Synchronization|SynchronizedRunnerMaster.runStage|Logging|...</a:t>
            </a:r>
          </a:p>
        </p:txBody>
      </p:sp>
      <p:sp>
        <p:nvSpPr>
          <p:cNvPr id="11" name="TextBox 10"/>
          <p:cNvSpPr txBox="1"/>
          <p:nvPr/>
        </p:nvSpPr>
        <p:spPr>
          <a:xfrm>
            <a:off x="457200" y="5989320"/>
            <a:ext cx="11247120" cy="236988"/>
          </a:xfrm>
          <a:prstGeom prst="rect">
            <a:avLst/>
          </a:prstGeom>
          <a:noFill/>
        </p:spPr>
        <p:txBody>
          <a:bodyPr wrap="square" lIns="45720" tIns="18288" rIns="45720" bIns="18288" anchor="t">
            <a:spAutoFit/>
          </a:bodyPr>
          <a:lstStyle/>
          <a:p>
            <a:pPr algn="l"/>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11 rows, all corroborating a static edge — our running edge is row 8, with its sibling flush at row 7, one millisecond earlier.</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3560"/>
            <a:ext cx="10331450" cy="932207"/>
          </a:xfrm>
        </p:spPr>
        <p:txBody>
          <a:bodyPr>
            <a:normAutofit/>
          </a:bodyPr>
          <a:lstStyle/>
          <a:p>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Stage 5 </a:t>
            </a:r>
            <a:r>
              <a:rPr lang="nl-NL" sz="2800"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 Agentic Synthesis: Static + Dynamic → Elements</a:t>
            </a:r>
          </a:p>
        </p:txBody>
      </p:sp>
      <p:sp>
        <p:nvSpPr>
          <p:cNvPr id="3" name="Rounded Rectangle 2"/>
          <p:cNvSpPr/>
          <p:nvPr/>
        </p:nvSpPr>
        <p:spPr>
          <a:xfrm>
            <a:off x="10088880" y="320040"/>
            <a:ext cx="1737360" cy="384048"/>
          </a:xfrm>
          <a:prstGeom prst="roundRect">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b="1" dirty="0">
                <a:solidFill>
                  <a:srgbClr val="FFFFFF"/>
                </a:solidFill>
                <a:latin typeface="Calibri"/>
              </a:rPr>
              <a:t>STAGE 5/6</a:t>
            </a:r>
          </a:p>
        </p:txBody>
      </p:sp>
      <p:sp>
        <p:nvSpPr>
          <p:cNvPr id="8" name="TextBox 7"/>
          <p:cNvSpPr txBox="1"/>
          <p:nvPr/>
        </p:nvSpPr>
        <p:spPr>
          <a:xfrm>
            <a:off x="457200" y="1699287"/>
            <a:ext cx="11247120" cy="660181"/>
          </a:xfrm>
          <a:prstGeom prst="rect">
            <a:avLst/>
          </a:prstGeom>
          <a:noFill/>
        </p:spPr>
        <p:txBody>
          <a:bodyPr wrap="square" lIns="45720" tIns="18288" rIns="45720" bIns="18288" anchor="t">
            <a:spAutoFit/>
          </a:bodyPr>
          <a:lstStyle/>
          <a:p>
            <a:pPr algn="l"/>
            <a:r>
              <a:rPr lang="en-GB" sz="135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This is the stage where an LLM touches the pipeline (gpt-5 via Azure OpenAI) independently. It receives static and dynamic evidence as two separately-</a:t>
            </a:r>
            <a:r>
              <a:rPr lang="en-GB" sz="135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labeled</a:t>
            </a:r>
            <a:r>
              <a:rPr lang="en-GB" sz="135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un-merged sources and reasons about corroboration, suppression and indirect dispatch itself. Outputs </a:t>
            </a:r>
            <a:r>
              <a:rPr lang="en-GB" sz="1350" b="1"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elements.json</a:t>
            </a:r>
            <a:r>
              <a:rPr lang="en-GB" sz="135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35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and </a:t>
            </a:r>
            <a:r>
              <a:rPr lang="en-GB" sz="1350" b="1"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sequence.json</a:t>
            </a:r>
            <a:r>
              <a:rPr lang="en-GB" sz="135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used to construct the </a:t>
            </a:r>
            <a:r>
              <a:rPr lang="en-GB" sz="135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35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diagrams.</a:t>
            </a:r>
            <a:endParaRPr sz="135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9" name="Rounded Rectangle 8"/>
          <p:cNvSpPr/>
          <p:nvPr/>
        </p:nvSpPr>
        <p:spPr>
          <a:xfrm>
            <a:off x="457200" y="2712258"/>
            <a:ext cx="5486400" cy="3017520"/>
          </a:xfrm>
          <a:prstGeom prst="roundRect">
            <a:avLst/>
          </a:prstGeom>
          <a:solidFill>
            <a:srgbClr val="201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803698"/>
            <a:ext cx="5212080" cy="2834640"/>
          </a:xfrm>
          <a:prstGeom prst="rect">
            <a:avLst/>
          </a:prstGeom>
          <a:noFill/>
        </p:spPr>
        <p:txBody>
          <a:bodyPr wrap="square">
            <a:spAutoFit/>
          </a:bodyPr>
          <a:lstStyle/>
          <a:p>
            <a:pPr>
              <a:spcAft>
                <a:spcPts val="100"/>
              </a:spcAft>
            </a:pPr>
            <a:r>
              <a:rPr sz="1050" dirty="0">
                <a:solidFill>
                  <a:srgbClr val="ECE8DD"/>
                </a:solidFill>
                <a:latin typeface="Consolas"/>
              </a:rPr>
              <a:t>## STATIC EVIDENCE (no execution order)</a:t>
            </a:r>
          </a:p>
          <a:p>
            <a:pPr>
              <a:spcAft>
                <a:spcPts val="100"/>
              </a:spcAft>
            </a:pPr>
            <a:r>
              <a:rPr sz="1050" dirty="0">
                <a:solidFill>
                  <a:srgbClr val="ECE8DD"/>
                </a:solidFill>
                <a:latin typeface="Consolas"/>
              </a:rPr>
              <a:t># (a) suppressed at runtime -&gt; still real, KEEP</a:t>
            </a:r>
          </a:p>
          <a:p>
            <a:pPr>
              <a:spcAft>
                <a:spcPts val="100"/>
              </a:spcAft>
            </a:pPr>
            <a:r>
              <a:rPr sz="1050" dirty="0">
                <a:solidFill>
                  <a:srgbClr val="ECE8DD"/>
                </a:solidFill>
                <a:latin typeface="Consolas"/>
              </a:rPr>
              <a:t># (b) over-approximation -&gt; safe to DROP</a:t>
            </a:r>
          </a:p>
          <a:p>
            <a:pPr>
              <a:spcAft>
                <a:spcPts val="100"/>
              </a:spcAft>
            </a:pPr>
            <a:r>
              <a:rPr sz="1050" dirty="0">
                <a:solidFill>
                  <a:srgbClr val="ECE8DD"/>
                </a:solidFill>
                <a:latin typeface="Consolas"/>
              </a:rPr>
              <a:t>Synchronization -&gt; Logging : flush     [ALSO dynamic]</a:t>
            </a:r>
          </a:p>
          <a:p>
            <a:pPr>
              <a:spcAft>
                <a:spcPts val="100"/>
              </a:spcAft>
            </a:pPr>
            <a:r>
              <a:rPr sz="1050" b="1" dirty="0">
                <a:solidFill>
                  <a:srgbClr val="E0B96F"/>
                </a:solidFill>
                <a:latin typeface="Consolas"/>
              </a:rPr>
              <a:t>Synchronization -&gt; Logging : instance  [ALSO dynamic]</a:t>
            </a:r>
          </a:p>
          <a:p>
            <a:pPr>
              <a:spcAft>
                <a:spcPts val="100"/>
              </a:spcAft>
            </a:pPr>
            <a:endParaRPr sz="1050" b="1" dirty="0">
              <a:solidFill>
                <a:srgbClr val="E0B96F"/>
              </a:solidFill>
              <a:latin typeface="Consolas"/>
            </a:endParaRPr>
          </a:p>
          <a:p>
            <a:pPr>
              <a:spcAft>
                <a:spcPts val="100"/>
              </a:spcAft>
            </a:pPr>
            <a:r>
              <a:rPr sz="1050" dirty="0">
                <a:solidFill>
                  <a:srgbClr val="ECE8DD"/>
                </a:solidFill>
                <a:latin typeface="Consolas"/>
              </a:rPr>
              <a:t>## DYNAMIC EVIDENCE (real execution order)</a:t>
            </a:r>
          </a:p>
          <a:p>
            <a:pPr>
              <a:spcAft>
                <a:spcPts val="100"/>
              </a:spcAft>
            </a:pPr>
            <a:r>
              <a:rPr sz="1050" dirty="0">
                <a:solidFill>
                  <a:srgbClr val="ECE8DD"/>
                </a:solidFill>
                <a:latin typeface="Consolas"/>
              </a:rPr>
              <a:t>[7] Sync -&gt; Logging : flush</a:t>
            </a:r>
          </a:p>
          <a:p>
            <a:pPr>
              <a:spcAft>
                <a:spcPts val="100"/>
              </a:spcAft>
            </a:pPr>
            <a:r>
              <a:rPr sz="1050" dirty="0">
                <a:solidFill>
                  <a:srgbClr val="ECE8DD"/>
                </a:solidFill>
                <a:latin typeface="Consolas"/>
              </a:rPr>
              <a:t>     (from </a:t>
            </a:r>
            <a:r>
              <a:rPr sz="1050" dirty="0" err="1">
                <a:solidFill>
                  <a:srgbClr val="ECE8DD"/>
                </a:solidFill>
                <a:latin typeface="Consolas"/>
              </a:rPr>
              <a:t>SynchronizedRunner.runSynchronized</a:t>
            </a:r>
            <a:r>
              <a:rPr sz="1050" dirty="0">
                <a:solidFill>
                  <a:srgbClr val="ECE8DD"/>
                </a:solidFill>
                <a:latin typeface="Consolas"/>
              </a:rPr>
              <a:t>)</a:t>
            </a:r>
          </a:p>
          <a:p>
            <a:pPr>
              <a:spcAft>
                <a:spcPts val="100"/>
              </a:spcAft>
            </a:pPr>
            <a:r>
              <a:rPr sz="1050" b="1" dirty="0">
                <a:solidFill>
                  <a:srgbClr val="E0B96F"/>
                </a:solidFill>
                <a:latin typeface="Consolas"/>
              </a:rPr>
              <a:t>[8] Sync -&gt; Logging : instance</a:t>
            </a:r>
          </a:p>
          <a:p>
            <a:pPr>
              <a:spcAft>
                <a:spcPts val="100"/>
              </a:spcAft>
            </a:pPr>
            <a:r>
              <a:rPr sz="1050" dirty="0">
                <a:solidFill>
                  <a:srgbClr val="ECE8DD"/>
                </a:solidFill>
                <a:latin typeface="Consolas"/>
              </a:rPr>
              <a:t>     (from </a:t>
            </a:r>
            <a:r>
              <a:rPr sz="1050" dirty="0" err="1">
                <a:solidFill>
                  <a:srgbClr val="ECE8DD"/>
                </a:solidFill>
                <a:latin typeface="Consolas"/>
              </a:rPr>
              <a:t>SynchronizedRunner.runSynchronized</a:t>
            </a:r>
            <a:r>
              <a:rPr sz="1050" dirty="0">
                <a:solidFill>
                  <a:srgbClr val="ECE8DD"/>
                </a:solidFill>
                <a:latin typeface="Consolas"/>
              </a:rPr>
              <a:t>)</a:t>
            </a:r>
          </a:p>
        </p:txBody>
      </p:sp>
      <p:sp>
        <p:nvSpPr>
          <p:cNvPr id="11" name="Rounded Rectangle 10"/>
          <p:cNvSpPr/>
          <p:nvPr/>
        </p:nvSpPr>
        <p:spPr>
          <a:xfrm>
            <a:off x="6172200" y="2712258"/>
            <a:ext cx="5532120" cy="3017520"/>
          </a:xfrm>
          <a:prstGeom prst="roundRect">
            <a:avLst/>
          </a:prstGeom>
          <a:solidFill>
            <a:srgbClr val="201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09360" y="2803698"/>
            <a:ext cx="5257800" cy="2834640"/>
          </a:xfrm>
          <a:prstGeom prst="rect">
            <a:avLst/>
          </a:prstGeom>
          <a:noFill/>
        </p:spPr>
        <p:txBody>
          <a:bodyPr wrap="square">
            <a:spAutoFit/>
          </a:bodyPr>
          <a:lstStyle/>
          <a:p>
            <a:pPr>
              <a:spcAft>
                <a:spcPts val="100"/>
              </a:spcAft>
            </a:pPr>
            <a:r>
              <a:rPr sz="1050">
                <a:solidFill>
                  <a:srgbClr val="ECE8DD"/>
                </a:solidFill>
                <a:latin typeface="Consolas"/>
              </a:rPr>
              <a:t>// elements.json (final set)</a:t>
            </a:r>
          </a:p>
          <a:p>
            <a:pPr>
              <a:spcAft>
                <a:spcPts val="100"/>
              </a:spcAft>
            </a:pPr>
            <a:r>
              <a:rPr sz="1050">
                <a:solidFill>
                  <a:srgbClr val="ECE8DD"/>
                </a:solidFill>
                <a:latin typeface="Consolas"/>
              </a:rPr>
              <a:t>{"source":"Synchronization","target":"Logging",</a:t>
            </a:r>
          </a:p>
          <a:p>
            <a:pPr>
              <a:spcAft>
                <a:spcPts val="100"/>
              </a:spcAft>
            </a:pPr>
            <a:r>
              <a:rPr sz="1050">
                <a:solidFill>
                  <a:srgbClr val="ECE8DD"/>
                </a:solidFill>
                <a:latin typeface="Consolas"/>
              </a:rPr>
              <a:t>  "interaction":"flush"},</a:t>
            </a:r>
          </a:p>
          <a:p>
            <a:pPr>
              <a:spcAft>
                <a:spcPts val="100"/>
              </a:spcAft>
            </a:pPr>
            <a:r>
              <a:rPr sz="1050" b="1">
                <a:solidFill>
                  <a:srgbClr val="E0B96F"/>
                </a:solidFill>
                <a:latin typeface="Consolas"/>
              </a:rPr>
              <a:t>{"source":"Synchronization","target":"Logging",</a:t>
            </a:r>
          </a:p>
          <a:p>
            <a:pPr>
              <a:spcAft>
                <a:spcPts val="100"/>
              </a:spcAft>
            </a:pPr>
            <a:r>
              <a:rPr sz="1050" b="1">
                <a:solidFill>
                  <a:srgbClr val="E0B96F"/>
                </a:solidFill>
                <a:latin typeface="Consolas"/>
              </a:rPr>
              <a:t>  "interaction":"instance"},</a:t>
            </a:r>
          </a:p>
          <a:p>
            <a:pPr>
              <a:spcAft>
                <a:spcPts val="100"/>
              </a:spcAft>
            </a:pPr>
            <a:r>
              <a:rPr sz="1050">
                <a:solidFill>
                  <a:srgbClr val="ECE8DD"/>
                </a:solidFill>
                <a:latin typeface="Consolas"/>
              </a:rPr>
              <a:t>...</a:t>
            </a:r>
          </a:p>
          <a:p>
            <a:pPr>
              <a:spcAft>
                <a:spcPts val="100"/>
              </a:spcAft>
            </a:pPr>
            <a:endParaRPr sz="1050">
              <a:solidFill>
                <a:srgbClr val="ECE8DD"/>
              </a:solidFill>
              <a:latin typeface="Consolas"/>
            </a:endParaRPr>
          </a:p>
          <a:p>
            <a:pPr>
              <a:spcAft>
                <a:spcPts val="100"/>
              </a:spcAft>
            </a:pPr>
            <a:r>
              <a:rPr sz="1050">
                <a:solidFill>
                  <a:srgbClr val="ECE8DD"/>
                </a:solidFill>
                <a:latin typeface="Consolas"/>
              </a:rPr>
              <a:t>// sequence.json, steps 7-8</a:t>
            </a:r>
          </a:p>
          <a:p>
            <a:pPr>
              <a:spcAft>
                <a:spcPts val="100"/>
              </a:spcAft>
            </a:pPr>
            <a:r>
              <a:rPr sz="1050">
                <a:solidFill>
                  <a:srgbClr val="ECE8DD"/>
                </a:solidFill>
                <a:latin typeface="Consolas"/>
              </a:rPr>
              <a:t>{"step":7,  ...,"interaction":"flush",   "note":""}</a:t>
            </a:r>
          </a:p>
          <a:p>
            <a:pPr>
              <a:spcAft>
                <a:spcPts val="100"/>
              </a:spcAft>
            </a:pPr>
            <a:r>
              <a:rPr sz="1050" b="1">
                <a:solidFill>
                  <a:srgbClr val="E0B96F"/>
                </a:solidFill>
                <a:latin typeface="Consolas"/>
              </a:rPr>
              <a:t>{"step":8,  ...,"interaction":"instance","note":""}</a:t>
            </a:r>
          </a:p>
        </p:txBody>
      </p:sp>
      <p:sp>
        <p:nvSpPr>
          <p:cNvPr id="13" name="TextBox 12"/>
          <p:cNvSpPr txBox="1"/>
          <p:nvPr/>
        </p:nvSpPr>
        <p:spPr>
          <a:xfrm>
            <a:off x="472440" y="6035040"/>
            <a:ext cx="11247120" cy="421654"/>
          </a:xfrm>
          <a:prstGeom prst="rect">
            <a:avLst/>
          </a:prstGeom>
          <a:noFill/>
        </p:spPr>
        <p:txBody>
          <a:bodyPr wrap="square" lIns="45720" tIns="18288" rIns="45720" bIns="18288" anchor="t">
            <a:spAutoFit/>
          </a:bodyPr>
          <a:lstStyle/>
          <a:p>
            <a:pPr algn="l"/>
            <a:r>
              <a:rPr sz="1250" b="1"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Empty "note" fields matter</a:t>
            </a:r>
            <a:r>
              <a:rPr sz="125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25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T</a:t>
            </a:r>
            <a:r>
              <a:rPr sz="125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he agent notes a step ONLY when it came from a single source. All 11 S1 steps corroborate both ways — the agent's judgment call is trivial here.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48247"/>
            <a:ext cx="10803890" cy="1048123"/>
          </a:xfrm>
        </p:spPr>
        <p:txBody>
          <a:bodyPr/>
          <a:lstStyle/>
          <a:p>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Stage 6 </a:t>
            </a:r>
            <a:r>
              <a:rPr lang="nl-NL" sz="2800"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280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 v2 Generation: Elements → Scenario Diagram</a:t>
            </a:r>
          </a:p>
        </p:txBody>
      </p:sp>
      <p:sp>
        <p:nvSpPr>
          <p:cNvPr id="3" name="Rounded Rectangle 2"/>
          <p:cNvSpPr/>
          <p:nvPr/>
        </p:nvSpPr>
        <p:spPr>
          <a:xfrm>
            <a:off x="10088880" y="320040"/>
            <a:ext cx="1737360" cy="384048"/>
          </a:xfrm>
          <a:prstGeom prst="roundRect">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88880" y="320040"/>
            <a:ext cx="1737360" cy="384048"/>
          </a:xfrm>
          <a:prstGeom prst="rect">
            <a:avLst/>
          </a:prstGeom>
          <a:noFill/>
        </p:spPr>
        <p:txBody>
          <a:bodyPr wrap="square" lIns="45720" tIns="18288" rIns="45720" bIns="18288" anchor="ctr">
            <a:spAutoFit/>
          </a:bodyPr>
          <a:lstStyle/>
          <a:p>
            <a:pPr algn="ctr"/>
            <a:r>
              <a:rPr sz="1200" b="1" i="0">
                <a:solidFill>
                  <a:srgbClr val="FFFFFF"/>
                </a:solidFill>
                <a:latin typeface="Calibri"/>
              </a:rPr>
              <a:t>STAGE 6 / 6</a:t>
            </a:r>
          </a:p>
        </p:txBody>
      </p:sp>
      <p:sp>
        <p:nvSpPr>
          <p:cNvPr id="8" name="TextBox 7"/>
          <p:cNvSpPr txBox="1"/>
          <p:nvPr/>
        </p:nvSpPr>
        <p:spPr>
          <a:xfrm>
            <a:off x="457200" y="2003601"/>
            <a:ext cx="11247120" cy="467820"/>
          </a:xfrm>
          <a:prstGeom prst="rect">
            <a:avLst/>
          </a:prstGeom>
          <a:noFill/>
        </p:spPr>
        <p:txBody>
          <a:bodyPr wrap="square" lIns="45720" tIns="18288" rIns="45720" bIns="18288" anchor="t">
            <a:spAutoFit/>
          </a:bodyPr>
          <a:lstStyle/>
          <a:p>
            <a:pPr algn="l"/>
            <a:r>
              <a:rPr lang="en-GB"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v2 structural and sequence models are generated using the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draw-</a:t>
            </a:r>
            <a:r>
              <a:rPr lang="en-GB" sz="1400" b="1"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-structural-model</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draw-</a:t>
            </a:r>
            <a:r>
              <a:rPr lang="en-GB" sz="1400" b="1"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-sequence-model</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agent skills. Each element becomes a typed port pair and each sequence step becomes a labelled </a:t>
            </a:r>
            <a:r>
              <a:rPr lang="en-GB"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SynchronousCall</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a:t>
            </a:r>
            <a:endPar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9" name="Rounded Rectangle 8"/>
          <p:cNvSpPr/>
          <p:nvPr/>
        </p:nvSpPr>
        <p:spPr>
          <a:xfrm>
            <a:off x="2424545" y="2751051"/>
            <a:ext cx="7042727" cy="2834640"/>
          </a:xfrm>
          <a:prstGeom prst="roundRect">
            <a:avLst/>
          </a:prstGeom>
          <a:solidFill>
            <a:srgbClr val="201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61705" y="2842491"/>
            <a:ext cx="6369858" cy="2926442"/>
          </a:xfrm>
          <a:prstGeom prst="rect">
            <a:avLst/>
          </a:prstGeom>
          <a:noFill/>
        </p:spPr>
        <p:txBody>
          <a:bodyPr wrap="square">
            <a:spAutoFit/>
          </a:bodyPr>
          <a:lstStyle/>
          <a:p>
            <a:pPr>
              <a:spcAft>
                <a:spcPts val="100"/>
              </a:spcAft>
            </a:pPr>
            <a:r>
              <a:rPr sz="1150">
                <a:solidFill>
                  <a:srgbClr val="ECE8DD"/>
                </a:solidFill>
                <a:latin typeface="Consolas"/>
              </a:rPr>
              <a:t>package ComponentModel_S1 {</a:t>
            </a:r>
          </a:p>
          <a:p>
            <a:pPr>
              <a:spcAft>
                <a:spcPts val="100"/>
              </a:spcAft>
            </a:pPr>
            <a:r>
              <a:rPr sz="1150">
                <a:solidFill>
                  <a:srgbClr val="ECE8DD"/>
                </a:solidFill>
                <a:latin typeface="Consolas"/>
              </a:rPr>
              <a:t>    port def Instance;  // ...Flush, GetAll, Stream</a:t>
            </a:r>
          </a:p>
          <a:p>
            <a:pPr>
              <a:spcAft>
                <a:spcPts val="100"/>
              </a:spcAft>
            </a:pPr>
            <a:r>
              <a:rPr sz="1150">
                <a:solidFill>
                  <a:srgbClr val="ECE8DD"/>
                </a:solidFill>
                <a:latin typeface="Consolas"/>
              </a:rPr>
              <a:t>    part def Logging { port serverInstance : Instance; }</a:t>
            </a:r>
          </a:p>
          <a:p>
            <a:pPr>
              <a:spcAft>
                <a:spcPts val="100"/>
              </a:spcAft>
            </a:pPr>
            <a:r>
              <a:rPr sz="1150">
                <a:solidFill>
                  <a:srgbClr val="ECE8DD"/>
                </a:solidFill>
                <a:latin typeface="Consolas"/>
              </a:rPr>
              <a:t>    part def Synchronization { port clientInstance : Instance; }</a:t>
            </a:r>
          </a:p>
          <a:p>
            <a:pPr>
              <a:spcAft>
                <a:spcPts val="100"/>
              </a:spcAft>
            </a:pPr>
            <a:r>
              <a:rPr sz="1150">
                <a:solidFill>
                  <a:srgbClr val="ECE8DD"/>
                </a:solidFill>
                <a:latin typeface="Consolas"/>
              </a:rPr>
              <a:t>    part def S1System {</a:t>
            </a:r>
          </a:p>
          <a:p>
            <a:pPr>
              <a:spcAft>
                <a:spcPts val="100"/>
              </a:spcAft>
            </a:pPr>
            <a:r>
              <a:rPr sz="1150" b="1">
                <a:solidFill>
                  <a:srgbClr val="E0B96F"/>
                </a:solidFill>
                <a:latin typeface="Consolas"/>
              </a:rPr>
              <a:t>        connect logging.serverInstance to synchronization.clientInstance;</a:t>
            </a:r>
          </a:p>
          <a:p>
            <a:pPr>
              <a:spcAft>
                <a:spcPts val="100"/>
              </a:spcAft>
            </a:pPr>
            <a:r>
              <a:rPr sz="1150">
                <a:solidFill>
                  <a:srgbClr val="ECE8DD"/>
                </a:solidFill>
                <a:latin typeface="Consolas"/>
              </a:rPr>
              <a:t>    }</a:t>
            </a:r>
          </a:p>
          <a:p>
            <a:pPr>
              <a:spcAft>
                <a:spcPts val="100"/>
              </a:spcAft>
            </a:pPr>
            <a:r>
              <a:rPr sz="1150">
                <a:solidFill>
                  <a:srgbClr val="ECE8DD"/>
                </a:solidFill>
                <a:latin typeface="Consolas"/>
              </a:rPr>
              <a:t>}</a:t>
            </a:r>
          </a:p>
          <a:p>
            <a:pPr>
              <a:spcAft>
                <a:spcPts val="100"/>
              </a:spcAft>
            </a:pPr>
            <a:r>
              <a:rPr sz="1150">
                <a:solidFill>
                  <a:srgbClr val="ECE8DD"/>
                </a:solidFill>
                <a:latin typeface="Consolas"/>
              </a:rPr>
              <a:t>package CPScoreInteractionModels_S1 {</a:t>
            </a:r>
          </a:p>
          <a:p>
            <a:pPr>
              <a:spcAft>
                <a:spcPts val="100"/>
              </a:spcAft>
            </a:pPr>
            <a:r>
              <a:rPr sz="1150" b="1">
                <a:solidFill>
                  <a:srgbClr val="E0B96F"/>
                </a:solidFill>
                <a:latin typeface="Consolas"/>
              </a:rPr>
              <a:t>    part m8_instance : SynchronousCall {</a:t>
            </a:r>
          </a:p>
          <a:p>
            <a:pPr>
              <a:spcAft>
                <a:spcPts val="100"/>
              </a:spcAft>
            </a:pPr>
            <a:r>
              <a:rPr sz="1150" b="1">
                <a:solidFill>
                  <a:srgbClr val="E0B96F"/>
                </a:solidFill>
                <a:latin typeface="Consolas"/>
              </a:rPr>
              <a:t>        ref from : Lifeline = synchronization;</a:t>
            </a:r>
          </a:p>
          <a:p>
            <a:pPr>
              <a:spcAft>
                <a:spcPts val="100"/>
              </a:spcAft>
            </a:pPr>
            <a:r>
              <a:rPr sz="1150" b="1">
                <a:solidFill>
                  <a:srgbClr val="E0B96F"/>
                </a:solidFill>
                <a:latin typeface="Consolas"/>
              </a:rPr>
              <a:t>        ref to   : Lifeline = logging;</a:t>
            </a:r>
          </a:p>
          <a:p>
            <a:pPr>
              <a:spcAft>
                <a:spcPts val="100"/>
              </a:spcAft>
            </a:pPr>
            <a:r>
              <a:rPr sz="1150" b="1">
                <a:solidFill>
                  <a:srgbClr val="E0B96F"/>
                </a:solidFill>
                <a:latin typeface="Consolas"/>
              </a:rPr>
              <a:t>        attribute :&gt;&gt; label = "8. instance";</a:t>
            </a:r>
          </a:p>
          <a:p>
            <a:pPr>
              <a:spcAft>
                <a:spcPts val="100"/>
              </a:spcAft>
            </a:pPr>
            <a:r>
              <a:rPr sz="1150">
                <a:solidFill>
                  <a:srgbClr val="ECE8DD"/>
                </a:solidFill>
                <a:latin typeface="Consolas"/>
              </a:rPr>
              <a:t>    }</a:t>
            </a:r>
          </a:p>
          <a:p>
            <a:pPr>
              <a:spcAft>
                <a:spcPts val="100"/>
              </a:spcAft>
            </a:pPr>
            <a:r>
              <a:rPr sz="1150">
                <a:solidFill>
                  <a:srgbClr val="ECE8DD"/>
                </a:solidFill>
                <a:latin typeface="Consolas"/>
              </a:rPr>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12064" y="631417"/>
            <a:ext cx="10331450" cy="862151"/>
          </a:xfrm>
        </p:spPr>
        <p:txBody>
          <a:bodyPr/>
          <a:lstStyle/>
          <a:p>
            <a:r>
              <a:rPr lang="nl-NL" sz="2800" dirty="0" err="1">
                <a:latin typeface="Sans Serif Collection" panose="020B0502040504020204" pitchFamily="34" charset="0"/>
                <a:ea typeface="Sans Serif Collection" panose="020B0502040504020204" pitchFamily="34" charset="0"/>
                <a:cs typeface="Sans Serif Collection" panose="020B0502040504020204" pitchFamily="34" charset="0"/>
              </a:rPr>
              <a:t>Whole</a:t>
            </a:r>
            <a:r>
              <a:rPr lang="nl-NL" sz="2800" dirty="0">
                <a:latin typeface="Sans Serif Collection" panose="020B0502040504020204" pitchFamily="34" charset="0"/>
                <a:ea typeface="Sans Serif Collection" panose="020B0502040504020204" pitchFamily="34" charset="0"/>
                <a:cs typeface="Sans Serif Collection" panose="020B0502040504020204" pitchFamily="34" charset="0"/>
              </a:rPr>
              <a:t> Pipeline Summary</a:t>
            </a:r>
            <a:endParaRPr sz="28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Rounded Rectangle 2"/>
          <p:cNvSpPr/>
          <p:nvPr/>
        </p:nvSpPr>
        <p:spPr>
          <a:xfrm>
            <a:off x="10088880" y="320040"/>
            <a:ext cx="1737360" cy="384048"/>
          </a:xfrm>
          <a:prstGeom prst="roundRect">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nl-NL" sz="1200" b="1" dirty="0">
                <a:latin typeface="Calibri" panose="020F0502020204030204" pitchFamily="34" charset="0"/>
                <a:ea typeface="Calibri" panose="020F0502020204030204" pitchFamily="34" charset="0"/>
                <a:cs typeface="Calibri" panose="020F0502020204030204" pitchFamily="34" charset="0"/>
              </a:rPr>
              <a:t>SUMMARY</a:t>
            </a:r>
            <a:endParaRPr sz="1200" b="1" dirty="0">
              <a:latin typeface="Calibri" panose="020F0502020204030204" pitchFamily="34" charset="0"/>
              <a:ea typeface="Calibri" panose="020F0502020204030204" pitchFamily="34" charset="0"/>
              <a:cs typeface="Calibri" panose="020F0502020204030204" pitchFamily="34" charset="0"/>
            </a:endParaRPr>
          </a:p>
        </p:txBody>
      </p:sp>
      <p:sp>
        <p:nvSpPr>
          <p:cNvPr id="6" name="Rounded Rectangle 5"/>
          <p:cNvSpPr/>
          <p:nvPr/>
        </p:nvSpPr>
        <p:spPr>
          <a:xfrm>
            <a:off x="427055" y="2356616"/>
            <a:ext cx="1783080" cy="1371600"/>
          </a:xfrm>
          <a:prstGeom prst="roundRect">
            <a:avLst>
              <a:gd name="adj" fmla="val 4000"/>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7055" y="2493776"/>
            <a:ext cx="1783080" cy="320040"/>
          </a:xfrm>
          <a:prstGeom prst="rect">
            <a:avLst/>
          </a:prstGeom>
          <a:noFill/>
        </p:spPr>
        <p:txBody>
          <a:bodyPr wrap="square" lIns="45720" tIns="18288" rIns="45720" bIns="18288" anchor="t">
            <a:spAutoFit/>
          </a:bodyPr>
          <a:lstStyle/>
          <a:p>
            <a:pPr algn="ctr"/>
            <a:r>
              <a:rPr sz="1600" b="1" i="0">
                <a:solidFill>
                  <a:srgbClr val="FFFFFF"/>
                </a:solidFill>
                <a:latin typeface="Calibri"/>
              </a:rPr>
              <a:t>1</a:t>
            </a:r>
          </a:p>
        </p:txBody>
      </p:sp>
      <p:sp>
        <p:nvSpPr>
          <p:cNvPr id="8" name="TextBox 7"/>
          <p:cNvSpPr txBox="1"/>
          <p:nvPr/>
        </p:nvSpPr>
        <p:spPr>
          <a:xfrm>
            <a:off x="500207" y="2859536"/>
            <a:ext cx="1636776" cy="548640"/>
          </a:xfrm>
          <a:prstGeom prst="rect">
            <a:avLst/>
          </a:prstGeom>
          <a:noFill/>
        </p:spPr>
        <p:txBody>
          <a:bodyPr wrap="square" lIns="45720" tIns="18288" rIns="45720" bIns="18288" anchor="t">
            <a:spAutoFit/>
          </a:bodyPr>
          <a:lstStyle/>
          <a:p>
            <a:pPr algn="ctr"/>
            <a:r>
              <a:rPr sz="1250" b="1" i="0">
                <a:solidFill>
                  <a:srgbClr val="FFFFFF"/>
                </a:solidFill>
                <a:latin typeface="Calibri"/>
              </a:rPr>
              <a:t>Static Extraction</a:t>
            </a:r>
          </a:p>
        </p:txBody>
      </p:sp>
      <p:sp>
        <p:nvSpPr>
          <p:cNvPr id="9" name="TextBox 8"/>
          <p:cNvSpPr txBox="1"/>
          <p:nvPr/>
        </p:nvSpPr>
        <p:spPr>
          <a:xfrm>
            <a:off x="500207" y="3380744"/>
            <a:ext cx="1636776" cy="274320"/>
          </a:xfrm>
          <a:prstGeom prst="rect">
            <a:avLst/>
          </a:prstGeom>
          <a:noFill/>
        </p:spPr>
        <p:txBody>
          <a:bodyPr wrap="square" lIns="45720" tIns="18288" rIns="45720" bIns="18288" anchor="t">
            <a:spAutoFit/>
          </a:bodyPr>
          <a:lstStyle/>
          <a:p>
            <a:pPr algn="ctr"/>
            <a:r>
              <a:rPr sz="1000" b="0" i="0" dirty="0">
                <a:solidFill>
                  <a:srgbClr val="DCE6F0"/>
                </a:solidFill>
                <a:latin typeface="Calibri"/>
              </a:rPr>
              <a:t>Renaissance</a:t>
            </a:r>
          </a:p>
        </p:txBody>
      </p:sp>
      <p:sp>
        <p:nvSpPr>
          <p:cNvPr id="10" name="Rounded Rectangle 9"/>
          <p:cNvSpPr/>
          <p:nvPr/>
        </p:nvSpPr>
        <p:spPr>
          <a:xfrm>
            <a:off x="2319863" y="2356616"/>
            <a:ext cx="1783080" cy="1371600"/>
          </a:xfrm>
          <a:prstGeom prst="roundRect">
            <a:avLst>
              <a:gd name="adj" fmla="val 4000"/>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19863" y="2493776"/>
            <a:ext cx="1783080" cy="320040"/>
          </a:xfrm>
          <a:prstGeom prst="rect">
            <a:avLst/>
          </a:prstGeom>
          <a:noFill/>
        </p:spPr>
        <p:txBody>
          <a:bodyPr wrap="square" lIns="45720" tIns="18288" rIns="45720" bIns="18288" anchor="t">
            <a:spAutoFit/>
          </a:bodyPr>
          <a:lstStyle/>
          <a:p>
            <a:pPr algn="ctr"/>
            <a:r>
              <a:rPr sz="1600" b="1" i="0">
                <a:solidFill>
                  <a:srgbClr val="FFFFFF"/>
                </a:solidFill>
                <a:latin typeface="Calibri"/>
              </a:rPr>
              <a:t>2</a:t>
            </a:r>
          </a:p>
        </p:txBody>
      </p:sp>
      <p:sp>
        <p:nvSpPr>
          <p:cNvPr id="12" name="TextBox 11"/>
          <p:cNvSpPr txBox="1"/>
          <p:nvPr/>
        </p:nvSpPr>
        <p:spPr>
          <a:xfrm>
            <a:off x="2393015" y="2859536"/>
            <a:ext cx="1636776" cy="548640"/>
          </a:xfrm>
          <a:prstGeom prst="rect">
            <a:avLst/>
          </a:prstGeom>
          <a:noFill/>
        </p:spPr>
        <p:txBody>
          <a:bodyPr wrap="square" lIns="45720" tIns="18288" rIns="45720" bIns="18288" anchor="t">
            <a:spAutoFit/>
          </a:bodyPr>
          <a:lstStyle/>
          <a:p>
            <a:pPr algn="ctr"/>
            <a:r>
              <a:rPr sz="1250" b="1" i="0" dirty="0">
                <a:solidFill>
                  <a:srgbClr val="FFFFFF"/>
                </a:solidFill>
                <a:latin typeface="Calibri"/>
              </a:rPr>
              <a:t>Code Graph Query</a:t>
            </a:r>
          </a:p>
        </p:txBody>
      </p:sp>
      <p:sp>
        <p:nvSpPr>
          <p:cNvPr id="13" name="TextBox 12"/>
          <p:cNvSpPr txBox="1"/>
          <p:nvPr/>
        </p:nvSpPr>
        <p:spPr>
          <a:xfrm>
            <a:off x="2393015" y="3380744"/>
            <a:ext cx="1636776" cy="274320"/>
          </a:xfrm>
          <a:prstGeom prst="rect">
            <a:avLst/>
          </a:prstGeom>
          <a:noFill/>
        </p:spPr>
        <p:txBody>
          <a:bodyPr wrap="square" lIns="45720" tIns="18288" rIns="45720" bIns="18288" anchor="t">
            <a:spAutoFit/>
          </a:bodyPr>
          <a:lstStyle/>
          <a:p>
            <a:pPr algn="ctr"/>
            <a:r>
              <a:rPr sz="1000" b="0" i="0">
                <a:solidFill>
                  <a:srgbClr val="DCE6F0"/>
                </a:solidFill>
                <a:latin typeface="Calibri"/>
              </a:rPr>
              <a:t>Cypher</a:t>
            </a:r>
          </a:p>
        </p:txBody>
      </p:sp>
      <p:sp>
        <p:nvSpPr>
          <p:cNvPr id="14" name="Rounded Rectangle 13"/>
          <p:cNvSpPr/>
          <p:nvPr/>
        </p:nvSpPr>
        <p:spPr>
          <a:xfrm>
            <a:off x="4212671" y="2356616"/>
            <a:ext cx="1783080" cy="1371600"/>
          </a:xfrm>
          <a:prstGeom prst="roundRect">
            <a:avLst>
              <a:gd name="adj" fmla="val 4000"/>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12671" y="2493776"/>
            <a:ext cx="1783080" cy="320040"/>
          </a:xfrm>
          <a:prstGeom prst="rect">
            <a:avLst/>
          </a:prstGeom>
          <a:noFill/>
        </p:spPr>
        <p:txBody>
          <a:bodyPr wrap="square" lIns="45720" tIns="18288" rIns="45720" bIns="18288" anchor="t">
            <a:spAutoFit/>
          </a:bodyPr>
          <a:lstStyle/>
          <a:p>
            <a:pPr algn="ctr"/>
            <a:r>
              <a:rPr sz="1600" b="1" i="0">
                <a:solidFill>
                  <a:srgbClr val="FFFFFF"/>
                </a:solidFill>
                <a:latin typeface="Calibri"/>
              </a:rPr>
              <a:t>3</a:t>
            </a:r>
          </a:p>
        </p:txBody>
      </p:sp>
      <p:sp>
        <p:nvSpPr>
          <p:cNvPr id="16" name="TextBox 15"/>
          <p:cNvSpPr txBox="1"/>
          <p:nvPr/>
        </p:nvSpPr>
        <p:spPr>
          <a:xfrm>
            <a:off x="4285823" y="2859536"/>
            <a:ext cx="1636776" cy="548640"/>
          </a:xfrm>
          <a:prstGeom prst="rect">
            <a:avLst/>
          </a:prstGeom>
          <a:noFill/>
        </p:spPr>
        <p:txBody>
          <a:bodyPr wrap="square" lIns="45720" tIns="18288" rIns="45720" bIns="18288" anchor="t">
            <a:spAutoFit/>
          </a:bodyPr>
          <a:lstStyle/>
          <a:p>
            <a:pPr algn="ctr"/>
            <a:r>
              <a:rPr sz="1250" b="1" i="0">
                <a:solidFill>
                  <a:srgbClr val="FFFFFF"/>
                </a:solidFill>
                <a:latin typeface="Calibri"/>
              </a:rPr>
              <a:t>Dependency Matrix</a:t>
            </a:r>
          </a:p>
        </p:txBody>
      </p:sp>
      <p:sp>
        <p:nvSpPr>
          <p:cNvPr id="17" name="TextBox 16"/>
          <p:cNvSpPr txBox="1"/>
          <p:nvPr/>
        </p:nvSpPr>
        <p:spPr>
          <a:xfrm>
            <a:off x="4285823" y="3380744"/>
            <a:ext cx="1636776" cy="274320"/>
          </a:xfrm>
          <a:prstGeom prst="rect">
            <a:avLst/>
          </a:prstGeom>
          <a:noFill/>
        </p:spPr>
        <p:txBody>
          <a:bodyPr wrap="square" lIns="45720" tIns="18288" rIns="45720" bIns="18288" anchor="t">
            <a:spAutoFit/>
          </a:bodyPr>
          <a:lstStyle/>
          <a:p>
            <a:pPr algn="ctr"/>
            <a:r>
              <a:rPr sz="1000" b="0" i="0">
                <a:solidFill>
                  <a:srgbClr val="DCE6F0"/>
                </a:solidFill>
                <a:latin typeface="Calibri"/>
              </a:rPr>
              <a:t>CSV export</a:t>
            </a:r>
          </a:p>
        </p:txBody>
      </p:sp>
      <p:sp>
        <p:nvSpPr>
          <p:cNvPr id="18" name="Rounded Rectangle 17"/>
          <p:cNvSpPr/>
          <p:nvPr/>
        </p:nvSpPr>
        <p:spPr>
          <a:xfrm>
            <a:off x="6105479" y="2356616"/>
            <a:ext cx="1783080" cy="1371600"/>
          </a:xfrm>
          <a:prstGeom prst="roundRect">
            <a:avLst>
              <a:gd name="adj" fmla="val 4000"/>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105479" y="2493776"/>
            <a:ext cx="1783080" cy="320040"/>
          </a:xfrm>
          <a:prstGeom prst="rect">
            <a:avLst/>
          </a:prstGeom>
          <a:noFill/>
        </p:spPr>
        <p:txBody>
          <a:bodyPr wrap="square" lIns="45720" tIns="18288" rIns="45720" bIns="18288" anchor="t">
            <a:spAutoFit/>
          </a:bodyPr>
          <a:lstStyle/>
          <a:p>
            <a:pPr algn="ctr"/>
            <a:r>
              <a:rPr sz="1600" b="1" i="0">
                <a:solidFill>
                  <a:srgbClr val="FFFFFF"/>
                </a:solidFill>
                <a:latin typeface="Calibri"/>
              </a:rPr>
              <a:t>4</a:t>
            </a:r>
          </a:p>
        </p:txBody>
      </p:sp>
      <p:sp>
        <p:nvSpPr>
          <p:cNvPr id="20" name="TextBox 19"/>
          <p:cNvSpPr txBox="1"/>
          <p:nvPr/>
        </p:nvSpPr>
        <p:spPr>
          <a:xfrm>
            <a:off x="6178631" y="2859536"/>
            <a:ext cx="1636776" cy="229294"/>
          </a:xfrm>
          <a:prstGeom prst="rect">
            <a:avLst/>
          </a:prstGeom>
          <a:noFill/>
        </p:spPr>
        <p:txBody>
          <a:bodyPr wrap="square" lIns="45720" tIns="18288" rIns="45720" bIns="18288" anchor="t">
            <a:spAutoFit/>
          </a:bodyPr>
          <a:lstStyle/>
          <a:p>
            <a:pPr algn="ctr"/>
            <a:r>
              <a:rPr sz="1250" b="1" i="0" dirty="0">
                <a:solidFill>
                  <a:srgbClr val="FFFFFF"/>
                </a:solidFill>
                <a:latin typeface="Calibri"/>
              </a:rPr>
              <a:t>Tracing</a:t>
            </a:r>
            <a:r>
              <a:rPr lang="nl-NL" sz="1250" b="1" i="0" dirty="0">
                <a:solidFill>
                  <a:srgbClr val="FFFFFF"/>
                </a:solidFill>
                <a:latin typeface="Calibri"/>
              </a:rPr>
              <a:t> &amp; Collection</a:t>
            </a:r>
            <a:endParaRPr sz="1250" b="1" i="0" dirty="0">
              <a:solidFill>
                <a:srgbClr val="FFFFFF"/>
              </a:solidFill>
              <a:latin typeface="Calibri"/>
            </a:endParaRPr>
          </a:p>
        </p:txBody>
      </p:sp>
      <p:sp>
        <p:nvSpPr>
          <p:cNvPr id="21" name="TextBox 20"/>
          <p:cNvSpPr txBox="1"/>
          <p:nvPr/>
        </p:nvSpPr>
        <p:spPr>
          <a:xfrm>
            <a:off x="6178631" y="3380744"/>
            <a:ext cx="1636776" cy="190821"/>
          </a:xfrm>
          <a:prstGeom prst="rect">
            <a:avLst/>
          </a:prstGeom>
          <a:noFill/>
        </p:spPr>
        <p:txBody>
          <a:bodyPr wrap="square" lIns="45720" tIns="18288" rIns="45720" bIns="18288" anchor="t">
            <a:spAutoFit/>
          </a:bodyPr>
          <a:lstStyle/>
          <a:p>
            <a:pPr algn="ctr"/>
            <a:r>
              <a:rPr sz="1000" b="0" i="0" dirty="0">
                <a:solidFill>
                  <a:srgbClr val="DCE6F0"/>
                </a:solidFill>
                <a:latin typeface="Calibri"/>
              </a:rPr>
              <a:t>run the</a:t>
            </a:r>
            <a:r>
              <a:rPr lang="nl-NL" sz="1000" b="0" i="0" dirty="0">
                <a:solidFill>
                  <a:srgbClr val="DCE6F0"/>
                </a:solidFill>
                <a:latin typeface="Calibri"/>
              </a:rPr>
              <a:t> scenario / </a:t>
            </a:r>
            <a:r>
              <a:rPr sz="1000" b="0" i="0" dirty="0">
                <a:solidFill>
                  <a:srgbClr val="DCE6F0"/>
                </a:solidFill>
                <a:latin typeface="Calibri"/>
              </a:rPr>
              <a:t>tests</a:t>
            </a:r>
          </a:p>
        </p:txBody>
      </p:sp>
      <p:sp>
        <p:nvSpPr>
          <p:cNvPr id="22" name="Rounded Rectangle 21"/>
          <p:cNvSpPr/>
          <p:nvPr/>
        </p:nvSpPr>
        <p:spPr>
          <a:xfrm>
            <a:off x="7998287" y="2356616"/>
            <a:ext cx="1783080" cy="1371600"/>
          </a:xfrm>
          <a:prstGeom prst="roundRect">
            <a:avLst>
              <a:gd name="adj" fmla="val 4000"/>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98287" y="2493776"/>
            <a:ext cx="1783080" cy="320040"/>
          </a:xfrm>
          <a:prstGeom prst="rect">
            <a:avLst/>
          </a:prstGeom>
          <a:solidFill>
            <a:srgbClr val="55736D"/>
          </a:solidFill>
        </p:spPr>
        <p:txBody>
          <a:bodyPr wrap="square" lIns="45720" tIns="18288" rIns="45720" bIns="18288" anchor="t">
            <a:spAutoFit/>
          </a:bodyPr>
          <a:lstStyle/>
          <a:p>
            <a:pPr algn="ctr"/>
            <a:r>
              <a:rPr sz="1600" b="1" i="0">
                <a:solidFill>
                  <a:srgbClr val="FFFFFF"/>
                </a:solidFill>
                <a:latin typeface="Calibri"/>
              </a:rPr>
              <a:t>5</a:t>
            </a:r>
          </a:p>
        </p:txBody>
      </p:sp>
      <p:sp>
        <p:nvSpPr>
          <p:cNvPr id="24" name="TextBox 23"/>
          <p:cNvSpPr txBox="1"/>
          <p:nvPr/>
        </p:nvSpPr>
        <p:spPr>
          <a:xfrm>
            <a:off x="8071439" y="2859536"/>
            <a:ext cx="1636776" cy="548640"/>
          </a:xfrm>
          <a:prstGeom prst="rect">
            <a:avLst/>
          </a:prstGeom>
          <a:solidFill>
            <a:srgbClr val="55736D"/>
          </a:solidFill>
        </p:spPr>
        <p:txBody>
          <a:bodyPr wrap="square" lIns="45720" tIns="18288" rIns="45720" bIns="18288" anchor="t">
            <a:spAutoFit/>
          </a:bodyPr>
          <a:lstStyle/>
          <a:p>
            <a:pPr algn="ctr"/>
            <a:r>
              <a:rPr sz="1250" b="1" i="0">
                <a:solidFill>
                  <a:srgbClr val="FFFFFF"/>
                </a:solidFill>
                <a:latin typeface="Calibri"/>
              </a:rPr>
              <a:t>Agentic Synthesis</a:t>
            </a:r>
          </a:p>
        </p:txBody>
      </p:sp>
      <p:sp>
        <p:nvSpPr>
          <p:cNvPr id="25" name="TextBox 24"/>
          <p:cNvSpPr txBox="1"/>
          <p:nvPr/>
        </p:nvSpPr>
        <p:spPr>
          <a:xfrm>
            <a:off x="8071439" y="3380744"/>
            <a:ext cx="1636776" cy="190821"/>
          </a:xfrm>
          <a:prstGeom prst="rect">
            <a:avLst/>
          </a:prstGeom>
          <a:solidFill>
            <a:srgbClr val="55736D"/>
          </a:solidFill>
        </p:spPr>
        <p:txBody>
          <a:bodyPr wrap="square" lIns="45720" tIns="18288" rIns="45720" bIns="18288" anchor="t">
            <a:spAutoFit/>
          </a:bodyPr>
          <a:lstStyle/>
          <a:p>
            <a:pPr algn="ctr"/>
            <a:r>
              <a:rPr sz="1000" b="0" i="0" dirty="0">
                <a:solidFill>
                  <a:srgbClr val="E8E4F7"/>
                </a:solidFill>
                <a:latin typeface="Calibri"/>
              </a:rPr>
              <a:t>LLM</a:t>
            </a:r>
          </a:p>
        </p:txBody>
      </p:sp>
      <p:sp>
        <p:nvSpPr>
          <p:cNvPr id="26" name="Rounded Rectangle 25"/>
          <p:cNvSpPr/>
          <p:nvPr/>
        </p:nvSpPr>
        <p:spPr>
          <a:xfrm>
            <a:off x="9891095" y="2356616"/>
            <a:ext cx="1783080" cy="1371600"/>
          </a:xfrm>
          <a:prstGeom prst="roundRect">
            <a:avLst>
              <a:gd name="adj" fmla="val 4000"/>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891095" y="2493776"/>
            <a:ext cx="1783080" cy="320040"/>
          </a:xfrm>
          <a:prstGeom prst="rect">
            <a:avLst/>
          </a:prstGeom>
          <a:noFill/>
        </p:spPr>
        <p:txBody>
          <a:bodyPr wrap="square" lIns="45720" tIns="18288" rIns="45720" bIns="18288" anchor="t">
            <a:spAutoFit/>
          </a:bodyPr>
          <a:lstStyle/>
          <a:p>
            <a:pPr algn="ctr"/>
            <a:r>
              <a:rPr sz="1600" b="1" i="0">
                <a:solidFill>
                  <a:srgbClr val="FFFFFF"/>
                </a:solidFill>
                <a:latin typeface="Calibri"/>
              </a:rPr>
              <a:t>6</a:t>
            </a:r>
          </a:p>
        </p:txBody>
      </p:sp>
      <p:sp>
        <p:nvSpPr>
          <p:cNvPr id="28" name="TextBox 27"/>
          <p:cNvSpPr txBox="1"/>
          <p:nvPr/>
        </p:nvSpPr>
        <p:spPr>
          <a:xfrm>
            <a:off x="9964247" y="2859536"/>
            <a:ext cx="1636776" cy="548640"/>
          </a:xfrm>
          <a:prstGeom prst="rect">
            <a:avLst/>
          </a:prstGeom>
          <a:noFill/>
        </p:spPr>
        <p:txBody>
          <a:bodyPr wrap="square" lIns="45720" tIns="18288" rIns="45720" bIns="18288" anchor="t">
            <a:spAutoFit/>
          </a:bodyPr>
          <a:lstStyle/>
          <a:p>
            <a:pPr algn="ctr"/>
            <a:r>
              <a:rPr sz="1250" b="1" i="0">
                <a:solidFill>
                  <a:srgbClr val="FFFFFF"/>
                </a:solidFill>
                <a:latin typeface="Calibri"/>
              </a:rPr>
              <a:t>SysML Generation</a:t>
            </a:r>
          </a:p>
        </p:txBody>
      </p:sp>
      <p:sp>
        <p:nvSpPr>
          <p:cNvPr id="29" name="TextBox 28"/>
          <p:cNvSpPr txBox="1"/>
          <p:nvPr/>
        </p:nvSpPr>
        <p:spPr>
          <a:xfrm>
            <a:off x="9964247" y="3380744"/>
            <a:ext cx="1636776" cy="274320"/>
          </a:xfrm>
          <a:prstGeom prst="rect">
            <a:avLst/>
          </a:prstGeom>
          <a:noFill/>
        </p:spPr>
        <p:txBody>
          <a:bodyPr wrap="square" lIns="45720" tIns="18288" rIns="45720" bIns="18288" anchor="t">
            <a:spAutoFit/>
          </a:bodyPr>
          <a:lstStyle/>
          <a:p>
            <a:pPr algn="ctr"/>
            <a:r>
              <a:rPr sz="1000" b="0" i="0">
                <a:solidFill>
                  <a:srgbClr val="DCE6F0"/>
                </a:solidFill>
                <a:latin typeface="Calibri"/>
              </a:rPr>
              <a:t>templating</a:t>
            </a:r>
          </a:p>
        </p:txBody>
      </p:sp>
      <p:sp>
        <p:nvSpPr>
          <p:cNvPr id="30" name="TextBox 29"/>
          <p:cNvSpPr txBox="1"/>
          <p:nvPr/>
        </p:nvSpPr>
        <p:spPr>
          <a:xfrm>
            <a:off x="512064" y="4591264"/>
            <a:ext cx="11247120" cy="1088503"/>
          </a:xfrm>
          <a:prstGeom prst="rect">
            <a:avLst/>
          </a:prstGeom>
          <a:noFill/>
        </p:spPr>
        <p:txBody>
          <a:bodyPr wrap="square" lIns="45720" tIns="18288" rIns="45720" bIns="18288" anchor="t">
            <a:spAutoFit/>
          </a:bodyPr>
          <a:lstStyle/>
          <a:p>
            <a:pPr algn="l">
              <a:spcAft>
                <a:spcPts val="1000"/>
              </a:spcAft>
            </a:pPr>
            <a:r>
              <a:rPr sz="1500" b="0" i="0" dirty="0">
                <a:solidFill>
                  <a:srgbClr val="222A33"/>
                </a:solidFill>
                <a:latin typeface="Calibri"/>
              </a:rPr>
              <a:t>•  For S1 specifically, the agent's job is trivial</a:t>
            </a:r>
            <a:r>
              <a:rPr lang="nl-NL" sz="1500" b="0" i="0" dirty="0">
                <a:solidFill>
                  <a:srgbClr val="222A33"/>
                </a:solidFill>
                <a:latin typeface="Calibri"/>
              </a:rPr>
              <a:t>: </a:t>
            </a:r>
            <a:r>
              <a:rPr sz="1500" b="0" i="0" dirty="0">
                <a:solidFill>
                  <a:srgbClr val="222A33"/>
                </a:solidFill>
                <a:latin typeface="Calibri"/>
              </a:rPr>
              <a:t>every static edge is corroborated by the trace and vice versa, so there's no disagreement to resolve.</a:t>
            </a:r>
          </a:p>
          <a:p>
            <a:pPr algn="l"/>
            <a:r>
              <a:rPr sz="1500" b="1" i="0" dirty="0">
                <a:solidFill>
                  <a:srgbClr val="44546A"/>
                </a:solidFill>
                <a:latin typeface="Calibri"/>
              </a:rPr>
              <a:t>•  The pipeline's harder cases — like S4's suppressed fault-path log and boost::signals2 indirect dispatch are where Stage 5 actually has to do something non-trivial with the freedom it's given.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H1 Experiment Design</a:t>
            </a:r>
          </a:p>
        </p:txBody>
      </p:sp>
      <p:sp>
        <p:nvSpPr>
          <p:cNvPr id="3" name="Content Placeholder 2"/>
          <p:cNvSpPr>
            <a:spLocks noGrp="1"/>
          </p:cNvSpPr>
          <p:nvPr>
            <p:ph sz="quarter" idx="11"/>
          </p:nvPr>
        </p:nvSpPr>
        <p:spPr>
          <a:xfrm>
            <a:off x="5210175" y="1020445"/>
            <a:ext cx="6238875" cy="5029200"/>
          </a:xfrm>
        </p:spPr>
        <p:txBody>
          <a:bodyPr>
            <a:noAutofit/>
          </a:bodyPr>
          <a:lstStyle/>
          <a:p>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Five conditions, scored against a </a:t>
            </a:r>
            <a:r>
              <a:rPr lang="nl-NL"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ground</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truth</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across all four scenarios:</a:t>
            </a: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C1 — LLM-only (no code context)</a:t>
            </a: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C2 — Static graph only</a:t>
            </a: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C3 — Runtime traces only</a:t>
            </a: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C4 — Static ∪ Dynamic (raw union)</a:t>
            </a:r>
            <a:endPar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lvl="1"/>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C5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Intersection (Static ∩ Dynamic)</a:t>
            </a:r>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6</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 Full pipeline (C4 + agent synthesis</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pruning false positives)</a:t>
            </a:r>
          </a:p>
          <a:p>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Every entry in REF (reference) and GEN (generated) is a normalized (source, target, interaction) triple.</a:t>
            </a:r>
            <a:endParaRPr lang="en-US"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Metrics</a:t>
            </a:r>
            <a:r>
              <a:rPr lang="en-US" sz="1400" dirty="0">
                <a:latin typeface="Sans Serif Collection" panose="020B0502040504020204" pitchFamily="34" charset="0"/>
                <a:ea typeface="Sans Serif Collection" panose="020B0502040504020204" pitchFamily="34" charset="0"/>
                <a:cs typeface="Sans Serif Collection" panose="020B0502040504020204" pitchFamily="34" charset="0"/>
              </a:rPr>
              <a:t> applied over these triple</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P</a:t>
            </a:r>
            <a:r>
              <a:rPr lang="nl-NL"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recision</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 |</a:t>
            </a:r>
            <a:r>
              <a:rPr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gen∩ref</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|/|gen|</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 =&gt;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TP / (TP + FP)</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R</a:t>
            </a:r>
            <a:r>
              <a:rPr lang="nl-NL"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ecall</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 |</a:t>
            </a:r>
            <a:r>
              <a:rPr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gen∩ref</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|/|ref|</a:t>
            </a:r>
            <a:r>
              <a:rPr lang="en-US" sz="1400" dirty="0">
                <a:latin typeface="Sans Serif Collection" panose="020B0502040504020204" pitchFamily="34" charset="0"/>
                <a:ea typeface="Sans Serif Collection" panose="020B0502040504020204" pitchFamily="34" charset="0"/>
                <a:cs typeface="Sans Serif Collection" panose="020B0502040504020204" pitchFamily="34" charset="0"/>
              </a:rPr>
              <a:t>=&gt;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R = TP / (TP + FN)</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F1 = 2PR/(P+R)</a:t>
            </a:r>
          </a:p>
        </p:txBody>
      </p:sp>
      <p:sp>
        <p:nvSpPr>
          <p:cNvPr id="4" name="TextBox 3">
            <a:extLst>
              <a:ext uri="{FF2B5EF4-FFF2-40B4-BE49-F238E27FC236}">
                <a16:creationId xmlns:a16="http://schemas.microsoft.com/office/drawing/2014/main" id="{2B0FA8B5-1750-E7D7-12A8-16F6A2EF93FB}"/>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12</a:t>
            </a:r>
          </a:p>
        </p:txBody>
      </p:sp>
      <p:sp>
        <p:nvSpPr>
          <p:cNvPr id="5" name="TextBox 4">
            <a:extLst>
              <a:ext uri="{FF2B5EF4-FFF2-40B4-BE49-F238E27FC236}">
                <a16:creationId xmlns:a16="http://schemas.microsoft.com/office/drawing/2014/main" id="{1F923145-A7A0-45AC-0EA0-9B1050AA6348}"/>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extLst>
    <p:ext uri="{6950BFC3-D8DA-4A85-94F7-54DA5524770B}">
      <p188:commentRel xmlns:p188="http://schemas.microsoft.com/office/powerpoint/2018/8/main" r:id="rId3"/>
    </p:ext>
  </p:extLst>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8E4F202-9983-88FC-72C7-CD0DF798660C}"/>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4B2222B3-0B00-A8EC-B6B3-125875C32B1B}"/>
              </a:ext>
            </a:extLst>
          </p:cNvPr>
          <p:cNvSpPr txBox="1"/>
          <p:nvPr/>
        </p:nvSpPr>
        <p:spPr>
          <a:xfrm>
            <a:off x="727136" y="4271343"/>
            <a:ext cx="9167361" cy="1885388"/>
          </a:xfrm>
          <a:prstGeom prst="rect">
            <a:avLst/>
          </a:prstGeom>
          <a:noFill/>
        </p:spPr>
        <p:txBody>
          <a:bodyPr wrap="square">
            <a:spAutoFit/>
          </a:bodyPr>
          <a:lstStyle/>
          <a:p>
            <a:pPr>
              <a:lnSpc>
                <a:spcPct val="0"/>
              </a:lnSpc>
              <a:spcBef>
                <a:spcPts val="1000"/>
              </a:spcBef>
              <a:spcAft>
                <a:spcPts val="1200"/>
              </a:spcAft>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Aggregator.getAll</a:t>
            </a:r>
            <a:r>
              <a:rPr lang="en-GB" sz="1200" b="1" dirty="0">
                <a:solidFill>
                  <a:srgbClr val="E0B96F"/>
                </a:solidFill>
                <a:latin typeface="SFMono-Regular"/>
              </a:rPr>
              <a:t>" },   TP1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CPSLogger.flush</a:t>
            </a:r>
            <a:r>
              <a:rPr lang="en-GB" sz="1200" b="1" dirty="0">
                <a:solidFill>
                  <a:srgbClr val="E0B96F"/>
                </a:solidFill>
                <a:latin typeface="SFMono-Regular"/>
              </a:rPr>
              <a:t>" },     TP2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RAIILogStream.stream</a:t>
            </a:r>
            <a:r>
              <a:rPr lang="en-GB" sz="1200" b="1" dirty="0">
                <a:solidFill>
                  <a:srgbClr val="E0B96F"/>
                </a:solidFill>
                <a:latin typeface="SFMono-Regular"/>
              </a:rPr>
              <a:t>" } ]  TP3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Aggregator.getAll</a:t>
            </a:r>
            <a:r>
              <a:rPr lang="en-GB" sz="1200" b="1" dirty="0">
                <a:solidFill>
                  <a:srgbClr val="E0B96F"/>
                </a:solidFill>
                <a:latin typeface="SFMono-Regular"/>
              </a:rPr>
              <a:t>" },  FN1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CPSLogger.flush</a:t>
            </a:r>
            <a:r>
              <a:rPr lang="en-GB" sz="1200" b="1" dirty="0">
                <a:solidFill>
                  <a:srgbClr val="E0B96F"/>
                </a:solidFill>
                <a:latin typeface="SFMono-Regular"/>
              </a:rPr>
              <a:t>" } ]   FN2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endParaRPr lang="en-GB" sz="1200" b="1" dirty="0">
              <a:solidFill>
                <a:srgbClr val="E0B96F"/>
              </a:solidFill>
              <a:latin typeface="SFMono-Regular"/>
            </a:endParaRPr>
          </a:p>
          <a:p>
            <a:endParaRPr lang="en-GB" sz="1200" b="1" dirty="0"/>
          </a:p>
        </p:txBody>
      </p:sp>
      <p:sp>
        <p:nvSpPr>
          <p:cNvPr id="6" name="Title 5">
            <a:extLst>
              <a:ext uri="{FF2B5EF4-FFF2-40B4-BE49-F238E27FC236}">
                <a16:creationId xmlns:a16="http://schemas.microsoft.com/office/drawing/2014/main" id="{09C994F2-0C32-A68C-277F-8B4FD6BAD210}"/>
              </a:ext>
            </a:extLst>
          </p:cNvPr>
          <p:cNvSpPr>
            <a:spLocks noGrp="1"/>
          </p:cNvSpPr>
          <p:nvPr>
            <p:ph type="title"/>
          </p:nvPr>
        </p:nvSpPr>
        <p:spPr>
          <a:xfrm>
            <a:off x="499110" y="683891"/>
            <a:ext cx="10515600" cy="713755"/>
          </a:xfrm>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H1 – Metrics Calculations for Scenario 1</a:t>
            </a:r>
          </a:p>
        </p:txBody>
      </p:sp>
      <p:sp>
        <p:nvSpPr>
          <p:cNvPr id="7" name="Content Placeholder 6">
            <a:extLst>
              <a:ext uri="{FF2B5EF4-FFF2-40B4-BE49-F238E27FC236}">
                <a16:creationId xmlns:a16="http://schemas.microsoft.com/office/drawing/2014/main" id="{B5B587DE-AA1E-643C-562D-742FFB266184}"/>
              </a:ext>
            </a:extLst>
          </p:cNvPr>
          <p:cNvSpPr>
            <a:spLocks noGrp="1"/>
          </p:cNvSpPr>
          <p:nvPr>
            <p:ph sz="quarter" idx="10"/>
          </p:nvPr>
        </p:nvSpPr>
        <p:spPr>
          <a:xfrm>
            <a:off x="727136" y="2199702"/>
            <a:ext cx="10737728" cy="1324387"/>
          </a:xfrm>
        </p:spPr>
        <p:txBody>
          <a:bodyPr>
            <a:noAutofit/>
          </a:bodyPr>
          <a:lstStyle/>
          <a:p>
            <a:pPr marL="0" indent="0">
              <a:lnSpc>
                <a:spcPct val="0"/>
              </a:lnSpc>
              <a:buNone/>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Aggregator.getAll</a:t>
            </a:r>
            <a:r>
              <a:rPr lang="en-GB" sz="1200" b="1" dirty="0">
                <a:solidFill>
                  <a:srgbClr val="E0B96F"/>
                </a:solidFill>
                <a:latin typeface="SFMono-Regular"/>
              </a:rPr>
              <a:t>" },     // </a:t>
            </a:r>
            <a:r>
              <a:rPr lang="en-GB" sz="1200" b="1" dirty="0" err="1">
                <a:solidFill>
                  <a:srgbClr val="E0B96F"/>
                </a:solidFill>
                <a:latin typeface="SFMono-Regular"/>
              </a:rPr>
              <a:t>Runner.Test</a:t>
            </a:r>
            <a:endParaRPr lang="en-GB" sz="1200" b="1" dirty="0">
              <a:solidFill>
                <a:srgbClr val="E0B96F"/>
              </a:solidFill>
              <a:latin typeface="SFMono-Regular"/>
            </a:endParaRPr>
          </a:p>
          <a:p>
            <a:pPr marL="0" indent="0">
              <a:lnSpc>
                <a:spcPct val="0"/>
              </a:lnSpc>
              <a:buNone/>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CPSLogger.flush</a:t>
            </a:r>
            <a:r>
              <a:rPr lang="en-GB" sz="1200" b="1" dirty="0">
                <a:solidFill>
                  <a:srgbClr val="E0B96F"/>
                </a:solidFill>
                <a:latin typeface="SFMono-Regular"/>
              </a:rPr>
              <a:t>" },       // </a:t>
            </a:r>
            <a:r>
              <a:rPr lang="en-GB" sz="1200" b="1" dirty="0" err="1">
                <a:solidFill>
                  <a:srgbClr val="E0B96F"/>
                </a:solidFill>
                <a:latin typeface="SFMono-Regular"/>
              </a:rPr>
              <a:t>Runner.Test</a:t>
            </a:r>
            <a:endParaRPr lang="en-GB" sz="1200" b="1" dirty="0">
              <a:solidFill>
                <a:srgbClr val="E0B96F"/>
              </a:solidFill>
              <a:latin typeface="SFMono-Regular"/>
            </a:endParaRPr>
          </a:p>
          <a:p>
            <a:pPr marL="0" indent="0">
              <a:lnSpc>
                <a:spcPct val="0"/>
              </a:lnSpc>
              <a:buNone/>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Aggregator.getAll</a:t>
            </a:r>
            <a:r>
              <a:rPr lang="en-GB" sz="1200" b="1" dirty="0">
                <a:solidFill>
                  <a:srgbClr val="E0B96F"/>
                </a:solidFill>
                <a:latin typeface="SFMono-Regular"/>
              </a:rPr>
              <a:t>" },     // </a:t>
            </a:r>
            <a:r>
              <a:rPr lang="en-GB" sz="1200" b="1" dirty="0" err="1">
                <a:solidFill>
                  <a:srgbClr val="E0B96F"/>
                </a:solidFill>
                <a:latin typeface="SFMono-Regular"/>
              </a:rPr>
              <a:t>Runner.Timeout</a:t>
            </a:r>
            <a:endParaRPr lang="en-GB" sz="1200" b="1" dirty="0">
              <a:solidFill>
                <a:srgbClr val="E0B96F"/>
              </a:solidFill>
              <a:latin typeface="SFMono-Regular"/>
            </a:endParaRPr>
          </a:p>
          <a:p>
            <a:pPr marL="0" indent="0">
              <a:lnSpc>
                <a:spcPct val="0"/>
              </a:lnSpc>
              <a:buNone/>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CPSLogger.flush</a:t>
            </a:r>
            <a:r>
              <a:rPr lang="en-GB" sz="1200" b="1" dirty="0">
                <a:solidFill>
                  <a:srgbClr val="E0B96F"/>
                </a:solidFill>
                <a:latin typeface="SFMono-Regular"/>
              </a:rPr>
              <a:t>" },       // </a:t>
            </a:r>
            <a:r>
              <a:rPr lang="en-GB" sz="1200" b="1" dirty="0" err="1">
                <a:solidFill>
                  <a:srgbClr val="E0B96F"/>
                </a:solidFill>
                <a:latin typeface="SFMono-Regular"/>
              </a:rPr>
              <a:t>Runner.Timeout</a:t>
            </a:r>
            <a:endParaRPr lang="en-GB" sz="1200" b="1" dirty="0">
              <a:solidFill>
                <a:srgbClr val="E0B96F"/>
              </a:solidFill>
              <a:latin typeface="SFMono-Regular"/>
            </a:endParaRPr>
          </a:p>
          <a:p>
            <a:pPr marL="0" indent="0">
              <a:lnSpc>
                <a:spcPct val="0"/>
              </a:lnSpc>
              <a:buNone/>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RAIILogStream.stream</a:t>
            </a:r>
            <a:r>
              <a:rPr lang="en-GB" sz="1200" b="1" dirty="0">
                <a:solidFill>
                  <a:srgbClr val="E0B96F"/>
                </a:solidFill>
                <a:latin typeface="SFMono-Regular"/>
              </a:rPr>
              <a:t>" } ]  // </a:t>
            </a:r>
            <a:r>
              <a:rPr lang="en-GB" sz="1200" b="1" dirty="0" err="1">
                <a:solidFill>
                  <a:srgbClr val="E0B96F"/>
                </a:solidFill>
                <a:latin typeface="SFMono-Regular"/>
              </a:rPr>
              <a:t>Runner.Timeout</a:t>
            </a:r>
            <a:endParaRPr lang="en-GB" sz="1200" b="1" dirty="0">
              <a:solidFill>
                <a:srgbClr val="E0B96F"/>
              </a:solidFill>
              <a:latin typeface="SFMono-Regular"/>
            </a:endParaRPr>
          </a:p>
        </p:txBody>
      </p:sp>
      <p:sp>
        <p:nvSpPr>
          <p:cNvPr id="15" name="TextBox 14">
            <a:extLst>
              <a:ext uri="{FF2B5EF4-FFF2-40B4-BE49-F238E27FC236}">
                <a16:creationId xmlns:a16="http://schemas.microsoft.com/office/drawing/2014/main" id="{D9E181AB-67AF-E9E1-C3E9-C97F0A8BE1DC}"/>
              </a:ext>
            </a:extLst>
          </p:cNvPr>
          <p:cNvSpPr txBox="1"/>
          <p:nvPr/>
        </p:nvSpPr>
        <p:spPr>
          <a:xfrm>
            <a:off x="727136" y="1658812"/>
            <a:ext cx="2327881" cy="369332"/>
          </a:xfrm>
          <a:prstGeom prst="rect">
            <a:avLst/>
          </a:prstGeom>
          <a:noFill/>
        </p:spPr>
        <p:txBody>
          <a:bodyPr wrap="none" rtlCol="0">
            <a:spAutoFit/>
          </a:bodyPr>
          <a:lstStyle/>
          <a:p>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S1- Reference (REF):</a:t>
            </a:r>
          </a:p>
        </p:txBody>
      </p:sp>
      <p:sp>
        <p:nvSpPr>
          <p:cNvPr id="17" name="TextBox 16">
            <a:extLst>
              <a:ext uri="{FF2B5EF4-FFF2-40B4-BE49-F238E27FC236}">
                <a16:creationId xmlns:a16="http://schemas.microsoft.com/office/drawing/2014/main" id="{CDE36C77-2FD1-A25E-65D9-570D3E1DF63F}"/>
              </a:ext>
            </a:extLst>
          </p:cNvPr>
          <p:cNvSpPr txBox="1"/>
          <p:nvPr/>
        </p:nvSpPr>
        <p:spPr>
          <a:xfrm>
            <a:off x="727136" y="3796302"/>
            <a:ext cx="2698175" cy="369332"/>
          </a:xfrm>
          <a:prstGeom prst="rect">
            <a:avLst/>
          </a:prstGeom>
          <a:noFill/>
        </p:spPr>
        <p:txBody>
          <a:bodyPr wrap="non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S1- C1_LLM_only (GEN):</a:t>
            </a:r>
          </a:p>
        </p:txBody>
      </p:sp>
      <p:sp>
        <p:nvSpPr>
          <p:cNvPr id="35" name="TextBox 34">
            <a:extLst>
              <a:ext uri="{FF2B5EF4-FFF2-40B4-BE49-F238E27FC236}">
                <a16:creationId xmlns:a16="http://schemas.microsoft.com/office/drawing/2014/main" id="{B10535EA-6B7F-0DD3-64DE-4DB3968A8090}"/>
              </a:ext>
            </a:extLst>
          </p:cNvPr>
          <p:cNvSpPr txBox="1"/>
          <p:nvPr/>
        </p:nvSpPr>
        <p:spPr>
          <a:xfrm>
            <a:off x="727136" y="5701138"/>
            <a:ext cx="10004124" cy="907941"/>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So, TP=3 and FN=2: C1 gets both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Runner.Test</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edges right but on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Runner.Timeout</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reports only stream, missing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getAll</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/flush for that test entirely. An LLM reasons over the raw scenario description alone, no static graph, no trace. Baseline for what's inferable with zero pipeline evidence.</a:t>
            </a:r>
          </a:p>
          <a:p>
            <a:endParaRPr lang="en-GB" sz="1100"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9" name="TextBox 38">
            <a:extLst>
              <a:ext uri="{FF2B5EF4-FFF2-40B4-BE49-F238E27FC236}">
                <a16:creationId xmlns:a16="http://schemas.microsoft.com/office/drawing/2014/main" id="{31325789-3FE6-C5C2-9D07-0CB1AD042F2A}"/>
              </a:ext>
            </a:extLst>
          </p:cNvPr>
          <p:cNvSpPr txBox="1"/>
          <p:nvPr/>
        </p:nvSpPr>
        <p:spPr>
          <a:xfrm>
            <a:off x="9583947" y="4034236"/>
            <a:ext cx="2001689" cy="954107"/>
          </a:xfrm>
          <a:prstGeom prst="rect">
            <a:avLst/>
          </a:prstGeom>
          <a:noFill/>
        </p:spPr>
        <p:txBody>
          <a:bodyPr wrap="square">
            <a:spAutoFit/>
          </a:bodyPr>
          <a:lstStyle/>
          <a:p>
            <a:r>
              <a:rPr lang="pt-BR" sz="140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TP=3, FP=0, FN=2 · P=3/(3+0)=1.00 · R=3/(3+2)=.60 · F1=2(1)(.6)/(1.6)=.75</a:t>
            </a:r>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0" name="TextBox 39">
            <a:extLst>
              <a:ext uri="{FF2B5EF4-FFF2-40B4-BE49-F238E27FC236}">
                <a16:creationId xmlns:a16="http://schemas.microsoft.com/office/drawing/2014/main" id="{CD60121C-65DD-DECD-82CE-AE9E79DD15DB}"/>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12</a:t>
            </a:r>
          </a:p>
        </p:txBody>
      </p:sp>
      <p:sp>
        <p:nvSpPr>
          <p:cNvPr id="41" name="TextBox 40">
            <a:extLst>
              <a:ext uri="{FF2B5EF4-FFF2-40B4-BE49-F238E27FC236}">
                <a16:creationId xmlns:a16="http://schemas.microsoft.com/office/drawing/2014/main" id="{D463C7D3-3FCD-ACBC-8CF5-90F8F929B748}"/>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3251977979"/>
      </p:ext>
    </p:extLst>
  </p:cSld>
  <p:clrMapOvr>
    <a:masterClrMapping/>
  </p:clrMapOvr>
  <p:extLst>
    <p:ext uri="{6950BFC3-D8DA-4A85-94F7-54DA5524770B}">
      <p188:commentRel xmlns:p188="http://schemas.microsoft.com/office/powerpoint/2018/8/main" r:id="rId2"/>
    </p:ext>
  </p:extLst>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8489A45-D1B7-69BA-706C-EC5A83A48549}"/>
              </a:ext>
            </a:extLst>
          </p:cNvPr>
          <p:cNvSpPr>
            <a:spLocks noGrp="1"/>
          </p:cNvSpPr>
          <p:nvPr>
            <p:ph type="title"/>
          </p:nvPr>
        </p:nvSpPr>
        <p:spPr>
          <a:xfrm>
            <a:off x="499110" y="807864"/>
            <a:ext cx="10515600" cy="713755"/>
          </a:xfrm>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H1 – Metrics Calculations for Scenario 1</a:t>
            </a:r>
          </a:p>
        </p:txBody>
      </p:sp>
      <p:sp>
        <p:nvSpPr>
          <p:cNvPr id="12" name="TextBox 11">
            <a:extLst>
              <a:ext uri="{FF2B5EF4-FFF2-40B4-BE49-F238E27FC236}">
                <a16:creationId xmlns:a16="http://schemas.microsoft.com/office/drawing/2014/main" id="{4F92B4A2-520E-6946-58E9-E5DE30BA27DE}"/>
              </a:ext>
            </a:extLst>
          </p:cNvPr>
          <p:cNvSpPr txBox="1"/>
          <p:nvPr/>
        </p:nvSpPr>
        <p:spPr>
          <a:xfrm>
            <a:off x="606820" y="2216588"/>
            <a:ext cx="8397240" cy="2140266"/>
          </a:xfrm>
          <a:prstGeom prst="rect">
            <a:avLst/>
          </a:prstGeom>
          <a:noFill/>
        </p:spPr>
        <p:txBody>
          <a:bodyPr wrap="square">
            <a:spAutoFit/>
          </a:bodyPr>
          <a:lstStyle/>
          <a:p>
            <a:pPr>
              <a:lnSpc>
                <a:spcPct val="0"/>
              </a:lnSpc>
              <a:spcBef>
                <a:spcPts val="1000"/>
              </a:spcBef>
              <a:spcAft>
                <a:spcPts val="1200"/>
              </a:spcAft>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getAll</a:t>
            </a:r>
            <a:r>
              <a:rPr lang="en-GB" sz="1200" b="1" dirty="0">
                <a:solidFill>
                  <a:srgbClr val="E0B96F"/>
                </a:solidFill>
                <a:latin typeface="SFMono-Regular"/>
              </a:rPr>
              <a:t>" },     TP1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"flush" },      TP2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"instance" },   FP1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"stream" },     FP2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getAll</a:t>
            </a:r>
            <a:r>
              <a:rPr lang="en-GB" sz="1200" b="1" dirty="0">
                <a:solidFill>
                  <a:srgbClr val="E0B96F"/>
                </a:solidFill>
                <a:latin typeface="SFMono-Regular"/>
              </a:rPr>
              <a:t>" },     TP3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"flush" },      TP4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"instance" },   FP3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"stream" } ]    TP5  // </a:t>
            </a:r>
            <a:r>
              <a:rPr lang="en-GB" sz="1200" b="1" dirty="0" err="1">
                <a:solidFill>
                  <a:srgbClr val="E0B96F"/>
                </a:solidFill>
                <a:latin typeface="SFMono-Regular"/>
              </a:rPr>
              <a:t>Runner.Timeout</a:t>
            </a:r>
            <a:endParaRPr lang="en-GB" sz="1200" b="1" dirty="0">
              <a:solidFill>
                <a:srgbClr val="E0B96F"/>
              </a:solidFill>
              <a:latin typeface="SFMono-Regular"/>
            </a:endParaRPr>
          </a:p>
        </p:txBody>
      </p:sp>
      <p:sp>
        <p:nvSpPr>
          <p:cNvPr id="16" name="TextBox 15">
            <a:extLst>
              <a:ext uri="{FF2B5EF4-FFF2-40B4-BE49-F238E27FC236}">
                <a16:creationId xmlns:a16="http://schemas.microsoft.com/office/drawing/2014/main" id="{93C14A0B-7C76-B149-CBDB-6543B6979F14}"/>
              </a:ext>
            </a:extLst>
          </p:cNvPr>
          <p:cNvSpPr txBox="1"/>
          <p:nvPr/>
        </p:nvSpPr>
        <p:spPr>
          <a:xfrm>
            <a:off x="598194" y="1576617"/>
            <a:ext cx="2279791" cy="369332"/>
          </a:xfrm>
          <a:prstGeom prst="rect">
            <a:avLst/>
          </a:prstGeom>
          <a:noFill/>
        </p:spPr>
        <p:txBody>
          <a:bodyPr wrap="non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S1- C2_Static (GEN):</a:t>
            </a:r>
          </a:p>
        </p:txBody>
      </p:sp>
      <p:sp>
        <p:nvSpPr>
          <p:cNvPr id="36" name="TextBox 35">
            <a:extLst>
              <a:ext uri="{FF2B5EF4-FFF2-40B4-BE49-F238E27FC236}">
                <a16:creationId xmlns:a16="http://schemas.microsoft.com/office/drawing/2014/main" id="{BE653870-9677-313B-F4B9-2F60C6E37913}"/>
              </a:ext>
            </a:extLst>
          </p:cNvPr>
          <p:cNvSpPr txBox="1"/>
          <p:nvPr/>
        </p:nvSpPr>
        <p:spPr>
          <a:xfrm>
            <a:off x="598193" y="4644486"/>
            <a:ext cx="10598893" cy="1384995"/>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So, TP=5 and FP=3: static finds every real edge on both tests, but also reports instance (never in either reference), and on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Runner.Test</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alone, stream — a call that's only actually in scope once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Runner.Timeout's</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CPSLogger</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::instance()-&gt;</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setLogLevel</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path runs. Static analysis can't tell the two tests apart.</a:t>
            </a:r>
          </a:p>
          <a:p>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Static Only: The scenario-scoped static call graph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CppCalls</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edges from Renaissance/Neo4j) alone. Sees everything reachable in source, whether or not it actually runs.</a:t>
            </a:r>
          </a:p>
        </p:txBody>
      </p:sp>
      <p:sp>
        <p:nvSpPr>
          <p:cNvPr id="37" name="TextBox 36">
            <a:extLst>
              <a:ext uri="{FF2B5EF4-FFF2-40B4-BE49-F238E27FC236}">
                <a16:creationId xmlns:a16="http://schemas.microsoft.com/office/drawing/2014/main" id="{F6FD3D87-8C1B-E726-B7BF-D19420ED0C61}"/>
              </a:ext>
            </a:extLst>
          </p:cNvPr>
          <p:cNvSpPr txBox="1"/>
          <p:nvPr/>
        </p:nvSpPr>
        <p:spPr>
          <a:xfrm>
            <a:off x="9183322" y="2332614"/>
            <a:ext cx="2242868" cy="954107"/>
          </a:xfrm>
          <a:prstGeom prst="rect">
            <a:avLst/>
          </a:prstGeom>
          <a:noFill/>
        </p:spPr>
        <p:txBody>
          <a:bodyPr wrap="square" rtlCol="0">
            <a:spAutoFit/>
          </a:bodyPr>
          <a:lstStyle/>
          <a:p>
            <a:r>
              <a:rPr lang="pt-BR" sz="1400" dirty="0">
                <a:latin typeface="Sans Serif Collection" panose="020B0502040504020204" pitchFamily="34" charset="0"/>
                <a:ea typeface="Sans Serif Collection" panose="020B0502040504020204" pitchFamily="34" charset="0"/>
                <a:cs typeface="Sans Serif Collection" panose="020B0502040504020204" pitchFamily="34" charset="0"/>
              </a:rPr>
              <a:t>TP=5, FP=3, FN=0 P=5/(5+3)=.63 R=5/(5+0)=1.00 F1=2(.625)(1)/(1.625)=.77</a:t>
            </a:r>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0" name="TextBox 39">
            <a:extLst>
              <a:ext uri="{FF2B5EF4-FFF2-40B4-BE49-F238E27FC236}">
                <a16:creationId xmlns:a16="http://schemas.microsoft.com/office/drawing/2014/main" id="{CC689E7A-C4E7-9080-C24C-F7AC9CE652DD}"/>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12</a:t>
            </a:r>
          </a:p>
        </p:txBody>
      </p:sp>
      <p:sp>
        <p:nvSpPr>
          <p:cNvPr id="41" name="TextBox 40">
            <a:extLst>
              <a:ext uri="{FF2B5EF4-FFF2-40B4-BE49-F238E27FC236}">
                <a16:creationId xmlns:a16="http://schemas.microsoft.com/office/drawing/2014/main" id="{97B02E56-1549-34BC-C37B-E32CF42F9378}"/>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22297887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E33806A-9522-2FB8-7DF9-458C47CADDC5}"/>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6D530476-A476-DFA5-2413-75228F20A6EB}"/>
              </a:ext>
            </a:extLst>
          </p:cNvPr>
          <p:cNvSpPr>
            <a:spLocks noGrp="1"/>
          </p:cNvSpPr>
          <p:nvPr>
            <p:ph type="title"/>
          </p:nvPr>
        </p:nvSpPr>
        <p:spPr>
          <a:xfrm>
            <a:off x="428625" y="792365"/>
            <a:ext cx="10015451" cy="627525"/>
          </a:xfrm>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H1 – Metrics Calculations for Scenario 1</a:t>
            </a:r>
            <a:endParaRPr lang="en-GB" b="1" dirty="0"/>
          </a:p>
        </p:txBody>
      </p:sp>
      <p:sp>
        <p:nvSpPr>
          <p:cNvPr id="20" name="TextBox 19">
            <a:extLst>
              <a:ext uri="{FF2B5EF4-FFF2-40B4-BE49-F238E27FC236}">
                <a16:creationId xmlns:a16="http://schemas.microsoft.com/office/drawing/2014/main" id="{9959943D-16F8-FD7E-D3A1-3F6B0F4D3AEF}"/>
              </a:ext>
            </a:extLst>
          </p:cNvPr>
          <p:cNvSpPr txBox="1"/>
          <p:nvPr/>
        </p:nvSpPr>
        <p:spPr>
          <a:xfrm>
            <a:off x="557471" y="1920314"/>
            <a:ext cx="2672289" cy="369332"/>
          </a:xfrm>
          <a:prstGeom prst="rect">
            <a:avLst/>
          </a:prstGeom>
          <a:noFill/>
        </p:spPr>
        <p:txBody>
          <a:bodyPr wrap="squar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S1- C3_Dynamic (GEN):</a:t>
            </a:r>
          </a:p>
        </p:txBody>
      </p:sp>
      <p:sp>
        <p:nvSpPr>
          <p:cNvPr id="26" name="TextBox 25">
            <a:extLst>
              <a:ext uri="{FF2B5EF4-FFF2-40B4-BE49-F238E27FC236}">
                <a16:creationId xmlns:a16="http://schemas.microsoft.com/office/drawing/2014/main" id="{7306C36F-F733-0E41-565C-FF5133938840}"/>
              </a:ext>
            </a:extLst>
          </p:cNvPr>
          <p:cNvSpPr txBox="1"/>
          <p:nvPr/>
        </p:nvSpPr>
        <p:spPr>
          <a:xfrm>
            <a:off x="8670206" y="2999225"/>
            <a:ext cx="2425929" cy="954107"/>
          </a:xfrm>
          <a:prstGeom prst="rect">
            <a:avLst/>
          </a:prstGeom>
          <a:noFill/>
        </p:spPr>
        <p:txBody>
          <a:bodyPr wrap="square">
            <a:spAutoFit/>
          </a:bodyPr>
          <a:lstStyle/>
          <a:p>
            <a:r>
              <a:rPr lang="pt-BR"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TP=5, FP=2, FN=0 P=5/(5+2)=.71</a:t>
            </a:r>
          </a:p>
          <a:p>
            <a:r>
              <a:rPr lang="pt-BR"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R=</a:t>
            </a:r>
            <a:r>
              <a:rPr lang="pt-BR" sz="1400" dirty="0">
                <a:latin typeface="Sans Serif Collection" panose="020B0502040504020204" pitchFamily="34" charset="0"/>
                <a:ea typeface="Sans Serif Collection" panose="020B0502040504020204" pitchFamily="34" charset="0"/>
                <a:cs typeface="Sans Serif Collection" panose="020B0502040504020204" pitchFamily="34" charset="0"/>
              </a:rPr>
              <a:t> 5/(5+0)= </a:t>
            </a:r>
            <a:r>
              <a:rPr lang="pt-BR"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 F1=2(.714)(1)/(1.714)=.83</a:t>
            </a:r>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27" name="TextBox 26">
            <a:extLst>
              <a:ext uri="{FF2B5EF4-FFF2-40B4-BE49-F238E27FC236}">
                <a16:creationId xmlns:a16="http://schemas.microsoft.com/office/drawing/2014/main" id="{3AE356A7-EACB-10E4-307E-8BB1FC4AC6AB}"/>
              </a:ext>
            </a:extLst>
          </p:cNvPr>
          <p:cNvSpPr txBox="1"/>
          <p:nvPr/>
        </p:nvSpPr>
        <p:spPr>
          <a:xfrm>
            <a:off x="557471" y="4770562"/>
            <a:ext cx="11175197" cy="1169551"/>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So, TP=5 and FP=2: the trace recovers every real edge on both tests, but each run also captures one incidental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Aggregation→Logging:stream</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row —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Aggregator.add's</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own logging call, firing in the same process, unrelated to this scenario.</a:t>
            </a:r>
          </a:p>
          <a:p>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Dynamic Only: The real runtime trace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csp_matcher</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instrumentation) alone. Sees only what actually executed during the test, nothing more.</a:t>
            </a:r>
          </a:p>
        </p:txBody>
      </p:sp>
      <p:sp>
        <p:nvSpPr>
          <p:cNvPr id="40" name="TextBox 39">
            <a:extLst>
              <a:ext uri="{FF2B5EF4-FFF2-40B4-BE49-F238E27FC236}">
                <a16:creationId xmlns:a16="http://schemas.microsoft.com/office/drawing/2014/main" id="{ED3AA5E2-1BD1-B336-F35E-8365F3C01FEE}"/>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12</a:t>
            </a:r>
          </a:p>
        </p:txBody>
      </p:sp>
      <p:sp>
        <p:nvSpPr>
          <p:cNvPr id="41" name="TextBox 40">
            <a:extLst>
              <a:ext uri="{FF2B5EF4-FFF2-40B4-BE49-F238E27FC236}">
                <a16:creationId xmlns:a16="http://schemas.microsoft.com/office/drawing/2014/main" id="{DE5FC0F1-2196-5DD6-13AC-5DAC2B0DE6FF}"/>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C21A3B82-1B6A-D3C5-6DCC-9ABBFCAC7DF2}"/>
              </a:ext>
            </a:extLst>
          </p:cNvPr>
          <p:cNvSpPr txBox="1"/>
          <p:nvPr/>
        </p:nvSpPr>
        <p:spPr>
          <a:xfrm>
            <a:off x="436529" y="2722258"/>
            <a:ext cx="7931094" cy="1846596"/>
          </a:xfrm>
          <a:prstGeom prst="rect">
            <a:avLst/>
          </a:prstGeom>
          <a:noFill/>
        </p:spPr>
        <p:txBody>
          <a:bodyPr wrap="square">
            <a:spAutoFit/>
          </a:bodyPr>
          <a:lstStyle/>
          <a:p>
            <a:pPr>
              <a:lnSpc>
                <a:spcPct val="0"/>
              </a:lnSpc>
              <a:spcBef>
                <a:spcPts val="1000"/>
              </a:spcBef>
              <a:spcAft>
                <a:spcPts val="1200"/>
              </a:spcAft>
            </a:pPr>
            <a:r>
              <a:rPr lang="en-GB" sz="1200" b="1" dirty="0">
                <a:solidFill>
                  <a:srgbClr val="E0B96F"/>
                </a:solidFill>
                <a:latin typeface="SFMono-Regular"/>
              </a:rPr>
              <a:t>[ { "source": "Aggregation",     "target": "Logging",     "interaction": "</a:t>
            </a:r>
            <a:r>
              <a:rPr lang="en-GB" sz="1200" b="1" dirty="0" err="1">
                <a:solidFill>
                  <a:srgbClr val="E0B96F"/>
                </a:solidFill>
                <a:latin typeface="SFMono-Regular"/>
              </a:rPr>
              <a:t>RAIILogStream.stream</a:t>
            </a:r>
            <a:r>
              <a:rPr lang="en-GB" sz="1200" b="1" dirty="0">
                <a:solidFill>
                  <a:srgbClr val="E0B96F"/>
                </a:solidFill>
                <a:latin typeface="SFMono-Regular"/>
              </a:rPr>
              <a:t>" },  FP1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Aggregator.getAll</a:t>
            </a:r>
            <a:r>
              <a:rPr lang="en-GB" sz="1200" b="1" dirty="0">
                <a:solidFill>
                  <a:srgbClr val="E0B96F"/>
                </a:solidFill>
                <a:latin typeface="SFMono-Regular"/>
              </a:rPr>
              <a:t>" },      TP1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CPSLogger.flush</a:t>
            </a:r>
            <a:r>
              <a:rPr lang="en-GB" sz="1200" b="1" dirty="0">
                <a:solidFill>
                  <a:srgbClr val="E0B96F"/>
                </a:solidFill>
                <a:latin typeface="SFMono-Regular"/>
              </a:rPr>
              <a:t>" },        TP2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"Aggregation",     "target": "Logging",     "interaction": "</a:t>
            </a:r>
            <a:r>
              <a:rPr lang="en-GB" sz="1200" b="1" dirty="0" err="1">
                <a:solidFill>
                  <a:srgbClr val="E0B96F"/>
                </a:solidFill>
                <a:latin typeface="SFMono-Regular"/>
              </a:rPr>
              <a:t>RAIILogStream.stream</a:t>
            </a:r>
            <a:r>
              <a:rPr lang="en-GB" sz="1200" b="1" dirty="0">
                <a:solidFill>
                  <a:srgbClr val="E0B96F"/>
                </a:solidFill>
                <a:latin typeface="SFMono-Regular"/>
              </a:rPr>
              <a:t>" },   FP2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Aggregator.getAll</a:t>
            </a:r>
            <a:r>
              <a:rPr lang="en-GB" sz="1200" b="1" dirty="0">
                <a:solidFill>
                  <a:srgbClr val="E0B96F"/>
                </a:solidFill>
                <a:latin typeface="SFMono-Regular"/>
              </a:rPr>
              <a:t>" },      TP3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CPSLogger.flush</a:t>
            </a:r>
            <a:r>
              <a:rPr lang="en-GB" sz="1200" b="1" dirty="0">
                <a:solidFill>
                  <a:srgbClr val="E0B96F"/>
                </a:solidFill>
                <a:latin typeface="SFMono-Regular"/>
              </a:rPr>
              <a:t>" },        TP4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RAIILogStream.stream</a:t>
            </a:r>
            <a:r>
              <a:rPr lang="en-GB" sz="1200" b="1" dirty="0">
                <a:solidFill>
                  <a:srgbClr val="E0B96F"/>
                </a:solidFill>
                <a:latin typeface="SFMono-Regular"/>
              </a:rPr>
              <a:t>" } ]  TP5  // </a:t>
            </a:r>
            <a:r>
              <a:rPr lang="en-GB" sz="1200" b="1" dirty="0" err="1">
                <a:solidFill>
                  <a:srgbClr val="E0B96F"/>
                </a:solidFill>
                <a:latin typeface="SFMono-Regular"/>
              </a:rPr>
              <a:t>Runner.Timeout</a:t>
            </a:r>
            <a:endParaRPr lang="en-GB" sz="1200" b="1" dirty="0">
              <a:solidFill>
                <a:srgbClr val="E0B96F"/>
              </a:solidFill>
              <a:latin typeface="SFMono-Regular"/>
            </a:endParaRPr>
          </a:p>
        </p:txBody>
      </p:sp>
    </p:spTree>
    <p:extLst>
      <p:ext uri="{BB962C8B-B14F-4D97-AF65-F5344CB8AC3E}">
        <p14:creationId xmlns:p14="http://schemas.microsoft.com/office/powerpoint/2010/main" val="14233953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7A5DA1A-9183-1B51-6D94-67CBC6009AC6}"/>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E0159C45-1278-928A-0816-6ADF9150941D}"/>
              </a:ext>
            </a:extLst>
          </p:cNvPr>
          <p:cNvSpPr>
            <a:spLocks noGrp="1"/>
          </p:cNvSpPr>
          <p:nvPr>
            <p:ph type="title"/>
          </p:nvPr>
        </p:nvSpPr>
        <p:spPr>
          <a:xfrm>
            <a:off x="428625" y="792365"/>
            <a:ext cx="10015451" cy="627525"/>
          </a:xfrm>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H1 – Metrics Calculations for Scenario 1</a:t>
            </a:r>
            <a:endParaRPr lang="en-GB" b="1" dirty="0"/>
          </a:p>
        </p:txBody>
      </p:sp>
      <p:sp>
        <p:nvSpPr>
          <p:cNvPr id="20" name="TextBox 19">
            <a:extLst>
              <a:ext uri="{FF2B5EF4-FFF2-40B4-BE49-F238E27FC236}">
                <a16:creationId xmlns:a16="http://schemas.microsoft.com/office/drawing/2014/main" id="{CE41D7B6-644F-7F0F-1C4B-0149B84F9CE8}"/>
              </a:ext>
            </a:extLst>
          </p:cNvPr>
          <p:cNvSpPr txBox="1"/>
          <p:nvPr/>
        </p:nvSpPr>
        <p:spPr>
          <a:xfrm>
            <a:off x="557471" y="1575256"/>
            <a:ext cx="5204974" cy="369332"/>
          </a:xfrm>
          <a:prstGeom prst="rect">
            <a:avLst/>
          </a:prstGeom>
          <a:noFill/>
        </p:spPr>
        <p:txBody>
          <a:bodyPr wrap="squar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S1- C4_ Static + Dynamic (GEN) :</a:t>
            </a:r>
          </a:p>
        </p:txBody>
      </p:sp>
      <p:sp>
        <p:nvSpPr>
          <p:cNvPr id="26" name="TextBox 25">
            <a:extLst>
              <a:ext uri="{FF2B5EF4-FFF2-40B4-BE49-F238E27FC236}">
                <a16:creationId xmlns:a16="http://schemas.microsoft.com/office/drawing/2014/main" id="{7326138B-EDDA-3307-E80C-2083E5970EA0}"/>
              </a:ext>
            </a:extLst>
          </p:cNvPr>
          <p:cNvSpPr txBox="1"/>
          <p:nvPr/>
        </p:nvSpPr>
        <p:spPr>
          <a:xfrm>
            <a:off x="8670206" y="2473013"/>
            <a:ext cx="2425929" cy="954107"/>
          </a:xfrm>
          <a:prstGeom prst="rect">
            <a:avLst/>
          </a:prstGeom>
          <a:noFill/>
        </p:spPr>
        <p:txBody>
          <a:bodyPr wrap="square">
            <a:spAutoFit/>
          </a:bodyPr>
          <a:lstStyle/>
          <a:p>
            <a:r>
              <a:rPr lang="pt-BR"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TP=5, FP=5, FN=0 P=5/(5+5)=.50 </a:t>
            </a:r>
          </a:p>
          <a:p>
            <a:r>
              <a:rPr lang="pt-BR"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R=5/(5+0)=1.00 F1=2(.5)(1)/(1.5)=.67</a:t>
            </a:r>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27" name="TextBox 26">
            <a:extLst>
              <a:ext uri="{FF2B5EF4-FFF2-40B4-BE49-F238E27FC236}">
                <a16:creationId xmlns:a16="http://schemas.microsoft.com/office/drawing/2014/main" id="{2777F334-AD73-CA80-7ED2-482A43598FAA}"/>
              </a:ext>
            </a:extLst>
          </p:cNvPr>
          <p:cNvSpPr txBox="1"/>
          <p:nvPr/>
        </p:nvSpPr>
        <p:spPr>
          <a:xfrm>
            <a:off x="466491" y="5028811"/>
            <a:ext cx="11175197" cy="1169551"/>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So, TP=5 and FP=5: union inherits every false positive from both sources on both tests. C2's instance plus C3's incidental stream with nothing to cancel them</a:t>
            </a:r>
          </a:p>
          <a:p>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Static + Dynamic (union): Every edge either C2 or C3 reports, pooled together with no filtering. Inherits both sources' false positives along with their true positives</a:t>
            </a:r>
          </a:p>
        </p:txBody>
      </p:sp>
      <p:sp>
        <p:nvSpPr>
          <p:cNvPr id="40" name="TextBox 39">
            <a:extLst>
              <a:ext uri="{FF2B5EF4-FFF2-40B4-BE49-F238E27FC236}">
                <a16:creationId xmlns:a16="http://schemas.microsoft.com/office/drawing/2014/main" id="{566E8105-68A6-174D-8181-AB9A3F74D697}"/>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12</a:t>
            </a:r>
          </a:p>
        </p:txBody>
      </p:sp>
      <p:sp>
        <p:nvSpPr>
          <p:cNvPr id="41" name="TextBox 40">
            <a:extLst>
              <a:ext uri="{FF2B5EF4-FFF2-40B4-BE49-F238E27FC236}">
                <a16:creationId xmlns:a16="http://schemas.microsoft.com/office/drawing/2014/main" id="{71A99462-C42F-38CD-F623-0CFD8114FD02}"/>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CB1D2343-AB8A-F970-326F-B75C70FAD322}"/>
              </a:ext>
            </a:extLst>
          </p:cNvPr>
          <p:cNvSpPr txBox="1"/>
          <p:nvPr/>
        </p:nvSpPr>
        <p:spPr>
          <a:xfrm>
            <a:off x="436529" y="2196046"/>
            <a:ext cx="7931094" cy="2700163"/>
          </a:xfrm>
          <a:prstGeom prst="rect">
            <a:avLst/>
          </a:prstGeom>
          <a:noFill/>
        </p:spPr>
        <p:txBody>
          <a:bodyPr wrap="square">
            <a:spAutoFit/>
          </a:bodyPr>
          <a:lstStyle/>
          <a:p>
            <a:pPr>
              <a:lnSpc>
                <a:spcPct val="0"/>
              </a:lnSpc>
              <a:spcBef>
                <a:spcPts val="1000"/>
              </a:spcBef>
              <a:spcAft>
                <a:spcPts val="1200"/>
              </a:spcAft>
            </a:pPr>
            <a:r>
              <a:rPr lang="en-GB" sz="1200" b="1" dirty="0">
                <a:solidFill>
                  <a:srgbClr val="E0B96F"/>
                </a:solidFill>
                <a:latin typeface="SFMono-Regular"/>
              </a:rPr>
              <a:t>[ { "source": "Aggregation",     "target": "Logging",     "interaction": "stream" },    FP1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getAll</a:t>
            </a:r>
            <a:r>
              <a:rPr lang="en-GB" sz="1200" b="1" dirty="0">
                <a:solidFill>
                  <a:srgbClr val="E0B96F"/>
                </a:solidFill>
                <a:latin typeface="SFMono-Regular"/>
              </a:rPr>
              <a:t>" },    TP1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"flush" },     TP2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"instance" },  FP2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"stream" },    FP3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"Aggregation",     "target": "Logging",     "interaction": "stream" },    FP4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getAll</a:t>
            </a:r>
            <a:r>
              <a:rPr lang="en-GB" sz="1200" b="1" dirty="0">
                <a:solidFill>
                  <a:srgbClr val="E0B96F"/>
                </a:solidFill>
                <a:latin typeface="SFMono-Regular"/>
              </a:rPr>
              <a:t>" },    TP3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"flush" },     TP4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"instance" },  FP5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"stream" } ]   TP5  // </a:t>
            </a:r>
            <a:r>
              <a:rPr lang="en-GB" sz="1200" b="1" dirty="0" err="1">
                <a:solidFill>
                  <a:srgbClr val="E0B96F"/>
                </a:solidFill>
                <a:latin typeface="SFMono-Regular"/>
              </a:rPr>
              <a:t>Runner.Timeout</a:t>
            </a:r>
            <a:endParaRPr lang="en-GB" sz="1200" b="1" dirty="0">
              <a:solidFill>
                <a:srgbClr val="E0B96F"/>
              </a:solidFill>
              <a:latin typeface="SFMono-Regular"/>
            </a:endParaRPr>
          </a:p>
        </p:txBody>
      </p:sp>
    </p:spTree>
    <p:extLst>
      <p:ext uri="{BB962C8B-B14F-4D97-AF65-F5344CB8AC3E}">
        <p14:creationId xmlns:p14="http://schemas.microsoft.com/office/powerpoint/2010/main" val="7856190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CC4F8DA-6A54-68BA-213D-B9CE93CCD901}"/>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CF4A4688-303E-4FA2-5E0E-0C3F9BE107BE}"/>
              </a:ext>
            </a:extLst>
          </p:cNvPr>
          <p:cNvSpPr>
            <a:spLocks noGrp="1"/>
          </p:cNvSpPr>
          <p:nvPr>
            <p:ph type="title"/>
          </p:nvPr>
        </p:nvSpPr>
        <p:spPr>
          <a:xfrm>
            <a:off x="428625" y="792365"/>
            <a:ext cx="10015451" cy="627525"/>
          </a:xfrm>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H1 – Metrics Calculations for Scenario 1</a:t>
            </a:r>
            <a:endParaRPr lang="en-GB" b="1" dirty="0"/>
          </a:p>
        </p:txBody>
      </p:sp>
      <p:sp>
        <p:nvSpPr>
          <p:cNvPr id="20" name="TextBox 19">
            <a:extLst>
              <a:ext uri="{FF2B5EF4-FFF2-40B4-BE49-F238E27FC236}">
                <a16:creationId xmlns:a16="http://schemas.microsoft.com/office/drawing/2014/main" id="{176FEB1A-310B-776E-25AC-63A10240BF9F}"/>
              </a:ext>
            </a:extLst>
          </p:cNvPr>
          <p:cNvSpPr txBox="1"/>
          <p:nvPr/>
        </p:nvSpPr>
        <p:spPr>
          <a:xfrm>
            <a:off x="557471" y="1747780"/>
            <a:ext cx="3678099" cy="369332"/>
          </a:xfrm>
          <a:prstGeom prst="rect">
            <a:avLst/>
          </a:prstGeom>
          <a:noFill/>
        </p:spPr>
        <p:txBody>
          <a:bodyPr wrap="squar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S1- C5_ Intersection (GEN):</a:t>
            </a:r>
          </a:p>
        </p:txBody>
      </p:sp>
      <p:sp>
        <p:nvSpPr>
          <p:cNvPr id="26" name="TextBox 25">
            <a:extLst>
              <a:ext uri="{FF2B5EF4-FFF2-40B4-BE49-F238E27FC236}">
                <a16:creationId xmlns:a16="http://schemas.microsoft.com/office/drawing/2014/main" id="{E1CFFF54-F2A6-53CD-1B4C-317979C64B24}"/>
              </a:ext>
            </a:extLst>
          </p:cNvPr>
          <p:cNvSpPr txBox="1"/>
          <p:nvPr/>
        </p:nvSpPr>
        <p:spPr>
          <a:xfrm>
            <a:off x="8670206" y="2645537"/>
            <a:ext cx="2425929" cy="954107"/>
          </a:xfrm>
          <a:prstGeom prst="rect">
            <a:avLst/>
          </a:prstGeom>
          <a:noFill/>
        </p:spPr>
        <p:txBody>
          <a:bodyPr wrap="square">
            <a:spAutoFit/>
          </a:bodyPr>
          <a:lstStyle/>
          <a:p>
            <a:r>
              <a:rPr lang="pt-BR"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TP=5, FP=0, FN=0 </a:t>
            </a:r>
          </a:p>
          <a:p>
            <a:r>
              <a:rPr lang="pt-BR"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P=5/(5+0) = 1.00 </a:t>
            </a:r>
          </a:p>
          <a:p>
            <a:r>
              <a:rPr lang="pt-BR" sz="1400" dirty="0">
                <a:latin typeface="Sans Serif Collection" panose="020B0502040504020204" pitchFamily="34" charset="0"/>
                <a:ea typeface="Sans Serif Collection" panose="020B0502040504020204" pitchFamily="34" charset="0"/>
                <a:cs typeface="Sans Serif Collection" panose="020B0502040504020204" pitchFamily="34" charset="0"/>
              </a:rPr>
              <a:t>R= 5/(5+0) = 1.00 </a:t>
            </a:r>
            <a:endParaRPr lang="pt-BR"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pt-BR" sz="1400" dirty="0">
                <a:latin typeface="Sans Serif Collection" panose="020B0502040504020204" pitchFamily="34" charset="0"/>
                <a:ea typeface="Sans Serif Collection" panose="020B0502040504020204" pitchFamily="34" charset="0"/>
                <a:cs typeface="Sans Serif Collection" panose="020B0502040504020204" pitchFamily="34" charset="0"/>
              </a:rPr>
              <a:t>F1= 5/(5+0) =1.00</a:t>
            </a:r>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27" name="TextBox 26">
            <a:extLst>
              <a:ext uri="{FF2B5EF4-FFF2-40B4-BE49-F238E27FC236}">
                <a16:creationId xmlns:a16="http://schemas.microsoft.com/office/drawing/2014/main" id="{F25E3C12-EF1D-57F0-F778-C5618496FFD1}"/>
              </a:ext>
            </a:extLst>
          </p:cNvPr>
          <p:cNvSpPr txBox="1"/>
          <p:nvPr/>
        </p:nvSpPr>
        <p:spPr>
          <a:xfrm>
            <a:off x="508401" y="4250822"/>
            <a:ext cx="11175197" cy="1169551"/>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So, TP=5 and FP=0: Only edges both C2 and C3 independently confirm survive on both tests. C2's instance isn't seen by the trace, and C3's incidental stream isn't seen statically. Neither passes, nothing real lost.</a:t>
            </a:r>
          </a:p>
          <a:p>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Intersection: Only edges both C2 and C3 independently report. Pure set algebra, no LLM is involved. This case cancels each source's own false positives, at the cost of dropping any true edge only one source sees.</a:t>
            </a:r>
          </a:p>
        </p:txBody>
      </p:sp>
      <p:sp>
        <p:nvSpPr>
          <p:cNvPr id="40" name="TextBox 39">
            <a:extLst>
              <a:ext uri="{FF2B5EF4-FFF2-40B4-BE49-F238E27FC236}">
                <a16:creationId xmlns:a16="http://schemas.microsoft.com/office/drawing/2014/main" id="{17F3AF07-0BF2-1533-7124-CA7FE543EA61}"/>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12</a:t>
            </a:r>
          </a:p>
        </p:txBody>
      </p:sp>
      <p:sp>
        <p:nvSpPr>
          <p:cNvPr id="41" name="TextBox 40">
            <a:extLst>
              <a:ext uri="{FF2B5EF4-FFF2-40B4-BE49-F238E27FC236}">
                <a16:creationId xmlns:a16="http://schemas.microsoft.com/office/drawing/2014/main" id="{EDD45658-AA15-22EF-8C26-186C1695C78E}"/>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984FE1DC-D618-E958-70AC-7B779E55F2D3}"/>
              </a:ext>
            </a:extLst>
          </p:cNvPr>
          <p:cNvSpPr txBox="1"/>
          <p:nvPr/>
        </p:nvSpPr>
        <p:spPr>
          <a:xfrm>
            <a:off x="436529" y="2368570"/>
            <a:ext cx="7931094" cy="1278620"/>
          </a:xfrm>
          <a:prstGeom prst="rect">
            <a:avLst/>
          </a:prstGeom>
          <a:noFill/>
        </p:spPr>
        <p:txBody>
          <a:bodyPr wrap="square">
            <a:spAutoFit/>
          </a:bodyPr>
          <a:lstStyle/>
          <a:p>
            <a:pPr>
              <a:lnSpc>
                <a:spcPct val="0"/>
              </a:lnSpc>
              <a:spcBef>
                <a:spcPts val="1000"/>
              </a:spcBef>
              <a:spcAft>
                <a:spcPts val="1200"/>
              </a:spcAft>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Aggregator.getAll</a:t>
            </a:r>
            <a:r>
              <a:rPr lang="en-GB" sz="1200" b="1" dirty="0">
                <a:solidFill>
                  <a:srgbClr val="E0B96F"/>
                </a:solidFill>
                <a:latin typeface="SFMono-Regular"/>
              </a:rPr>
              <a:t>" },  TP1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CPSLogger.flush</a:t>
            </a:r>
            <a:r>
              <a:rPr lang="en-GB" sz="1200" b="1" dirty="0">
                <a:solidFill>
                  <a:srgbClr val="E0B96F"/>
                </a:solidFill>
                <a:latin typeface="SFMono-Regular"/>
              </a:rPr>
              <a:t>" },    TP2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Aggregator.getAll</a:t>
            </a:r>
            <a:r>
              <a:rPr lang="en-GB" sz="1200" b="1" dirty="0">
                <a:solidFill>
                  <a:srgbClr val="E0B96F"/>
                </a:solidFill>
                <a:latin typeface="SFMono-Regular"/>
              </a:rPr>
              <a:t>" },  TP3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CPSLogger.flush</a:t>
            </a:r>
            <a:r>
              <a:rPr lang="en-GB" sz="1200" b="1" dirty="0">
                <a:solidFill>
                  <a:srgbClr val="E0B96F"/>
                </a:solidFill>
                <a:latin typeface="SFMono-Regular"/>
              </a:rPr>
              <a:t>" },    TP4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RAIILogStream.stream</a:t>
            </a:r>
            <a:r>
              <a:rPr lang="en-GB" sz="1200" b="1" dirty="0">
                <a:solidFill>
                  <a:srgbClr val="E0B96F"/>
                </a:solidFill>
                <a:latin typeface="SFMono-Regular"/>
              </a:rPr>
              <a:t>" } ]  TP5  // </a:t>
            </a:r>
            <a:r>
              <a:rPr lang="en-GB" sz="1200" b="1" dirty="0" err="1">
                <a:solidFill>
                  <a:srgbClr val="E0B96F"/>
                </a:solidFill>
                <a:latin typeface="SFMono-Regular"/>
              </a:rPr>
              <a:t>Runner.Timeout</a:t>
            </a:r>
            <a:endParaRPr lang="en-GB" sz="1200" b="1" dirty="0">
              <a:solidFill>
                <a:srgbClr val="E0B96F"/>
              </a:solidFill>
              <a:latin typeface="SFMono-Regular"/>
            </a:endParaRPr>
          </a:p>
        </p:txBody>
      </p:sp>
    </p:spTree>
    <p:extLst>
      <p:ext uri="{BB962C8B-B14F-4D97-AF65-F5344CB8AC3E}">
        <p14:creationId xmlns:p14="http://schemas.microsoft.com/office/powerpoint/2010/main" val="23350837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C2C74AA-4D6D-CBCF-0ADA-A1B3CD7046A8}"/>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8A9A3B78-F0AC-76C2-E064-DC2EECA0078A}"/>
              </a:ext>
            </a:extLst>
          </p:cNvPr>
          <p:cNvSpPr>
            <a:spLocks noGrp="1"/>
          </p:cNvSpPr>
          <p:nvPr>
            <p:ph type="title"/>
          </p:nvPr>
        </p:nvSpPr>
        <p:spPr>
          <a:xfrm>
            <a:off x="428625" y="792365"/>
            <a:ext cx="10015451" cy="627525"/>
          </a:xfrm>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H1 – Metrics Calculations for Scenario 1</a:t>
            </a:r>
            <a:endParaRPr lang="en-GB" dirty="0"/>
          </a:p>
        </p:txBody>
      </p:sp>
      <p:sp>
        <p:nvSpPr>
          <p:cNvPr id="40" name="TextBox 39">
            <a:extLst>
              <a:ext uri="{FF2B5EF4-FFF2-40B4-BE49-F238E27FC236}">
                <a16:creationId xmlns:a16="http://schemas.microsoft.com/office/drawing/2014/main" id="{55E7AED3-93A9-1D5C-FE78-4573D199D57A}"/>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12</a:t>
            </a:r>
          </a:p>
        </p:txBody>
      </p:sp>
      <p:sp>
        <p:nvSpPr>
          <p:cNvPr id="41" name="TextBox 40">
            <a:extLst>
              <a:ext uri="{FF2B5EF4-FFF2-40B4-BE49-F238E27FC236}">
                <a16:creationId xmlns:a16="http://schemas.microsoft.com/office/drawing/2014/main" id="{5878B9BD-47DC-C95D-B026-17D78C892232}"/>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28" name="TextBox 27">
            <a:extLst>
              <a:ext uri="{FF2B5EF4-FFF2-40B4-BE49-F238E27FC236}">
                <a16:creationId xmlns:a16="http://schemas.microsoft.com/office/drawing/2014/main" id="{425A9CC5-B847-EE8A-E484-EB4DBFFF0C0C}"/>
              </a:ext>
            </a:extLst>
          </p:cNvPr>
          <p:cNvSpPr txBox="1"/>
          <p:nvPr/>
        </p:nvSpPr>
        <p:spPr>
          <a:xfrm>
            <a:off x="575802" y="4797208"/>
            <a:ext cx="10362492" cy="1169551"/>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So, TP=5 and FP=0, matching C5: the agent discards both single-source edges as unconfirmed on both tests. S1 doesn't exercise a case where C6's judgement and C5's set algebra actually diverge — that's S3 and S4.</a:t>
            </a:r>
          </a:p>
          <a:p>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Full pipeline: An LLM gets C2 and C3 as separately-labelled evidence (not pre-merged) and judges each disputed single-source edge by provenance, plus orders the reconstructed sequence. The complete approach this thesis proposes.</a:t>
            </a:r>
          </a:p>
        </p:txBody>
      </p:sp>
      <p:sp>
        <p:nvSpPr>
          <p:cNvPr id="35" name="TextBox 34">
            <a:extLst>
              <a:ext uri="{FF2B5EF4-FFF2-40B4-BE49-F238E27FC236}">
                <a16:creationId xmlns:a16="http://schemas.microsoft.com/office/drawing/2014/main" id="{8A5FFB4B-B1D7-6DBC-15A5-CC96F1EA9663}"/>
              </a:ext>
            </a:extLst>
          </p:cNvPr>
          <p:cNvSpPr txBox="1"/>
          <p:nvPr/>
        </p:nvSpPr>
        <p:spPr>
          <a:xfrm>
            <a:off x="428625" y="2123145"/>
            <a:ext cx="4233851" cy="369332"/>
          </a:xfrm>
          <a:prstGeom prst="rect">
            <a:avLst/>
          </a:prstGeom>
          <a:noFill/>
        </p:spPr>
        <p:txBody>
          <a:bodyPr wrap="non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S1- C6_ Static + Dynamic + LLM (GEN):</a:t>
            </a:r>
          </a:p>
        </p:txBody>
      </p:sp>
      <p:sp>
        <p:nvSpPr>
          <p:cNvPr id="2" name="TextBox 1">
            <a:extLst>
              <a:ext uri="{FF2B5EF4-FFF2-40B4-BE49-F238E27FC236}">
                <a16:creationId xmlns:a16="http://schemas.microsoft.com/office/drawing/2014/main" id="{C100600C-BA98-496B-5F2C-150D7E6F968C}"/>
              </a:ext>
            </a:extLst>
          </p:cNvPr>
          <p:cNvSpPr txBox="1"/>
          <p:nvPr/>
        </p:nvSpPr>
        <p:spPr>
          <a:xfrm>
            <a:off x="534324" y="2820307"/>
            <a:ext cx="7931094" cy="1278620"/>
          </a:xfrm>
          <a:prstGeom prst="rect">
            <a:avLst/>
          </a:prstGeom>
          <a:noFill/>
        </p:spPr>
        <p:txBody>
          <a:bodyPr wrap="square">
            <a:spAutoFit/>
          </a:bodyPr>
          <a:lstStyle/>
          <a:p>
            <a:pPr>
              <a:lnSpc>
                <a:spcPct val="0"/>
              </a:lnSpc>
              <a:spcBef>
                <a:spcPts val="1000"/>
              </a:spcBef>
              <a:spcAft>
                <a:spcPts val="1200"/>
              </a:spcAft>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getAll</a:t>
            </a:r>
            <a:r>
              <a:rPr lang="en-GB" sz="1200" b="1" dirty="0">
                <a:solidFill>
                  <a:srgbClr val="E0B96F"/>
                </a:solidFill>
                <a:latin typeface="SFMono-Regular"/>
              </a:rPr>
              <a:t>" },   TP1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"flush" },    TP2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getAll</a:t>
            </a:r>
            <a:r>
              <a:rPr lang="en-GB" sz="1200" b="1" dirty="0">
                <a:solidFill>
                  <a:srgbClr val="E0B96F"/>
                </a:solidFill>
                <a:latin typeface="SFMono-Regular"/>
              </a:rPr>
              <a:t>" },   TP3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"flush" },    TP4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"stream" } ]  TP5  // </a:t>
            </a:r>
            <a:r>
              <a:rPr lang="en-GB" sz="1200" b="1" dirty="0" err="1">
                <a:solidFill>
                  <a:srgbClr val="E0B96F"/>
                </a:solidFill>
                <a:latin typeface="SFMono-Regular"/>
              </a:rPr>
              <a:t>Runner.Timeout</a:t>
            </a:r>
            <a:endParaRPr lang="en-GB" sz="1200" b="1" dirty="0">
              <a:solidFill>
                <a:srgbClr val="E0B96F"/>
              </a:solidFill>
              <a:latin typeface="SFMono-Regular"/>
            </a:endParaRPr>
          </a:p>
        </p:txBody>
      </p:sp>
      <p:sp>
        <p:nvSpPr>
          <p:cNvPr id="6" name="TextBox 5">
            <a:extLst>
              <a:ext uri="{FF2B5EF4-FFF2-40B4-BE49-F238E27FC236}">
                <a16:creationId xmlns:a16="http://schemas.microsoft.com/office/drawing/2014/main" id="{8212AB68-1F37-C67C-D2D5-7D10D9C7B2ED}"/>
              </a:ext>
            </a:extLst>
          </p:cNvPr>
          <p:cNvSpPr txBox="1"/>
          <p:nvPr/>
        </p:nvSpPr>
        <p:spPr>
          <a:xfrm>
            <a:off x="8799602" y="2951946"/>
            <a:ext cx="2425929" cy="954107"/>
          </a:xfrm>
          <a:prstGeom prst="rect">
            <a:avLst/>
          </a:prstGeom>
          <a:noFill/>
        </p:spPr>
        <p:txBody>
          <a:bodyPr wrap="square">
            <a:spAutoFit/>
          </a:bodyPr>
          <a:lstStyle/>
          <a:p>
            <a:r>
              <a:rPr lang="pt-BR"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TP=5, FP=0, FN=0 · </a:t>
            </a:r>
          </a:p>
          <a:p>
            <a:r>
              <a:rPr lang="pt-BR"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 5/(5+0) = 1.00 </a:t>
            </a:r>
          </a:p>
          <a:p>
            <a:r>
              <a:rPr lang="pt-BR" sz="1400" dirty="0">
                <a:latin typeface="Sans Serif Collection" panose="020B0502040504020204" pitchFamily="34" charset="0"/>
                <a:ea typeface="Sans Serif Collection" panose="020B0502040504020204" pitchFamily="34" charset="0"/>
                <a:cs typeface="Sans Serif Collection" panose="020B0502040504020204" pitchFamily="34" charset="0"/>
              </a:rPr>
              <a:t>R= 5/(5+0) = 1.00 </a:t>
            </a:r>
            <a:endParaRPr lang="pt-BR"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pt-BR" sz="1400" dirty="0">
                <a:latin typeface="Sans Serif Collection" panose="020B0502040504020204" pitchFamily="34" charset="0"/>
                <a:ea typeface="Sans Serif Collection" panose="020B0502040504020204" pitchFamily="34" charset="0"/>
                <a:cs typeface="Sans Serif Collection" panose="020B0502040504020204" pitchFamily="34" charset="0"/>
              </a:rPr>
              <a:t>F1= 5/(5+0) =1.00</a:t>
            </a:r>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36452998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H1 Results: Precision / Recall / F1</a:t>
            </a:r>
          </a:p>
        </p:txBody>
      </p:sp>
      <p:sp>
        <p:nvSpPr>
          <p:cNvPr id="4" name="TextBox 3">
            <a:extLst>
              <a:ext uri="{FF2B5EF4-FFF2-40B4-BE49-F238E27FC236}">
                <a16:creationId xmlns:a16="http://schemas.microsoft.com/office/drawing/2014/main" id="{5531B02A-EC30-C795-96EF-5352ACF6C276}"/>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13</a:t>
            </a:r>
          </a:p>
        </p:txBody>
      </p:sp>
      <p:sp>
        <p:nvSpPr>
          <p:cNvPr id="5" name="TextBox 4">
            <a:extLst>
              <a:ext uri="{FF2B5EF4-FFF2-40B4-BE49-F238E27FC236}">
                <a16:creationId xmlns:a16="http://schemas.microsoft.com/office/drawing/2014/main" id="{48DB3560-D545-A199-4307-F60C89526A7C}"/>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8" name="Table 7">
            <a:extLst>
              <a:ext uri="{FF2B5EF4-FFF2-40B4-BE49-F238E27FC236}">
                <a16:creationId xmlns:a16="http://schemas.microsoft.com/office/drawing/2014/main" id="{3A517E9F-849C-B8CB-EF80-6E0CB7D2E5BC}"/>
              </a:ext>
            </a:extLst>
          </p:cNvPr>
          <p:cNvGraphicFramePr>
            <a:graphicFrameLocks noGrp="1"/>
          </p:cNvGraphicFramePr>
          <p:nvPr>
            <p:extLst>
              <p:ext uri="{D42A27DB-BD31-4B8C-83A1-F6EECF244321}">
                <p14:modId xmlns:p14="http://schemas.microsoft.com/office/powerpoint/2010/main" val="2208367648"/>
              </p:ext>
            </p:extLst>
          </p:nvPr>
        </p:nvGraphicFramePr>
        <p:xfrm>
          <a:off x="1004502" y="1947626"/>
          <a:ext cx="10181725" cy="3590530"/>
        </p:xfrm>
        <a:graphic>
          <a:graphicData uri="http://schemas.openxmlformats.org/drawingml/2006/table">
            <a:tbl>
              <a:tblPr>
                <a:tableStyleId>{ED083AE6-46FA-4A59-8FB0-9F97EB10719F}</a:tableStyleId>
              </a:tblPr>
              <a:tblGrid>
                <a:gridCol w="1732729">
                  <a:extLst>
                    <a:ext uri="{9D8B030D-6E8A-4147-A177-3AD203B41FA5}">
                      <a16:colId xmlns:a16="http://schemas.microsoft.com/office/drawing/2014/main" val="502413800"/>
                    </a:ext>
                  </a:extLst>
                </a:gridCol>
                <a:gridCol w="665301">
                  <a:extLst>
                    <a:ext uri="{9D8B030D-6E8A-4147-A177-3AD203B41FA5}">
                      <a16:colId xmlns:a16="http://schemas.microsoft.com/office/drawing/2014/main" val="2165312311"/>
                    </a:ext>
                  </a:extLst>
                </a:gridCol>
                <a:gridCol w="665301">
                  <a:extLst>
                    <a:ext uri="{9D8B030D-6E8A-4147-A177-3AD203B41FA5}">
                      <a16:colId xmlns:a16="http://schemas.microsoft.com/office/drawing/2014/main" val="1559431964"/>
                    </a:ext>
                  </a:extLst>
                </a:gridCol>
                <a:gridCol w="677271">
                  <a:extLst>
                    <a:ext uri="{9D8B030D-6E8A-4147-A177-3AD203B41FA5}">
                      <a16:colId xmlns:a16="http://schemas.microsoft.com/office/drawing/2014/main" val="642438680"/>
                    </a:ext>
                  </a:extLst>
                </a:gridCol>
                <a:gridCol w="665301">
                  <a:extLst>
                    <a:ext uri="{9D8B030D-6E8A-4147-A177-3AD203B41FA5}">
                      <a16:colId xmlns:a16="http://schemas.microsoft.com/office/drawing/2014/main" val="1923907642"/>
                    </a:ext>
                  </a:extLst>
                </a:gridCol>
                <a:gridCol w="665301">
                  <a:extLst>
                    <a:ext uri="{9D8B030D-6E8A-4147-A177-3AD203B41FA5}">
                      <a16:colId xmlns:a16="http://schemas.microsoft.com/office/drawing/2014/main" val="2238765553"/>
                    </a:ext>
                  </a:extLst>
                </a:gridCol>
                <a:gridCol w="665301">
                  <a:extLst>
                    <a:ext uri="{9D8B030D-6E8A-4147-A177-3AD203B41FA5}">
                      <a16:colId xmlns:a16="http://schemas.microsoft.com/office/drawing/2014/main" val="956514133"/>
                    </a:ext>
                  </a:extLst>
                </a:gridCol>
                <a:gridCol w="665301">
                  <a:extLst>
                    <a:ext uri="{9D8B030D-6E8A-4147-A177-3AD203B41FA5}">
                      <a16:colId xmlns:a16="http://schemas.microsoft.com/office/drawing/2014/main" val="4035188576"/>
                    </a:ext>
                  </a:extLst>
                </a:gridCol>
                <a:gridCol w="665301">
                  <a:extLst>
                    <a:ext uri="{9D8B030D-6E8A-4147-A177-3AD203B41FA5}">
                      <a16:colId xmlns:a16="http://schemas.microsoft.com/office/drawing/2014/main" val="611505303"/>
                    </a:ext>
                  </a:extLst>
                </a:gridCol>
                <a:gridCol w="581517">
                  <a:extLst>
                    <a:ext uri="{9D8B030D-6E8A-4147-A177-3AD203B41FA5}">
                      <a16:colId xmlns:a16="http://schemas.microsoft.com/office/drawing/2014/main" val="2155648943"/>
                    </a:ext>
                  </a:extLst>
                </a:gridCol>
                <a:gridCol w="581517">
                  <a:extLst>
                    <a:ext uri="{9D8B030D-6E8A-4147-A177-3AD203B41FA5}">
                      <a16:colId xmlns:a16="http://schemas.microsoft.com/office/drawing/2014/main" val="1636586329"/>
                    </a:ext>
                  </a:extLst>
                </a:gridCol>
                <a:gridCol w="581517">
                  <a:extLst>
                    <a:ext uri="{9D8B030D-6E8A-4147-A177-3AD203B41FA5}">
                      <a16:colId xmlns:a16="http://schemas.microsoft.com/office/drawing/2014/main" val="3227894200"/>
                    </a:ext>
                  </a:extLst>
                </a:gridCol>
                <a:gridCol w="581517">
                  <a:extLst>
                    <a:ext uri="{9D8B030D-6E8A-4147-A177-3AD203B41FA5}">
                      <a16:colId xmlns:a16="http://schemas.microsoft.com/office/drawing/2014/main" val="3259221130"/>
                    </a:ext>
                  </a:extLst>
                </a:gridCol>
                <a:gridCol w="788550">
                  <a:extLst>
                    <a:ext uri="{9D8B030D-6E8A-4147-A177-3AD203B41FA5}">
                      <a16:colId xmlns:a16="http://schemas.microsoft.com/office/drawing/2014/main" val="2448855332"/>
                    </a:ext>
                  </a:extLst>
                </a:gridCol>
              </a:tblGrid>
              <a:tr h="589868">
                <a:tc rowSpan="2">
                  <a:txBody>
                    <a:bodyPr/>
                    <a:lstStyle/>
                    <a:p>
                      <a:pPr marL="0" marR="0" algn="ctr" defTabSz="914400" rtl="0" eaLnBrk="1" fontAlgn="t" latinLnBrk="0" hangingPunct="1">
                        <a:buNone/>
                      </a:pPr>
                      <a:r>
                        <a:rPr lang="en-GB" sz="12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Condition</a:t>
                      </a:r>
                    </a:p>
                  </a:txBody>
                  <a:tcPr marL="50800" marR="50800" marT="50800" marB="508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gridSpan="3">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GB" sz="12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 1</a:t>
                      </a:r>
                    </a:p>
                    <a:p>
                      <a:pPr marL="0" marR="0" algn="ctr" defTabSz="914400" rtl="0" eaLnBrk="1" fontAlgn="t" latinLnBrk="0" hangingPunct="1">
                        <a:buNone/>
                      </a:pPr>
                      <a:endParaRPr lang="en-GB" sz="12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50800" marR="50800" marT="50800" marB="508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hMerge="1">
                  <a:txBody>
                    <a:bodyPr/>
                    <a:lstStyle/>
                    <a:p>
                      <a:endParaRPr/>
                    </a:p>
                  </a:txBody>
                  <a:tcPr marL="50800" marR="50800" marT="50800" marB="50800">
                    <a:solidFill>
                      <a:schemeClr val="accent4"/>
                    </a:solidFill>
                  </a:tcPr>
                </a:tc>
                <a:tc hMerge="1">
                  <a:txBody>
                    <a:bodyPr/>
                    <a:lstStyle/>
                    <a:p>
                      <a:endParaRPr dirty="0"/>
                    </a:p>
                  </a:txBody>
                  <a:tcPr marL="50800" marR="50800" marT="50800" marB="50800">
                    <a:solidFill>
                      <a:schemeClr val="accent4"/>
                    </a:solidFill>
                  </a:tcPr>
                </a:tc>
                <a:tc gridSpan="3">
                  <a:txBody>
                    <a:bodyPr/>
                    <a:lstStyle/>
                    <a:p>
                      <a:pPr marL="0" marR="0" algn="ctr" defTabSz="914400" rtl="0" eaLnBrk="1" fontAlgn="t" latinLnBrk="0" hangingPunct="1">
                        <a:buNone/>
                      </a:pPr>
                      <a:r>
                        <a:rPr lang="en-GB" sz="12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 2</a:t>
                      </a:r>
                    </a:p>
                  </a:txBody>
                  <a:tcPr marL="50800" marR="50800" marT="50800" marB="508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hMerge="1">
                  <a:txBody>
                    <a:bodyPr/>
                    <a:lstStyle/>
                    <a:p>
                      <a:endParaRPr/>
                    </a:p>
                  </a:txBody>
                  <a:tcPr marL="50800" marR="50800" marT="50800" marB="50800">
                    <a:solidFill>
                      <a:schemeClr val="accent4"/>
                    </a:solidFill>
                  </a:tcPr>
                </a:tc>
                <a:tc hMerge="1">
                  <a:txBody>
                    <a:bodyPr/>
                    <a:lstStyle/>
                    <a:p>
                      <a:endParaRPr dirty="0"/>
                    </a:p>
                  </a:txBody>
                  <a:tcPr marL="50800" marR="50800" marT="50800" marB="50800">
                    <a:solidFill>
                      <a:schemeClr val="accent4"/>
                    </a:solidFill>
                  </a:tcPr>
                </a:tc>
                <a:tc gridSpan="3">
                  <a:txBody>
                    <a:bodyPr/>
                    <a:lstStyle/>
                    <a:p>
                      <a:pPr marL="0" marR="0" algn="ctr" defTabSz="914400" rtl="0" eaLnBrk="1" fontAlgn="t" latinLnBrk="0" hangingPunct="1">
                        <a:buNone/>
                      </a:pPr>
                      <a:r>
                        <a:rPr lang="en-GB" sz="12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 3</a:t>
                      </a:r>
                    </a:p>
                  </a:txBody>
                  <a:tcPr marL="50800" marR="50800" marT="50800" marB="508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hMerge="1">
                  <a:txBody>
                    <a:bodyPr/>
                    <a:lstStyle/>
                    <a:p>
                      <a:endParaRPr/>
                    </a:p>
                  </a:txBody>
                  <a:tcPr marL="50800" marR="50800" marT="50800" marB="50800">
                    <a:solidFill>
                      <a:schemeClr val="accent4"/>
                    </a:solidFill>
                  </a:tcPr>
                </a:tc>
                <a:tc hMerge="1">
                  <a:txBody>
                    <a:bodyPr/>
                    <a:lstStyle/>
                    <a:p>
                      <a:endParaRPr dirty="0"/>
                    </a:p>
                  </a:txBody>
                  <a:tcPr marL="50800" marR="50800" marT="50800" marB="50800">
                    <a:solidFill>
                      <a:schemeClr val="accent4"/>
                    </a:solidFill>
                  </a:tcPr>
                </a:tc>
                <a:tc gridSpan="3">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GB" sz="12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Constructed (S4)</a:t>
                      </a:r>
                    </a:p>
                  </a:txBody>
                  <a:tcPr marL="50800" marR="50800" marT="50800" marB="508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hMerge="1">
                  <a:txBody>
                    <a:bodyPr/>
                    <a:lstStyle/>
                    <a:p>
                      <a:pPr marL="0" marR="0" algn="l" defTabSz="914400" rtl="0" eaLnBrk="1" fontAlgn="t" latinLnBrk="0" hangingPunct="1">
                        <a:buNone/>
                      </a:pPr>
                      <a:endParaRPr lang="en-GB" sz="12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hMerge="1">
                  <a:txBody>
                    <a:bodyPr/>
                    <a:lstStyle/>
                    <a:p>
                      <a:pPr marL="0" marR="0" algn="l" defTabSz="914400" rtl="0" eaLnBrk="1" fontAlgn="t" latinLnBrk="0" hangingPunct="1">
                        <a:buNone/>
                      </a:pPr>
                      <a:endParaRPr lang="en-GB" sz="12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GB" sz="12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Macro F1</a:t>
                      </a:r>
                    </a:p>
                  </a:txBody>
                  <a:tcPr marL="50800" marR="50800" marT="50800" marB="508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extLst>
                  <a:ext uri="{0D108BD9-81ED-4DB2-BD59-A6C34878D82A}">
                    <a16:rowId xmlns:a16="http://schemas.microsoft.com/office/drawing/2014/main" val="1909268114"/>
                  </a:ext>
                </a:extLst>
              </a:tr>
              <a:tr h="423590">
                <a:tc vMerge="1">
                  <a:txBody>
                    <a:bodyPr/>
                    <a:lstStyle/>
                    <a:p>
                      <a:pPr marL="0" marR="0" fontAlgn="t">
                        <a:buNone/>
                      </a:pPr>
                      <a:endParaRPr lang="en-GB" sz="1400" dirty="0">
                        <a:solidFill>
                          <a:srgbClr val="8F8F8F"/>
                        </a:solidFill>
                        <a:effectLst/>
                        <a:latin typeface="Calibri" panose="020F0502020204030204" pitchFamily="34" charset="0"/>
                      </a:endParaRPr>
                    </a:p>
                  </a:txBody>
                  <a:tcPr marL="50800" marR="50800" marT="50800" marB="50800"/>
                </a:tc>
                <a:tc>
                  <a:txBody>
                    <a:bodyPr/>
                    <a:lstStyle/>
                    <a:p>
                      <a:pPr marL="0" marR="0" algn="ctr" defTabSz="914400" rtl="0" eaLnBrk="1" fontAlgn="t" latinLnBrk="0" hangingPunct="1">
                        <a:buNone/>
                      </a:pPr>
                      <a:r>
                        <a:rPr lang="en-GB"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P</a:t>
                      </a:r>
                    </a:p>
                  </a:txBody>
                  <a:tcPr marL="12700" marR="12700" marT="12700" marB="127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a:txBody>
                    <a:bodyPr/>
                    <a:lstStyle/>
                    <a:p>
                      <a:pPr marL="0" marR="0" algn="ctr" defTabSz="914400" rtl="0" eaLnBrk="1" fontAlgn="t" latinLnBrk="0" hangingPunct="1">
                        <a:buNone/>
                      </a:pPr>
                      <a:r>
                        <a:rPr lang="en-GB"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R</a:t>
                      </a:r>
                    </a:p>
                  </a:txBody>
                  <a:tcPr marL="12700" marR="12700" marT="12700" marB="127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a:txBody>
                    <a:bodyPr/>
                    <a:lstStyle/>
                    <a:p>
                      <a:pPr marL="0" marR="0" algn="ctr" defTabSz="914400" rtl="0" eaLnBrk="1" fontAlgn="t" latinLnBrk="0" hangingPunct="1">
                        <a:buNone/>
                      </a:pPr>
                      <a:r>
                        <a:rPr lang="en-GB"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 F1</a:t>
                      </a:r>
                    </a:p>
                  </a:txBody>
                  <a:tcPr marL="12700" marR="12700" marT="12700" marB="127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a:txBody>
                    <a:bodyPr/>
                    <a:lstStyle/>
                    <a:p>
                      <a:pPr marL="0" marR="0" algn="ctr" defTabSz="914400" rtl="0" eaLnBrk="1" fontAlgn="t" latinLnBrk="0" hangingPunct="1">
                        <a:buNone/>
                      </a:pPr>
                      <a:r>
                        <a:rPr lang="en-GB"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P</a:t>
                      </a:r>
                    </a:p>
                  </a:txBody>
                  <a:tcPr marL="12700" marR="12700" marT="12700" marB="127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a:txBody>
                    <a:bodyPr/>
                    <a:lstStyle/>
                    <a:p>
                      <a:pPr marL="0" marR="0" algn="ctr" defTabSz="914400" rtl="0" eaLnBrk="1" fontAlgn="t" latinLnBrk="0" hangingPunct="1">
                        <a:buNone/>
                      </a:pPr>
                      <a:r>
                        <a:rPr lang="en-GB"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R</a:t>
                      </a:r>
                    </a:p>
                  </a:txBody>
                  <a:tcPr marL="12700" marR="12700" marT="12700" marB="127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a:txBody>
                    <a:bodyPr/>
                    <a:lstStyle/>
                    <a:p>
                      <a:pPr marL="0" marR="0" algn="ctr" defTabSz="914400" rtl="0" eaLnBrk="1" fontAlgn="t" latinLnBrk="0" hangingPunct="1">
                        <a:buNone/>
                      </a:pPr>
                      <a:r>
                        <a:rPr lang="en-GB"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F1</a:t>
                      </a:r>
                    </a:p>
                  </a:txBody>
                  <a:tcPr marL="12700" marR="12700" marT="12700" marB="127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a:txBody>
                    <a:bodyPr/>
                    <a:lstStyle/>
                    <a:p>
                      <a:pPr marL="0" marR="0" algn="ctr" defTabSz="914400" rtl="0" eaLnBrk="1" fontAlgn="t" latinLnBrk="0" hangingPunct="1">
                        <a:buNone/>
                      </a:pPr>
                      <a:r>
                        <a:rPr lang="en-GB"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P</a:t>
                      </a:r>
                    </a:p>
                  </a:txBody>
                  <a:tcPr marL="12700" marR="12700" marT="12700" marB="127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a:txBody>
                    <a:bodyPr/>
                    <a:lstStyle/>
                    <a:p>
                      <a:pPr marL="0" marR="0" algn="ctr" defTabSz="914400" rtl="0" eaLnBrk="1" fontAlgn="t" latinLnBrk="0" hangingPunct="1">
                        <a:buNone/>
                      </a:pPr>
                      <a:r>
                        <a:rPr lang="en-GB"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R</a:t>
                      </a:r>
                    </a:p>
                  </a:txBody>
                  <a:tcPr marL="12700" marR="12700" marT="12700" marB="127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a:txBody>
                    <a:bodyPr/>
                    <a:lstStyle/>
                    <a:p>
                      <a:pPr marL="0" marR="0" algn="ctr" defTabSz="914400" rtl="0" eaLnBrk="1" fontAlgn="t" latinLnBrk="0" hangingPunct="1">
                        <a:buNone/>
                      </a:pPr>
                      <a:r>
                        <a:rPr lang="en-GB"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F1</a:t>
                      </a:r>
                    </a:p>
                  </a:txBody>
                  <a:tcPr marL="12700" marR="12700" marT="12700" marB="127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a:txBody>
                    <a:bodyPr/>
                    <a:lstStyle/>
                    <a:p>
                      <a:pPr marL="0" marR="0" algn="ctr" defTabSz="914400" rtl="0" eaLnBrk="1" fontAlgn="t" latinLnBrk="0" hangingPunct="1">
                        <a:buNone/>
                      </a:pPr>
                      <a:r>
                        <a:rPr lang="en-GB"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P</a:t>
                      </a:r>
                    </a:p>
                  </a:txBody>
                  <a:tcPr marL="12700" marR="12700" marT="12700" marB="127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a:txBody>
                    <a:bodyPr/>
                    <a:lstStyle/>
                    <a:p>
                      <a:pPr marL="0" marR="0" algn="ctr" defTabSz="914400" rtl="0" eaLnBrk="1" fontAlgn="t" latinLnBrk="0" hangingPunct="1">
                        <a:buNone/>
                      </a:pPr>
                      <a:r>
                        <a:rPr lang="en-GB"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R</a:t>
                      </a:r>
                    </a:p>
                  </a:txBody>
                  <a:tcPr marL="12700" marR="12700" marT="12700" marB="127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a:txBody>
                    <a:bodyPr/>
                    <a:lstStyle/>
                    <a:p>
                      <a:pPr marL="0" marR="0" algn="ctr" defTabSz="914400" rtl="0" eaLnBrk="1" fontAlgn="t" latinLnBrk="0" hangingPunct="1">
                        <a:buNone/>
                      </a:pPr>
                      <a:r>
                        <a:rPr lang="en-GB"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 F1</a:t>
                      </a:r>
                    </a:p>
                  </a:txBody>
                  <a:tcPr marL="12700" marR="12700" marT="12700" marB="127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a:txBody>
                    <a:bodyPr/>
                    <a:lstStyle/>
                    <a:p>
                      <a:pPr marL="0" marR="0" algn="ctr" defTabSz="914400" rtl="0" eaLnBrk="1" fontAlgn="t" latinLnBrk="0" hangingPunct="1">
                        <a:buNone/>
                      </a:pPr>
                      <a:endParaRPr lang="en-GB"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2700" marR="12700" marT="12700" marB="127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extLst>
                  <a:ext uri="{0D108BD9-81ED-4DB2-BD59-A6C34878D82A}">
                    <a16:rowId xmlns:a16="http://schemas.microsoft.com/office/drawing/2014/main" val="1408205329"/>
                  </a:ext>
                </a:extLst>
              </a:tr>
              <a:tr h="423590">
                <a:tc>
                  <a:txBody>
                    <a:bodyPr/>
                    <a:lstStyle/>
                    <a:p>
                      <a:pPr>
                        <a:buNone/>
                      </a:pPr>
                      <a:r>
                        <a:rPr lang="en-GB"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C1 LLM-only</a:t>
                      </a:r>
                    </a:p>
                  </a:txBody>
                  <a:tcPr marL="12700" marR="12700" marT="12700" marB="12700" anchor="ctr">
                    <a:lnT w="12700" cap="flat" cmpd="sng" algn="ctr">
                      <a:solidFill>
                        <a:schemeClr val="bg1">
                          <a:lumMod val="95000"/>
                        </a:schemeClr>
                      </a:solidFill>
                      <a:prstDash val="solid"/>
                      <a:round/>
                      <a:headEnd type="none" w="med" len="med"/>
                      <a:tailEnd type="none" w="med" len="med"/>
                    </a:lnT>
                  </a:tcPr>
                </a:tc>
                <a:tc>
                  <a:txBody>
                    <a:bodyPr/>
                    <a:lstStyle/>
                    <a:p>
                      <a:pPr>
                        <a:buNone/>
                      </a:pPr>
                      <a:r>
                        <a:rPr lang="en-GB" sz="16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lnT w="12700" cap="flat" cmpd="sng" algn="ctr">
                      <a:solidFill>
                        <a:schemeClr val="bg1">
                          <a:lumMod val="95000"/>
                        </a:schemeClr>
                      </a:solidFill>
                      <a:prstDash val="solid"/>
                      <a:round/>
                      <a:headEnd type="none" w="med" len="med"/>
                      <a:tailEnd type="none" w="med" len="med"/>
                    </a:lnT>
                  </a:tcP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.60</a:t>
                      </a:r>
                    </a:p>
                  </a:txBody>
                  <a:tcPr marL="12700" marR="12700" marT="12700" marB="12700" anchor="ctr">
                    <a:lnT w="12700" cap="flat" cmpd="sng" algn="ctr">
                      <a:solidFill>
                        <a:schemeClr val="bg1">
                          <a:lumMod val="95000"/>
                        </a:schemeClr>
                      </a:solidFill>
                      <a:prstDash val="solid"/>
                      <a:round/>
                      <a:headEnd type="none" w="med" len="med"/>
                      <a:tailEnd type="none" w="med" len="med"/>
                    </a:lnT>
                  </a:tcP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.75</a:t>
                      </a:r>
                    </a:p>
                  </a:txBody>
                  <a:tcPr marL="12700" marR="12700" marT="12700" marB="12700" anchor="ctr">
                    <a:lnT w="12700" cap="flat" cmpd="sng" algn="ctr">
                      <a:solidFill>
                        <a:schemeClr val="bg1">
                          <a:lumMod val="95000"/>
                        </a:schemeClr>
                      </a:solidFill>
                      <a:prstDash val="solid"/>
                      <a:round/>
                      <a:headEnd type="none" w="med" len="med"/>
                      <a:tailEnd type="none" w="med" len="med"/>
                    </a:lnT>
                  </a:tcP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0</a:t>
                      </a:r>
                    </a:p>
                  </a:txBody>
                  <a:tcPr marL="12700" marR="12700" marT="12700" marB="12700" anchor="ctr">
                    <a:lnT w="12700" cap="flat" cmpd="sng" algn="ctr">
                      <a:solidFill>
                        <a:schemeClr val="bg1">
                          <a:lumMod val="95000"/>
                        </a:schemeClr>
                      </a:solidFill>
                      <a:prstDash val="solid"/>
                      <a:round/>
                      <a:headEnd type="none" w="med" len="med"/>
                      <a:tailEnd type="none" w="med" len="med"/>
                    </a:lnT>
                  </a:tcP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a:t>
                      </a:r>
                    </a:p>
                  </a:txBody>
                  <a:tcPr marL="12700" marR="12700" marT="12700" marB="12700" anchor="ctr">
                    <a:lnT w="12700" cap="flat" cmpd="sng" algn="ctr">
                      <a:solidFill>
                        <a:schemeClr val="bg1">
                          <a:lumMod val="95000"/>
                        </a:schemeClr>
                      </a:solidFill>
                      <a:prstDash val="solid"/>
                      <a:round/>
                      <a:headEnd type="none" w="med" len="med"/>
                      <a:tailEnd type="none" w="med" len="med"/>
                    </a:lnT>
                  </a:tcP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0.00</a:t>
                      </a:r>
                    </a:p>
                  </a:txBody>
                  <a:tcPr marL="12700" marR="12700" marT="12700" marB="12700" anchor="ctr">
                    <a:lnT w="12700" cap="flat" cmpd="sng" algn="ctr">
                      <a:solidFill>
                        <a:schemeClr val="bg1">
                          <a:lumMod val="95000"/>
                        </a:schemeClr>
                      </a:solidFill>
                      <a:prstDash val="solid"/>
                      <a:round/>
                      <a:headEnd type="none" w="med" len="med"/>
                      <a:tailEnd type="none" w="med" len="med"/>
                    </a:lnT>
                  </a:tcP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.33</a:t>
                      </a:r>
                    </a:p>
                  </a:txBody>
                  <a:tcPr marL="12700" marR="12700" marT="12700" marB="12700" anchor="ctr">
                    <a:lnT w="12700" cap="flat" cmpd="sng" algn="ctr">
                      <a:solidFill>
                        <a:schemeClr val="bg1">
                          <a:lumMod val="95000"/>
                        </a:schemeClr>
                      </a:solidFill>
                      <a:prstDash val="solid"/>
                      <a:round/>
                      <a:headEnd type="none" w="med" len="med"/>
                      <a:tailEnd type="none" w="med" len="med"/>
                    </a:lnT>
                  </a:tcP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.33</a:t>
                      </a:r>
                    </a:p>
                  </a:txBody>
                  <a:tcPr marL="12700" marR="12700" marT="12700" marB="12700" anchor="ctr">
                    <a:lnT w="12700" cap="flat" cmpd="sng" algn="ctr">
                      <a:solidFill>
                        <a:schemeClr val="bg1">
                          <a:lumMod val="95000"/>
                        </a:schemeClr>
                      </a:solidFill>
                      <a:prstDash val="solid"/>
                      <a:round/>
                      <a:headEnd type="none" w="med" len="med"/>
                      <a:tailEnd type="none" w="med" len="med"/>
                    </a:lnT>
                  </a:tcP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.33</a:t>
                      </a:r>
                    </a:p>
                  </a:txBody>
                  <a:tcPr marL="12700" marR="12700" marT="12700" marB="12700" anchor="ctr">
                    <a:lnT w="12700" cap="flat" cmpd="sng" algn="ctr">
                      <a:solidFill>
                        <a:schemeClr val="bg1">
                          <a:lumMod val="95000"/>
                        </a:schemeClr>
                      </a:solidFill>
                      <a:prstDash val="solid"/>
                      <a:round/>
                      <a:headEnd type="none" w="med" len="med"/>
                      <a:tailEnd type="none" w="med" len="med"/>
                    </a:lnT>
                  </a:tcP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.25</a:t>
                      </a:r>
                    </a:p>
                  </a:txBody>
                  <a:tcPr marL="12700" marR="12700" marT="12700" marB="12700" anchor="ctr">
                    <a:lnT w="12700" cap="flat" cmpd="sng" algn="ctr">
                      <a:solidFill>
                        <a:schemeClr val="bg1">
                          <a:lumMod val="95000"/>
                        </a:schemeClr>
                      </a:solidFill>
                      <a:prstDash val="solid"/>
                      <a:round/>
                      <a:headEnd type="none" w="med" len="med"/>
                      <a:tailEnd type="none" w="med" len="med"/>
                    </a:lnT>
                  </a:tcPr>
                </a:tc>
                <a:tc>
                  <a:txBody>
                    <a:bodyPr/>
                    <a:lstStyle/>
                    <a:p>
                      <a:pPr>
                        <a:buNone/>
                      </a:pPr>
                      <a:r>
                        <a:rPr lang="en-GB" sz="1600" b="1">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lnT w="12700" cap="flat" cmpd="sng" algn="ctr">
                      <a:solidFill>
                        <a:schemeClr val="bg1">
                          <a:lumMod val="95000"/>
                        </a:schemeClr>
                      </a:solidFill>
                      <a:prstDash val="solid"/>
                      <a:round/>
                      <a:headEnd type="none" w="med" len="med"/>
                      <a:tailEnd type="none" w="med" len="med"/>
                    </a:lnT>
                  </a:tcP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.40</a:t>
                      </a:r>
                    </a:p>
                  </a:txBody>
                  <a:tcPr marL="12700" marR="12700" marT="12700" marB="12700" anchor="ctr">
                    <a:lnT w="12700" cap="flat" cmpd="sng" algn="ctr">
                      <a:solidFill>
                        <a:schemeClr val="bg1">
                          <a:lumMod val="95000"/>
                        </a:schemeClr>
                      </a:solidFill>
                      <a:prstDash val="solid"/>
                      <a:round/>
                      <a:headEnd type="none" w="med" len="med"/>
                      <a:tailEnd type="none" w="med" len="med"/>
                    </a:lnT>
                  </a:tcP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.371</a:t>
                      </a:r>
                    </a:p>
                  </a:txBody>
                  <a:tcPr marL="12700" marR="12700" marT="12700" marB="12700" anchor="ctr">
                    <a:lnT w="12700" cap="flat" cmpd="sng" algn="ctr">
                      <a:solidFill>
                        <a:schemeClr val="bg1">
                          <a:lumMod val="95000"/>
                        </a:schemeClr>
                      </a:solidFill>
                      <a:prstDash val="solid"/>
                      <a:round/>
                      <a:headEnd type="none" w="med" len="med"/>
                      <a:tailEnd type="none" w="med" len="med"/>
                    </a:lnT>
                  </a:tcPr>
                </a:tc>
                <a:extLst>
                  <a:ext uri="{0D108BD9-81ED-4DB2-BD59-A6C34878D82A}">
                    <a16:rowId xmlns:a16="http://schemas.microsoft.com/office/drawing/2014/main" val="3967514857"/>
                  </a:ext>
                </a:extLst>
              </a:tr>
              <a:tr h="423590">
                <a:tc>
                  <a:txBody>
                    <a:bodyPr/>
                    <a:lstStyle/>
                    <a:p>
                      <a:pPr>
                        <a:buNone/>
                      </a:pPr>
                      <a:r>
                        <a:rPr lang="en-GB"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C2 Static-only</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.63</a:t>
                      </a:r>
                    </a:p>
                  </a:txBody>
                  <a:tcPr marL="12700" marR="12700" marT="12700" marB="12700" anchor="ctr"/>
                </a:tc>
                <a:tc>
                  <a:txBody>
                    <a:bodyPr/>
                    <a:lstStyle/>
                    <a:p>
                      <a:pPr>
                        <a:buNone/>
                      </a:pPr>
                      <a:r>
                        <a:rPr lang="en-GB" sz="1600" b="1">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.77</a:t>
                      </a:r>
                    </a:p>
                  </a:txBody>
                  <a:tcPr marL="12700" marR="12700" marT="12700" marB="12700" anchor="ctr"/>
                </a:tc>
                <a:tc>
                  <a:txBody>
                    <a:bodyPr/>
                    <a:lstStyle/>
                    <a:p>
                      <a:pPr>
                        <a:buNone/>
                      </a:pPr>
                      <a:r>
                        <a:rPr lang="en-GB" sz="16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600" b="1">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6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600" b="1">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b="0">
                          <a:effectLst/>
                          <a:latin typeface="Sans Serif Collection" panose="020B0502040504020204" pitchFamily="34" charset="0"/>
                          <a:ea typeface="Sans Serif Collection" panose="020B0502040504020204" pitchFamily="34" charset="0"/>
                          <a:cs typeface="Sans Serif Collection" panose="020B0502040504020204" pitchFamily="34" charset="0"/>
                        </a:rPr>
                        <a:t>.33</a:t>
                      </a:r>
                    </a:p>
                  </a:txBody>
                  <a:tcPr marL="12700" marR="12700" marT="12700" marB="12700" anchor="ctr"/>
                </a:tc>
                <a:tc>
                  <a:txBody>
                    <a:bodyPr/>
                    <a:lstStyle/>
                    <a:p>
                      <a:pPr>
                        <a:buNone/>
                      </a:pPr>
                      <a:r>
                        <a:rPr lang="en-GB" sz="1200" b="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.50</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.50</a:t>
                      </a:r>
                    </a:p>
                  </a:txBody>
                  <a:tcPr marL="12700" marR="12700" marT="12700" marB="12700" anchor="ctr"/>
                </a:tc>
                <a:tc>
                  <a:txBody>
                    <a:bodyPr/>
                    <a:lstStyle/>
                    <a:p>
                      <a:pPr>
                        <a:buNone/>
                      </a:pPr>
                      <a:r>
                        <a:rPr lang="en-GB" sz="1600" b="1">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.67</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.734</a:t>
                      </a:r>
                    </a:p>
                  </a:txBody>
                  <a:tcPr marL="12700" marR="12700" marT="12700" marB="12700" anchor="ctr"/>
                </a:tc>
                <a:extLst>
                  <a:ext uri="{0D108BD9-81ED-4DB2-BD59-A6C34878D82A}">
                    <a16:rowId xmlns:a16="http://schemas.microsoft.com/office/drawing/2014/main" val="472616755"/>
                  </a:ext>
                </a:extLst>
              </a:tr>
              <a:tr h="423590">
                <a:tc>
                  <a:txBody>
                    <a:bodyPr/>
                    <a:lstStyle/>
                    <a:p>
                      <a:pPr>
                        <a:buNone/>
                      </a:pPr>
                      <a:r>
                        <a:rPr lang="en-GB"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C3 Dynamic-only</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.71</a:t>
                      </a:r>
                    </a:p>
                  </a:txBody>
                  <a:tcPr marL="12700" marR="12700" marT="12700" marB="12700" anchor="ctr"/>
                </a:tc>
                <a:tc>
                  <a:txBody>
                    <a:bodyPr/>
                    <a:lstStyle/>
                    <a:p>
                      <a:pPr>
                        <a:buNone/>
                      </a:pPr>
                      <a:r>
                        <a:rPr lang="en-GB" sz="1600" b="1">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.83</a:t>
                      </a:r>
                    </a:p>
                  </a:txBody>
                  <a:tcPr marL="12700" marR="12700" marT="12700" marB="12700" anchor="ctr"/>
                </a:tc>
                <a:tc>
                  <a:txBody>
                    <a:bodyPr/>
                    <a:lstStyle/>
                    <a:p>
                      <a:pPr>
                        <a:buNone/>
                      </a:pPr>
                      <a:r>
                        <a:rPr lang="en-GB" sz="1600" b="1">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600" b="1">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600" b="1">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6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600" b="1">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600" b="1">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.50</a:t>
                      </a:r>
                    </a:p>
                  </a:txBody>
                  <a:tcPr marL="12700" marR="12700" marT="12700" marB="12700" anchor="ctr"/>
                </a:tc>
                <a:tc>
                  <a:txBody>
                    <a:bodyPr/>
                    <a:lstStyle/>
                    <a:p>
                      <a:pPr>
                        <a:buNone/>
                      </a:pPr>
                      <a:r>
                        <a:rPr lang="en-GB" sz="1600" b="1">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.67</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.875</a:t>
                      </a:r>
                    </a:p>
                  </a:txBody>
                  <a:tcPr marL="12700" marR="12700" marT="12700" marB="12700" anchor="ctr"/>
                </a:tc>
                <a:extLst>
                  <a:ext uri="{0D108BD9-81ED-4DB2-BD59-A6C34878D82A}">
                    <a16:rowId xmlns:a16="http://schemas.microsoft.com/office/drawing/2014/main" val="131022076"/>
                  </a:ext>
                </a:extLst>
              </a:tr>
              <a:tr h="459122">
                <a:tc>
                  <a:txBody>
                    <a:bodyPr/>
                    <a:lstStyle/>
                    <a:p>
                      <a:pPr>
                        <a:buNone/>
                      </a:pPr>
                      <a:r>
                        <a:rPr lang="en-GB" sz="1400">
                          <a:effectLst/>
                          <a:latin typeface="Sans Serif Collection" panose="020B0502040504020204" pitchFamily="34" charset="0"/>
                          <a:ea typeface="Sans Serif Collection" panose="020B0502040504020204" pitchFamily="34" charset="0"/>
                          <a:cs typeface="Sans Serif Collection" panose="020B0502040504020204" pitchFamily="34" charset="0"/>
                        </a:rPr>
                        <a:t>C4 Static+Dynamic</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.50</a:t>
                      </a:r>
                    </a:p>
                  </a:txBody>
                  <a:tcPr marL="12700" marR="12700" marT="12700" marB="12700" anchor="ctr"/>
                </a:tc>
                <a:tc>
                  <a:txBody>
                    <a:bodyPr/>
                    <a:lstStyle/>
                    <a:p>
                      <a:pPr>
                        <a:buNone/>
                      </a:pPr>
                      <a:r>
                        <a:rPr lang="en-GB" sz="16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.67</a:t>
                      </a:r>
                    </a:p>
                  </a:txBody>
                  <a:tcPr marL="12700" marR="12700" marT="12700" marB="12700" anchor="ctr"/>
                </a:tc>
                <a:tc>
                  <a:txBody>
                    <a:bodyPr/>
                    <a:lstStyle/>
                    <a:p>
                      <a:pPr>
                        <a:buNone/>
                      </a:pPr>
                      <a:r>
                        <a:rPr lang="en-GB" sz="1600" b="1">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600" b="1">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6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6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6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6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.33</a:t>
                      </a:r>
                    </a:p>
                  </a:txBody>
                  <a:tcPr marL="12700" marR="12700" marT="12700" marB="12700" anchor="ctr"/>
                </a:tc>
                <a:tc>
                  <a:txBody>
                    <a:bodyPr/>
                    <a:lstStyle/>
                    <a:p>
                      <a:pPr>
                        <a:buNone/>
                      </a:pPr>
                      <a:r>
                        <a:rPr lang="en-GB" sz="16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.50</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.792</a:t>
                      </a:r>
                    </a:p>
                  </a:txBody>
                  <a:tcPr marL="12700" marR="12700" marT="12700" marB="12700" anchor="ctr"/>
                </a:tc>
                <a:extLst>
                  <a:ext uri="{0D108BD9-81ED-4DB2-BD59-A6C34878D82A}">
                    <a16:rowId xmlns:a16="http://schemas.microsoft.com/office/drawing/2014/main" val="3982158563"/>
                  </a:ext>
                </a:extLst>
              </a:tr>
              <a:tr h="423590">
                <a:tc>
                  <a:txBody>
                    <a:bodyPr/>
                    <a:lstStyle/>
                    <a:p>
                      <a:pPr>
                        <a:buNone/>
                      </a:pPr>
                      <a:r>
                        <a:rPr lang="en-GB" sz="1400">
                          <a:effectLst/>
                          <a:latin typeface="Sans Serif Collection" panose="020B0502040504020204" pitchFamily="34" charset="0"/>
                          <a:ea typeface="Sans Serif Collection" panose="020B0502040504020204" pitchFamily="34" charset="0"/>
                          <a:cs typeface="Sans Serif Collection" panose="020B0502040504020204" pitchFamily="34" charset="0"/>
                        </a:rPr>
                        <a:t>C5 Intersection</a:t>
                      </a:r>
                    </a:p>
                  </a:txBody>
                  <a:tcPr marL="12700" marR="12700" marT="12700" marB="12700" anchor="ctr"/>
                </a:tc>
                <a:tc>
                  <a:txBody>
                    <a:bodyPr/>
                    <a:lstStyle/>
                    <a:p>
                      <a:pPr>
                        <a:buNone/>
                      </a:pPr>
                      <a:r>
                        <a:rPr lang="en-GB" sz="16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6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6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6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6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6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6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.33</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.50</a:t>
                      </a:r>
                    </a:p>
                  </a:txBody>
                  <a:tcPr marL="12700" marR="12700" marT="12700" marB="12700" anchor="ctr"/>
                </a:tc>
                <a:tc>
                  <a:txBody>
                    <a:bodyPr/>
                    <a:lstStyle/>
                    <a:p>
                      <a:pPr>
                        <a:buNone/>
                      </a:pPr>
                      <a:r>
                        <a:rPr lang="en-GB" sz="16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6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6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6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.875</a:t>
                      </a:r>
                    </a:p>
                  </a:txBody>
                  <a:tcPr marL="12700" marR="12700" marT="12700" marB="12700" anchor="ctr"/>
                </a:tc>
                <a:extLst>
                  <a:ext uri="{0D108BD9-81ED-4DB2-BD59-A6C34878D82A}">
                    <a16:rowId xmlns:a16="http://schemas.microsoft.com/office/drawing/2014/main" val="2435822673"/>
                  </a:ext>
                </a:extLst>
              </a:tr>
              <a:tr h="423590">
                <a:tc>
                  <a:txBody>
                    <a:bodyPr/>
                    <a:lstStyle/>
                    <a:p>
                      <a:pPr>
                        <a:buNone/>
                      </a:pPr>
                      <a:r>
                        <a:rPr lang="en-GB" sz="1400">
                          <a:effectLst/>
                          <a:latin typeface="Sans Serif Collection" panose="020B0502040504020204" pitchFamily="34" charset="0"/>
                          <a:ea typeface="Sans Serif Collection" panose="020B0502040504020204" pitchFamily="34" charset="0"/>
                          <a:cs typeface="Sans Serif Collection" panose="020B0502040504020204" pitchFamily="34" charset="0"/>
                        </a:rPr>
                        <a:t>C6 Full pipeline</a:t>
                      </a:r>
                    </a:p>
                  </a:txBody>
                  <a:tcPr marL="12700" marR="12700" marT="12700" marB="12700" anchor="ctr"/>
                </a:tc>
                <a:tc>
                  <a:txBody>
                    <a:bodyPr/>
                    <a:lstStyle/>
                    <a:p>
                      <a:pPr>
                        <a:buNone/>
                      </a:pPr>
                      <a:r>
                        <a:rPr lang="en-GB" sz="1600" b="1">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600" b="1">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6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600" b="1">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600" b="1">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6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.75</a:t>
                      </a:r>
                    </a:p>
                  </a:txBody>
                  <a:tcPr marL="12700" marR="12700" marT="12700" marB="12700" anchor="ctr"/>
                </a:tc>
                <a:tc>
                  <a:txBody>
                    <a:bodyPr/>
                    <a:lstStyle/>
                    <a:p>
                      <a:pPr>
                        <a:buNone/>
                      </a:pPr>
                      <a:r>
                        <a:rPr lang="en-GB" sz="16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6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.86</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.33</a:t>
                      </a:r>
                    </a:p>
                  </a:txBody>
                  <a:tcPr marL="12700" marR="12700" marT="12700" marB="12700" anchor="ctr"/>
                </a:tc>
                <a:tc>
                  <a:txBody>
                    <a:bodyPr/>
                    <a:lstStyle/>
                    <a:p>
                      <a:pPr>
                        <a:buNone/>
                      </a:pPr>
                      <a:r>
                        <a:rPr lang="en-GB" sz="16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endParaRPr lang="en-GB" sz="12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.50</a:t>
                      </a:r>
                    </a:p>
                  </a:txBody>
                  <a:tcPr marL="12700" marR="12700" marT="12700" marB="12700" anchor="ctr"/>
                </a:tc>
                <a:tc>
                  <a:txBody>
                    <a:bodyPr/>
                    <a:lstStyle/>
                    <a:p>
                      <a:pPr>
                        <a:buNone/>
                      </a:pPr>
                      <a:r>
                        <a:rPr lang="en-GB" sz="1200" b="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.840</a:t>
                      </a:r>
                    </a:p>
                  </a:txBody>
                  <a:tcPr marL="12700" marR="12700" marT="12700" marB="12700" anchor="ctr"/>
                </a:tc>
                <a:extLst>
                  <a:ext uri="{0D108BD9-81ED-4DB2-BD59-A6C34878D82A}">
                    <a16:rowId xmlns:a16="http://schemas.microsoft.com/office/drawing/2014/main" val="430337229"/>
                  </a:ext>
                </a:extLst>
              </a:tr>
            </a:tbl>
          </a:graphicData>
        </a:graphic>
      </p:graphicFrame>
    </p:spTree>
  </p:cSld>
  <p:clrMapOvr>
    <a:masterClrMapping/>
  </p:clrMapOvr>
  <p:extLst>
    <p:ext uri="{6950BFC3-D8DA-4A85-94F7-54DA5524770B}">
      <p188:commentRel xmlns:p188="http://schemas.microsoft.com/office/powerpoint/2018/8/main" r:id="rId2"/>
    </p:ext>
  </p:extLst>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H1 Interpretation — Why the Numbers Look This Way</a:t>
            </a:r>
          </a:p>
        </p:txBody>
      </p:sp>
      <p:sp>
        <p:nvSpPr>
          <p:cNvPr id="3" name="Content Placeholder 2"/>
          <p:cNvSpPr>
            <a:spLocks noGrp="1"/>
          </p:cNvSpPr>
          <p:nvPr>
            <p:ph sz="quarter" idx="11"/>
          </p:nvPr>
        </p:nvSpPr>
        <p:spPr>
          <a:xfrm>
            <a:off x="5736566" y="1020445"/>
            <a:ext cx="5763487" cy="5029200"/>
          </a:xfrm>
        </p:spPr>
        <p:txBody>
          <a:bodyPr>
            <a:normAutofit lnSpcReduction="10000"/>
          </a:bodyPr>
          <a:lstStyle/>
          <a:p>
            <a:pPr algn="just"/>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Naive union (C4) is not protective on S4</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dirty="0"/>
              <a:t>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It can inherits each source's false positives. It doesn’t hold good on S4 (F1 0.500). But it holds good for all other 3 scenarios.</a:t>
            </a:r>
          </a:p>
          <a:p>
            <a:pPr algn="just"/>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Intersection (C5)</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 Pure set algebra, no LLM is the actual best condition overall on interaction accuracy (F1 0.875, tied with dynamic-only), </a:t>
            </a:r>
            <a:r>
              <a:rPr lang="en-GB" sz="1400" i="1" dirty="0">
                <a:latin typeface="Sans Serif Collection" panose="020B0502040504020204" pitchFamily="34" charset="0"/>
                <a:ea typeface="Sans Serif Collection" panose="020B0502040504020204" pitchFamily="34" charset="0"/>
                <a:cs typeface="Sans Serif Collection" panose="020B0502040504020204" pitchFamily="34" charset="0"/>
              </a:rPr>
              <a:t>by cancelling each source's independent false positives</a:t>
            </a:r>
            <a:r>
              <a:rPr lang="en-GB" sz="1400" i="1" dirty="0"/>
              <a:t>.</a:t>
            </a:r>
          </a:p>
          <a:p>
            <a:pPr algn="just"/>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Intersection is recall-bounded, not free</a:t>
            </a:r>
            <a:r>
              <a:rPr lang="en-GB" sz="1400" dirty="0"/>
              <a:t>: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On S3 it's capped at C2's own weak recall (0.333), since C2 can't resolve a </a:t>
            </a:r>
            <a:r>
              <a:rPr lang="en-GB" sz="1400" i="1" dirty="0">
                <a:latin typeface="Sans Serif Collection" panose="020B0502040504020204" pitchFamily="34" charset="0"/>
                <a:ea typeface="Sans Serif Collection" panose="020B0502040504020204" pitchFamily="34" charset="0"/>
                <a:cs typeface="Sans Serif Collection" panose="020B0502040504020204" pitchFamily="34" charset="0"/>
              </a:rPr>
              <a:t>std::function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dispatched call C3 sees directly.</a:t>
            </a:r>
          </a:p>
          <a:p>
            <a:pPr algn="just"/>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The full pipeline (C6) doesn't win on edge accuracy</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(F1 0.84, behind C5/C3)</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 It over-generates on S4 and fabricates an edge on S3. Its real value is sequence ordering, not precision/recall.</a:t>
            </a:r>
          </a:p>
          <a:p>
            <a:pPr algn="just"/>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indent="0" algn="just">
              <a:buNone/>
            </a:pPr>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Bottom line</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combining helps only via agreement, never via pooling and the LLM's contribution is presentation not correctness.</a:t>
            </a:r>
          </a:p>
        </p:txBody>
      </p:sp>
      <p:sp>
        <p:nvSpPr>
          <p:cNvPr id="4" name="TextBox 3">
            <a:extLst>
              <a:ext uri="{FF2B5EF4-FFF2-40B4-BE49-F238E27FC236}">
                <a16:creationId xmlns:a16="http://schemas.microsoft.com/office/drawing/2014/main" id="{52673E92-C949-BEFA-B88A-ECD4084C9198}"/>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14</a:t>
            </a:r>
          </a:p>
        </p:txBody>
      </p:sp>
      <p:sp>
        <p:nvSpPr>
          <p:cNvPr id="5" name="TextBox 4">
            <a:extLst>
              <a:ext uri="{FF2B5EF4-FFF2-40B4-BE49-F238E27FC236}">
                <a16:creationId xmlns:a16="http://schemas.microsoft.com/office/drawing/2014/main" id="{7DFABDD7-1580-8FDA-08FA-FD8598CBE1EA}"/>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8103F-EE4D-510D-C473-DDC368156B0D}"/>
              </a:ext>
            </a:extLst>
          </p:cNvPr>
          <p:cNvSpPr>
            <a:spLocks noGrp="1"/>
          </p:cNvSpPr>
          <p:nvPr>
            <p:ph type="title"/>
          </p:nvPr>
        </p:nvSpPr>
        <p:spPr>
          <a:xfrm>
            <a:off x="929640" y="485113"/>
            <a:ext cx="10515600" cy="1531525"/>
          </a:xfrm>
        </p:spPr>
        <p:txBody>
          <a:bodyPr anchor="ct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Scenario 1 - Outputs</a:t>
            </a:r>
          </a:p>
        </p:txBody>
      </p:sp>
      <p:sp>
        <p:nvSpPr>
          <p:cNvPr id="14" name="Content Placeholder 3">
            <a:extLst>
              <a:ext uri="{FF2B5EF4-FFF2-40B4-BE49-F238E27FC236}">
                <a16:creationId xmlns:a16="http://schemas.microsoft.com/office/drawing/2014/main" id="{8B156FB7-57E9-208A-E480-0BBCAFB87E9E}"/>
              </a:ext>
            </a:extLst>
          </p:cNvPr>
          <p:cNvSpPr>
            <a:spLocks noGrp="1"/>
          </p:cNvSpPr>
          <p:nvPr>
            <p:ph sz="quarter" idx="11"/>
          </p:nvPr>
        </p:nvSpPr>
        <p:spPr>
          <a:xfrm>
            <a:off x="8788401" y="2153285"/>
            <a:ext cx="2656840" cy="3500438"/>
          </a:xfrm>
        </p:spPr>
        <p:txBody>
          <a:bodyPr>
            <a:normAutofit/>
          </a:bodyPr>
          <a:lstStyle/>
          <a:p>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S1 - Shows the widest fan-in: 4 Synchronization drivers all reach into both Aggregation and Logging. </a:t>
            </a:r>
          </a:p>
          <a:p>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4 reference interactions  (</a:t>
            </a:r>
            <a:r>
              <a:rPr lang="en-GB" sz="1600" b="0" dirty="0" err="1">
                <a:latin typeface="Sans Serif Collection" panose="020B0502040504020204" pitchFamily="34" charset="0"/>
                <a:ea typeface="Sans Serif Collection" panose="020B0502040504020204" pitchFamily="34" charset="0"/>
                <a:cs typeface="Sans Serif Collection" panose="020B0502040504020204" pitchFamily="34" charset="0"/>
              </a:rPr>
              <a:t>getAll</a:t>
            </a:r>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 stream, flush, instance)</a:t>
            </a:r>
            <a:endParaRPr lang="en-US" sz="16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48B9F016-1298-3E60-CB3A-D6A94FC33D05}"/>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8</a:t>
            </a:r>
          </a:p>
        </p:txBody>
      </p:sp>
      <p:sp>
        <p:nvSpPr>
          <p:cNvPr id="4" name="TextBox 3">
            <a:extLst>
              <a:ext uri="{FF2B5EF4-FFF2-40B4-BE49-F238E27FC236}">
                <a16:creationId xmlns:a16="http://schemas.microsoft.com/office/drawing/2014/main" id="{BCB0B5C9-7EEF-37C1-699A-FAE77C0AFD62}"/>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8" name="Picture 7">
            <a:extLst>
              <a:ext uri="{FF2B5EF4-FFF2-40B4-BE49-F238E27FC236}">
                <a16:creationId xmlns:a16="http://schemas.microsoft.com/office/drawing/2014/main" id="{BB88C0FE-0CB0-16FF-DC63-014EFF9E94D9}"/>
              </a:ext>
            </a:extLst>
          </p:cNvPr>
          <p:cNvPicPr>
            <a:picLocks noChangeAspect="1"/>
          </p:cNvPicPr>
          <p:nvPr/>
        </p:nvPicPr>
        <p:blipFill>
          <a:blip r:embed="rId2"/>
          <a:srcRect l="-1" r="151" b="27598"/>
          <a:stretch>
            <a:fillRect/>
          </a:stretch>
        </p:blipFill>
        <p:spPr>
          <a:xfrm>
            <a:off x="1137641" y="1904624"/>
            <a:ext cx="6625233" cy="3997760"/>
          </a:xfrm>
          <a:prstGeom prst="rect">
            <a:avLst/>
          </a:prstGeom>
        </p:spPr>
      </p:pic>
      <p:pic>
        <p:nvPicPr>
          <p:cNvPr id="17" name="Picture 16">
            <a:extLst>
              <a:ext uri="{FF2B5EF4-FFF2-40B4-BE49-F238E27FC236}">
                <a16:creationId xmlns:a16="http://schemas.microsoft.com/office/drawing/2014/main" id="{4F642515-1E5E-BFF4-F49C-22DEAA740FD6}"/>
              </a:ext>
            </a:extLst>
          </p:cNvPr>
          <p:cNvPicPr>
            <a:picLocks noChangeAspect="1"/>
          </p:cNvPicPr>
          <p:nvPr/>
        </p:nvPicPr>
        <p:blipFill>
          <a:blip r:embed="rId3"/>
          <a:stretch>
            <a:fillRect/>
          </a:stretch>
        </p:blipFill>
        <p:spPr>
          <a:xfrm>
            <a:off x="2692647" y="1466850"/>
            <a:ext cx="3618273" cy="4906037"/>
          </a:xfrm>
          <a:prstGeom prst="rect">
            <a:avLst/>
          </a:prstGeom>
        </p:spPr>
      </p:pic>
    </p:spTree>
    <p:extLst>
      <p:ext uri="{BB962C8B-B14F-4D97-AF65-F5344CB8AC3E}">
        <p14:creationId xmlns:p14="http://schemas.microsoft.com/office/powerpoint/2010/main" val="3062990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77FFE7F-039D-C2FE-795F-D083DD4E74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313012-09D3-1A9B-AF4C-9E8DC15FDCBF}"/>
              </a:ext>
            </a:extLst>
          </p:cNvPr>
          <p:cNvSpPr>
            <a:spLocks noGrp="1"/>
          </p:cNvSpPr>
          <p:nvPr>
            <p:ph type="title"/>
          </p:nvPr>
        </p:nvSpPr>
        <p:spPr>
          <a:xfrm>
            <a:off x="929640" y="485113"/>
            <a:ext cx="10515600" cy="1531525"/>
          </a:xfrm>
        </p:spPr>
        <p:txBody>
          <a:bodyPr anchor="ct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Scenario 2 - Outputs</a:t>
            </a:r>
          </a:p>
        </p:txBody>
      </p:sp>
      <p:sp>
        <p:nvSpPr>
          <p:cNvPr id="14" name="Content Placeholder 3">
            <a:extLst>
              <a:ext uri="{FF2B5EF4-FFF2-40B4-BE49-F238E27FC236}">
                <a16:creationId xmlns:a16="http://schemas.microsoft.com/office/drawing/2014/main" id="{BB946E48-A58A-E341-8E2A-B86689F2CD99}"/>
              </a:ext>
            </a:extLst>
          </p:cNvPr>
          <p:cNvSpPr>
            <a:spLocks noGrp="1"/>
          </p:cNvSpPr>
          <p:nvPr>
            <p:ph sz="quarter" idx="11"/>
          </p:nvPr>
        </p:nvSpPr>
        <p:spPr>
          <a:xfrm>
            <a:off x="8829675" y="2153285"/>
            <a:ext cx="2800350" cy="3500438"/>
          </a:xfrm>
        </p:spPr>
        <p:txBody>
          <a:bodyPr>
            <a:normAutofit fontScale="92500" lnSpcReduction="10000"/>
          </a:bodyPr>
          <a:lstStyle/>
          <a:p>
            <a:r>
              <a:rPr lang="en-GB" sz="1600" b="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S2 - </a:t>
            </a:r>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one linear dependency, Configuration into Logging.</a:t>
            </a:r>
          </a:p>
          <a:p>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 A mostly-static, linear chain (</a:t>
            </a:r>
            <a:r>
              <a:rPr lang="en-GB" sz="1600" b="0" dirty="0" err="1">
                <a:latin typeface="Sans Serif Collection" panose="020B0502040504020204" pitchFamily="34" charset="0"/>
                <a:ea typeface="Sans Serif Collection" panose="020B0502040504020204" pitchFamily="34" charset="0"/>
                <a:cs typeface="Sans Serif Collection" panose="020B0502040504020204" pitchFamily="34" charset="0"/>
              </a:rPr>
              <a:t>PropertyMapper.add</a:t>
            </a:r>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 variants → </a:t>
            </a:r>
            <a:r>
              <a:rPr lang="en-GB" sz="1600" b="0" dirty="0" err="1">
                <a:latin typeface="Sans Serif Collection" panose="020B0502040504020204" pitchFamily="34" charset="0"/>
                <a:ea typeface="Sans Serif Collection" panose="020B0502040504020204" pitchFamily="34" charset="0"/>
                <a:cs typeface="Sans Serif Collection" panose="020B0502040504020204" pitchFamily="34" charset="0"/>
              </a:rPr>
              <a:t>RAIILogStream.stream</a:t>
            </a:r>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 The easy-case baseline — expected to be reconstructed well even by static-only analysis. </a:t>
            </a:r>
          </a:p>
          <a:p>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1 reference interaction (stream)</a:t>
            </a:r>
            <a:endParaRPr lang="en-US" sz="16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B128BC2B-94F5-40A0-104F-D7C5D5C4093B}"/>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9</a:t>
            </a:r>
          </a:p>
        </p:txBody>
      </p:sp>
      <p:sp>
        <p:nvSpPr>
          <p:cNvPr id="4" name="TextBox 3">
            <a:extLst>
              <a:ext uri="{FF2B5EF4-FFF2-40B4-BE49-F238E27FC236}">
                <a16:creationId xmlns:a16="http://schemas.microsoft.com/office/drawing/2014/main" id="{E3EFD9A6-1174-C260-72E8-68D6B95E7064}"/>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1" name="Content Placeholder 10">
            <a:extLst>
              <a:ext uri="{FF2B5EF4-FFF2-40B4-BE49-F238E27FC236}">
                <a16:creationId xmlns:a16="http://schemas.microsoft.com/office/drawing/2014/main" id="{BCAE6351-408C-E6CE-2450-FC9BD3895183}"/>
              </a:ext>
            </a:extLst>
          </p:cNvPr>
          <p:cNvPicPr>
            <a:picLocks noGrp="1" noChangeAspect="1"/>
          </p:cNvPicPr>
          <p:nvPr>
            <p:ph sz="quarter" idx="10"/>
          </p:nvPr>
        </p:nvPicPr>
        <p:blipFill>
          <a:blip r:embed="rId2"/>
          <a:srcRect b="44490"/>
          <a:stretch>
            <a:fillRect/>
          </a:stretch>
        </p:blipFill>
        <p:spPr>
          <a:xfrm>
            <a:off x="561975" y="2153285"/>
            <a:ext cx="7264552" cy="2988291"/>
          </a:xfrm>
          <a:prstGeom prst="rect">
            <a:avLst/>
          </a:prstGeom>
        </p:spPr>
      </p:pic>
      <p:pic>
        <p:nvPicPr>
          <p:cNvPr id="16" name="Picture 15">
            <a:extLst>
              <a:ext uri="{FF2B5EF4-FFF2-40B4-BE49-F238E27FC236}">
                <a16:creationId xmlns:a16="http://schemas.microsoft.com/office/drawing/2014/main" id="{24C3D150-F0D0-9CB0-D171-C532DC4ACE1C}"/>
              </a:ext>
            </a:extLst>
          </p:cNvPr>
          <p:cNvPicPr>
            <a:picLocks noChangeAspect="1"/>
          </p:cNvPicPr>
          <p:nvPr/>
        </p:nvPicPr>
        <p:blipFill>
          <a:blip r:embed="rId3"/>
          <a:stretch>
            <a:fillRect/>
          </a:stretch>
        </p:blipFill>
        <p:spPr>
          <a:xfrm>
            <a:off x="2421738" y="1665772"/>
            <a:ext cx="3534052" cy="4454820"/>
          </a:xfrm>
          <a:prstGeom prst="rect">
            <a:avLst/>
          </a:prstGeom>
        </p:spPr>
      </p:pic>
    </p:spTree>
    <p:extLst>
      <p:ext uri="{BB962C8B-B14F-4D97-AF65-F5344CB8AC3E}">
        <p14:creationId xmlns:p14="http://schemas.microsoft.com/office/powerpoint/2010/main" val="3693165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15988A3-739E-A37C-CCFC-80A2DBFADA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5B3EBF-0089-0D25-E22E-2591D97635DE}"/>
              </a:ext>
            </a:extLst>
          </p:cNvPr>
          <p:cNvSpPr>
            <a:spLocks noGrp="1"/>
          </p:cNvSpPr>
          <p:nvPr>
            <p:ph type="title"/>
          </p:nvPr>
        </p:nvSpPr>
        <p:spPr>
          <a:xfrm>
            <a:off x="929640" y="485113"/>
            <a:ext cx="10515600" cy="1531525"/>
          </a:xfrm>
        </p:spPr>
        <p:txBody>
          <a:bodyPr anchor="ct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Scenario 3 - Outputs</a:t>
            </a:r>
          </a:p>
        </p:txBody>
      </p:sp>
      <p:sp>
        <p:nvSpPr>
          <p:cNvPr id="14" name="Content Placeholder 3">
            <a:extLst>
              <a:ext uri="{FF2B5EF4-FFF2-40B4-BE49-F238E27FC236}">
                <a16:creationId xmlns:a16="http://schemas.microsoft.com/office/drawing/2014/main" id="{472A5C7C-CF41-EB33-D803-4DA391B6E073}"/>
              </a:ext>
            </a:extLst>
          </p:cNvPr>
          <p:cNvSpPr>
            <a:spLocks noGrp="1"/>
          </p:cNvSpPr>
          <p:nvPr>
            <p:ph sz="quarter" idx="11"/>
          </p:nvPr>
        </p:nvSpPr>
        <p:spPr>
          <a:xfrm>
            <a:off x="8215744" y="2153284"/>
            <a:ext cx="3480955" cy="3866515"/>
          </a:xfrm>
        </p:spPr>
        <p:txBody>
          <a:bodyPr>
            <a:normAutofit lnSpcReduction="10000"/>
          </a:bodyPr>
          <a:lstStyle/>
          <a:p>
            <a:pPr>
              <a:lnSpc>
                <a:spcPct val="100000"/>
              </a:lnSpc>
            </a:pPr>
            <a:r>
              <a:rPr lang="en-GB" sz="1400" b="0" dirty="0">
                <a:latin typeface="Sans Serif Collection" panose="020B0502040504020204" pitchFamily="34" charset="0"/>
                <a:ea typeface="Sans Serif Collection" panose="020B0502040504020204" pitchFamily="34" charset="0"/>
                <a:cs typeface="Sans Serif Collection" panose="020B0502040504020204" pitchFamily="34" charset="0"/>
              </a:rPr>
              <a:t>S3 -  </a:t>
            </a:r>
            <a:r>
              <a:rPr lang="en-GB" sz="1400" b="0" dirty="0" err="1">
                <a:latin typeface="Sans Serif Collection" panose="020B0502040504020204" pitchFamily="34" charset="0"/>
                <a:ea typeface="Sans Serif Collection" panose="020B0502040504020204" pitchFamily="34" charset="0"/>
                <a:cs typeface="Sans Serif Collection" panose="020B0502040504020204" pitchFamily="34" charset="0"/>
              </a:rPr>
              <a:t>SimpleRunner.runStage</a:t>
            </a:r>
            <a:r>
              <a:rPr lang="en-GB" sz="1400" b="0" dirty="0">
                <a:latin typeface="Sans Serif Collection" panose="020B0502040504020204" pitchFamily="34" charset="0"/>
                <a:ea typeface="Sans Serif Collection" panose="020B0502040504020204" pitchFamily="34" charset="0"/>
                <a:cs typeface="Sans Serif Collection" panose="020B0502040504020204" pitchFamily="34" charset="0"/>
              </a:rPr>
              <a:t> in Synchronization” fans out to all three of the other modules at once. The case where static analysis alone produces false-positive edges.</a:t>
            </a:r>
          </a:p>
          <a:p>
            <a:pPr>
              <a:lnSpc>
                <a:spcPct val="100000"/>
              </a:lnSpc>
            </a:pPr>
            <a:r>
              <a:rPr lang="en-GB" sz="1400" b="0" dirty="0" err="1">
                <a:latin typeface="Sans Serif Collection" panose="020B0502040504020204" pitchFamily="34" charset="0"/>
                <a:ea typeface="Sans Serif Collection" panose="020B0502040504020204" pitchFamily="34" charset="0"/>
                <a:cs typeface="Sans Serif Collection" panose="020B0502040504020204" pitchFamily="34" charset="0"/>
              </a:rPr>
              <a:t>SimpleRunner.runStage</a:t>
            </a:r>
            <a:r>
              <a:rPr lang="en-GB" sz="1400" b="0" dirty="0">
                <a:latin typeface="Sans Serif Collection" panose="020B0502040504020204" pitchFamily="34" charset="0"/>
                <a:ea typeface="Sans Serif Collection" panose="020B0502040504020204" pitchFamily="34" charset="0"/>
                <a:cs typeface="Sans Serif Collection" panose="020B0502040504020204" pitchFamily="34" charset="0"/>
              </a:rPr>
              <a:t> to Aggregator, </a:t>
            </a:r>
            <a:r>
              <a:rPr lang="en-GB" sz="1400" b="0" dirty="0" err="1">
                <a:latin typeface="Sans Serif Collection" panose="020B0502040504020204" pitchFamily="34" charset="0"/>
                <a:ea typeface="Sans Serif Collection" panose="020B0502040504020204" pitchFamily="34" charset="0"/>
                <a:cs typeface="Sans Serif Collection" panose="020B0502040504020204" pitchFamily="34" charset="0"/>
              </a:rPr>
              <a:t>EnumMap</a:t>
            </a:r>
            <a:r>
              <a:rPr lang="en-GB" sz="1400" b="0" dirty="0">
                <a:latin typeface="Sans Serif Collection" panose="020B0502040504020204" pitchFamily="34" charset="0"/>
                <a:ea typeface="Sans Serif Collection" panose="020B0502040504020204" pitchFamily="34" charset="0"/>
                <a:cs typeface="Sans Serif Collection" panose="020B0502040504020204" pitchFamily="34" charset="0"/>
              </a:rPr>
              <a:t>, and Logging simultaneously. </a:t>
            </a:r>
          </a:p>
          <a:p>
            <a:pPr>
              <a:lnSpc>
                <a:spcPct val="100000"/>
              </a:lnSpc>
            </a:pPr>
            <a:r>
              <a:rPr lang="en-GB" sz="1400" b="0" dirty="0">
                <a:latin typeface="Sans Serif Collection" panose="020B0502040504020204" pitchFamily="34" charset="0"/>
                <a:ea typeface="Sans Serif Collection" panose="020B0502040504020204" pitchFamily="34" charset="0"/>
                <a:cs typeface="Sans Serif Collection" panose="020B0502040504020204" pitchFamily="34" charset="0"/>
              </a:rPr>
              <a:t>The hardest static case — templated static dispatch produces false-positive static edge (instance) that only the full agentic pipeline (C5) eliminates.</a:t>
            </a:r>
          </a:p>
          <a:p>
            <a:pPr>
              <a:lnSpc>
                <a:spcPct val="100000"/>
              </a:lnSpc>
            </a:pPr>
            <a:r>
              <a:rPr lang="en-GB" sz="1400" b="0" dirty="0">
                <a:latin typeface="Sans Serif Collection" panose="020B0502040504020204" pitchFamily="34" charset="0"/>
                <a:ea typeface="Sans Serif Collection" panose="020B0502040504020204" pitchFamily="34" charset="0"/>
                <a:cs typeface="Sans Serif Collection" panose="020B0502040504020204" pitchFamily="34" charset="0"/>
              </a:rPr>
              <a:t>4 reference interactions (</a:t>
            </a:r>
            <a:r>
              <a:rPr lang="en-GB" sz="1400" b="0" dirty="0" err="1">
                <a:latin typeface="Sans Serif Collection" panose="020B0502040504020204" pitchFamily="34" charset="0"/>
                <a:ea typeface="Sans Serif Collection" panose="020B0502040504020204" pitchFamily="34" charset="0"/>
                <a:cs typeface="Sans Serif Collection" panose="020B0502040504020204" pitchFamily="34" charset="0"/>
              </a:rPr>
              <a:t>getAll</a:t>
            </a:r>
            <a:r>
              <a:rPr lang="en-GB" sz="1400" b="0" dirty="0">
                <a:latin typeface="Sans Serif Collection" panose="020B0502040504020204" pitchFamily="34" charset="0"/>
                <a:ea typeface="Sans Serif Collection" panose="020B0502040504020204" pitchFamily="34" charset="0"/>
                <a:cs typeface="Sans Serif Collection" panose="020B0502040504020204" pitchFamily="34" charset="0"/>
              </a:rPr>
              <a:t>, stream, convert, flush)</a:t>
            </a:r>
            <a:endParaRPr lang="en-US" sz="14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96AB0BF1-6AD8-449B-1D8E-6C32AF383996}"/>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10</a:t>
            </a:r>
          </a:p>
        </p:txBody>
      </p:sp>
      <p:sp>
        <p:nvSpPr>
          <p:cNvPr id="4" name="TextBox 3">
            <a:extLst>
              <a:ext uri="{FF2B5EF4-FFF2-40B4-BE49-F238E27FC236}">
                <a16:creationId xmlns:a16="http://schemas.microsoft.com/office/drawing/2014/main" id="{F128088E-42DF-9D32-0C98-7CDC9B6BF489}"/>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1" name="Content Placeholder 10">
            <a:extLst>
              <a:ext uri="{FF2B5EF4-FFF2-40B4-BE49-F238E27FC236}">
                <a16:creationId xmlns:a16="http://schemas.microsoft.com/office/drawing/2014/main" id="{EE68DBF6-7A08-92EE-6F15-24CE0A8EAFF5}"/>
              </a:ext>
            </a:extLst>
          </p:cNvPr>
          <p:cNvPicPr>
            <a:picLocks noGrp="1" noChangeAspect="1"/>
          </p:cNvPicPr>
          <p:nvPr>
            <p:ph sz="quarter" idx="10"/>
          </p:nvPr>
        </p:nvPicPr>
        <p:blipFill>
          <a:blip r:embed="rId2"/>
          <a:srcRect b="31429"/>
          <a:stretch>
            <a:fillRect/>
          </a:stretch>
        </p:blipFill>
        <p:spPr>
          <a:xfrm>
            <a:off x="746760" y="2016638"/>
            <a:ext cx="5116191" cy="3866514"/>
          </a:xfrm>
          <a:prstGeom prst="rect">
            <a:avLst/>
          </a:prstGeom>
        </p:spPr>
      </p:pic>
      <p:pic>
        <p:nvPicPr>
          <p:cNvPr id="18" name="Picture 17">
            <a:extLst>
              <a:ext uri="{FF2B5EF4-FFF2-40B4-BE49-F238E27FC236}">
                <a16:creationId xmlns:a16="http://schemas.microsoft.com/office/drawing/2014/main" id="{A52FE456-DDB6-CD81-B55B-05931718A559}"/>
              </a:ext>
            </a:extLst>
          </p:cNvPr>
          <p:cNvPicPr>
            <a:picLocks noChangeAspect="1"/>
          </p:cNvPicPr>
          <p:nvPr/>
        </p:nvPicPr>
        <p:blipFill>
          <a:blip r:embed="rId3"/>
          <a:stretch>
            <a:fillRect/>
          </a:stretch>
        </p:blipFill>
        <p:spPr>
          <a:xfrm>
            <a:off x="746760" y="1869660"/>
            <a:ext cx="6430808" cy="4433762"/>
          </a:xfrm>
          <a:prstGeom prst="rect">
            <a:avLst/>
          </a:prstGeom>
        </p:spPr>
      </p:pic>
    </p:spTree>
    <p:extLst>
      <p:ext uri="{BB962C8B-B14F-4D97-AF65-F5344CB8AC3E}">
        <p14:creationId xmlns:p14="http://schemas.microsoft.com/office/powerpoint/2010/main" val="3395310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54944CD-CE73-7859-BC26-271A6D4FFB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F2E4AC-6480-D0E8-A817-3ECB7A309C5C}"/>
              </a:ext>
            </a:extLst>
          </p:cNvPr>
          <p:cNvSpPr>
            <a:spLocks noGrp="1"/>
          </p:cNvSpPr>
          <p:nvPr>
            <p:ph type="title"/>
          </p:nvPr>
        </p:nvSpPr>
        <p:spPr/>
        <p:txBody>
          <a:bodyPr anchor="ct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Scenario 4 - Outputs</a:t>
            </a:r>
          </a:p>
        </p:txBody>
      </p:sp>
      <p:sp>
        <p:nvSpPr>
          <p:cNvPr id="14" name="Content Placeholder 3">
            <a:extLst>
              <a:ext uri="{FF2B5EF4-FFF2-40B4-BE49-F238E27FC236}">
                <a16:creationId xmlns:a16="http://schemas.microsoft.com/office/drawing/2014/main" id="{7991A684-3ACB-260E-155A-19EF57C0FE6F}"/>
              </a:ext>
            </a:extLst>
          </p:cNvPr>
          <p:cNvSpPr>
            <a:spLocks noGrp="1"/>
          </p:cNvSpPr>
          <p:nvPr>
            <p:ph sz="quarter" idx="10"/>
          </p:nvPr>
        </p:nvSpPr>
        <p:spPr>
          <a:xfrm>
            <a:off x="929640" y="1847088"/>
            <a:ext cx="4672789" cy="4241559"/>
          </a:xfrm>
        </p:spPr>
        <p:txBody>
          <a:bodyPr>
            <a:normAutofit/>
          </a:bodyPr>
          <a:lstStyle/>
          <a:p>
            <a:pPr>
              <a:lnSpc>
                <a:spcPct val="100000"/>
              </a:lnSpc>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S4 is the constructed dual-gap case: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StageEventBridge</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has two outgoing edges and each evidence source only sees one of them.</a:t>
            </a:r>
          </a:p>
          <a:p>
            <a:pPr>
              <a:lnSpc>
                <a:spcPct val="100000"/>
              </a:lnSpc>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The amber edge is static-only (runtime-suppressed) and the blue dashed edge is dynamic-only (no static call site at all).</a:t>
            </a:r>
          </a:p>
          <a:p>
            <a:pPr>
              <a:lnSpc>
                <a:spcPct val="100000"/>
              </a:lnSpc>
            </a:pPr>
            <a:r>
              <a:rPr lang="en-GB" b="0" dirty="0">
                <a:latin typeface="Sans Serif Collection" panose="020B0502040504020204" pitchFamily="34" charset="0"/>
                <a:ea typeface="Sans Serif Collection" panose="020B0502040504020204" pitchFamily="34" charset="0"/>
                <a:cs typeface="Sans Serif Collection" panose="020B0502040504020204" pitchFamily="34" charset="0"/>
              </a:rPr>
              <a:t>The only scenario where static and dynamic each catch a different edge, so combination is strictly additive.</a:t>
            </a:r>
          </a:p>
          <a:p>
            <a:pPr>
              <a:lnSpc>
                <a:spcPct val="100000"/>
              </a:lnSpc>
            </a:pPr>
            <a:r>
              <a:rPr lang="en-GB" b="0" dirty="0">
                <a:latin typeface="Sans Serif Collection" panose="020B0502040504020204" pitchFamily="34" charset="0"/>
                <a:ea typeface="Sans Serif Collection" panose="020B0502040504020204" pitchFamily="34" charset="0"/>
                <a:cs typeface="Sans Serif Collection" panose="020B0502040504020204" pitchFamily="34" charset="0"/>
              </a:rPr>
              <a:t>2 reference interactions (stream, </a:t>
            </a:r>
            <a:r>
              <a:rPr lang="en-GB" b="0" dirty="0" err="1">
                <a:latin typeface="Sans Serif Collection" panose="020B0502040504020204" pitchFamily="34" charset="0"/>
                <a:ea typeface="Sans Serif Collection" panose="020B0502040504020204" pitchFamily="34" charset="0"/>
                <a:cs typeface="Sans Serif Collection" panose="020B0502040504020204" pitchFamily="34" charset="0"/>
              </a:rPr>
              <a:t>onStageEvent</a:t>
            </a:r>
            <a:r>
              <a:rPr lang="en-GB" b="0" dirty="0">
                <a:latin typeface="Sans Serif Collection" panose="020B0502040504020204" pitchFamily="34" charset="0"/>
                <a:ea typeface="Sans Serif Collection" panose="020B0502040504020204" pitchFamily="34" charset="0"/>
                <a:cs typeface="Sans Serif Collection" panose="020B0502040504020204" pitchFamily="34" charset="0"/>
              </a:rPr>
              <a:t>)</a:t>
            </a:r>
            <a:endParaRPr lang="en-US"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0" name="Picture 9">
            <a:extLst>
              <a:ext uri="{FF2B5EF4-FFF2-40B4-BE49-F238E27FC236}">
                <a16:creationId xmlns:a16="http://schemas.microsoft.com/office/drawing/2014/main" id="{C5EFB625-46B3-AE47-020B-42A774C99EAF}"/>
              </a:ext>
            </a:extLst>
          </p:cNvPr>
          <p:cNvPicPr>
            <a:picLocks noChangeAspect="1"/>
          </p:cNvPicPr>
          <p:nvPr/>
        </p:nvPicPr>
        <p:blipFill>
          <a:blip r:embed="rId3"/>
          <a:stretch>
            <a:fillRect/>
          </a:stretch>
        </p:blipFill>
        <p:spPr>
          <a:xfrm>
            <a:off x="6177988" y="4103996"/>
            <a:ext cx="5495956" cy="1984651"/>
          </a:xfrm>
          <a:prstGeom prst="rect">
            <a:avLst/>
          </a:prstGeom>
        </p:spPr>
      </p:pic>
      <p:sp>
        <p:nvSpPr>
          <p:cNvPr id="3" name="TextBox 2">
            <a:extLst>
              <a:ext uri="{FF2B5EF4-FFF2-40B4-BE49-F238E27FC236}">
                <a16:creationId xmlns:a16="http://schemas.microsoft.com/office/drawing/2014/main" id="{1356C986-3857-3D8D-DC6E-8FE1FA535F5D}"/>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11</a:t>
            </a:r>
          </a:p>
        </p:txBody>
      </p:sp>
      <p:sp>
        <p:nvSpPr>
          <p:cNvPr id="4" name="TextBox 3">
            <a:extLst>
              <a:ext uri="{FF2B5EF4-FFF2-40B4-BE49-F238E27FC236}">
                <a16:creationId xmlns:a16="http://schemas.microsoft.com/office/drawing/2014/main" id="{8B04B0F6-7FC6-006C-D2E8-9B9E14841B61}"/>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2" name="Picture 11">
            <a:extLst>
              <a:ext uri="{FF2B5EF4-FFF2-40B4-BE49-F238E27FC236}">
                <a16:creationId xmlns:a16="http://schemas.microsoft.com/office/drawing/2014/main" id="{6579923C-5ECF-A216-28C0-1CCFB776929D}"/>
              </a:ext>
            </a:extLst>
          </p:cNvPr>
          <p:cNvPicPr>
            <a:picLocks noChangeAspect="1"/>
          </p:cNvPicPr>
          <p:nvPr/>
        </p:nvPicPr>
        <p:blipFill>
          <a:blip r:embed="rId4"/>
          <a:srcRect r="-277" b="33036"/>
          <a:stretch>
            <a:fillRect/>
          </a:stretch>
        </p:blipFill>
        <p:spPr>
          <a:xfrm>
            <a:off x="6589572" y="769353"/>
            <a:ext cx="4672788" cy="2990417"/>
          </a:xfrm>
          <a:prstGeom prst="rect">
            <a:avLst/>
          </a:prstGeom>
        </p:spPr>
      </p:pic>
      <p:pic>
        <p:nvPicPr>
          <p:cNvPr id="15" name="Picture 14">
            <a:extLst>
              <a:ext uri="{FF2B5EF4-FFF2-40B4-BE49-F238E27FC236}">
                <a16:creationId xmlns:a16="http://schemas.microsoft.com/office/drawing/2014/main" id="{8BB7A609-3321-72E2-EA44-866E70EFCA57}"/>
              </a:ext>
            </a:extLst>
          </p:cNvPr>
          <p:cNvPicPr>
            <a:picLocks noChangeAspect="1"/>
          </p:cNvPicPr>
          <p:nvPr/>
        </p:nvPicPr>
        <p:blipFill>
          <a:blip r:embed="rId5"/>
          <a:stretch>
            <a:fillRect/>
          </a:stretch>
        </p:blipFill>
        <p:spPr>
          <a:xfrm>
            <a:off x="6177988" y="772588"/>
            <a:ext cx="5314950" cy="2987182"/>
          </a:xfrm>
          <a:prstGeom prst="rect">
            <a:avLst/>
          </a:prstGeom>
        </p:spPr>
      </p:pic>
    </p:spTree>
    <p:extLst>
      <p:ext uri="{BB962C8B-B14F-4D97-AF65-F5344CB8AC3E}">
        <p14:creationId xmlns:p14="http://schemas.microsoft.com/office/powerpoint/2010/main" val="2097286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2"/>
    </p:ext>
  </p:extLst>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19060" y="468319"/>
            <a:ext cx="11763376" cy="804488"/>
          </a:xfrm>
        </p:spPr>
        <p:txBody>
          <a:bodyPr>
            <a:normAutofit/>
          </a:bodyPr>
          <a:lstStyle/>
          <a:p>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H2 Results in Detail: Noise, Coverage &amp; Expert Ratings</a:t>
            </a:r>
          </a:p>
        </p:txBody>
      </p:sp>
      <p:sp>
        <p:nvSpPr>
          <p:cNvPr id="3" name="Content Placeholder 2"/>
          <p:cNvSpPr>
            <a:spLocks noGrp="1"/>
          </p:cNvSpPr>
          <p:nvPr>
            <p:ph sz="quarter" idx="11"/>
          </p:nvPr>
        </p:nvSpPr>
        <p:spPr>
          <a:xfrm>
            <a:off x="585138" y="1620722"/>
            <a:ext cx="3273429" cy="4428386"/>
          </a:xfrm>
        </p:spPr>
        <p:txBody>
          <a:bodyPr>
            <a:noAutofit/>
          </a:bodyPr>
          <a:lstStyle/>
          <a:p>
            <a:pPr>
              <a:lnSpc>
                <a:spcPct val="110000"/>
              </a:lnSpc>
            </a:pPr>
            <a:r>
              <a:rPr lang="nl-NL"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Setup: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Full instrumentation (probe everything, filter after) vs. Guided (slice first, probe only scenario-relevant call sites), on S1–S3.</a:t>
            </a:r>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10000"/>
              </a:lnSpc>
            </a:pPr>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10000"/>
              </a:lnSpc>
            </a:pPr>
            <a:r>
              <a:rPr lang="nl-NL" sz="1400" b="1" dirty="0" err="1">
                <a:latin typeface="Sans Serif Collection" panose="020B0502040504020204" pitchFamily="34" charset="0"/>
                <a:ea typeface="Sans Serif Collection" panose="020B0502040504020204" pitchFamily="34" charset="0"/>
                <a:cs typeface="Sans Serif Collection" panose="020B0502040504020204" pitchFamily="34" charset="0"/>
              </a:rPr>
              <a:t>Standout</a:t>
            </a:r>
            <a:r>
              <a:rPr lang="nl-NL"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Across 6 raters × 9 scenario-dimension pairs = 54 comparisons: </a:t>
            </a:r>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Guided rated strictly higher in 47</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tied in 6, lower in exactly 1: The single dissent traced to collapsing 7 repeated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Configuration→Logging</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into 1. A trade-off, not a defect.</a:t>
            </a:r>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1331225734"/>
              </p:ext>
            </p:extLst>
          </p:nvPr>
        </p:nvGraphicFramePr>
        <p:xfrm>
          <a:off x="4065572" y="1403435"/>
          <a:ext cx="7630707" cy="3581400"/>
        </p:xfrm>
        <a:graphic>
          <a:graphicData uri="http://schemas.openxmlformats.org/drawingml/2006/table">
            <a:tbl>
              <a:tblPr firstRow="1" bandRow="1">
                <a:tableStyleId>{00A15C55-8517-42AA-B614-E9B94910E393}</a:tableStyleId>
              </a:tblPr>
              <a:tblGrid>
                <a:gridCol w="1741432">
                  <a:extLst>
                    <a:ext uri="{9D8B030D-6E8A-4147-A177-3AD203B41FA5}">
                      <a16:colId xmlns:a16="http://schemas.microsoft.com/office/drawing/2014/main" val="20000"/>
                    </a:ext>
                  </a:extLst>
                </a:gridCol>
                <a:gridCol w="1181755">
                  <a:extLst>
                    <a:ext uri="{9D8B030D-6E8A-4147-A177-3AD203B41FA5}">
                      <a16:colId xmlns:a16="http://schemas.microsoft.com/office/drawing/2014/main" val="20001"/>
                    </a:ext>
                  </a:extLst>
                </a:gridCol>
                <a:gridCol w="1111552">
                  <a:extLst>
                    <a:ext uri="{9D8B030D-6E8A-4147-A177-3AD203B41FA5}">
                      <a16:colId xmlns:a16="http://schemas.microsoft.com/office/drawing/2014/main" val="20002"/>
                    </a:ext>
                  </a:extLst>
                </a:gridCol>
                <a:gridCol w="3595968">
                  <a:extLst>
                    <a:ext uri="{9D8B030D-6E8A-4147-A177-3AD203B41FA5}">
                      <a16:colId xmlns:a16="http://schemas.microsoft.com/office/drawing/2014/main" val="2057511108"/>
                    </a:ext>
                  </a:extLst>
                </a:gridCol>
              </a:tblGrid>
              <a:tr h="370840">
                <a:tc>
                  <a:txBody>
                    <a:bodyPr/>
                    <a:lstStyle/>
                    <a:p>
                      <a:pPr marL="0" algn="l" defTabSz="914400" rtl="0" eaLnBrk="1" latinLnBrk="0" hangingPunct="1"/>
                      <a:r>
                        <a:rPr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Metric</a:t>
                      </a:r>
                    </a:p>
                  </a:txBody>
                  <a:tcPr/>
                </a:tc>
                <a:tc>
                  <a:txBody>
                    <a:bodyPr/>
                    <a:lstStyle/>
                    <a:p>
                      <a:pPr marL="0" algn="l" defTabSz="914400" rtl="0" eaLnBrk="1" latinLnBrk="0" hangingPunct="1"/>
                      <a:r>
                        <a:rPr sz="1400" b="1" kern="120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Full</a:t>
                      </a:r>
                    </a:p>
                  </a:txBody>
                  <a:tcPr/>
                </a:tc>
                <a:tc>
                  <a:txBody>
                    <a:bodyPr/>
                    <a:lstStyle/>
                    <a:p>
                      <a:pPr marL="0" algn="l" defTabSz="914400" rtl="0" eaLnBrk="1" latinLnBrk="0" hangingPunct="1"/>
                      <a:r>
                        <a:rPr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Guided</a:t>
                      </a:r>
                    </a:p>
                  </a:txBody>
                  <a:tcPr/>
                </a:tc>
                <a:tc>
                  <a:txBody>
                    <a:bodyPr/>
                    <a:lstStyle/>
                    <a:p>
                      <a:pPr marL="0" algn="l" defTabSz="914400" rtl="0" eaLnBrk="1" latinLnBrk="0" hangingPunct="1"/>
                      <a:r>
                        <a:rPr lang="nl-NL" sz="1400" b="1" kern="1200" dirty="0" err="1">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What</a:t>
                      </a:r>
                      <a:r>
                        <a:rPr lang="nl-NL"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b="1" kern="1200" dirty="0" err="1">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it</a:t>
                      </a:r>
                      <a:r>
                        <a:rPr lang="nl-NL"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 means</a:t>
                      </a:r>
                      <a:endParaRPr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0"/>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Nodes (mean)</a:t>
                      </a:r>
                      <a:endParaRPr lang="nl-NL"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6.0</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3.0</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Full pulls in 2× as many components per scenario as guided on average.</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1"/>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Edges (mean)</a:t>
                      </a:r>
                    </a:p>
                  </a:txBody>
                  <a:tcPr/>
                </a:tc>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9.0</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2.7</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Full shows 3.3× as many component-pairs on average.</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2"/>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Coverage</a:t>
                      </a:r>
                      <a:r>
                        <a:rPr lang="nl-NL"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(0-1.0)</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tc>
                  <a:txBody>
                    <a:bodyPr/>
                    <a:lstStyle/>
                    <a:p>
                      <a:pPr marL="0" algn="l" defTabSz="914400" rtl="0" eaLnBrk="1" latinLnBrk="0" hangingPunct="1"/>
                      <a:r>
                        <a:rPr sz="12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2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a:buNone/>
                      </a:pPr>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Identical</a:t>
                      </a:r>
                    </a:p>
                  </a:txBody>
                  <a:tcPr marL="12700" marR="12700" marT="12700" marB="12700" anchor="ctr"/>
                </a:tc>
                <a:extLst>
                  <a:ext uri="{0D108BD9-81ED-4DB2-BD59-A6C34878D82A}">
                    <a16:rowId xmlns:a16="http://schemas.microsoft.com/office/drawing/2014/main" val="10003"/>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Noise</a:t>
                      </a:r>
                      <a:r>
                        <a:rPr lang="nl-NL"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(0-1.0)</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0.704</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0.000</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70% of Full doesn't belong to scenario.</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4"/>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Accuracy </a:t>
                      </a:r>
                      <a:endParaRPr lang="nl-NL"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(6-rater mean, 1–5)</a:t>
                      </a:r>
                    </a:p>
                  </a:txBody>
                  <a:tcPr/>
                </a:tc>
                <a:tc>
                  <a:txBody>
                    <a:bodyPr/>
                    <a:lstStyle/>
                    <a:p>
                      <a:pPr marL="0" algn="l" defTabSz="914400" rtl="0" eaLnBrk="1" latinLnBrk="0" hangingPunct="1"/>
                      <a:r>
                        <a:rPr sz="12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2.39</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4.61</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Raters penalize diagrams where they can't tell which edges actually matter.</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5"/>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Readability (6-rater mean, 1–5)</a:t>
                      </a:r>
                    </a:p>
                  </a:txBody>
                  <a:tcPr/>
                </a:tc>
                <a:tc>
                  <a:txBody>
                    <a:bodyPr/>
                    <a:lstStyle/>
                    <a:p>
                      <a:pPr marL="0" algn="l" defTabSz="914400" rtl="0" eaLnBrk="1" latinLnBrk="0" hangingPunct="1"/>
                      <a:r>
                        <a:rPr sz="12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2.44</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4.89</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Fewer nodes/edges directly means less to visually parse.</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6"/>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Usefulness (6-rater mean, 1–5)</a:t>
                      </a:r>
                    </a:p>
                  </a:txBody>
                  <a:tcPr/>
                </a:tc>
                <a:tc>
                  <a:txBody>
                    <a:bodyPr/>
                    <a:lstStyle/>
                    <a:p>
                      <a:pPr marL="0" algn="l" defTabSz="914400" rtl="0" eaLnBrk="1" latinLnBrk="0" hangingPunct="1"/>
                      <a:r>
                        <a:rPr sz="12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2.94</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4.00</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One rater found a few "extra" Full-edges is marginally useful as context even while rating them as noise elsewhere.</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7"/>
                  </a:ext>
                </a:extLst>
              </a:tr>
            </a:tbl>
          </a:graphicData>
        </a:graphic>
      </p:graphicFrame>
      <p:sp>
        <p:nvSpPr>
          <p:cNvPr id="5" name="TextBox 4">
            <a:extLst>
              <a:ext uri="{FF2B5EF4-FFF2-40B4-BE49-F238E27FC236}">
                <a16:creationId xmlns:a16="http://schemas.microsoft.com/office/drawing/2014/main" id="{65D3248E-4749-F919-7368-DE2283AFDD29}"/>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15</a:t>
            </a:r>
          </a:p>
        </p:txBody>
      </p:sp>
      <p:sp>
        <p:nvSpPr>
          <p:cNvPr id="6" name="TextBox 5">
            <a:extLst>
              <a:ext uri="{FF2B5EF4-FFF2-40B4-BE49-F238E27FC236}">
                <a16:creationId xmlns:a16="http://schemas.microsoft.com/office/drawing/2014/main" id="{F199369D-37B1-06F6-CBB4-90B713D545F1}"/>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H3 </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Setup &amp; </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Results : Diagram Utility</a:t>
            </a:r>
          </a:p>
        </p:txBody>
      </p:sp>
      <p:sp>
        <p:nvSpPr>
          <p:cNvPr id="3" name="Content Placeholder 2"/>
          <p:cNvSpPr>
            <a:spLocks noGrp="1"/>
          </p:cNvSpPr>
          <p:nvPr>
            <p:ph sz="quarter" idx="11"/>
          </p:nvPr>
        </p:nvSpPr>
        <p:spPr>
          <a:xfrm>
            <a:off x="612949" y="2153285"/>
            <a:ext cx="3918858" cy="3790310"/>
          </a:xfrm>
        </p:spPr>
        <p:txBody>
          <a:bodyPr>
            <a:noAutofit/>
          </a:bodyPr>
          <a:lstStyle/>
          <a:p>
            <a:pPr>
              <a:lnSpc>
                <a:spcPct val="100000"/>
              </a:lnSpc>
            </a:pPr>
            <a:r>
              <a:rPr lang="nl-NL"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Setup: </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Does the pipeline's output (the C5 interaction list) help an LLM agent comprehend a scenario — alone, and in combination with source and traces? A single holistic experiment, five conditions, across all four scenarios.</a:t>
            </a:r>
          </a:p>
          <a:p>
            <a:pPr>
              <a:lnSpc>
                <a:spcPct val="100000"/>
              </a:lnSpc>
            </a:pPr>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00000"/>
              </a:lnSpc>
            </a:pPr>
            <a:r>
              <a:rPr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Standout:</a:t>
            </a:r>
            <a:r>
              <a:rPr lang="nl-NL"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Diagram only equals </a:t>
            </a:r>
            <a:r>
              <a:rPr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Source+Trace+Diagram</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on every measure.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Even with no source and no trace, the reconstructed diagram alone is already a sufficient basis for scenario comprehension</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a:t>
            </a: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3282541831"/>
              </p:ext>
            </p:extLst>
          </p:nvPr>
        </p:nvGraphicFramePr>
        <p:xfrm>
          <a:off x="4724401" y="2342071"/>
          <a:ext cx="6703828" cy="2372360"/>
        </p:xfrm>
        <a:graphic>
          <a:graphicData uri="http://schemas.openxmlformats.org/drawingml/2006/table">
            <a:tbl>
              <a:tblPr firstRow="1" bandRow="1">
                <a:tableStyleId>{00A15C55-8517-42AA-B614-E9B94910E393}</a:tableStyleId>
              </a:tblPr>
              <a:tblGrid>
                <a:gridCol w="1533526">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647825">
                  <a:extLst>
                    <a:ext uri="{9D8B030D-6E8A-4147-A177-3AD203B41FA5}">
                      <a16:colId xmlns:a16="http://schemas.microsoft.com/office/drawing/2014/main" val="20002"/>
                    </a:ext>
                  </a:extLst>
                </a:gridCol>
                <a:gridCol w="1846077">
                  <a:extLst>
                    <a:ext uri="{9D8B030D-6E8A-4147-A177-3AD203B41FA5}">
                      <a16:colId xmlns:a16="http://schemas.microsoft.com/office/drawing/2014/main" val="20003"/>
                    </a:ext>
                  </a:extLst>
                </a:gridCol>
              </a:tblGrid>
              <a:tr h="370840">
                <a:tc>
                  <a:txBody>
                    <a:bodyPr/>
                    <a:lstStyle/>
                    <a:p>
                      <a:pPr marL="0" algn="l" defTabSz="914400" rtl="0" eaLnBrk="1" latinLnBrk="0" hangingPunct="1"/>
                      <a:r>
                        <a:rPr sz="1400" b="1" kern="120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Condition</a:t>
                      </a:r>
                    </a:p>
                  </a:txBody>
                  <a:tcPr/>
                </a:tc>
                <a:tc>
                  <a:txBody>
                    <a:bodyPr/>
                    <a:lstStyle/>
                    <a:p>
                      <a:pPr marL="0" algn="l" defTabSz="914400" rtl="0" eaLnBrk="1" latinLnBrk="0" hangingPunct="1"/>
                      <a:r>
                        <a:rPr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Component recall</a:t>
                      </a:r>
                    </a:p>
                  </a:txBody>
                  <a:tcPr/>
                </a:tc>
                <a:tc>
                  <a:txBody>
                    <a:bodyPr/>
                    <a:lstStyle/>
                    <a:p>
                      <a:pPr marL="0" algn="l" defTabSz="914400" rtl="0" eaLnBrk="1" latinLnBrk="0" hangingPunct="1"/>
                      <a:r>
                        <a:rPr sz="1400" b="1" kern="120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Interaction recall</a:t>
                      </a:r>
                    </a:p>
                  </a:txBody>
                  <a:tcPr/>
                </a:tc>
                <a:tc>
                  <a:txBody>
                    <a:bodyPr/>
                    <a:lstStyle/>
                    <a:p>
                      <a:pPr marL="0" algn="l" defTabSz="914400" rtl="0" eaLnBrk="1" latinLnBrk="0" hangingPunct="1"/>
                      <a:r>
                        <a:rPr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Completeness (1–5)</a:t>
                      </a:r>
                    </a:p>
                  </a:txBody>
                  <a:tcPr/>
                </a:tc>
                <a:extLst>
                  <a:ext uri="{0D108BD9-81ED-4DB2-BD59-A6C34878D82A}">
                    <a16:rowId xmlns:a16="http://schemas.microsoft.com/office/drawing/2014/main" val="10000"/>
                  </a:ext>
                </a:extLst>
              </a:tr>
              <a:tr h="370840">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Source only</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0.917</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0.800</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4.25</a:t>
                      </a:r>
                    </a:p>
                  </a:txBody>
                  <a:tcPr/>
                </a:tc>
                <a:extLst>
                  <a:ext uri="{0D108BD9-81ED-4DB2-BD59-A6C34878D82A}">
                    <a16:rowId xmlns:a16="http://schemas.microsoft.com/office/drawing/2014/main" val="10001"/>
                  </a:ext>
                </a:extLst>
              </a:tr>
              <a:tr h="370840">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Trace only</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0.917</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0.900</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4.25</a:t>
                      </a:r>
                    </a:p>
                  </a:txBody>
                  <a:tcPr/>
                </a:tc>
                <a:extLst>
                  <a:ext uri="{0D108BD9-81ED-4DB2-BD59-A6C34878D82A}">
                    <a16:rowId xmlns:a16="http://schemas.microsoft.com/office/drawing/2014/main" val="10002"/>
                  </a:ext>
                </a:extLst>
              </a:tr>
              <a:tr h="370840">
                <a:tc>
                  <a:txBody>
                    <a:bodyPr/>
                    <a:lstStyle/>
                    <a:p>
                      <a:pPr marL="0" algn="l" defTabSz="914400" rtl="0" eaLnBrk="1" latinLnBrk="0" hangingPunct="1"/>
                      <a:r>
                        <a:rPr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Diagram only</a:t>
                      </a:r>
                    </a:p>
                  </a:txBody>
                  <a:tcPr/>
                </a:tc>
                <a:tc>
                  <a:txBody>
                    <a:bodyPr/>
                    <a:lstStyle/>
                    <a:p>
                      <a:pPr marL="0" algn="l" defTabSz="914400" rtl="0" eaLnBrk="1" latinLnBrk="0" hangingPunct="1"/>
                      <a:r>
                        <a:rPr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400" b="1"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5.00</a:t>
                      </a:r>
                    </a:p>
                  </a:txBody>
                  <a:tcPr/>
                </a:tc>
                <a:extLst>
                  <a:ext uri="{0D108BD9-81ED-4DB2-BD59-A6C34878D82A}">
                    <a16:rowId xmlns:a16="http://schemas.microsoft.com/office/drawing/2014/main" val="10003"/>
                  </a:ext>
                </a:extLst>
              </a:tr>
              <a:tr h="370840">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Source + Trace</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0.917</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0.900</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4.25</a:t>
                      </a:r>
                    </a:p>
                  </a:txBody>
                  <a:tcPr/>
                </a:tc>
                <a:extLst>
                  <a:ext uri="{0D108BD9-81ED-4DB2-BD59-A6C34878D82A}">
                    <a16:rowId xmlns:a16="http://schemas.microsoft.com/office/drawing/2014/main" val="10004"/>
                  </a:ext>
                </a:extLst>
              </a:tr>
              <a:tr h="370840">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Source + Trace + Diagram</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5.00</a:t>
                      </a:r>
                    </a:p>
                  </a:txBody>
                  <a:tcPr/>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F6FB2B8F-7B26-221B-6D1C-4A39FA932799}"/>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16</a:t>
            </a:r>
          </a:p>
        </p:txBody>
      </p:sp>
      <p:sp>
        <p:nvSpPr>
          <p:cNvPr id="6" name="TextBox 5">
            <a:extLst>
              <a:ext uri="{FF2B5EF4-FFF2-40B4-BE49-F238E27FC236}">
                <a16:creationId xmlns:a16="http://schemas.microsoft.com/office/drawing/2014/main" id="{FCC15BE4-D9A7-7EBD-9B6B-BFD59ADE359A}"/>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47B4021-096E-6F80-7599-EE88C25F783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A984B69-C0F3-CE84-010E-DD09109CA5C4}"/>
              </a:ext>
            </a:extLst>
          </p:cNvPr>
          <p:cNvSpPr>
            <a:spLocks noGrp="1"/>
          </p:cNvSpPr>
          <p:nvPr>
            <p:ph type="title"/>
          </p:nvPr>
        </p:nvSpPr>
        <p:spPr>
          <a:xfrm>
            <a:off x="899160" y="472440"/>
            <a:ext cx="10812676" cy="1010642"/>
          </a:xfrm>
        </p:spPr>
        <p:txBody>
          <a:bodyPr anchor="ct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What Was Produced: </a:t>
            </a:r>
            <a:r>
              <a:rPr lang="en-GB" sz="4400" noProof="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v2 Artifacts</a:t>
            </a:r>
          </a:p>
        </p:txBody>
      </p:sp>
      <p:sp>
        <p:nvSpPr>
          <p:cNvPr id="16" name="Content Placeholder 2">
            <a:extLst>
              <a:ext uri="{FF2B5EF4-FFF2-40B4-BE49-F238E27FC236}">
                <a16:creationId xmlns:a16="http://schemas.microsoft.com/office/drawing/2014/main" id="{66A3D7D6-5CE4-A062-A0FC-C7A4A1941D64}"/>
              </a:ext>
            </a:extLst>
          </p:cNvPr>
          <p:cNvSpPr>
            <a:spLocks noGrp="1"/>
          </p:cNvSpPr>
          <p:nvPr>
            <p:ph sz="quarter" idx="10"/>
          </p:nvPr>
        </p:nvSpPr>
        <p:spPr>
          <a:xfrm>
            <a:off x="480165" y="1509404"/>
            <a:ext cx="7357870" cy="4968518"/>
          </a:xfrm>
        </p:spPr>
        <p:txBody>
          <a:bodyPr>
            <a:noAutofit/>
          </a:bodyPr>
          <a:lstStyle/>
          <a:p>
            <a:pPr>
              <a:lnSpc>
                <a:spcPct val="120000"/>
              </a:lnSpc>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Structural and Interconnection Model:</a:t>
            </a:r>
          </a:p>
          <a:p>
            <a:pPr marL="285750" indent="-285750">
              <a:lnSpc>
                <a:spcPct val="120000"/>
              </a:lnSpc>
              <a:buFont typeface="Arial" panose="020B0604020202020204" pitchFamily="34" charset="0"/>
              <a:buChar char="•"/>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part def for each C++ component</a:t>
            </a:r>
          </a:p>
          <a:p>
            <a:pPr marL="285750" indent="-285750">
              <a:lnSpc>
                <a:spcPct val="120000"/>
              </a:lnSpc>
              <a:buFont typeface="Arial" panose="020B0604020202020204" pitchFamily="34" charset="0"/>
              <a:buChar char="•"/>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port def for dependencies</a:t>
            </a:r>
          </a:p>
          <a:p>
            <a:pPr marL="285750" indent="-285750">
              <a:lnSpc>
                <a:spcPct val="120000"/>
              </a:lnSpc>
              <a:buFont typeface="Arial" panose="020B0604020202020204" pitchFamily="34" charset="0"/>
              <a:buChar char="•"/>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connect statements for provider-consumer relationships</a:t>
            </a:r>
          </a:p>
          <a:p>
            <a:pPr>
              <a:lnSpc>
                <a:spcPct val="120000"/>
              </a:lnSpc>
            </a:pPr>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20000"/>
              </a:lnSpc>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Sequence Model:</a:t>
            </a:r>
          </a:p>
          <a:p>
            <a:pPr marL="285750" indent="-285750">
              <a:lnSpc>
                <a:spcPct val="120000"/>
              </a:lnSpc>
              <a:buFont typeface="Arial" panose="020B0604020202020204" pitchFamily="34" charset="0"/>
              <a:buChar char="•"/>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Interaction flows built from elements.json/sequence.json, the agentic-synthesis skill's output combining static call chains with collected runtime trace events.</a:t>
            </a:r>
          </a:p>
          <a:p>
            <a:pPr marL="285750" indent="-285750">
              <a:lnSpc>
                <a:spcPct val="120000"/>
              </a:lnSpc>
              <a:buFont typeface="Arial" panose="020B0604020202020204" pitchFamily="34" charset="0"/>
              <a:buChar char="•"/>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Static-only, dynamic-only, raw-combined and synthesis-pruned interaction diagrams (S1/S2/S2/S4)</a:t>
            </a:r>
          </a:p>
          <a:p>
            <a:pPr marL="285750" indent="-285750">
              <a:lnSpc>
                <a:spcPct val="120000"/>
              </a:lnSpc>
              <a:buFont typeface="Arial" panose="020B0604020202020204" pitchFamily="34" charset="0"/>
              <a:buChar char="•"/>
            </a:pPr>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20000"/>
              </a:lnSpc>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These form the five evaluation conditions (C1–C6) compared in H1, across all four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scenarios.</a:t>
            </a:r>
          </a:p>
        </p:txBody>
      </p:sp>
      <p:sp>
        <p:nvSpPr>
          <p:cNvPr id="4" name="Slide Number Placeholder 3" hidden="1">
            <a:extLst>
              <a:ext uri="{FF2B5EF4-FFF2-40B4-BE49-F238E27FC236}">
                <a16:creationId xmlns:a16="http://schemas.microsoft.com/office/drawing/2014/main" id="{8485C158-DAC7-3D4B-0313-093CCAA1E899}"/>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60</a:t>
            </a:fld>
            <a:endParaRPr lang="en-GB" sz="300" noProof="0" dirty="0"/>
          </a:p>
        </p:txBody>
      </p:sp>
      <p:sp>
        <p:nvSpPr>
          <p:cNvPr id="2" name="TextBox 1">
            <a:extLst>
              <a:ext uri="{FF2B5EF4-FFF2-40B4-BE49-F238E27FC236}">
                <a16:creationId xmlns:a16="http://schemas.microsoft.com/office/drawing/2014/main" id="{E7243E2B-DEE4-4302-DFEA-53EECA139E46}"/>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18</a:t>
            </a:r>
          </a:p>
        </p:txBody>
      </p:sp>
      <p:sp>
        <p:nvSpPr>
          <p:cNvPr id="5" name="TextBox 4">
            <a:extLst>
              <a:ext uri="{FF2B5EF4-FFF2-40B4-BE49-F238E27FC236}">
                <a16:creationId xmlns:a16="http://schemas.microsoft.com/office/drawing/2014/main" id="{B95A4105-ABA3-D2CF-EB28-9C459235B435}"/>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6" name="Picture 5">
            <a:extLst>
              <a:ext uri="{FF2B5EF4-FFF2-40B4-BE49-F238E27FC236}">
                <a16:creationId xmlns:a16="http://schemas.microsoft.com/office/drawing/2014/main" id="{3FC54977-31F3-EDB1-FD59-98F28C96F07C}"/>
              </a:ext>
            </a:extLst>
          </p:cNvPr>
          <p:cNvPicPr>
            <a:picLocks noChangeAspect="1"/>
          </p:cNvPicPr>
          <p:nvPr/>
        </p:nvPicPr>
        <p:blipFill>
          <a:blip r:embed="rId3"/>
          <a:srcRect l="8996" r="11519" b="27598"/>
          <a:stretch>
            <a:fillRect/>
          </a:stretch>
        </p:blipFill>
        <p:spPr>
          <a:xfrm>
            <a:off x="7838035" y="1552575"/>
            <a:ext cx="3797600" cy="2878682"/>
          </a:xfrm>
          <a:prstGeom prst="rect">
            <a:avLst/>
          </a:prstGeom>
        </p:spPr>
      </p:pic>
      <p:pic>
        <p:nvPicPr>
          <p:cNvPr id="8" name="Picture 7">
            <a:extLst>
              <a:ext uri="{FF2B5EF4-FFF2-40B4-BE49-F238E27FC236}">
                <a16:creationId xmlns:a16="http://schemas.microsoft.com/office/drawing/2014/main" id="{114D219D-BDE4-1E10-9DC0-A7ED9C000293}"/>
              </a:ext>
            </a:extLst>
          </p:cNvPr>
          <p:cNvPicPr>
            <a:picLocks noChangeAspect="1"/>
          </p:cNvPicPr>
          <p:nvPr/>
        </p:nvPicPr>
        <p:blipFill>
          <a:blip r:embed="rId4"/>
          <a:stretch>
            <a:fillRect/>
          </a:stretch>
        </p:blipFill>
        <p:spPr>
          <a:xfrm>
            <a:off x="7915274" y="4667251"/>
            <a:ext cx="3720359" cy="1726284"/>
          </a:xfrm>
          <a:prstGeom prst="rect">
            <a:avLst/>
          </a:prstGeom>
        </p:spPr>
      </p:pic>
    </p:spTree>
    <p:extLst>
      <p:ext uri="{BB962C8B-B14F-4D97-AF65-F5344CB8AC3E}">
        <p14:creationId xmlns:p14="http://schemas.microsoft.com/office/powerpoint/2010/main" val="36315310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9FAD44B-5581-FB66-1D0A-36FF3AE55DE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C7AD4E3-5FA5-1E2F-B9AE-F34C3844A0BB}"/>
              </a:ext>
            </a:extLst>
          </p:cNvPr>
          <p:cNvSpPr>
            <a:spLocks noGrp="1"/>
          </p:cNvSpPr>
          <p:nvPr>
            <p:ph type="title"/>
          </p:nvPr>
        </p:nvSpPr>
        <p:spPr>
          <a:xfrm>
            <a:off x="899160" y="655320"/>
            <a:ext cx="10812676" cy="1010642"/>
          </a:xfrm>
        </p:spPr>
        <p:txBody>
          <a:bodyPr anchor="ctr">
            <a:noAutofit/>
          </a:bodyPr>
          <a:lstStyle/>
          <a:p>
            <a:r>
              <a:rPr lang="en-GB" sz="3200" dirty="0">
                <a:latin typeface="Sans Serif Collection" panose="020B0502040504020204" pitchFamily="34" charset="0"/>
                <a:ea typeface="Sans Serif Collection" panose="020B0502040504020204" pitchFamily="34" charset="0"/>
                <a:cs typeface="Sans Serif Collection" panose="020B0502040504020204" pitchFamily="34" charset="0"/>
              </a:rPr>
              <a:t>Trace Collection &amp; Practitioner Validation</a:t>
            </a:r>
            <a:endParaRPr lang="en-GB" sz="3200"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6" name="Content Placeholder 2">
            <a:extLst>
              <a:ext uri="{FF2B5EF4-FFF2-40B4-BE49-F238E27FC236}">
                <a16:creationId xmlns:a16="http://schemas.microsoft.com/office/drawing/2014/main" id="{93FCB616-61BD-05E7-8A4A-17019134E94B}"/>
              </a:ext>
            </a:extLst>
          </p:cNvPr>
          <p:cNvSpPr>
            <a:spLocks noGrp="1"/>
          </p:cNvSpPr>
          <p:nvPr>
            <p:ph sz="quarter" idx="10"/>
          </p:nvPr>
        </p:nvSpPr>
        <p:spPr>
          <a:xfrm>
            <a:off x="899160" y="1665962"/>
            <a:ext cx="10662363" cy="4475758"/>
          </a:xfrm>
        </p:spPr>
        <p:txBody>
          <a:bodyPr>
            <a:normAutofit/>
          </a:bodyPr>
          <a:lstStyle/>
          <a:p>
            <a:pPr>
              <a:lnSpc>
                <a:spcPct val="110000"/>
              </a:lnSpc>
            </a:pPr>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Goal:</a:t>
            </a:r>
          </a:p>
          <a:p>
            <a:pPr>
              <a:lnSpc>
                <a:spcPct val="110000"/>
              </a:lnSpc>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Capture timestamped runtime Trace events from the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system</a:t>
            </a:r>
          </a:p>
          <a:p>
            <a:pPr>
              <a:lnSpc>
                <a:spcPct val="110000"/>
              </a:lnSpc>
            </a:pPr>
            <a:endPar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10000"/>
              </a:lnSpc>
            </a:pPr>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What was delivered:</a:t>
            </a:r>
          </a:p>
          <a:p>
            <a:pPr marL="342900" indent="-342900">
              <a:lnSpc>
                <a:spcPct val="110000"/>
              </a:lnSpc>
              <a:buFont typeface="+mj-lt"/>
              <a:buAutoNum type="arabicPeriod"/>
            </a:pP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csp_matcher</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a Clang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LibTooling</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-based instrumentation tool (developed with Dr. Rosilde Corvino) — AST-level pattern matching inserts and removes trace probes</a:t>
            </a:r>
          </a:p>
          <a:p>
            <a:pPr marL="342900" indent="-342900">
              <a:lnSpc>
                <a:spcPct val="110000"/>
              </a:lnSpc>
              <a:buFont typeface="+mj-lt"/>
              <a:buAutoNum type="arabicPeriod"/>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Practitioner validation session: 4 engineers, second industrial codebase (orders of magnitude larger than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via a GitHub Copilot MCP integration</a:t>
            </a:r>
          </a:p>
          <a:p>
            <a:pPr marL="1257300" lvl="2" indent="-342900">
              <a:lnSpc>
                <a:spcPct val="110000"/>
              </a:lnSpc>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Task: locate a real, previously-resolved proxy-leak defect using only the static graph</a:t>
            </a:r>
          </a:p>
          <a:p>
            <a:pPr marL="1257300" lvl="2" indent="-342900">
              <a:lnSpc>
                <a:spcPct val="110000"/>
              </a:lnSpc>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Participants correctly identified the modified file, the relevant test, and the proxy's construction/release sites</a:t>
            </a:r>
          </a:p>
          <a:p>
            <a:pPr marL="1257300" lvl="2" indent="-342900">
              <a:lnSpc>
                <a:spcPct val="110000"/>
              </a:lnSpc>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Independent cross-check: a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ClangSharp</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libclang</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GraphML</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extractor validated against the Renaissance/Neo4j extraction</a:t>
            </a:r>
          </a:p>
          <a:p>
            <a:pPr>
              <a:lnSpc>
                <a:spcPct val="110000"/>
              </a:lnSpc>
            </a:pPr>
            <a:endPar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Slide Number Placeholder 3" hidden="1">
            <a:extLst>
              <a:ext uri="{FF2B5EF4-FFF2-40B4-BE49-F238E27FC236}">
                <a16:creationId xmlns:a16="http://schemas.microsoft.com/office/drawing/2014/main" id="{50F477AE-4813-41AF-CB0D-04D712761363}"/>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61</a:t>
            </a:fld>
            <a:endParaRPr lang="en-GB" sz="300" noProof="0" dirty="0"/>
          </a:p>
        </p:txBody>
      </p:sp>
      <p:sp>
        <p:nvSpPr>
          <p:cNvPr id="3" name="TextBox 2">
            <a:extLst>
              <a:ext uri="{FF2B5EF4-FFF2-40B4-BE49-F238E27FC236}">
                <a16:creationId xmlns:a16="http://schemas.microsoft.com/office/drawing/2014/main" id="{17163299-8776-5CA6-6D1E-C13CF8C91DA2}"/>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19</a:t>
            </a:r>
          </a:p>
        </p:txBody>
      </p:sp>
      <p:sp>
        <p:nvSpPr>
          <p:cNvPr id="5" name="TextBox 4">
            <a:extLst>
              <a:ext uri="{FF2B5EF4-FFF2-40B4-BE49-F238E27FC236}">
                <a16:creationId xmlns:a16="http://schemas.microsoft.com/office/drawing/2014/main" id="{338FC515-45F7-4C71-ECF0-456C813F7699}"/>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25227158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FF9A702-2AE6-C606-78FB-EE9D6D4C0B8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77F3B33-3CCD-86AC-E206-DA068275DF23}"/>
              </a:ext>
            </a:extLst>
          </p:cNvPr>
          <p:cNvSpPr>
            <a:spLocks noGrp="1"/>
          </p:cNvSpPr>
          <p:nvPr>
            <p:ph type="title"/>
          </p:nvPr>
        </p:nvSpPr>
        <p:spPr>
          <a:xfrm>
            <a:off x="929639" y="246988"/>
            <a:ext cx="10331450" cy="1531525"/>
          </a:xfrm>
        </p:spPr>
        <p:txBody>
          <a:bodyPr anchor="ctr">
            <a:normAutofit/>
          </a:bodyPr>
          <a:lstStyle/>
          <a:p>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Research Questions: Where Each Stands</a:t>
            </a:r>
          </a:p>
        </p:txBody>
      </p:sp>
      <p:sp>
        <p:nvSpPr>
          <p:cNvPr id="4" name="Slide Number Placeholder 3" hidden="1">
            <a:extLst>
              <a:ext uri="{FF2B5EF4-FFF2-40B4-BE49-F238E27FC236}">
                <a16:creationId xmlns:a16="http://schemas.microsoft.com/office/drawing/2014/main" id="{9C985A5D-FC30-C9EC-C58B-6ADF4DE81EEC}"/>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62</a:t>
            </a:fld>
            <a:endParaRPr lang="en-GB" sz="300" noProof="0" dirty="0"/>
          </a:p>
        </p:txBody>
      </p:sp>
      <p:graphicFrame>
        <p:nvGraphicFramePr>
          <p:cNvPr id="2" name="Content Placeholder 1">
            <a:extLst>
              <a:ext uri="{FF2B5EF4-FFF2-40B4-BE49-F238E27FC236}">
                <a16:creationId xmlns:a16="http://schemas.microsoft.com/office/drawing/2014/main" id="{9CF81CCA-5D24-AA27-AD51-F5B694D9EE29}"/>
              </a:ext>
            </a:extLst>
          </p:cNvPr>
          <p:cNvGraphicFramePr>
            <a:graphicFrameLocks noGrp="1"/>
          </p:cNvGraphicFramePr>
          <p:nvPr>
            <p:ph type="tbl" sz="quarter" idx="10"/>
            <p:extLst>
              <p:ext uri="{D42A27DB-BD31-4B8C-83A1-F6EECF244321}">
                <p14:modId xmlns:p14="http://schemas.microsoft.com/office/powerpoint/2010/main" val="2822175839"/>
              </p:ext>
            </p:extLst>
          </p:nvPr>
        </p:nvGraphicFramePr>
        <p:xfrm>
          <a:off x="513715" y="1556372"/>
          <a:ext cx="11163299" cy="4573746"/>
        </p:xfrm>
        <a:graphic>
          <a:graphicData uri="http://schemas.openxmlformats.org/drawingml/2006/table">
            <a:tbl>
              <a:tblPr/>
              <a:tblGrid>
                <a:gridCol w="647700">
                  <a:extLst>
                    <a:ext uri="{9D8B030D-6E8A-4147-A177-3AD203B41FA5}">
                      <a16:colId xmlns:a16="http://schemas.microsoft.com/office/drawing/2014/main" val="2746331087"/>
                    </a:ext>
                  </a:extLst>
                </a:gridCol>
                <a:gridCol w="4429760">
                  <a:extLst>
                    <a:ext uri="{9D8B030D-6E8A-4147-A177-3AD203B41FA5}">
                      <a16:colId xmlns:a16="http://schemas.microsoft.com/office/drawing/2014/main" val="65337149"/>
                    </a:ext>
                  </a:extLst>
                </a:gridCol>
                <a:gridCol w="6085839">
                  <a:extLst>
                    <a:ext uri="{9D8B030D-6E8A-4147-A177-3AD203B41FA5}">
                      <a16:colId xmlns:a16="http://schemas.microsoft.com/office/drawing/2014/main" val="2053829212"/>
                    </a:ext>
                  </a:extLst>
                </a:gridCol>
              </a:tblGrid>
              <a:tr h="392364">
                <a:tc>
                  <a:txBody>
                    <a:bodyPr/>
                    <a:lstStyle/>
                    <a:p>
                      <a:pPr algn="ctr" fontAlgn="ctr">
                        <a:buNone/>
                      </a:pPr>
                      <a:r>
                        <a:rPr lang="en-GB" sz="1600" b="1" kern="1200"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RQ</a:t>
                      </a:r>
                    </a:p>
                  </a:txBody>
                  <a:tcPr marL="73356" marR="73356" marT="36678" marB="3667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buNone/>
                      </a:pPr>
                      <a:r>
                        <a:rPr lang="en-GB" sz="1600" b="1" kern="120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Question</a:t>
                      </a:r>
                    </a:p>
                  </a:txBody>
                  <a:tcPr marL="73356" marR="73356" marT="36678" marB="366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buNone/>
                      </a:pPr>
                      <a:r>
                        <a:rPr lang="en-GB" sz="1600" b="1" kern="1200"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Status</a:t>
                      </a:r>
                    </a:p>
                  </a:txBody>
                  <a:tcPr marL="73356" marR="73356" marT="36678" marB="36678"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452667613"/>
                  </a:ext>
                </a:extLst>
              </a:tr>
              <a:tr h="1808559">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RQ1</a:t>
                      </a:r>
                    </a:p>
                  </a:txBody>
                  <a:tcPr marL="73356" marR="73356" marT="36678" marB="3667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Does combining a static call graph with runtime execution traces reconstruct scenario-specific Interaction Models more accurately than either source alone?</a:t>
                      </a:r>
                    </a:p>
                  </a:txBody>
                  <a:tcPr marL="73356" marR="73356" marT="36678" marB="366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Confirmed (H1): Intersection (C5) reaches macro-F1 = 0.875. Full pipeline (C6) reaches 0.839 with perfect recall on all four scenarios. Intersection is additive on constructed S4 (F1 1.000 vs. 0.667 for either source alone, naive union scores 0.500).</a:t>
                      </a:r>
                    </a:p>
                  </a:txBody>
                  <a:tcPr marL="73356" marR="73356" marT="36678" marB="36678"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3817409112"/>
                  </a:ext>
                </a:extLst>
              </a:tr>
              <a:tr h="1310841">
                <a:tc>
                  <a:txBody>
                    <a:bodyPr/>
                    <a:lstStyle/>
                    <a:p>
                      <a:pPr algn="l" fontAlgn="ctr">
                        <a:buNone/>
                      </a:pPr>
                      <a:r>
                        <a:rPr lang="en-GB" sz="140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RQ2</a:t>
                      </a:r>
                    </a:p>
                  </a:txBody>
                  <a:tcPr marL="73356" marR="73356" marT="36678" marB="3667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Does guiding trace collection with the static call graph remove reconstruction noise without losing scenario coverage?</a:t>
                      </a:r>
                    </a:p>
                  </a:txBody>
                  <a:tcPr marL="73356" marR="73356" marT="36678" marB="366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Confirmed (H2): guided instrumentation cuts retained nodes by 50% and edges by 70%; a blinded panel preferred guided diagram in 47 of 54 comparisons.</a:t>
                      </a:r>
                    </a:p>
                  </a:txBody>
                  <a:tcPr marL="73356" marR="73356" marT="36678" marB="36678"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3722425099"/>
                  </a:ext>
                </a:extLst>
              </a:tr>
              <a:tr h="1061982">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RQ3</a:t>
                      </a:r>
                    </a:p>
                  </a:txBody>
                  <a:tcPr marL="73356" marR="73356" marT="36678" marB="3667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How well does a reconstructed SysML Interaction Model consolidate static and dynamic evidence into a single artefact sufficient for system-behaviour comprehension?</a:t>
                      </a:r>
                    </a:p>
                  </a:txBody>
                  <a:tcPr marL="73356" marR="73356" marT="36678" marB="366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Confirmed (H3): the diagram alone reaches perfect component recall, interaction recall and completeness.</a:t>
                      </a:r>
                    </a:p>
                  </a:txBody>
                  <a:tcPr marL="73356" marR="73356" marT="36678" marB="36678"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220703080"/>
                  </a:ext>
                </a:extLst>
              </a:tr>
            </a:tbl>
          </a:graphicData>
        </a:graphic>
      </p:graphicFrame>
      <p:sp>
        <p:nvSpPr>
          <p:cNvPr id="3" name="TextBox 2">
            <a:extLst>
              <a:ext uri="{FF2B5EF4-FFF2-40B4-BE49-F238E27FC236}">
                <a16:creationId xmlns:a16="http://schemas.microsoft.com/office/drawing/2014/main" id="{044FBE1E-FABD-C7FF-4D6D-95B3A212837B}"/>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20</a:t>
            </a:r>
          </a:p>
        </p:txBody>
      </p:sp>
      <p:sp>
        <p:nvSpPr>
          <p:cNvPr id="5" name="TextBox 4">
            <a:extLst>
              <a:ext uri="{FF2B5EF4-FFF2-40B4-BE49-F238E27FC236}">
                <a16:creationId xmlns:a16="http://schemas.microsoft.com/office/drawing/2014/main" id="{9322AA42-E662-2713-CF33-A45733A966A8}"/>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42255165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63520F6-9195-BA1B-CD58-FBB8D086006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B8C416D-B137-D865-3709-E5AA77717C35}"/>
              </a:ext>
            </a:extLst>
          </p:cNvPr>
          <p:cNvSpPr>
            <a:spLocks noGrp="1"/>
          </p:cNvSpPr>
          <p:nvPr>
            <p:ph type="title"/>
          </p:nvPr>
        </p:nvSpPr>
        <p:spPr>
          <a:xfrm>
            <a:off x="767751" y="189838"/>
            <a:ext cx="10331450" cy="1531525"/>
          </a:xfrm>
        </p:spPr>
        <p:txBody>
          <a:bodyPr anchor="ctr">
            <a:normAutofit/>
          </a:bodyPr>
          <a:lstStyle/>
          <a:p>
            <a:r>
              <a:rPr lang="en-GB" sz="3250" dirty="0">
                <a:latin typeface="Sans Serif Collection" panose="020B0502040504020204" pitchFamily="34" charset="0"/>
                <a:ea typeface="Sans Serif Collection" panose="020B0502040504020204" pitchFamily="34" charset="0"/>
                <a:cs typeface="Sans Serif Collection" panose="020B0502040504020204" pitchFamily="34" charset="0"/>
              </a:rPr>
              <a:t>Challenges Encountered &amp; How They Were Resolved</a:t>
            </a:r>
            <a:endParaRPr lang="en-GB" sz="3250"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Slide Number Placeholder 3" hidden="1">
            <a:extLst>
              <a:ext uri="{FF2B5EF4-FFF2-40B4-BE49-F238E27FC236}">
                <a16:creationId xmlns:a16="http://schemas.microsoft.com/office/drawing/2014/main" id="{8DEC8A58-C1B8-EA6F-ED5F-F45F530BC510}"/>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63</a:t>
            </a:fld>
            <a:endParaRPr lang="en-GB" sz="300" noProof="0" dirty="0"/>
          </a:p>
        </p:txBody>
      </p:sp>
      <p:graphicFrame>
        <p:nvGraphicFramePr>
          <p:cNvPr id="6" name="Content Placeholder 1">
            <a:extLst>
              <a:ext uri="{FF2B5EF4-FFF2-40B4-BE49-F238E27FC236}">
                <a16:creationId xmlns:a16="http://schemas.microsoft.com/office/drawing/2014/main" id="{51009832-AB6B-C940-1EDB-9F7C5A91ADD4}"/>
              </a:ext>
            </a:extLst>
          </p:cNvPr>
          <p:cNvGraphicFramePr>
            <a:graphicFrameLocks/>
          </p:cNvGraphicFramePr>
          <p:nvPr>
            <p:extLst>
              <p:ext uri="{D42A27DB-BD31-4B8C-83A1-F6EECF244321}">
                <p14:modId xmlns:p14="http://schemas.microsoft.com/office/powerpoint/2010/main" val="1938945947"/>
              </p:ext>
            </p:extLst>
          </p:nvPr>
        </p:nvGraphicFramePr>
        <p:xfrm>
          <a:off x="767751" y="1417249"/>
          <a:ext cx="10834777" cy="4397852"/>
        </p:xfrm>
        <a:graphic>
          <a:graphicData uri="http://schemas.openxmlformats.org/drawingml/2006/table">
            <a:tbl>
              <a:tblPr firstRow="1" bandRow="1">
                <a:tableStyleId>{1E171933-4619-4E11-9A3F-F7608DF75F80}</a:tableStyleId>
              </a:tblPr>
              <a:tblGrid>
                <a:gridCol w="4680549">
                  <a:extLst>
                    <a:ext uri="{9D8B030D-6E8A-4147-A177-3AD203B41FA5}">
                      <a16:colId xmlns:a16="http://schemas.microsoft.com/office/drawing/2014/main" val="2730377011"/>
                    </a:ext>
                  </a:extLst>
                </a:gridCol>
                <a:gridCol w="6154228">
                  <a:extLst>
                    <a:ext uri="{9D8B030D-6E8A-4147-A177-3AD203B41FA5}">
                      <a16:colId xmlns:a16="http://schemas.microsoft.com/office/drawing/2014/main" val="2636965091"/>
                    </a:ext>
                  </a:extLst>
                </a:gridCol>
              </a:tblGrid>
              <a:tr h="417674">
                <a:tc>
                  <a:txBody>
                    <a:bodyPr/>
                    <a:lstStyle/>
                    <a:p>
                      <a:pPr marL="0" algn="ctr" defTabSz="914400" rtl="0" eaLnBrk="1" fontAlgn="ctr" latinLnBrk="0" hangingPunct="1">
                        <a:buNone/>
                      </a:pPr>
                      <a:r>
                        <a:rPr lang="en-GB" sz="1800" b="0" kern="1200"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Challenges</a:t>
                      </a:r>
                    </a:p>
                  </a:txBody>
                  <a:tcPr marL="137406" marR="73401" marT="105697" marB="105697" anchor="ctr">
                    <a:lnR w="12700" cap="flat" cmpd="sng" algn="ctr">
                      <a:solidFill>
                        <a:schemeClr val="tx1"/>
                      </a:solidFill>
                      <a:prstDash val="solid"/>
                      <a:round/>
                      <a:headEnd type="none" w="med" len="med"/>
                      <a:tailEnd type="none" w="med" len="med"/>
                    </a:lnR>
                  </a:tcPr>
                </a:tc>
                <a:tc>
                  <a:txBody>
                    <a:bodyPr/>
                    <a:lstStyle/>
                    <a:p>
                      <a:pPr marL="0" algn="ctr" defTabSz="914400" rtl="0" eaLnBrk="1" fontAlgn="ctr" latinLnBrk="0" hangingPunct="1">
                        <a:buNone/>
                      </a:pPr>
                      <a:r>
                        <a:rPr lang="en-GB" sz="1800" b="0" kern="1200"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Solutions</a:t>
                      </a:r>
                    </a:p>
                  </a:txBody>
                  <a:tcPr marL="137406" marR="73401" marT="105697" marB="105697"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594827040"/>
                  </a:ext>
                </a:extLst>
              </a:tr>
              <a:tr h="1092542">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 is context-sensitive — regex/simple parsers fail</a:t>
                      </a:r>
                    </a:p>
                  </a:txBody>
                  <a:tcPr marL="137406" marR="73401" marT="105697" marB="105697"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Used the Renaissance semantic-extraction tool + Neo4j property graph.</a:t>
                      </a:r>
                    </a:p>
                  </a:txBody>
                  <a:tcPr marL="137406" marR="73401" marT="105697" marB="105697"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9094160"/>
                  </a:ext>
                </a:extLst>
              </a:tr>
              <a:tr h="863527">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Thousands of dependencies make </a:t>
                      </a:r>
                      <a:r>
                        <a:rPr lang="en-GB" sz="16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toolchains very slow</a:t>
                      </a:r>
                    </a:p>
                  </a:txBody>
                  <a:tcPr marL="137406" marR="73401" marT="105697" marB="105697"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scenario-scoped Cypher queries trim the graph before generation</a:t>
                      </a:r>
                    </a:p>
                  </a:txBody>
                  <a:tcPr marL="137406" marR="73401" marT="105697" marB="105697"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2923729"/>
                  </a:ext>
                </a:extLst>
              </a:tr>
              <a:tr h="863527">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Hardcoded scenario scoping is brittle</a:t>
                      </a:r>
                    </a:p>
                  </a:txBody>
                  <a:tcPr marL="137406" marR="73401" marT="105697" marB="105697"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Agent skill architecture (12 skills) expresses scenario definition as a natural-language query via text-to-cypher</a:t>
                      </a:r>
                    </a:p>
                  </a:txBody>
                  <a:tcPr marL="137406" marR="73401" marT="105697" marB="105697"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5254770"/>
                  </a:ext>
                </a:extLst>
              </a:tr>
              <a:tr h="1092542">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Traces alone are incomplete</a:t>
                      </a:r>
                    </a:p>
                  </a:txBody>
                  <a:tcPr marL="137406" marR="73401" marT="105697" marB="105697"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Confirmed empirically (H1): static reachability recovers what traces miss and combining is strictly additive S4 (F1 1.000 vs. 0.667 for either source alone)</a:t>
                      </a:r>
                    </a:p>
                  </a:txBody>
                  <a:tcPr marL="137406" marR="73401" marT="105697" marB="105697"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88827111"/>
                  </a:ext>
                </a:extLst>
              </a:tr>
            </a:tbl>
          </a:graphicData>
        </a:graphic>
      </p:graphicFrame>
      <p:sp>
        <p:nvSpPr>
          <p:cNvPr id="5" name="TextBox 4">
            <a:extLst>
              <a:ext uri="{FF2B5EF4-FFF2-40B4-BE49-F238E27FC236}">
                <a16:creationId xmlns:a16="http://schemas.microsoft.com/office/drawing/2014/main" id="{746228AB-DC99-D78D-A26C-AD8E9190A2F9}"/>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21</a:t>
            </a:r>
          </a:p>
        </p:txBody>
      </p:sp>
      <p:sp>
        <p:nvSpPr>
          <p:cNvPr id="8" name="TextBox 7">
            <a:extLst>
              <a:ext uri="{FF2B5EF4-FFF2-40B4-BE49-F238E27FC236}">
                <a16:creationId xmlns:a16="http://schemas.microsoft.com/office/drawing/2014/main" id="{9B337C2B-BF59-A39D-A84B-52C4061FF88F}"/>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24237792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200D47C-68D0-B6C8-F501-D7688689F22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C625D6A-394F-86BC-8E1E-6BCB1B431162}"/>
              </a:ext>
            </a:extLst>
          </p:cNvPr>
          <p:cNvSpPr>
            <a:spLocks noGrp="1"/>
          </p:cNvSpPr>
          <p:nvPr>
            <p:ph type="title"/>
          </p:nvPr>
        </p:nvSpPr>
        <p:spPr>
          <a:xfrm>
            <a:off x="600076" y="324763"/>
            <a:ext cx="10812676" cy="1010642"/>
          </a:xfrm>
        </p:spPr>
        <p:txBody>
          <a:bodyPr anchor="ct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Overall Summary</a:t>
            </a:r>
          </a:p>
        </p:txBody>
      </p:sp>
      <p:sp>
        <p:nvSpPr>
          <p:cNvPr id="16" name="Content Placeholder 2">
            <a:extLst>
              <a:ext uri="{FF2B5EF4-FFF2-40B4-BE49-F238E27FC236}">
                <a16:creationId xmlns:a16="http://schemas.microsoft.com/office/drawing/2014/main" id="{9EC59337-77F7-8604-B015-D9FAAA6FE354}"/>
              </a:ext>
            </a:extLst>
          </p:cNvPr>
          <p:cNvSpPr>
            <a:spLocks noGrp="1"/>
          </p:cNvSpPr>
          <p:nvPr>
            <p:ph sz="quarter" idx="10"/>
          </p:nvPr>
        </p:nvSpPr>
        <p:spPr>
          <a:xfrm>
            <a:off x="600076" y="1514475"/>
            <a:ext cx="10896599" cy="4781550"/>
          </a:xfrm>
        </p:spPr>
        <p:txBody>
          <a:bodyPr>
            <a:normAutofit fontScale="62500" lnSpcReduction="20000"/>
          </a:bodyPr>
          <a:lstStyle/>
          <a:p>
            <a:r>
              <a:rPr lang="en-GB" sz="2200" b="1" dirty="0">
                <a:latin typeface="Sans Serif Collection" panose="020B0502040504020204" pitchFamily="34" charset="0"/>
                <a:ea typeface="Sans Serif Collection" panose="020B0502040504020204" pitchFamily="34" charset="0"/>
                <a:cs typeface="Sans Serif Collection" panose="020B0502040504020204" pitchFamily="34" charset="0"/>
              </a:rPr>
              <a:t>What was proposed:</a:t>
            </a:r>
          </a:p>
          <a:p>
            <a:r>
              <a:rPr lang="en-GB" sz="2100" dirty="0">
                <a:latin typeface="Sans Serif Collection" panose="020B0502040504020204" pitchFamily="34" charset="0"/>
                <a:ea typeface="Sans Serif Collection" panose="020B0502040504020204" pitchFamily="34" charset="0"/>
                <a:cs typeface="Sans Serif Collection" panose="020B0502040504020204" pitchFamily="34" charset="0"/>
              </a:rPr>
              <a:t>Hybrid static + trace pipeline → scenario-specific </a:t>
            </a:r>
            <a:r>
              <a:rPr lang="en-GB" sz="210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2100" dirty="0">
                <a:latin typeface="Sans Serif Collection" panose="020B0502040504020204" pitchFamily="34" charset="0"/>
                <a:ea typeface="Sans Serif Collection" panose="020B0502040504020204" pitchFamily="34" charset="0"/>
                <a:cs typeface="Sans Serif Collection" panose="020B0502040504020204" pitchFamily="34" charset="0"/>
              </a:rPr>
              <a:t> v2 interaction diagrams</a:t>
            </a:r>
          </a:p>
          <a:p>
            <a:pPr marL="285750" indent="-285750">
              <a:buFont typeface="Arial" panose="020B0604020202020204" pitchFamily="34" charset="0"/>
              <a:buChar char="•"/>
            </a:pPr>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2200" b="1" dirty="0">
                <a:latin typeface="Sans Serif Collection" panose="020B0502040504020204" pitchFamily="34" charset="0"/>
                <a:ea typeface="Sans Serif Collection" panose="020B0502040504020204" pitchFamily="34" charset="0"/>
                <a:cs typeface="Sans Serif Collection" panose="020B0502040504020204" pitchFamily="34" charset="0"/>
              </a:rPr>
              <a:t>What was delivered:</a:t>
            </a:r>
          </a:p>
          <a:p>
            <a:pPr marL="742950" lvl="1" indent="-285750">
              <a:lnSpc>
                <a:spcPct val="120000"/>
              </a:lnSpc>
              <a:buFont typeface="Arial" panose="020B0604020202020204" pitchFamily="34" charset="0"/>
              <a:buChar char="•"/>
            </a:pP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Neo4j knowledge graph of </a:t>
            </a:r>
            <a:r>
              <a:rPr lang="en-GB" sz="2000"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 - 121 components, 2,574 ordered static interactions (complete)</a:t>
            </a:r>
          </a:p>
          <a:p>
            <a:pPr marL="742950" lvl="1" indent="-285750">
              <a:lnSpc>
                <a:spcPct val="120000"/>
              </a:lnSpc>
              <a:buFont typeface="Arial" panose="020B0604020202020204" pitchFamily="34" charset="0"/>
              <a:buChar char="•"/>
            </a:pP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12 composable agent skills spanning extraction → scenario scoping → instrumentation → agentic synthesis → SysML v2 / Mermaid generation (complete)</a:t>
            </a:r>
          </a:p>
          <a:p>
            <a:pPr marL="742950" lvl="1" indent="-285750">
              <a:lnSpc>
                <a:spcPct val="120000"/>
              </a:lnSpc>
              <a:buFont typeface="Arial" panose="020B0604020202020204" pitchFamily="34" charset="0"/>
              <a:buChar char="•"/>
            </a:pPr>
            <a:r>
              <a:rPr lang="en-GB" sz="2000" dirty="0" err="1">
                <a:latin typeface="Sans Serif Collection" panose="020B0502040504020204" pitchFamily="34" charset="0"/>
                <a:ea typeface="Sans Serif Collection" panose="020B0502040504020204" pitchFamily="34" charset="0"/>
                <a:cs typeface="Sans Serif Collection" panose="020B0502040504020204" pitchFamily="34" charset="0"/>
              </a:rPr>
              <a:t>csp_matcher</a:t>
            </a: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 runtime instrumentation tool.</a:t>
            </a:r>
          </a:p>
          <a:p>
            <a:pPr marL="742950" lvl="1" indent="-285750">
              <a:lnSpc>
                <a:spcPct val="120000"/>
              </a:lnSpc>
              <a:buFont typeface="Arial" panose="020B0604020202020204" pitchFamily="34" charset="0"/>
              <a:buChar char="•"/>
            </a:pP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H1/H2/H3 confirmed on 6 scenarios: Intersection macro-F1 0.875 and Full pipeline macro-F1 0.840; guided instrumentation cuts noise 100% with zero coverage loss; the reconstructed diagram alone achieves perfect comprehension recall</a:t>
            </a:r>
          </a:p>
          <a:p>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2200" b="1" dirty="0">
                <a:latin typeface="Sans Serif Collection" panose="020B0502040504020204" pitchFamily="34" charset="0"/>
                <a:ea typeface="Sans Serif Collection" panose="020B0502040504020204" pitchFamily="34" charset="0"/>
                <a:cs typeface="Sans Serif Collection" panose="020B0502040504020204" pitchFamily="34" charset="0"/>
              </a:rPr>
              <a:t>Beyond the plan:</a:t>
            </a:r>
          </a:p>
          <a:p>
            <a:pPr>
              <a:lnSpc>
                <a:spcPct val="120000"/>
              </a:lnSpc>
            </a:pPr>
            <a:r>
              <a:rPr lang="en-GB" sz="1900" dirty="0">
                <a:latin typeface="Sans Serif Collection" panose="020B0502040504020204" pitchFamily="34" charset="0"/>
                <a:ea typeface="Sans Serif Collection" panose="020B0502040504020204" pitchFamily="34" charset="0"/>
                <a:cs typeface="Sans Serif Collection" panose="020B0502040504020204" pitchFamily="34" charset="0"/>
              </a:rPr>
              <a:t>Exploratory practitioner session - 4 engineers, second much larger industrial codebase, via GitHub Copilot MCP integration; resolved a real proxy-leak defect using only the static graph.</a:t>
            </a:r>
          </a:p>
          <a:p>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2200" b="1" dirty="0">
                <a:latin typeface="Sans Serif Collection" panose="020B0502040504020204" pitchFamily="34" charset="0"/>
                <a:ea typeface="Sans Serif Collection" panose="020B0502040504020204" pitchFamily="34" charset="0"/>
                <a:cs typeface="Sans Serif Collection" panose="020B0502040504020204" pitchFamily="34" charset="0"/>
              </a:rPr>
              <a:t>Future work:</a:t>
            </a:r>
          </a:p>
          <a:p>
            <a:pPr>
              <a:lnSpc>
                <a:spcPct val="120000"/>
              </a:lnSpc>
            </a:pP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Controlled replication on a second system, richer diagram labelling &amp; interactivity, temporal-ordering accuracy, incremental graph updates</a:t>
            </a:r>
            <a:endParaRPr lang="en-GB" sz="2000"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Slide Number Placeholder 3" hidden="1">
            <a:extLst>
              <a:ext uri="{FF2B5EF4-FFF2-40B4-BE49-F238E27FC236}">
                <a16:creationId xmlns:a16="http://schemas.microsoft.com/office/drawing/2014/main" id="{DA6BF0FA-18F7-3AAD-309D-D11FC3F4D390}"/>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64</a:t>
            </a:fld>
            <a:endParaRPr lang="en-GB" sz="300" noProof="0" dirty="0"/>
          </a:p>
        </p:txBody>
      </p:sp>
      <p:sp>
        <p:nvSpPr>
          <p:cNvPr id="3" name="TextBox 2">
            <a:extLst>
              <a:ext uri="{FF2B5EF4-FFF2-40B4-BE49-F238E27FC236}">
                <a16:creationId xmlns:a16="http://schemas.microsoft.com/office/drawing/2014/main" id="{63F85D66-BE30-A223-C8D5-2D77447C0426}"/>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22</a:t>
            </a:r>
          </a:p>
        </p:txBody>
      </p:sp>
      <p:sp>
        <p:nvSpPr>
          <p:cNvPr id="5" name="TextBox 4">
            <a:extLst>
              <a:ext uri="{FF2B5EF4-FFF2-40B4-BE49-F238E27FC236}">
                <a16:creationId xmlns:a16="http://schemas.microsoft.com/office/drawing/2014/main" id="{34F557DA-A5D4-860B-803A-F017D01FAC0B}"/>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296962448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4E8099C-C777-3AC7-87B4-C55ADA229774}"/>
              </a:ext>
            </a:extLst>
          </p:cNvPr>
          <p:cNvSpPr>
            <a:spLocks noGrp="1"/>
          </p:cNvSpPr>
          <p:nvPr>
            <p:ph type="title"/>
          </p:nvPr>
        </p:nvSpPr>
        <p:spPr>
          <a:xfrm>
            <a:off x="497840" y="1595120"/>
            <a:ext cx="11338560" cy="4795520"/>
          </a:xfrm>
        </p:spPr>
        <p:txBody>
          <a:bodyPr>
            <a:noAutofit/>
          </a:bodyPr>
          <a:lstStyle/>
          <a:p>
            <a:pPr>
              <a:lnSpc>
                <a:spcPct val="100000"/>
              </a:lnSpc>
            </a:pPr>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[1]</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Cornelissen, B., Zaidman, A., van Deursen, A., Moonen, L.,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Koschke</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R. "A Systematic Survey of Program Comprehension through Dynamic Analysis." </a:t>
            </a:r>
            <a:r>
              <a:rPr lang="en-GB" sz="1400" i="1" dirty="0">
                <a:latin typeface="Sans Serif Collection" panose="020B0502040504020204" pitchFamily="34" charset="0"/>
                <a:ea typeface="Sans Serif Collection" panose="020B0502040504020204" pitchFamily="34" charset="0"/>
                <a:cs typeface="Sans Serif Collection" panose="020B0502040504020204" pitchFamily="34" charset="0"/>
              </a:rPr>
              <a:t>IEEE Transactions on Software Engineering</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35(5), 684–702, 2009.</a:t>
            </a:r>
            <a:b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br>
            <a:b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[2]</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Systä</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T. "Static and Dynamic Reverse Engineering Techniques for Java Software Systems." University of Tampere, Dept. of Computer Science, 2000.</a:t>
            </a:r>
            <a:b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br>
            <a:b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[3]</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Labiche, Y.,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Kolbah</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B.,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Mehrfard</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H. "Combining Static and Dynamic Analyses to Reverse-Engineer Scenario Diagrams." </a:t>
            </a:r>
            <a:r>
              <a:rPr lang="en-GB" sz="1400" i="1" dirty="0">
                <a:latin typeface="Sans Serif Collection" panose="020B0502040504020204" pitchFamily="34" charset="0"/>
                <a:ea typeface="Sans Serif Collection" panose="020B0502040504020204" pitchFamily="34" charset="0"/>
                <a:cs typeface="Sans Serif Collection" panose="020B0502040504020204" pitchFamily="34" charset="0"/>
              </a:rPr>
              <a:t>Proc. 29th IEEE International Conference on Software Maintenance (ICSM)</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130–139, 2013.</a:t>
            </a:r>
            <a:b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br>
            <a:b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[4]</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Egyed, A. "A Scenario-Driven Approach to Trace Dependency Analysis." </a:t>
            </a:r>
            <a:r>
              <a:rPr lang="en-GB" sz="1400" i="1" dirty="0">
                <a:latin typeface="Sans Serif Collection" panose="020B0502040504020204" pitchFamily="34" charset="0"/>
                <a:ea typeface="Sans Serif Collection" panose="020B0502040504020204" pitchFamily="34" charset="0"/>
                <a:cs typeface="Sans Serif Collection" panose="020B0502040504020204" pitchFamily="34" charset="0"/>
              </a:rPr>
              <a:t>IEEE Transactions on Software Engineering</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29(2), 116–132, 2003.</a:t>
            </a:r>
            <a:b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br>
            <a:b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[5]</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Helm, D., Keidel, S.,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Kampkötter</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A.,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Düsing</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J., Roth, T., Hermann, B., Mezini, M. "Total Recall? How Good Are Static Call Graphs Really?" </a:t>
            </a:r>
            <a:r>
              <a:rPr lang="en-GB" sz="1400" i="1" dirty="0">
                <a:latin typeface="Sans Serif Collection" panose="020B0502040504020204" pitchFamily="34" charset="0"/>
                <a:ea typeface="Sans Serif Collection" panose="020B0502040504020204" pitchFamily="34" charset="0"/>
                <a:cs typeface="Sans Serif Collection" panose="020B0502040504020204" pitchFamily="34" charset="0"/>
              </a:rPr>
              <a:t>Proc. 33rd ACM SIGSOFT ISSTA</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2024.</a:t>
            </a:r>
            <a:b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br>
            <a:b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[6]</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Manning, C. D., Raghavan, P., Schütze, H. </a:t>
            </a:r>
            <a:r>
              <a:rPr lang="en-GB" sz="1400" i="1" dirty="0">
                <a:latin typeface="Sans Serif Collection" panose="020B0502040504020204" pitchFamily="34" charset="0"/>
                <a:ea typeface="Sans Serif Collection" panose="020B0502040504020204" pitchFamily="34" charset="0"/>
                <a:cs typeface="Sans Serif Collection" panose="020B0502040504020204" pitchFamily="34" charset="0"/>
              </a:rPr>
              <a:t>Introduction to Information Retrieval</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Cambridge University Press, 2008.</a:t>
            </a:r>
            <a:b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br>
            <a:b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[7]</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Theile, M.,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Dantsker</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O. D., Nai, R., Caccamo, M., Yu, S.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uavAP</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A Modular Autopilot Framework for UAVs." </a:t>
            </a:r>
            <a:r>
              <a:rPr lang="en-GB" sz="1400" i="1" dirty="0">
                <a:latin typeface="Sans Serif Collection" panose="020B0502040504020204" pitchFamily="34" charset="0"/>
                <a:ea typeface="Sans Serif Collection" panose="020B0502040504020204" pitchFamily="34" charset="0"/>
                <a:cs typeface="Sans Serif Collection" panose="020B0502040504020204" pitchFamily="34" charset="0"/>
              </a:rPr>
              <a:t>AIAA AVIATION 2020 Forum</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3268, 2020. </a:t>
            </a:r>
            <a:r>
              <a:rPr lang="en-GB" sz="1400" i="1"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en-GB" sz="1400" i="1"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sz="1400" i="1" dirty="0">
                <a:latin typeface="Sans Serif Collection" panose="020B0502040504020204" pitchFamily="34" charset="0"/>
                <a:ea typeface="Sans Serif Collection" panose="020B0502040504020204" pitchFamily="34" charset="0"/>
                <a:cs typeface="Sans Serif Collection" panose="020B0502040504020204" pitchFamily="34" charset="0"/>
              </a:rPr>
              <a:t>, the case study framework)</a:t>
            </a:r>
            <a:b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br>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6" name="TextBox 5">
            <a:extLst>
              <a:ext uri="{FF2B5EF4-FFF2-40B4-BE49-F238E27FC236}">
                <a16:creationId xmlns:a16="http://schemas.microsoft.com/office/drawing/2014/main" id="{9AFA26A1-C2AB-A918-E7FF-9E50EA44C03A}"/>
              </a:ext>
            </a:extLst>
          </p:cNvPr>
          <p:cNvSpPr txBox="1"/>
          <p:nvPr/>
        </p:nvSpPr>
        <p:spPr>
          <a:xfrm>
            <a:off x="822960" y="548640"/>
            <a:ext cx="4439920" cy="584775"/>
          </a:xfrm>
          <a:prstGeom prst="rect">
            <a:avLst/>
          </a:prstGeom>
          <a:noFill/>
        </p:spPr>
        <p:txBody>
          <a:bodyPr wrap="square" rtlCol="0">
            <a:spAutoFit/>
          </a:bodyPr>
          <a:lstStyle/>
          <a:p>
            <a:r>
              <a:rPr lang="en-GB" sz="3200" b="1" dirty="0">
                <a:latin typeface="Sans Serif Collection" panose="020B0502040504020204" pitchFamily="34" charset="0"/>
                <a:ea typeface="Sans Serif Collection" panose="020B0502040504020204" pitchFamily="34" charset="0"/>
                <a:cs typeface="Sans Serif Collection" panose="020B0502040504020204" pitchFamily="34" charset="0"/>
              </a:rPr>
              <a:t>References</a:t>
            </a:r>
            <a:endParaRPr lang="en-GB" sz="2400"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18178165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 name="Picture Placeholder 9" descr="A group of potted plants">
            <a:extLst>
              <a:ext uri="{FF2B5EF4-FFF2-40B4-BE49-F238E27FC236}">
                <a16:creationId xmlns:a16="http://schemas.microsoft.com/office/drawing/2014/main" id="{C5E399AE-C2DC-0BE4-A179-9A726D23FFC5}"/>
              </a:ext>
            </a:extLst>
          </p:cNvPr>
          <p:cNvPicPr>
            <a:picLocks noGrp="1" noChangeAspect="1"/>
          </p:cNvPicPr>
          <p:nvPr>
            <p:ph type="pic" sz="quarter" idx="10"/>
          </p:nvPr>
        </p:nvPicPr>
        <p:blipFill>
          <a:blip r:embed="rId3"/>
          <a:srcRect l="15" r="15"/>
          <a:stretch/>
        </p:blipFill>
        <p:spPr>
          <a:xfrm>
            <a:off x="458788" y="457200"/>
            <a:ext cx="11274425" cy="5943600"/>
          </a:xfrm>
        </p:spPr>
      </p:pic>
      <p:sp>
        <p:nvSpPr>
          <p:cNvPr id="3" name="Title 2">
            <a:extLst>
              <a:ext uri="{FF2B5EF4-FFF2-40B4-BE49-F238E27FC236}">
                <a16:creationId xmlns:a16="http://schemas.microsoft.com/office/drawing/2014/main" id="{526ABF06-5491-8319-408F-AC9C03E64E1E}"/>
              </a:ext>
            </a:extLst>
          </p:cNvPr>
          <p:cNvSpPr>
            <a:spLocks noGrp="1"/>
          </p:cNvSpPr>
          <p:nvPr>
            <p:ph type="title"/>
          </p:nvPr>
        </p:nvSpPr>
        <p:spPr>
          <a:xfrm>
            <a:off x="6853447" y="1355070"/>
            <a:ext cx="4424153" cy="1352682"/>
          </a:xfrm>
        </p:spPr>
        <p:txBody>
          <a:bodyPr>
            <a:noAutofit/>
          </a:bodyPr>
          <a:lstStyle/>
          <a:p>
            <a:pPr algn="ctr"/>
            <a:r>
              <a:rPr lang="en-GB" sz="5400" noProof="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rPr>
              <a:t>Thank you! </a:t>
            </a:r>
            <a:endParaRPr lang="en-GB" sz="3200" i="1" noProof="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TextBox 3">
            <a:extLst>
              <a:ext uri="{FF2B5EF4-FFF2-40B4-BE49-F238E27FC236}">
                <a16:creationId xmlns:a16="http://schemas.microsoft.com/office/drawing/2014/main" id="{D03E57FC-9231-D22E-D87E-BDBBE118ECD6}"/>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386508590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929640" y="485113"/>
            <a:ext cx="10515600" cy="1531525"/>
          </a:xfrm>
        </p:spPr>
        <p:txBody>
          <a:bodyPr anchor="ct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Example Output: The S4 Dual-Gap, Recovered</a:t>
            </a:r>
          </a:p>
        </p:txBody>
      </p:sp>
      <p:pic>
        <p:nvPicPr>
          <p:cNvPr id="8" name="Picture 7">
            <a:extLst>
              <a:ext uri="{FF2B5EF4-FFF2-40B4-BE49-F238E27FC236}">
                <a16:creationId xmlns:a16="http://schemas.microsoft.com/office/drawing/2014/main" id="{E6EC81F9-7BD0-990E-148D-E2A35A33FFE6}"/>
              </a:ext>
            </a:extLst>
          </p:cNvPr>
          <p:cNvPicPr>
            <a:picLocks noChangeAspect="1"/>
          </p:cNvPicPr>
          <p:nvPr/>
        </p:nvPicPr>
        <p:blipFill>
          <a:blip r:embed="rId2"/>
          <a:stretch>
            <a:fillRect/>
          </a:stretch>
        </p:blipFill>
        <p:spPr>
          <a:xfrm>
            <a:off x="746760" y="2266950"/>
            <a:ext cx="5476889" cy="2847982"/>
          </a:xfrm>
          <a:prstGeom prst="rect">
            <a:avLst/>
          </a:prstGeom>
          <a:noFill/>
        </p:spPr>
      </p:pic>
      <p:sp>
        <p:nvSpPr>
          <p:cNvPr id="4" name="Content Placeholder 3"/>
          <p:cNvSpPr>
            <a:spLocks noGrp="1"/>
          </p:cNvSpPr>
          <p:nvPr>
            <p:ph sz="quarter" idx="11"/>
          </p:nvPr>
        </p:nvSpPr>
        <p:spPr>
          <a:xfrm>
            <a:off x="6309360" y="2153285"/>
            <a:ext cx="5135880" cy="3500438"/>
          </a:xfrm>
        </p:spPr>
        <p:txBody>
          <a:bodyP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stream — recovered from static evidence (runtime-suppressed by a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LogLevel</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::NONE no-op)</a:t>
            </a:r>
          </a:p>
          <a:p>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onStageEvent</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 recovered from the trace (a runtime connect(); no static call site exists)</a:t>
            </a:r>
          </a:p>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Only the fused graph (C4/C5) surfaces both edges in one scenario-specific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v2 diagram — the concrete illustration of H1's headline finding.</a:t>
            </a:r>
          </a:p>
        </p:txBody>
      </p:sp>
      <p:sp>
        <p:nvSpPr>
          <p:cNvPr id="3" name="TextBox 2">
            <a:extLst>
              <a:ext uri="{FF2B5EF4-FFF2-40B4-BE49-F238E27FC236}">
                <a16:creationId xmlns:a16="http://schemas.microsoft.com/office/drawing/2014/main" id="{6D89BF6A-57E5-4980-0396-81737AAA91E0}"/>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17</a:t>
            </a:r>
          </a:p>
        </p:txBody>
      </p:sp>
      <p:sp>
        <p:nvSpPr>
          <p:cNvPr id="5" name="TextBox 4">
            <a:extLst>
              <a:ext uri="{FF2B5EF4-FFF2-40B4-BE49-F238E27FC236}">
                <a16:creationId xmlns:a16="http://schemas.microsoft.com/office/drawing/2014/main" id="{25EDBF7A-49CD-3728-3616-9AE7DC3E734A}"/>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C858FDA-366B-E578-5154-44D49B8865A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C96F4F2-6B5A-7C37-1471-E3CA9D07707B}"/>
              </a:ext>
            </a:extLst>
          </p:cNvPr>
          <p:cNvSpPr>
            <a:spLocks noGrp="1"/>
          </p:cNvSpPr>
          <p:nvPr>
            <p:ph type="title"/>
          </p:nvPr>
        </p:nvSpPr>
        <p:spPr>
          <a:xfrm>
            <a:off x="497070" y="506016"/>
            <a:ext cx="10359659" cy="1325563"/>
          </a:xfrm>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Research Questions &amp; Goal</a:t>
            </a:r>
          </a:p>
        </p:txBody>
      </p:sp>
      <p:graphicFrame>
        <p:nvGraphicFramePr>
          <p:cNvPr id="2" name="Content Placeholder 1">
            <a:extLst>
              <a:ext uri="{FF2B5EF4-FFF2-40B4-BE49-F238E27FC236}">
                <a16:creationId xmlns:a16="http://schemas.microsoft.com/office/drawing/2014/main" id="{8318A29F-E75D-F722-EC05-BC9BA2A1E407}"/>
              </a:ext>
            </a:extLst>
          </p:cNvPr>
          <p:cNvGraphicFramePr>
            <a:graphicFrameLocks noGrp="1"/>
          </p:cNvGraphicFramePr>
          <p:nvPr>
            <p:ph sz="quarter" idx="10"/>
            <p:extLst>
              <p:ext uri="{D42A27DB-BD31-4B8C-83A1-F6EECF244321}">
                <p14:modId xmlns:p14="http://schemas.microsoft.com/office/powerpoint/2010/main" val="548800796"/>
              </p:ext>
            </p:extLst>
          </p:nvPr>
        </p:nvGraphicFramePr>
        <p:xfrm>
          <a:off x="1045685" y="1866402"/>
          <a:ext cx="9483365" cy="43634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TextBox 2">
            <a:extLst>
              <a:ext uri="{FF2B5EF4-FFF2-40B4-BE49-F238E27FC236}">
                <a16:creationId xmlns:a16="http://schemas.microsoft.com/office/drawing/2014/main" id="{72A0D7F7-63C4-ECF7-BA18-3CEC3ABC2D24}"/>
              </a:ext>
            </a:extLst>
          </p:cNvPr>
          <p:cNvSpPr txBox="1"/>
          <p:nvPr/>
        </p:nvSpPr>
        <p:spPr>
          <a:xfrm>
            <a:off x="598010" y="4048121"/>
            <a:ext cx="2820776" cy="1323439"/>
          </a:xfrm>
          <a:prstGeom prst="rect">
            <a:avLst/>
          </a:prstGeom>
          <a:noFill/>
        </p:spPr>
        <p:txBody>
          <a:bodyPr wrap="square" rtlCol="0">
            <a:spAutoFit/>
          </a:bodyPr>
          <a:lstStyle/>
          <a:p>
            <a:r>
              <a:rPr lang="en-IN" sz="1600" dirty="0"/>
              <a:t>RQ2: How can scenario-scoped querying of the static call graph restrict reconstruction to only scenario-relevant behaviour?</a:t>
            </a:r>
          </a:p>
          <a:p>
            <a:r>
              <a:rPr lang="en-IN" sz="1600" dirty="0"/>
              <a:t>Confirmed — H2</a:t>
            </a:r>
          </a:p>
        </p:txBody>
      </p:sp>
      <p:sp>
        <p:nvSpPr>
          <p:cNvPr id="7" name="TextBox 6">
            <a:extLst>
              <a:ext uri="{FF2B5EF4-FFF2-40B4-BE49-F238E27FC236}">
                <a16:creationId xmlns:a16="http://schemas.microsoft.com/office/drawing/2014/main" id="{59C28AF5-58FF-EA04-B351-3F510FD4990C}"/>
              </a:ext>
            </a:extLst>
          </p:cNvPr>
          <p:cNvSpPr txBox="1"/>
          <p:nvPr/>
        </p:nvSpPr>
        <p:spPr>
          <a:xfrm>
            <a:off x="7984135" y="3951327"/>
            <a:ext cx="3374179" cy="1323439"/>
          </a:xfrm>
          <a:prstGeom prst="rect">
            <a:avLst/>
          </a:prstGeom>
          <a:noFill/>
        </p:spPr>
        <p:txBody>
          <a:bodyPr wrap="square" rtlCol="0">
            <a:spAutoFit/>
          </a:bodyPr>
          <a:lstStyle/>
          <a:p>
            <a:r>
              <a:rPr lang="en-IN" sz="1600" dirty="0"/>
              <a:t>RQ1: How does combining static analysis and runtime traces improve accuracy and completeness of scenario-specific interaction model reconstruction? Confirmed — H1</a:t>
            </a:r>
          </a:p>
        </p:txBody>
      </p:sp>
      <p:sp>
        <p:nvSpPr>
          <p:cNvPr id="8" name="TextBox 7">
            <a:extLst>
              <a:ext uri="{FF2B5EF4-FFF2-40B4-BE49-F238E27FC236}">
                <a16:creationId xmlns:a16="http://schemas.microsoft.com/office/drawing/2014/main" id="{868FBA95-2DC4-ED78-82A3-74F9874EDFC3}"/>
              </a:ext>
            </a:extLst>
          </p:cNvPr>
          <p:cNvSpPr txBox="1"/>
          <p:nvPr/>
        </p:nvSpPr>
        <p:spPr>
          <a:xfrm>
            <a:off x="7984136" y="5274766"/>
            <a:ext cx="3529815" cy="1077218"/>
          </a:xfrm>
          <a:prstGeom prst="rect">
            <a:avLst/>
          </a:prstGeom>
          <a:noFill/>
        </p:spPr>
        <p:txBody>
          <a:bodyPr wrap="square" rtlCol="0">
            <a:spAutoFit/>
          </a:bodyPr>
          <a:lstStyle/>
          <a:p>
            <a:r>
              <a:rPr lang="en-IN" sz="1600" dirty="0"/>
              <a:t>RQ3:  Do reconstructed interaction models improve agent task performance on scenario comprehension, vs. source code alone? Confirmed — H3</a:t>
            </a:r>
          </a:p>
        </p:txBody>
      </p:sp>
      <p:sp>
        <p:nvSpPr>
          <p:cNvPr id="6" name="TextBox 5">
            <a:extLst>
              <a:ext uri="{FF2B5EF4-FFF2-40B4-BE49-F238E27FC236}">
                <a16:creationId xmlns:a16="http://schemas.microsoft.com/office/drawing/2014/main" id="{63CC3C84-A066-D458-6984-18AAC6FC15EF}"/>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2424580986"/>
      </p:ext>
    </p:extLst>
  </p:cSld>
  <p:clrMapOvr>
    <a:masterClrMapping/>
  </p:clrMapOvr>
  <p:extLst>
    <p:ext uri="{6950BFC3-D8DA-4A85-94F7-54DA5524770B}">
      <p188:commentRel xmlns:p188="http://schemas.microsoft.com/office/powerpoint/2018/8/main" r:id="rId3"/>
    </p:ext>
  </p:extLst>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p:cNvSpPr/>
          <p:nvPr/>
        </p:nvSpPr>
        <p:spPr>
          <a:xfrm>
            <a:off x="419100" y="1051559"/>
            <a:ext cx="11315701" cy="102728"/>
          </a:xfrm>
          <a:prstGeom prst="rect">
            <a:avLst/>
          </a:prstGeom>
          <a:solidFill>
            <a:schemeClr val="accent5">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00075" y="501830"/>
            <a:ext cx="10241280" cy="467820"/>
          </a:xfrm>
          <a:prstGeom prst="rect">
            <a:avLst/>
          </a:prstGeom>
          <a:noFill/>
        </p:spPr>
        <p:txBody>
          <a:bodyPr wrap="square" lIns="45720" tIns="18288" rIns="45720" bIns="18288" anchor="t">
            <a:spAutoFit/>
          </a:bodyPr>
          <a:lstStyle/>
          <a:p>
            <a:pPr algn="l"/>
            <a:r>
              <a:rPr lang="nl-NL" sz="2800" b="1" dirty="0" err="1">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Motivation</a:t>
            </a:r>
            <a:r>
              <a:rPr lang="nl-NL" sz="2800" b="1"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 </a:t>
            </a:r>
            <a:r>
              <a:rPr sz="2800" b="1"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Understanding </a:t>
            </a:r>
            <a:r>
              <a:rPr lang="nl-NL" sz="2800" b="1"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The </a:t>
            </a:r>
            <a:r>
              <a:rPr sz="2800" b="1" dirty="0" err="1">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Behaviour</a:t>
            </a:r>
            <a:endParaRPr sz="2800" b="1"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7" name="Rounded Rectangle 6"/>
          <p:cNvSpPr/>
          <p:nvPr/>
        </p:nvSpPr>
        <p:spPr>
          <a:xfrm>
            <a:off x="502920" y="1371600"/>
            <a:ext cx="5532120" cy="4480560"/>
          </a:xfrm>
          <a:prstGeom prst="roundRect">
            <a:avLst>
              <a:gd name="adj" fmla="val 4000"/>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0075" y="1554480"/>
            <a:ext cx="5305425" cy="2971070"/>
          </a:xfrm>
          <a:prstGeom prst="rect">
            <a:avLst/>
          </a:prstGeom>
          <a:noFill/>
        </p:spPr>
        <p:txBody>
          <a:bodyPr wrap="square" lIns="45720" tIns="18288" rIns="45720" bIns="18288" anchor="t">
            <a:spAutoFit/>
          </a:bodyPr>
          <a:lstStyle/>
          <a:p>
            <a:pPr algn="l">
              <a:spcAft>
                <a:spcPts val="600"/>
              </a:spcAft>
            </a:pPr>
            <a:r>
              <a:rPr sz="1400" b="1" i="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rPr>
              <a:t>The setting</a:t>
            </a:r>
            <a:endParaRPr lang="nl-NL" sz="1400" b="1" i="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gn="l">
              <a:spcAft>
                <a:spcPts val="600"/>
              </a:spcAft>
            </a:pPr>
            <a:endParaRPr sz="1400" b="1" i="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gn="l">
              <a:spcAft>
                <a:spcPts val="8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Long-lived, safety-critical systems evolve continuously.</a:t>
            </a:r>
          </a:p>
          <a:p>
            <a:pPr algn="l">
              <a:spcAft>
                <a:spcPts val="8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Behaviour</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is captured by Interaction Models</a:t>
            </a:r>
            <a:r>
              <a:rPr lang="nl-NL"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ex: S</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cenario</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-specific sequence diagrams.</a:t>
            </a:r>
          </a:p>
          <a:p>
            <a:pPr algn="l">
              <a:spcAft>
                <a:spcPts val="8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In practice these diagrams drift with the code and become unreliable.</a:t>
            </a:r>
          </a:p>
          <a:p>
            <a:pPr algn="l">
              <a:spcAft>
                <a:spcPts val="8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Engineers must reconstruct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behaviour</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by hand</a:t>
            </a:r>
            <a:r>
              <a:rPr lang="nl-NL"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slow, error-prone</a:t>
            </a:r>
            <a:r>
              <a:rPr lang="nl-NL"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and</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expertise-dependent.</a:t>
            </a:r>
          </a:p>
          <a:p>
            <a:pPr algn="l"/>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Event-driven systems make this worse: async callbacks and pub/sub.</a:t>
            </a:r>
          </a:p>
        </p:txBody>
      </p:sp>
      <p:sp>
        <p:nvSpPr>
          <p:cNvPr id="9" name="Rounded Rectangle 8"/>
          <p:cNvSpPr/>
          <p:nvPr/>
        </p:nvSpPr>
        <p:spPr>
          <a:xfrm>
            <a:off x="6217920" y="1371600"/>
            <a:ext cx="5440680" cy="4480560"/>
          </a:xfrm>
          <a:prstGeom prst="roundRect">
            <a:avLst>
              <a:gd name="adj" fmla="val 4000"/>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572768"/>
            <a:ext cx="4937760" cy="252377"/>
          </a:xfrm>
          <a:prstGeom prst="rect">
            <a:avLst/>
          </a:prstGeom>
          <a:noFill/>
        </p:spPr>
        <p:txBody>
          <a:bodyPr wrap="square" lIns="45720" tIns="18288" rIns="45720" bIns="18288" anchor="t">
            <a:spAutoFit/>
          </a:bodyPr>
          <a:lstStyle/>
          <a:p>
            <a:pPr algn="l"/>
            <a:r>
              <a:rPr sz="1400" b="1" i="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rPr>
              <a:t>A REAL DEFECT THIS WOULD HAVE CAUGHT</a:t>
            </a:r>
          </a:p>
        </p:txBody>
      </p:sp>
      <p:sp>
        <p:nvSpPr>
          <p:cNvPr id="11" name="TextBox 10"/>
          <p:cNvSpPr txBox="1"/>
          <p:nvPr/>
        </p:nvSpPr>
        <p:spPr>
          <a:xfrm>
            <a:off x="6492240" y="2211705"/>
            <a:ext cx="5099684" cy="2145203"/>
          </a:xfrm>
          <a:prstGeom prst="rect">
            <a:avLst/>
          </a:prstGeom>
          <a:noFill/>
        </p:spPr>
        <p:txBody>
          <a:bodyPr wrap="square" lIns="45720" tIns="18288" rIns="45720" bIns="18288" anchor="t">
            <a:spAutoFit/>
          </a:bodyPr>
          <a:lstStyle/>
          <a:p>
            <a:pPr algn="l">
              <a:spcAft>
                <a:spcPts val="10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 stale proxy object was never </a:t>
            </a:r>
            <a:r>
              <a:rPr lang="nl-NL"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released</a:t>
            </a:r>
            <a:r>
              <a:rPr lang="nl-NL"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reset call was missing from the connection-handling code.</a:t>
            </a:r>
          </a:p>
          <a:p>
            <a:pPr algn="l">
              <a:spcAft>
                <a:spcPts val="10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After a service restart, the system silently stopped delivering change-notification events.</a:t>
            </a:r>
          </a:p>
          <a:p>
            <a:pPr algn="l">
              <a:spcAft>
                <a:spcPts val="10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The fault was visible only by following an implicit chain of events that no interaction model showed.</a:t>
            </a:r>
          </a:p>
          <a:p>
            <a:pPr algn="l"/>
            <a:r>
              <a:rPr sz="1400" b="1" i="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  Diagnosing it meant manually re</a:t>
            </a:r>
            <a:r>
              <a:rPr lang="nl-NL" sz="1400" b="1" i="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a:t>
            </a:r>
            <a:r>
              <a:rPr sz="1400" b="1" i="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constructing exactly the kind of model this thesis automates.</a:t>
            </a:r>
          </a:p>
        </p:txBody>
      </p:sp>
      <p:sp>
        <p:nvSpPr>
          <p:cNvPr id="12" name="TextBox 11"/>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13" name="TextBox 12"/>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3</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06F3F5D-1682-D458-C803-106301BA8B67}"/>
              </a:ext>
            </a:extLst>
          </p:cNvPr>
          <p:cNvSpPr>
            <a:spLocks noGrp="1"/>
          </p:cNvSpPr>
          <p:nvPr>
            <p:ph type="title"/>
          </p:nvPr>
        </p:nvSpPr>
        <p:spPr>
          <a:xfrm>
            <a:off x="899160" y="655320"/>
            <a:ext cx="10812676" cy="1010642"/>
          </a:xfrm>
        </p:spPr>
        <p:txBody>
          <a:bodyPr anchor="ct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Recap: Original 5-Stage Methodology</a:t>
            </a:r>
          </a:p>
        </p:txBody>
      </p:sp>
      <p:sp>
        <p:nvSpPr>
          <p:cNvPr id="16" name="Content Placeholder 2">
            <a:extLst>
              <a:ext uri="{FF2B5EF4-FFF2-40B4-BE49-F238E27FC236}">
                <a16:creationId xmlns:a16="http://schemas.microsoft.com/office/drawing/2014/main" id="{1445DE22-E1B4-6806-2536-86B3ECD5D16B}"/>
              </a:ext>
            </a:extLst>
          </p:cNvPr>
          <p:cNvSpPr>
            <a:spLocks noGrp="1"/>
          </p:cNvSpPr>
          <p:nvPr>
            <p:ph sz="quarter" idx="10"/>
          </p:nvPr>
        </p:nvSpPr>
        <p:spPr>
          <a:xfrm>
            <a:off x="899160" y="1665962"/>
            <a:ext cx="10662363" cy="4475758"/>
          </a:xfrm>
        </p:spPr>
        <p:txBody>
          <a:bodyPr>
            <a:normAutofit/>
          </a:bodyPr>
          <a:lstStyle/>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solidFill>
                  <a:schemeClr val="accent4"/>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 Definition → Static Analysis → Runtime Trace Collection → Hybrid Reconstruction → </a:t>
            </a:r>
            <a:r>
              <a:rPr lang="en-GB" b="1" noProof="0" dirty="0" err="1">
                <a:solidFill>
                  <a:schemeClr val="accent4"/>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b="1" noProof="0" dirty="0">
                <a:solidFill>
                  <a:schemeClr val="accent4"/>
                </a:solidFill>
                <a:latin typeface="Sans Serif Collection" panose="020B0502040504020204" pitchFamily="34" charset="0"/>
                <a:ea typeface="Sans Serif Collection" panose="020B0502040504020204" pitchFamily="34" charset="0"/>
                <a:cs typeface="Sans Serif Collection" panose="020B0502040504020204" pitchFamily="34" charset="0"/>
              </a:rPr>
              <a:t> v2 Interaction Diagram</a:t>
            </a:r>
          </a:p>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Planned milestone by mid-semester:</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Complete static analysis (Weeks 4–7) and begin trace collection &amp; mapping (Weeks 7–10)</a:t>
            </a:r>
          </a:p>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Actual position today:</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Static analysis complete + </a:t>
            </a:r>
            <a:r>
              <a:rPr lang="en-GB" noProof="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v2 output partially achieved ahead of schedule. </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Trace collection in active progress.</a:t>
            </a:r>
          </a:p>
        </p:txBody>
      </p:sp>
      <p:sp>
        <p:nvSpPr>
          <p:cNvPr id="4" name="Slide Number Placeholder 3" hidden="1">
            <a:extLst>
              <a:ext uri="{FF2B5EF4-FFF2-40B4-BE49-F238E27FC236}">
                <a16:creationId xmlns:a16="http://schemas.microsoft.com/office/drawing/2014/main" id="{E4C4EB1B-2B25-68CB-53B8-5CAED68F0766}"/>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70</a:t>
            </a:fld>
            <a:endParaRPr lang="en-GB" sz="300" noProof="0" dirty="0"/>
          </a:p>
        </p:txBody>
      </p:sp>
      <p:sp>
        <p:nvSpPr>
          <p:cNvPr id="2" name="TextBox 1">
            <a:extLst>
              <a:ext uri="{FF2B5EF4-FFF2-40B4-BE49-F238E27FC236}">
                <a16:creationId xmlns:a16="http://schemas.microsoft.com/office/drawing/2014/main" id="{19ADC264-2B7A-AFEF-EBD9-B8E7CEB82BB6}"/>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38611868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3882381-4F4F-82F0-2048-D44B3318155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71DCD3B-FE7B-B0EA-CB56-E6D8811BA538}"/>
              </a:ext>
            </a:extLst>
          </p:cNvPr>
          <p:cNvSpPr>
            <a:spLocks noGrp="1"/>
          </p:cNvSpPr>
          <p:nvPr>
            <p:ph type="title"/>
          </p:nvPr>
        </p:nvSpPr>
        <p:spPr>
          <a:xfrm>
            <a:off x="899160" y="655320"/>
            <a:ext cx="10812676" cy="1010642"/>
          </a:xfrm>
        </p:spPr>
        <p:txBody>
          <a:bodyPr anchor="ct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Progress Against Original Timeline</a:t>
            </a:r>
          </a:p>
        </p:txBody>
      </p:sp>
      <p:sp>
        <p:nvSpPr>
          <p:cNvPr id="16" name="Content Placeholder 2">
            <a:extLst>
              <a:ext uri="{FF2B5EF4-FFF2-40B4-BE49-F238E27FC236}">
                <a16:creationId xmlns:a16="http://schemas.microsoft.com/office/drawing/2014/main" id="{3DD58E81-FD46-DD92-6E9D-40DFE8AB1657}"/>
              </a:ext>
            </a:extLst>
          </p:cNvPr>
          <p:cNvSpPr>
            <a:spLocks noGrp="1"/>
          </p:cNvSpPr>
          <p:nvPr>
            <p:ph sz="quarter" idx="10"/>
          </p:nvPr>
        </p:nvSpPr>
        <p:spPr>
          <a:xfrm>
            <a:off x="899160" y="1665962"/>
            <a:ext cx="10662363" cy="4475758"/>
          </a:xfrm>
        </p:spPr>
        <p:txBody>
          <a:bodyPr>
            <a:normAutofit/>
          </a:bodyPr>
          <a:lstStyle/>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 Literature &amp; Scoping -- Done</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4–7: Static Analysis -- Done (evolved)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7–10: Trace Collection &amp; Mapping -- In progress</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10–13: Hybrid Reconstruction -- Not started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13–17: Modelling &amp; Evaluation -- Partially ahead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17–21: Writing -- Planned</a:t>
            </a:r>
          </a:p>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Overall: On track. One significant architectural evolution in the static analysis approach.</a:t>
            </a:r>
          </a:p>
        </p:txBody>
      </p:sp>
      <p:sp>
        <p:nvSpPr>
          <p:cNvPr id="4" name="Slide Number Placeholder 3" hidden="1">
            <a:extLst>
              <a:ext uri="{FF2B5EF4-FFF2-40B4-BE49-F238E27FC236}">
                <a16:creationId xmlns:a16="http://schemas.microsoft.com/office/drawing/2014/main" id="{579F5A82-2194-5E79-91B3-F04EB71A6E0E}"/>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71</a:t>
            </a:fld>
            <a:endParaRPr lang="en-GB" sz="300" noProof="0" dirty="0"/>
          </a:p>
        </p:txBody>
      </p:sp>
      <p:sp>
        <p:nvSpPr>
          <p:cNvPr id="2" name="TextBox 1">
            <a:extLst>
              <a:ext uri="{FF2B5EF4-FFF2-40B4-BE49-F238E27FC236}">
                <a16:creationId xmlns:a16="http://schemas.microsoft.com/office/drawing/2014/main" id="{D68AB90D-371D-680F-7352-86EC9DF88C3E}"/>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40214884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C3F0ED-B3C8-B9C0-2F50-AC77498E81B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860ADC2-31A7-0A21-6925-8755E0D00DAA}"/>
              </a:ext>
            </a:extLst>
          </p:cNvPr>
          <p:cNvSpPr>
            <a:spLocks noGrp="1"/>
          </p:cNvSpPr>
          <p:nvPr>
            <p:ph type="title"/>
          </p:nvPr>
        </p:nvSpPr>
        <p:spPr>
          <a:xfrm>
            <a:off x="899160" y="655320"/>
            <a:ext cx="10812676" cy="1010642"/>
          </a:xfrm>
        </p:spPr>
        <p:txBody>
          <a:bodyPr anchor="ctr">
            <a:normAutofit/>
          </a:bodyPr>
          <a:lstStyle/>
          <a:p>
            <a:r>
              <a:rPr lang="en-GB" sz="36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What Changed: The Static Analysis Layer Evolved</a:t>
            </a:r>
          </a:p>
        </p:txBody>
      </p:sp>
      <p:sp>
        <p:nvSpPr>
          <p:cNvPr id="16" name="Content Placeholder 2">
            <a:extLst>
              <a:ext uri="{FF2B5EF4-FFF2-40B4-BE49-F238E27FC236}">
                <a16:creationId xmlns:a16="http://schemas.microsoft.com/office/drawing/2014/main" id="{C66F6BB6-1956-11F1-2A63-463DAEC4C019}"/>
              </a:ext>
            </a:extLst>
          </p:cNvPr>
          <p:cNvSpPr>
            <a:spLocks noGrp="1"/>
          </p:cNvSpPr>
          <p:nvPr>
            <p:ph sz="quarter" idx="10"/>
          </p:nvPr>
        </p:nvSpPr>
        <p:spPr>
          <a:xfrm>
            <a:off x="780789" y="1373060"/>
            <a:ext cx="10662363" cy="5010487"/>
          </a:xfrm>
        </p:spPr>
        <p:txBody>
          <a:bodyPr>
            <a:normAutofit fontScale="92500" lnSpcReduction="20000"/>
          </a:bodyPr>
          <a:lstStyle/>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Originally proposed: </a:t>
            </a: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Scenario-specific dependency-based code slicing directly on C++ source</a:t>
            </a:r>
          </a:p>
          <a:p>
            <a:endParaRPr lang="en-GB" sz="900"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What was built instead:</a:t>
            </a: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10000"/>
              </a:lnSpc>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The graph representation directly addresses RQ2 ("What intermediate property graph can integrate static call graphs and runtime events?") - it is the unified IR (Neo4j Property Graph) that both static slices and runtime trace events will be merged into. The agent skill layer also makes the pipeline query-able without hardcoding scenario-specific logic.</a:t>
            </a:r>
          </a:p>
        </p:txBody>
      </p:sp>
      <p:sp>
        <p:nvSpPr>
          <p:cNvPr id="4" name="Slide Number Placeholder 3" hidden="1">
            <a:extLst>
              <a:ext uri="{FF2B5EF4-FFF2-40B4-BE49-F238E27FC236}">
                <a16:creationId xmlns:a16="http://schemas.microsoft.com/office/drawing/2014/main" id="{CE8942C9-5D98-B897-A28B-57A78EEDAA99}"/>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72</a:t>
            </a:fld>
            <a:endParaRPr lang="en-GB" sz="300" noProof="0" dirty="0"/>
          </a:p>
        </p:txBody>
      </p:sp>
      <p:graphicFrame>
        <p:nvGraphicFramePr>
          <p:cNvPr id="5" name="Diagram 4">
            <a:extLst>
              <a:ext uri="{FF2B5EF4-FFF2-40B4-BE49-F238E27FC236}">
                <a16:creationId xmlns:a16="http://schemas.microsoft.com/office/drawing/2014/main" id="{422F13A0-055C-C0D6-D800-750F37B01D59}"/>
              </a:ext>
            </a:extLst>
          </p:cNvPr>
          <p:cNvGraphicFramePr/>
          <p:nvPr>
            <p:extLst>
              <p:ext uri="{D42A27DB-BD31-4B8C-83A1-F6EECF244321}">
                <p14:modId xmlns:p14="http://schemas.microsoft.com/office/powerpoint/2010/main" val="3968101522"/>
              </p:ext>
            </p:extLst>
          </p:nvPr>
        </p:nvGraphicFramePr>
        <p:xfrm>
          <a:off x="748848" y="2537145"/>
          <a:ext cx="10812676" cy="25233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Box 1">
            <a:extLst>
              <a:ext uri="{FF2B5EF4-FFF2-40B4-BE49-F238E27FC236}">
                <a16:creationId xmlns:a16="http://schemas.microsoft.com/office/drawing/2014/main" id="{C590F411-9C7E-E474-7238-B3BFF049A141}"/>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194731137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AD6A172-E7FC-806E-4794-D7BDEFA5093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CF249AF-0972-1AE7-0D91-7C1165EC4D2F}"/>
              </a:ext>
            </a:extLst>
          </p:cNvPr>
          <p:cNvSpPr>
            <a:spLocks noGrp="1"/>
          </p:cNvSpPr>
          <p:nvPr>
            <p:ph type="title"/>
          </p:nvPr>
        </p:nvSpPr>
        <p:spPr>
          <a:xfrm>
            <a:off x="899160" y="655320"/>
            <a:ext cx="10812676" cy="1010642"/>
          </a:xfrm>
        </p:spPr>
        <p:txBody>
          <a:bodyPr anchor="ct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Progress Against Original Timeline</a:t>
            </a:r>
          </a:p>
        </p:txBody>
      </p:sp>
      <p:sp>
        <p:nvSpPr>
          <p:cNvPr id="16" name="Content Placeholder 2">
            <a:extLst>
              <a:ext uri="{FF2B5EF4-FFF2-40B4-BE49-F238E27FC236}">
                <a16:creationId xmlns:a16="http://schemas.microsoft.com/office/drawing/2014/main" id="{C349D8F0-71DE-E5A3-81DF-1538F35A28F0}"/>
              </a:ext>
            </a:extLst>
          </p:cNvPr>
          <p:cNvSpPr>
            <a:spLocks noGrp="1"/>
          </p:cNvSpPr>
          <p:nvPr>
            <p:ph sz="quarter" idx="10"/>
          </p:nvPr>
        </p:nvSpPr>
        <p:spPr>
          <a:xfrm>
            <a:off x="899160" y="1665962"/>
            <a:ext cx="10662363" cy="4475758"/>
          </a:xfrm>
        </p:spPr>
        <p:txBody>
          <a:bodyPr>
            <a:normAutofit/>
          </a:bodyPr>
          <a:lstStyle/>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 Literature &amp; Scoping -- Done</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4–7: Static Analysis -- Done (evolved)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7–10: Trace Collection &amp; Mapping -- In progress</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10–13: Hybrid Reconstruction -- Not started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13–17: Modelling &amp; Evaluation -- Partially ahead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17–21: Writing -- Planned</a:t>
            </a:r>
          </a:p>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Overall: On track. One significant architectural evolution in the static analysis approach.</a:t>
            </a:r>
          </a:p>
        </p:txBody>
      </p:sp>
      <p:sp>
        <p:nvSpPr>
          <p:cNvPr id="4" name="Slide Number Placeholder 3" hidden="1">
            <a:extLst>
              <a:ext uri="{FF2B5EF4-FFF2-40B4-BE49-F238E27FC236}">
                <a16:creationId xmlns:a16="http://schemas.microsoft.com/office/drawing/2014/main" id="{D88D29D8-7286-4204-05F7-9CF7B9B47EAE}"/>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73</a:t>
            </a:fld>
            <a:endParaRPr lang="en-GB" sz="300" noProof="0" dirty="0"/>
          </a:p>
        </p:txBody>
      </p:sp>
      <p:sp>
        <p:nvSpPr>
          <p:cNvPr id="2" name="TextBox 1">
            <a:extLst>
              <a:ext uri="{FF2B5EF4-FFF2-40B4-BE49-F238E27FC236}">
                <a16:creationId xmlns:a16="http://schemas.microsoft.com/office/drawing/2014/main" id="{64D7FD2E-AF73-69A6-413E-C975DA074554}"/>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8332243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9432263-9105-2C3C-E1DE-C8DE23A416A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A4EF7C2-0A83-AEB6-A684-B69E839F2A96}"/>
              </a:ext>
            </a:extLst>
          </p:cNvPr>
          <p:cNvSpPr>
            <a:spLocks noGrp="1"/>
          </p:cNvSpPr>
          <p:nvPr>
            <p:ph type="title"/>
          </p:nvPr>
        </p:nvSpPr>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Evaluation &amp; Expected Outcomes</a:t>
            </a:r>
          </a:p>
        </p:txBody>
      </p:sp>
      <p:sp>
        <p:nvSpPr>
          <p:cNvPr id="4" name="Slide Number Placeholder 3">
            <a:extLst>
              <a:ext uri="{FF2B5EF4-FFF2-40B4-BE49-F238E27FC236}">
                <a16:creationId xmlns:a16="http://schemas.microsoft.com/office/drawing/2014/main" id="{CF516A9F-E954-9B54-5B63-FC9AC8251B42}"/>
              </a:ext>
            </a:extLst>
          </p:cNvPr>
          <p:cNvSpPr>
            <a:spLocks noGrp="1"/>
          </p:cNvSpPr>
          <p:nvPr>
            <p:ph type="sldNum" sz="quarter" idx="4"/>
          </p:nvPr>
        </p:nvSpPr>
        <p:spPr/>
        <p:txBody>
          <a:bodyPr/>
          <a:lstStyle/>
          <a:p>
            <a:fld id="{B5CEABB6-07DC-46E8-9B57-56EC44A396E5}" type="slidenum">
              <a:rPr lang="en-GB" noProof="0" smtClean="0"/>
              <a:pPr/>
              <a:t>74</a:t>
            </a:fld>
            <a:endParaRPr lang="en-GB" noProof="0" dirty="0"/>
          </a:p>
        </p:txBody>
      </p:sp>
      <p:graphicFrame>
        <p:nvGraphicFramePr>
          <p:cNvPr id="3" name="Table 11">
            <a:extLst>
              <a:ext uri="{FF2B5EF4-FFF2-40B4-BE49-F238E27FC236}">
                <a16:creationId xmlns:a16="http://schemas.microsoft.com/office/drawing/2014/main" id="{618F5EC6-9237-BD09-C34B-6AF719222C85}"/>
              </a:ext>
            </a:extLst>
          </p:cNvPr>
          <p:cNvGraphicFramePr>
            <a:graphicFrameLocks/>
          </p:cNvGraphicFramePr>
          <p:nvPr>
            <p:extLst>
              <p:ext uri="{D42A27DB-BD31-4B8C-83A1-F6EECF244321}">
                <p14:modId xmlns:p14="http://schemas.microsoft.com/office/powerpoint/2010/main" val="2725888204"/>
              </p:ext>
            </p:extLst>
          </p:nvPr>
        </p:nvGraphicFramePr>
        <p:xfrm>
          <a:off x="849497" y="2186073"/>
          <a:ext cx="10493001" cy="1957954"/>
        </p:xfrm>
        <a:graphic>
          <a:graphicData uri="http://schemas.openxmlformats.org/drawingml/2006/table">
            <a:tbl>
              <a:tblPr firstRow="1" bandRow="1">
                <a:tableStyleId>{5FD0F851-EC5A-4D38-B0AD-8093EC10F338}</a:tableStyleId>
              </a:tblPr>
              <a:tblGrid>
                <a:gridCol w="3417349">
                  <a:extLst>
                    <a:ext uri="{9D8B030D-6E8A-4147-A177-3AD203B41FA5}">
                      <a16:colId xmlns:a16="http://schemas.microsoft.com/office/drawing/2014/main" val="3233966979"/>
                    </a:ext>
                  </a:extLst>
                </a:gridCol>
                <a:gridCol w="3316134">
                  <a:extLst>
                    <a:ext uri="{9D8B030D-6E8A-4147-A177-3AD203B41FA5}">
                      <a16:colId xmlns:a16="http://schemas.microsoft.com/office/drawing/2014/main" val="1427916659"/>
                    </a:ext>
                  </a:extLst>
                </a:gridCol>
                <a:gridCol w="3759518">
                  <a:extLst>
                    <a:ext uri="{9D8B030D-6E8A-4147-A177-3AD203B41FA5}">
                      <a16:colId xmlns:a16="http://schemas.microsoft.com/office/drawing/2014/main" val="1158840958"/>
                    </a:ext>
                  </a:extLst>
                </a:gridCol>
              </a:tblGrid>
              <a:tr h="43657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Trace-Only Approach </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Static-Only Approach </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Hybrid Approach</a:t>
                      </a:r>
                    </a:p>
                  </a:txBody>
                  <a:tcPr marL="95186" marR="95186" marT="47593" marB="47593"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13590700"/>
                  </a:ext>
                </a:extLst>
              </a:tr>
              <a:tr h="760689">
                <a:tc>
                  <a:txBody>
                    <a:bodyPr/>
                    <a:lstStyle/>
                    <a:p>
                      <a:pPr marL="0" algn="ctr" defTabSz="914400" rtl="0" eaLnBrk="1" latinLnBrk="0" hangingPunct="1"/>
                      <a:r>
                        <a:rPr lang="en-GB" sz="2000" kern="1200" noProof="0" dirty="0">
                          <a:solidFill>
                            <a:schemeClr val="tx1">
                              <a:lumMod val="65000"/>
                              <a:lumOff val="35000"/>
                            </a:schemeClr>
                          </a:solidFill>
                          <a:latin typeface="+mn-lt"/>
                          <a:ea typeface="+mn-ea"/>
                          <a:cs typeface="+mn-cs"/>
                        </a:rPr>
                        <a:t>Interaction Diagram</a:t>
                      </a:r>
                    </a:p>
                    <a:p>
                      <a:pPr marL="0" algn="ctr" defTabSz="914400" rtl="0" eaLnBrk="1" latinLnBrk="0" hangingPunct="1"/>
                      <a:r>
                        <a:rPr lang="en-GB" sz="2000" kern="1200" noProof="0" dirty="0">
                          <a:solidFill>
                            <a:schemeClr val="tx1">
                              <a:lumMod val="65000"/>
                              <a:lumOff val="35000"/>
                            </a:schemeClr>
                          </a:solidFill>
                          <a:latin typeface="+mn-lt"/>
                          <a:ea typeface="+mn-ea"/>
                          <a:cs typeface="+mn-cs"/>
                        </a:rPr>
                        <a:t>(from traces alone)</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marL="0" algn="ctr" defTabSz="914400" rtl="0" eaLnBrk="1" latinLnBrk="0" hangingPunct="1"/>
                      <a:r>
                        <a:rPr lang="en-GB" sz="2000" kern="1200" noProof="0" dirty="0">
                          <a:solidFill>
                            <a:schemeClr val="tx1">
                              <a:lumMod val="65000"/>
                              <a:lumOff val="35000"/>
                            </a:schemeClr>
                          </a:solidFill>
                          <a:latin typeface="+mn-lt"/>
                          <a:ea typeface="+mn-ea"/>
                          <a:cs typeface="+mn-cs"/>
                        </a:rPr>
                        <a:t>Interaction Diagram</a:t>
                      </a:r>
                    </a:p>
                    <a:p>
                      <a:pPr marL="0" algn="ctr" defTabSz="914400" rtl="0" eaLnBrk="1" latinLnBrk="0" hangingPunct="1"/>
                      <a:r>
                        <a:rPr lang="en-GB" sz="2000" kern="1200" noProof="0" dirty="0">
                          <a:solidFill>
                            <a:schemeClr val="tx1">
                              <a:lumMod val="65000"/>
                              <a:lumOff val="35000"/>
                            </a:schemeClr>
                          </a:solidFill>
                          <a:latin typeface="+mn-lt"/>
                          <a:ea typeface="+mn-ea"/>
                          <a:cs typeface="+mn-cs"/>
                        </a:rPr>
                        <a:t>(from static code alone)</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marL="0" algn="ctr" defTabSz="914400" rtl="0" eaLnBrk="1" latinLnBrk="0" hangingPunct="1"/>
                      <a:r>
                        <a:rPr lang="en-GB" sz="2000" kern="1200" noProof="0" dirty="0">
                          <a:solidFill>
                            <a:schemeClr val="tx1">
                              <a:lumMod val="65000"/>
                              <a:lumOff val="35000"/>
                            </a:schemeClr>
                          </a:solidFill>
                          <a:latin typeface="+mn-lt"/>
                          <a:ea typeface="+mn-ea"/>
                          <a:cs typeface="+mn-cs"/>
                        </a:rPr>
                        <a:t>Interaction Diagram</a:t>
                      </a:r>
                    </a:p>
                    <a:p>
                      <a:pPr marL="0" algn="ctr" defTabSz="914400" rtl="0" eaLnBrk="1" latinLnBrk="0" hangingPunct="1"/>
                      <a:r>
                        <a:rPr lang="en-GB" sz="2000" kern="1200" noProof="0" dirty="0">
                          <a:solidFill>
                            <a:schemeClr val="tx1">
                              <a:lumMod val="65000"/>
                              <a:lumOff val="35000"/>
                            </a:schemeClr>
                          </a:solidFill>
                          <a:latin typeface="+mn-lt"/>
                          <a:ea typeface="+mn-ea"/>
                          <a:cs typeface="+mn-cs"/>
                        </a:rPr>
                        <a:t>(Trace enriched with static code)</a:t>
                      </a:r>
                    </a:p>
                  </a:txBody>
                  <a:tcPr marL="95186" marR="95186" marT="47593" marB="47593" anchor="ctr">
                    <a:lnL>
                      <a:noFill/>
                    </a:lnL>
                    <a:lnR>
                      <a:noFill/>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830826746"/>
                  </a:ext>
                </a:extLst>
              </a:tr>
              <a:tr h="7606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kern="1200" noProof="0" dirty="0">
                          <a:solidFill>
                            <a:schemeClr val="tx1">
                              <a:lumMod val="65000"/>
                              <a:lumOff val="35000"/>
                            </a:schemeClr>
                          </a:solidFill>
                          <a:latin typeface="+mn-lt"/>
                          <a:ea typeface="+mn-ea"/>
                          <a:cs typeface="+mn-cs"/>
                        </a:rPr>
                        <a:t>Incomplete flow</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kern="1200" noProof="0" dirty="0">
                          <a:solidFill>
                            <a:schemeClr val="tx1">
                              <a:lumMod val="65000"/>
                              <a:lumOff val="35000"/>
                            </a:schemeClr>
                          </a:solidFill>
                          <a:latin typeface="+mn-lt"/>
                          <a:ea typeface="+mn-ea"/>
                          <a:cs typeface="+mn-cs"/>
                        </a:rPr>
                        <a:t>Over-approximation</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kern="1200" noProof="0" dirty="0">
                          <a:solidFill>
                            <a:schemeClr val="tx1">
                              <a:lumMod val="65000"/>
                              <a:lumOff val="35000"/>
                            </a:schemeClr>
                          </a:solidFill>
                          <a:latin typeface="+mn-lt"/>
                          <a:ea typeface="+mn-ea"/>
                          <a:cs typeface="+mn-cs"/>
                        </a:rPr>
                        <a:t>More complete flow</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321589815"/>
                  </a:ext>
                </a:extLst>
              </a:tr>
            </a:tbl>
          </a:graphicData>
        </a:graphic>
      </p:graphicFrame>
      <p:sp>
        <p:nvSpPr>
          <p:cNvPr id="8" name="TextBox 7">
            <a:extLst>
              <a:ext uri="{FF2B5EF4-FFF2-40B4-BE49-F238E27FC236}">
                <a16:creationId xmlns:a16="http://schemas.microsoft.com/office/drawing/2014/main" id="{72135843-6E30-2E41-5C48-4108864AD894}"/>
              </a:ext>
            </a:extLst>
          </p:cNvPr>
          <p:cNvSpPr txBox="1"/>
          <p:nvPr/>
        </p:nvSpPr>
        <p:spPr>
          <a:xfrm>
            <a:off x="916169" y="4917626"/>
            <a:ext cx="6096000" cy="1015663"/>
          </a:xfrm>
          <a:prstGeom prst="rect">
            <a:avLst/>
          </a:prstGeom>
          <a:noFill/>
        </p:spPr>
        <p:txBody>
          <a:bodyPr wrap="square">
            <a:spAutoFit/>
          </a:bodyPr>
          <a:lstStyle/>
          <a:p>
            <a:pPr marL="285750" indent="-285750">
              <a:buFont typeface="Arial" panose="020B0604020202020204" pitchFamily="34" charset="0"/>
              <a:buChar char="•"/>
            </a:pPr>
            <a:r>
              <a:rPr lang="en-GB" sz="2000" noProof="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Prototype implementation</a:t>
            </a:r>
          </a:p>
          <a:p>
            <a:pPr marL="285750" indent="-285750">
              <a:buFont typeface="Arial" panose="020B0604020202020204" pitchFamily="34" charset="0"/>
              <a:buChar char="•"/>
            </a:pPr>
            <a:r>
              <a:rPr lang="en-GB" sz="2000" noProof="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Scenario-specific </a:t>
            </a:r>
            <a:r>
              <a:rPr lang="en-GB" sz="2000" noProof="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2000" noProof="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v2 diagrams</a:t>
            </a:r>
          </a:p>
          <a:p>
            <a:pPr marL="285750" indent="-285750">
              <a:buFont typeface="Arial" panose="020B0604020202020204" pitchFamily="34" charset="0"/>
              <a:buChar char="•"/>
            </a:pPr>
            <a:r>
              <a:rPr lang="en-GB" sz="2000" noProof="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Comparative evaluation results</a:t>
            </a:r>
          </a:p>
        </p:txBody>
      </p:sp>
      <p:sp>
        <p:nvSpPr>
          <p:cNvPr id="2" name="Footer Placeholder 1">
            <a:extLst>
              <a:ext uri="{FF2B5EF4-FFF2-40B4-BE49-F238E27FC236}">
                <a16:creationId xmlns:a16="http://schemas.microsoft.com/office/drawing/2014/main" id="{CBB05CDD-072B-1444-F76E-12039D108A81}"/>
              </a:ext>
            </a:extLst>
          </p:cNvPr>
          <p:cNvSpPr>
            <a:spLocks noGrp="1"/>
          </p:cNvSpPr>
          <p:nvPr>
            <p:ph type="ftr" sz="quarter" idx="3"/>
          </p:nvPr>
        </p:nvSpPr>
        <p:spPr/>
        <p:txBody>
          <a:bodyPr/>
          <a:lstStyle/>
          <a:p>
            <a:r>
              <a:rPr lang="en-US"/>
              <a:t>Hybrid Static–Trace Interaction Model Synthesis  ·  Prathik Anand Krishnan  ·  UvA  ·  TNO-ESI /</a:t>
            </a:r>
            <a:endParaRPr lang="en-US" dirty="0"/>
          </a:p>
        </p:txBody>
      </p:sp>
    </p:spTree>
    <p:extLst>
      <p:ext uri="{BB962C8B-B14F-4D97-AF65-F5344CB8AC3E}">
        <p14:creationId xmlns:p14="http://schemas.microsoft.com/office/powerpoint/2010/main" val="221215316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1039863-1334-69B2-98D8-71AE5E19997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5C87862-358F-1349-F402-1FBDC5323204}"/>
              </a:ext>
            </a:extLst>
          </p:cNvPr>
          <p:cNvSpPr>
            <a:spLocks noGrp="1"/>
          </p:cNvSpPr>
          <p:nvPr>
            <p:ph type="title"/>
          </p:nvPr>
        </p:nvSpPr>
        <p:spPr>
          <a:xfrm>
            <a:off x="835980" y="630776"/>
            <a:ext cx="9762309" cy="1163190"/>
          </a:xfrm>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Planning &amp; Feasibility</a:t>
            </a:r>
          </a:p>
        </p:txBody>
      </p:sp>
      <p:sp>
        <p:nvSpPr>
          <p:cNvPr id="10" name="Content Placeholder 9">
            <a:extLst>
              <a:ext uri="{FF2B5EF4-FFF2-40B4-BE49-F238E27FC236}">
                <a16:creationId xmlns:a16="http://schemas.microsoft.com/office/drawing/2014/main" id="{4477682C-AE9B-05BC-9FD4-A1E6EE10F3DF}"/>
              </a:ext>
            </a:extLst>
          </p:cNvPr>
          <p:cNvSpPr>
            <a:spLocks noGrp="1"/>
          </p:cNvSpPr>
          <p:nvPr>
            <p:ph sz="quarter" idx="11"/>
          </p:nvPr>
        </p:nvSpPr>
        <p:spPr>
          <a:xfrm>
            <a:off x="914399" y="2392678"/>
            <a:ext cx="7277494" cy="3046587"/>
          </a:xfrm>
        </p:spPr>
        <p:txBody>
          <a:bodyPr>
            <a:normAutofit/>
          </a:bodyPr>
          <a:lstStyle/>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       -	Literature &amp; Scoping</a:t>
            </a:r>
          </a:p>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4–7       -	Static Analysis</a:t>
            </a:r>
          </a:p>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7–10     -	Trace Collection &amp; Mapping</a:t>
            </a:r>
          </a:p>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10–13   -	Hybrid </a:t>
            </a:r>
            <a:r>
              <a:rPr lang="en-GB" sz="2000" noProof="0" dirty="0" err="1">
                <a:latin typeface="Sans Serif Collection" panose="020B0502040504020204" pitchFamily="34" charset="0"/>
                <a:ea typeface="Sans Serif Collection" panose="020B0502040504020204" pitchFamily="34" charset="0"/>
                <a:cs typeface="Sans Serif Collection" panose="020B0502040504020204" pitchFamily="34" charset="0"/>
              </a:rPr>
              <a:t>Modeling</a:t>
            </a: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&amp; Evaluation</a:t>
            </a:r>
          </a:p>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13–17   - 	Writing</a:t>
            </a:r>
          </a:p>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17–21   -	Buffer</a:t>
            </a:r>
          </a:p>
        </p:txBody>
      </p:sp>
      <p:sp>
        <p:nvSpPr>
          <p:cNvPr id="3" name="Slide Number Placeholder 2">
            <a:extLst>
              <a:ext uri="{FF2B5EF4-FFF2-40B4-BE49-F238E27FC236}">
                <a16:creationId xmlns:a16="http://schemas.microsoft.com/office/drawing/2014/main" id="{BD83182D-8F63-E16F-3C49-55E086CB912C}"/>
              </a:ext>
            </a:extLst>
          </p:cNvPr>
          <p:cNvSpPr>
            <a:spLocks noGrp="1"/>
          </p:cNvSpPr>
          <p:nvPr>
            <p:ph type="sldNum" sz="quarter" idx="4"/>
          </p:nvPr>
        </p:nvSpPr>
        <p:spPr>
          <a:xfrm>
            <a:off x="8534400" y="6121252"/>
            <a:ext cx="2743200" cy="365125"/>
          </a:xfrm>
        </p:spPr>
        <p:txBody>
          <a:bodyPr/>
          <a:lstStyle/>
          <a:p>
            <a:fld id="{B5CEABB6-07DC-46E8-9B57-56EC44A396E5}" type="slidenum">
              <a:rPr lang="en-GB" noProof="0" smtClean="0"/>
              <a:pPr/>
              <a:t>75</a:t>
            </a:fld>
            <a:endParaRPr lang="en-GB" noProof="0" dirty="0"/>
          </a:p>
        </p:txBody>
      </p:sp>
      <p:sp>
        <p:nvSpPr>
          <p:cNvPr id="2" name="Footer Placeholder 1">
            <a:extLst>
              <a:ext uri="{FF2B5EF4-FFF2-40B4-BE49-F238E27FC236}">
                <a16:creationId xmlns:a16="http://schemas.microsoft.com/office/drawing/2014/main" id="{74072CD4-3AB6-3D14-94C9-3543CC54F30B}"/>
              </a:ext>
            </a:extLst>
          </p:cNvPr>
          <p:cNvSpPr>
            <a:spLocks noGrp="1"/>
          </p:cNvSpPr>
          <p:nvPr>
            <p:ph type="ftr" sz="quarter" idx="3"/>
          </p:nvPr>
        </p:nvSpPr>
        <p:spPr/>
        <p:txBody>
          <a:bodyPr/>
          <a:lstStyle/>
          <a:p>
            <a:r>
              <a:rPr lang="en-US"/>
              <a:t>Hybrid Static–Trace Interaction Model Synthesis  ·  Prathik Anand Krishnan  ·  UvA  ·  TNO-ESI /</a:t>
            </a:r>
            <a:endParaRPr lang="en-US" dirty="0"/>
          </a:p>
        </p:txBody>
      </p:sp>
    </p:spTree>
    <p:extLst>
      <p:ext uri="{BB962C8B-B14F-4D97-AF65-F5344CB8AC3E}">
        <p14:creationId xmlns:p14="http://schemas.microsoft.com/office/powerpoint/2010/main" val="247380967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C7AD4E3-5FA5-1E2F-B9AE-F34C3844A0BB}"/>
              </a:ext>
            </a:extLst>
          </p:cNvPr>
          <p:cNvSpPr>
            <a:spLocks noGrp="1"/>
          </p:cNvSpPr>
          <p:nvPr>
            <p:ph type="title"/>
          </p:nvPr>
        </p:nvSpPr>
        <p:spPr>
          <a:xfrm>
            <a:off x="899160" y="655320"/>
            <a:ext cx="10812676" cy="1010642"/>
          </a:xfrm>
        </p:spPr>
        <p:txBody>
          <a:bodyPr anchor="ctr">
            <a:noAutofit/>
          </a:bodyPr>
          <a:lstStyle/>
          <a:p>
            <a:r>
              <a:rPr lang="en-GB" sz="3200" dirty="0">
                <a:latin typeface="Sans Serif Collection" panose="020B0502040504020204" pitchFamily="34" charset="0"/>
                <a:ea typeface="Sans Serif Collection" panose="020B0502040504020204" pitchFamily="34" charset="0"/>
                <a:cs typeface="Sans Serif Collection" panose="020B0502040504020204" pitchFamily="34" charset="0"/>
              </a:rPr>
              <a:t>References</a:t>
            </a:r>
            <a:endParaRPr lang="en-GB" sz="3200"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6" name="Content Placeholder 2">
            <a:extLst>
              <a:ext uri="{FF2B5EF4-FFF2-40B4-BE49-F238E27FC236}">
                <a16:creationId xmlns:a16="http://schemas.microsoft.com/office/drawing/2014/main" id="{93FCB616-61BD-05E7-8A4A-17019134E94B}"/>
              </a:ext>
            </a:extLst>
          </p:cNvPr>
          <p:cNvSpPr>
            <a:spLocks noGrp="1"/>
          </p:cNvSpPr>
          <p:nvPr>
            <p:ph sz="quarter" idx="10"/>
          </p:nvPr>
        </p:nvSpPr>
        <p:spPr>
          <a:xfrm>
            <a:off x="899160" y="1665962"/>
            <a:ext cx="10662363" cy="4475758"/>
          </a:xfrm>
        </p:spPr>
        <p:txBody>
          <a:bodyPr>
            <a:normAutofit/>
          </a:bodyPr>
          <a:lstStyle/>
          <a:p>
            <a:pPr>
              <a:lnSpc>
                <a:spcPct val="110000"/>
              </a:lnSpc>
            </a:pPr>
            <a:r>
              <a:rPr b="1"/>
              <a:t>References used on Slide 4 (State of the Art &amp; Research Gap):</a:t>
            </a:r>
          </a:p>
          <a:p>
            <a:r>
              <a:t>[1] Cornelissen, B., Zaidman, A., van Deursen, A., Moonen, L., Koschke, R. "A Systematic Survey of Program Comprehension through Dynamic Analysis." IEEE Transactions on Software Engineering, 35(5), 684–702, 2009.</a:t>
            </a:r>
          </a:p>
          <a:p>
            <a:r>
              <a:t>[2] Systä, T. "Static and Dynamic Reverse Engineering Techniques for Java Software Systems." University of Tampere, Dept. of Computer Science, 2000.</a:t>
            </a:r>
          </a:p>
          <a:p>
            <a:r>
              <a:t>[3] Labiche, Y., Kolbah, B., Mehrfard, H. "Combining Static and Dynamic Analyses to Reverse-Engineer Scenario Diagrams." Proc. 29th IEEE International Conference on Software Maintenance (ICSM), 130–139, 2013.</a:t>
            </a:r>
          </a:p>
        </p:txBody>
      </p:sp>
      <p:sp>
        <p:nvSpPr>
          <p:cNvPr id="4" name="Slide Number Placeholder 3" hidden="1">
            <a:extLst>
              <a:ext uri="{FF2B5EF4-FFF2-40B4-BE49-F238E27FC236}">
                <a16:creationId xmlns:a16="http://schemas.microsoft.com/office/drawing/2014/main" id="{50F477AE-4813-41AF-CB0D-04D712761363}"/>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76</a:t>
            </a:fld>
            <a:endParaRPr lang="en-GB" sz="300" noProof="0" dirty="0"/>
          </a:p>
        </p:txBody>
      </p:sp>
      <p:sp>
        <p:nvSpPr>
          <p:cNvPr id="3" name="TextBox 2">
            <a:extLst>
              <a:ext uri="{FF2B5EF4-FFF2-40B4-BE49-F238E27FC236}">
                <a16:creationId xmlns:a16="http://schemas.microsoft.com/office/drawing/2014/main" id="{17163299-8776-5CA6-6D1E-C13CF8C91DA2}"/>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endParaRPr/>
          </a:p>
        </p:txBody>
      </p:sp>
      <p:sp>
        <p:nvSpPr>
          <p:cNvPr id="5" name="TextBox 4">
            <a:extLst>
              <a:ext uri="{FF2B5EF4-FFF2-40B4-BE49-F238E27FC236}">
                <a16:creationId xmlns:a16="http://schemas.microsoft.com/office/drawing/2014/main" id="{338FC515-45F7-4C71-ECF0-456C813F7699}"/>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theme/theme1.xml><?xml version="1.0" encoding="utf-8"?>
<a:theme xmlns:a="http://schemas.openxmlformats.org/drawingml/2006/main" name="Custom">
  <a:themeElements>
    <a:clrScheme name="Custom 77">
      <a:dk1>
        <a:sysClr val="windowText" lastClr="000000"/>
      </a:dk1>
      <a:lt1>
        <a:sysClr val="window" lastClr="FFFFFF"/>
      </a:lt1>
      <a:dk2>
        <a:srgbClr val="44546A"/>
      </a:dk2>
      <a:lt2>
        <a:srgbClr val="E7E6E6"/>
      </a:lt2>
      <a:accent1>
        <a:srgbClr val="FFB09D"/>
      </a:accent1>
      <a:accent2>
        <a:srgbClr val="FFD7C7"/>
      </a:accent2>
      <a:accent3>
        <a:srgbClr val="FFE9E0"/>
      </a:accent3>
      <a:accent4>
        <a:srgbClr val="55736D"/>
      </a:accent4>
      <a:accent5>
        <a:srgbClr val="88A88E"/>
      </a:accent5>
      <a:accent6>
        <a:srgbClr val="E6FFFB"/>
      </a:accent6>
      <a:hlink>
        <a:srgbClr val="0563C1"/>
      </a:hlink>
      <a:folHlink>
        <a:srgbClr val="954F72"/>
      </a:folHlink>
    </a:clrScheme>
    <a:fontScheme name="Custom 116">
      <a:majorFont>
        <a:latin typeface="Bodoni MT"/>
        <a:ea typeface=""/>
        <a:cs typeface=""/>
      </a:majorFont>
      <a:minorFont>
        <a:latin typeface="Sourc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66722518_win32_SD_v11" id="{6E195932-91F4-4861-8538-848409B20D97}" vid="{F5C82CE7-F5AC-4E30-975C-FD228ED220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37CDA33-9251-49D0-A51A-7888AA3E0635}">
  <ds:schemaRefs>
    <ds:schemaRef ds:uri="http://schemas.microsoft.com/office/2006/metadata/properties"/>
    <ds:schemaRef ds:uri="http://schemas.microsoft.com/office/2006/documentManagement/types"/>
    <ds:schemaRef ds:uri="http://purl.org/dc/dcmitype/"/>
    <ds:schemaRef ds:uri="http://purl.org/dc/elements/1.1/"/>
    <ds:schemaRef ds:uri="http://purl.org/dc/terms/"/>
    <ds:schemaRef ds:uri="71af3243-3dd4-4a8d-8c0d-dd76da1f02a5"/>
    <ds:schemaRef ds:uri="230e9df3-be65-4c73-a93b-d1236ebd677e"/>
    <ds:schemaRef ds:uri="http://schemas.microsoft.com/office/infopath/2007/PartnerControls"/>
    <ds:schemaRef ds:uri="http://schemas.openxmlformats.org/package/2006/metadata/core-properties"/>
    <ds:schemaRef ds:uri="16c05727-aa75-4e4a-9b5f-8a80a1165891"/>
    <ds:schemaRef ds:uri="http://schemas.microsoft.com/sharepoint/v3"/>
    <ds:schemaRef ds:uri="http://www.w3.org/XML/1998/namespace"/>
  </ds:schemaRefs>
</ds:datastoreItem>
</file>

<file path=customXml/itemProps2.xml><?xml version="1.0" encoding="utf-8"?>
<ds:datastoreItem xmlns:ds="http://schemas.openxmlformats.org/officeDocument/2006/customXml" ds:itemID="{32E4FA29-61E2-42A6-9537-732ED628B68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F796806-D3A7-49C6-9335-B8A0B9307F8E}">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Light sales pitch presentation</Template>
  <TotalTime>7320</TotalTime>
  <Words>15094</Words>
  <Application>Microsoft Office PowerPoint</Application>
  <PresentationFormat>Widescreen</PresentationFormat>
  <Paragraphs>1615</Paragraphs>
  <Slides>76</Slides>
  <Notes>35</Notes>
  <HiddenSlides>53</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76</vt:i4>
      </vt:variant>
    </vt:vector>
  </HeadingPairs>
  <TitlesOfParts>
    <vt:vector size="84" baseType="lpstr">
      <vt:lpstr>Arial</vt:lpstr>
      <vt:lpstr>Bodoni MT</vt:lpstr>
      <vt:lpstr>Calibri</vt:lpstr>
      <vt:lpstr>Consolas</vt:lpstr>
      <vt:lpstr>Sans Serif Collection</vt:lpstr>
      <vt:lpstr>SFMono-Regular</vt:lpstr>
      <vt:lpstr>Source Sans Pro Light</vt:lpstr>
      <vt:lpstr>Custom</vt:lpstr>
      <vt:lpstr>Hybrid Static–Trace Analysis for Synthesizing Interaction Diagrams in Event-Driven Systems</vt:lpstr>
      <vt:lpstr>PowerPoint Presentation</vt:lpstr>
      <vt:lpstr>Problem Statement &amp; Motivation</vt:lpstr>
      <vt:lpstr>State of the Art &amp; Research Gap</vt:lpstr>
      <vt:lpstr>Research Questions</vt:lpstr>
      <vt:lpstr>Codebase Selected: CpsCore [7]</vt:lpstr>
      <vt:lpstr>Approach: Agent Skill Pipeline</vt:lpstr>
      <vt:lpstr>Four Evaluation Scenarios were Selected</vt:lpstr>
      <vt:lpstr>Ground Truth</vt:lpstr>
      <vt:lpstr>Methodology - The Hybrid Pipeline </vt:lpstr>
      <vt:lpstr>H1 Experiment Design</vt:lpstr>
      <vt:lpstr>H1 – Metrics Calculations Example</vt:lpstr>
      <vt:lpstr>H1 Results: Interconnections and sequence F1</vt:lpstr>
      <vt:lpstr>H1 Interpretation — Why the Numbers Look This Way</vt:lpstr>
      <vt:lpstr>H2 Experiment</vt:lpstr>
      <vt:lpstr>H2 Results in Detail: Noise, Coverage &amp; Expert Ratings</vt:lpstr>
      <vt:lpstr>H3 Setup &amp; Results : Diagram Utility</vt:lpstr>
      <vt:lpstr>What Was Produced: SysML v2 Artifacts</vt:lpstr>
      <vt:lpstr>Practitioner Validation</vt:lpstr>
      <vt:lpstr>Research Questions: How it Each Stands</vt:lpstr>
      <vt:lpstr>Challenges Encountered &amp; How They Were Resolved</vt:lpstr>
      <vt:lpstr>Overall Summary</vt:lpstr>
      <vt:lpstr>[1] Grove, D., DeFouw, G., Dean, J., Chambers, C. "Call Graph Construction in Object-Oriented Languages." Proc. 12th ACM SIGPLAN Conference on Object-Oriented Programming, Systems, Languages, and Applications (OOPSLA), 108–124, 1997.  [2] Briand, L. C., Labiche, Y., Leduc, J. "Toward the Reverse Engineering of UML Sequence Diagrams for Distributed Java Software." IEEE Transactions on Software Engineering, 32(9), 642–663, 2006.  [3] Labiche, Y., Kolbah, B., Mehrfard, H. "Combining Static and Dynamic Analyses to Reverse-Engineer Scenario Diagrams." Proc. 29th IEEE International Conference on Software Maintenance (ICSM), 130–139, 2013.  [4] Abdelmalek, H., Khriss, I., Jakimi, A. "Towards a Hybrid Approach to Reverse Engineer Behavioral UML Diagrams from Source Code." Journal of Theoretical and Applied Information Technology (JATIT), Vol. 101, No. 22, 30 November 2023.  [5] Kienle, H. M., Müller, H. A. "Requirements of Architecture Reconstruction Tools." Architectures for Adaptive Software Systems (LNCS), 1–22, 2009.  [6] Manning, C. D., Raghavan, P., Schütze, H. Introduction to Information Retrieval. Cambridge University Press, 2008.  [7] Theile, M., Dantsker, O. D., Nai, R., Caccamo, M., Yu, S. "uavAP: A Modular Autopilot Framework for UAVs." AIAA AVIATION 2020 Forum, 3268, 2020. (CPSCore, the case study framework) </vt:lpstr>
      <vt:lpstr>Thank you! </vt:lpstr>
      <vt:lpstr>H1 Experiment Design</vt:lpstr>
      <vt:lpstr>Trace Collection &amp; Practitioner Validation</vt:lpstr>
      <vt:lpstr>Hybrid Static–Trace Analysis for Synthesizing Interaction Diagrams in Event-Driven Systems</vt:lpstr>
      <vt:lpstr>PowerPoint Presentation</vt:lpstr>
      <vt:lpstr>Problem Statement &amp; Motivation</vt:lpstr>
      <vt:lpstr>State of the Art &amp; Research Gap</vt:lpstr>
      <vt:lpstr>Research Questions</vt:lpstr>
      <vt:lpstr>Codebase Selected: CpsCore [7]</vt:lpstr>
      <vt:lpstr>Approach: Agent Skill Pipeline</vt:lpstr>
      <vt:lpstr>Four Evaluation Scenarios were Selected</vt:lpstr>
      <vt:lpstr>Reference Diagrams - Ground Truths</vt:lpstr>
      <vt:lpstr>Ground Truth Explanation</vt:lpstr>
      <vt:lpstr>Methodology - The Hybrid Pipeline </vt:lpstr>
      <vt:lpstr>Stage 1 : Static Extraction: C++ → Property Graph</vt:lpstr>
      <vt:lpstr>Stage 2 : Code Graph Query: Property Graph → S1 Subgraph</vt:lpstr>
      <vt:lpstr>Stage 3 : Dependency Matrix Extraction: Subgraph → Call Table</vt:lpstr>
      <vt:lpstr>Stage 4 : Trace Instrumentation &amp; Runtime Tracing</vt:lpstr>
      <vt:lpstr>Stage 5 : Agentic Synthesis: Static + Dynamic → Elements</vt:lpstr>
      <vt:lpstr>Stage 6 : SysML v2 Generation: Elements → Scenario Diagram</vt:lpstr>
      <vt:lpstr>Whole Pipeline Summary</vt:lpstr>
      <vt:lpstr>H1 Experiment Design</vt:lpstr>
      <vt:lpstr>H1 – Metrics Calculations for Scenario 1</vt:lpstr>
      <vt:lpstr>H1 – Metrics Calculations for Scenario 1</vt:lpstr>
      <vt:lpstr>H1 – Metrics Calculations for Scenario 1</vt:lpstr>
      <vt:lpstr>H1 – Metrics Calculations for Scenario 1</vt:lpstr>
      <vt:lpstr>H1 – Metrics Calculations for Scenario 1</vt:lpstr>
      <vt:lpstr>H1 – Metrics Calculations for Scenario 1</vt:lpstr>
      <vt:lpstr>H1 Results: Precision / Recall / F1</vt:lpstr>
      <vt:lpstr>H1 Interpretation — Why the Numbers Look This Way</vt:lpstr>
      <vt:lpstr>Scenario 1 - Outputs</vt:lpstr>
      <vt:lpstr>Scenario 2 - Outputs</vt:lpstr>
      <vt:lpstr>Scenario 3 - Outputs</vt:lpstr>
      <vt:lpstr>Scenario 4 - Outputs</vt:lpstr>
      <vt:lpstr>H2 Results in Detail: Noise, Coverage &amp; Expert Ratings</vt:lpstr>
      <vt:lpstr>H3 Setup &amp; Results : Diagram Utility</vt:lpstr>
      <vt:lpstr>What Was Produced: SysML v2 Artifacts</vt:lpstr>
      <vt:lpstr>Trace Collection &amp; Practitioner Validation</vt:lpstr>
      <vt:lpstr>Research Questions: Where Each Stands</vt:lpstr>
      <vt:lpstr>Challenges Encountered &amp; How They Were Resolved</vt:lpstr>
      <vt:lpstr>Overall Summary</vt:lpstr>
      <vt:lpstr>[1] Cornelissen, B., Zaidman, A., van Deursen, A., Moonen, L., Koschke, R. "A Systematic Survey of Program Comprehension through Dynamic Analysis." IEEE Transactions on Software Engineering, 35(5), 684–702, 2009.  [2] Systä, T. "Static and Dynamic Reverse Engineering Techniques for Java Software Systems." University of Tampere, Dept. of Computer Science, 2000.  [3] Labiche, Y., Kolbah, B., Mehrfard, H. "Combining Static and Dynamic Analyses to Reverse-Engineer Scenario Diagrams." Proc. 29th IEEE International Conference on Software Maintenance (ICSM), 130–139, 2013.  [4] Egyed, A. "A Scenario-Driven Approach to Trace Dependency Analysis." IEEE Transactions on Software Engineering, 29(2), 116–132, 2003.  [5] Helm, D., Keidel, S., Kampkötter, A., Düsing, J., Roth, T., Hermann, B., Mezini, M. "Total Recall? How Good Are Static Call Graphs Really?" Proc. 33rd ACM SIGSOFT ISSTA, 2024.  [6] Manning, C. D., Raghavan, P., Schütze, H. Introduction to Information Retrieval. Cambridge University Press, 2008.  [7] Theile, M., Dantsker, O. D., Nai, R., Caccamo, M., Yu, S. "uavAP: A Modular Autopilot Framework for UAVs." AIAA AVIATION 2020 Forum, 3268, 2020. (CPSCore, the case study framework) </vt:lpstr>
      <vt:lpstr>Thank you! </vt:lpstr>
      <vt:lpstr>Example Output: The S4 Dual-Gap, Recovered</vt:lpstr>
      <vt:lpstr>Research Questions &amp; Goal</vt:lpstr>
      <vt:lpstr>PowerPoint Presentation</vt:lpstr>
      <vt:lpstr>Recap: Original 5-Stage Methodology</vt:lpstr>
      <vt:lpstr>Progress Against Original Timeline</vt:lpstr>
      <vt:lpstr>What Changed: The Static Analysis Layer Evolved</vt:lpstr>
      <vt:lpstr>Progress Against Original Timeline</vt:lpstr>
      <vt:lpstr>Evaluation &amp; Expected Outcomes</vt:lpstr>
      <vt:lpstr>Planning &amp; Feasibility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Prathik Anand Krishnan</dc:creator>
  <cp:lastModifiedBy>Prathik Anand Krishnan</cp:lastModifiedBy>
  <cp:revision>68</cp:revision>
  <dcterms:created xsi:type="dcterms:W3CDTF">2026-01-24T15:38:06Z</dcterms:created>
  <dcterms:modified xsi:type="dcterms:W3CDTF">2026-07-22T10:15:17Z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