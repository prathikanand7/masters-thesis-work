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1" r:id="rId6"/>
    <p:sldId id="260" r:id="rId7"/>
    <p:sldId id="262" r:id="rId8"/>
    <p:sldId id="263" r:id="rId9"/>
    <p:sldId id="264" r:id="rId10"/>
    <p:sldId id="265" r:id="rId11"/>
    <p:sldId id="283" r:id="rId12"/>
    <p:sldId id="284" r:id="rId13"/>
    <p:sldId id="285" r:id="rId14"/>
    <p:sldId id="286" r:id="rId15"/>
    <p:sldId id="266" r:id="rId16"/>
    <p:sldId id="267" r:id="rId17"/>
    <p:sldId id="287" r:id="rId18"/>
    <p:sldId id="288"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94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3101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[0:30] Good [morning/afternoon] everyone. My name is Prathik Anand Krishnan,</a:t>
            </a:r>
          </a:p>
          <a:p>
            <a:r>
              <a:t>and today I'll defend my MSc Software Engineering thesis, done at TNO-ESI and</a:t>
            </a:r>
          </a:p>
          <a:p>
            <a:r>
              <a:t>the University of Amsterdam.</a:t>
            </a:r>
          </a:p>
          <a:p>
            <a:r>
              <a:t>The title is "Hybrid Static–Trace Analysis for Interaction Model Synthesis in</a:t>
            </a:r>
          </a:p>
          <a:p>
            <a:r>
              <a:t>Event-Driven Systems" — in short, automatically reconstructing scenario-specific</a:t>
            </a:r>
          </a:p>
          <a:p>
            <a:r>
              <a:t>SysML v2 interaction diagrams from C++ code by combining two kinds of evidence.</a:t>
            </a:r>
          </a:p>
          <a:p>
            <a:r>
              <a:t>Thanks to my committee: my examiner Dr. van Binsbergen, my reader Prof. Åkesson,</a:t>
            </a:r>
          </a:p>
          <a:p>
            <a:r>
              <a:t>and my daily supervisor Dr. Corvino.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[0:30] Here's the roadmap. I'll start with the motivation and the concrete</a:t>
            </a:r>
          </a:p>
          <a:p>
            <a:r>
              <a:t>problem, state my three research questions, then walk through the approach —</a:t>
            </a:r>
          </a:p>
          <a:p>
            <a:r>
              <a:t>the pipeline and the shared property graph. After a quick look at the case</a:t>
            </a:r>
          </a:p>
          <a:p>
            <a:r>
              <a:t>study, CPSCore, I'll present the three experiments and their results, and close</a:t>
            </a:r>
          </a:p>
          <a:p>
            <a:r>
              <a:t>with contributions, limitations, and conclusions.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[2:00] The systems I care about are long-lived and safety-critical — think</a:t>
            </a:r>
          </a:p>
          <a:p>
            <a:r>
              <a:t>medical imaging or industrial automation. Their behaviour is supposed to be</a:t>
            </a:r>
          </a:p>
          <a:p>
            <a:r>
              <a:t>captured in interaction models, i.e. sequence diagrams. But in practice those</a:t>
            </a:r>
          </a:p>
          <a:p>
            <a:r>
              <a:t>diagrams drift out of sync as the code evolves, so engineers end up</a:t>
            </a:r>
          </a:p>
          <a:p>
            <a:r>
              <a:t>reconstructing behaviour by hand — slow and expertise-dependent. Event-driven</a:t>
            </a:r>
          </a:p>
          <a:p>
            <a:r>
              <a:t>systems make it harder because async callbacks and pub/sub hide who talks to</a:t>
            </a:r>
          </a:p>
          <a:p>
            <a:r>
              <a:t>whom.</a:t>
            </a:r>
          </a:p>
          <a:p>
            <a:r>
              <a:t>On the right is a real, previously-resolved defect that motivated the work: a</a:t>
            </a:r>
          </a:p>
          <a:p>
            <a:r>
              <a:t>stale proxy was never freed because a reset call was missing, and after a</a:t>
            </a:r>
          </a:p>
          <a:p>
            <a:r>
              <a:t>restart the system silently stopped delivering notifications. It was only</a:t>
            </a:r>
          </a:p>
          <a:p>
            <a:r>
              <a:t>visible by tracing an implicit event chain that no diagram showed — exactly the</a:t>
            </a:r>
          </a:p>
          <a:p>
            <a:r>
              <a:t>kind of model this thesis reconstructs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[2:00] Two classic sources of evidence, each incomplete. The static call graph</a:t>
            </a:r>
          </a:p>
          <a:p>
            <a:r>
              <a:t>is complete in the sense that it captures every possible interaction — but it</a:t>
            </a:r>
          </a:p>
          <a:p>
            <a:r>
              <a:t>over-approximates and has no execution order or scenario specificity. Runtime</a:t>
            </a:r>
          </a:p>
          <a:p>
            <a:r>
              <a:t>traces are the opposite: scenario-specific and correctly ordered, but</a:t>
            </a:r>
          </a:p>
          <a:p>
            <a:r>
              <a:t>under-approximate — they only show what was actually exercised, and are sparse</a:t>
            </a:r>
          </a:p>
          <a:p>
            <a:r>
              <a:t>or noisy.</a:t>
            </a:r>
          </a:p>
          <a:p>
            <a:r>
              <a:t>The gap, in the box: prior hybrid methods only use static structure to organise</a:t>
            </a:r>
          </a:p>
          <a:p>
            <a:r>
              <a:t>a trace they already have. Nobody combines both directions at once — using</a:t>
            </a:r>
          </a:p>
          <a:p>
            <a:r>
              <a:t>static structure to recover what the trace missed, AND using the trace to trim</a:t>
            </a:r>
          </a:p>
          <a:p>
            <a:r>
              <a:t>the static graph down to the scenario. And pub/sub indirection hides the</a:t>
            </a:r>
          </a:p>
          <a:p>
            <a:r>
              <a:t>subscription topology from call-graph analysis entirely. Closing that</a:t>
            </a:r>
          </a:p>
          <a:p>
            <a:r>
              <a:t>two-directional gap is the core problem.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Positioning the work. Three families exist today. Trace-based methods give</a:t>
            </a:r>
          </a:p>
          <a:p>
            <a:r>
              <a:t>concrete observed behaviour but are incomplete and miss anything not exercised.</a:t>
            </a:r>
          </a:p>
          <a:p>
            <a:r>
              <a:t>Static analysis gives complete structure but over-approximates and has no</a:t>
            </a:r>
          </a:p>
          <a:p>
            <a:r>
              <a:t>scenario focus. Existing hybrids are the closest, but they use static structure</a:t>
            </a:r>
          </a:p>
          <a:p>
            <a:r>
              <a:t>only to reduce logging or organise a trace — they assume the observed trace is</a:t>
            </a:r>
          </a:p>
          <a:p>
            <a:r>
              <a:t>complete and never recover the interactions it missed.</a:t>
            </a:r>
          </a:p>
          <a:p>
            <a:r>
              <a:t>The fourth column is what this thesis adds: it recovers trace-missed edges from</a:t>
            </a:r>
          </a:p>
          <a:p>
            <a:r>
              <a:t>static evidence, trims the over-approximate static graph to the scenario using</a:t>
            </a:r>
          </a:p>
          <a:p>
            <a:r>
              <a:t>the trace, and recovers pub/sub wiring invisible to call graphs. The gap, stated</a:t>
            </a:r>
          </a:p>
          <a:p>
            <a:r>
              <a:t>plainly at the bottom: no prior approach infers unobserved interactions by</a:t>
            </a:r>
          </a:p>
          <a:p>
            <a:r>
              <a:t>combining both sources for scenario-specific models — and closing it in both</a:t>
            </a:r>
          </a:p>
          <a:p>
            <a:r>
              <a:t>directions is the core contribution.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Two research questions, plus a downstream question. RQ1 is about</a:t>
            </a:r>
          </a:p>
          <a:p>
            <a:r>
              <a:t>accuracy: does combining static analysis with incomplete traces improve</a:t>
            </a:r>
          </a:p>
          <a:p>
            <a:r>
              <a:t>reconstruction? RQ2 is about focus: can scenario-scoped querying of the</a:t>
            </a:r>
          </a:p>
          <a:p>
            <a:r>
              <a:t>static call graph restrict reconstruction to only scenario-relevant</a:t>
            </a:r>
          </a:p>
          <a:p>
            <a:r>
              <a:t>behaviour? A supporting design question -- what property-graph</a:t>
            </a:r>
          </a:p>
          <a:p>
            <a:r>
              <a:t>representation integrates both evidence types -- underlies both, but is</a:t>
            </a:r>
          </a:p>
          <a:p>
            <a:r>
              <a:t>a design decision rather than a separate research question.</a:t>
            </a:r>
          </a:p>
          <a:p>
            <a:r>
              <a:t>Each RQ has a matching hypothesis and a dedicated experiment -- H1</a:t>
            </a:r>
          </a:p>
          <a:p>
            <a:r>
              <a:t>answers RQ1, H2 answers RQ2. And a downstream question, H3: is the</a:t>
            </a:r>
          </a:p>
          <a:p>
            <a:r>
              <a:t>reconstructed diagram actually useful to a consumer -- here, an LLM</a:t>
            </a:r>
          </a:p>
          <a:p>
            <a:r>
              <a:t>agent doing scenario comprehension.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[2:30] This is the whole pipeline. It's implemented as eleven composable</a:t>
            </a:r>
          </a:p>
          <a:p>
            <a:r>
              <a:t>agent skills, each invocable in natural language, and -- importantly --</a:t>
            </a:r>
          </a:p>
          <a:p>
            <a:r>
              <a:t>with no changes to the target system's own code.</a:t>
            </a:r>
          </a:p>
          <a:p>
            <a:r>
              <a:t>Left to right: static extraction with the Renaissance tool turns C++ into a</a:t>
            </a:r>
          </a:p>
          <a:p>
            <a:r>
              <a:t>graph; everything lands in a Neo4j property graph; csp_matcher inserts</a:t>
            </a:r>
          </a:p>
          <a:p>
            <a:r>
              <a:t>runtime trace probes; graph fusion takes the union of static and trace</a:t>
            </a:r>
          </a:p>
          <a:p>
            <a:r>
              <a:t>edges, tagging each with its provenance; scenario slicing filters that</a:t>
            </a:r>
          </a:p>
          <a:p>
            <a:r>
              <a:t>fused graph; an agent synthesis step prunes false positives using</a:t>
            </a:r>
          </a:p>
          <a:p>
            <a:r>
              <a:t>provenance; and finally we emit a SysML v2 or Mermaid diagram.</a:t>
            </a:r>
          </a:p>
          <a:p>
            <a:r>
              <a:t>The two conceptual cores are at the bottom: fusion answers RQ1, slicing</a:t>
            </a:r>
          </a:p>
          <a:p>
            <a:r>
              <a:t>answers RQ2. Slicing is just a linear edge filter that works identically</a:t>
            </a:r>
          </a:p>
          <a:p>
            <a:r>
              <a:t>over static and trace edges -- I'll show why on the next slide, and then</a:t>
            </a:r>
          </a:p>
          <a:p>
            <a:r>
              <a:t>walk through exactly how each skill works with a worked example.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[2:00] This is a design decision, not a separate research question. Both</a:t>
            </a:r>
          </a:p>
          <a:p>
            <a:r>
              <a:t>evidence types live in one Neo4j property graph, and every interaction</a:t>
            </a:r>
          </a:p>
          <a:p>
            <a:r>
              <a:t>edge remembers which source produced it -- its provenance. The schema</a:t>
            </a:r>
          </a:p>
          <a:p>
            <a:r>
              <a:t>has 11 node labels and 11 relationship types. On CPSCore the static side</a:t>
            </a:r>
          </a:p>
          <a:p>
            <a:r>
              <a:t>yields 2,574 ordered interactions across 121 components; the trace side</a:t>
            </a:r>
          </a:p>
          <a:p>
            <a:r>
              <a:t>adds 27 events over 26 unique pairs.</a:t>
            </a:r>
          </a:p>
          <a:p>
            <a:r>
              <a:t>On the right is the formal operation: the scenario graph is the slice of</a:t>
            </a:r>
          </a:p>
          <a:p>
            <a:r>
              <a:t>the union of static and trace edges, keeping edges whose source is in the</a:t>
            </a:r>
          </a:p>
          <a:p>
            <a:r>
              <a:t>scenario's primary component and whose target is a declared participant.</a:t>
            </a:r>
          </a:p>
          <a:p>
            <a:r>
              <a:t>Because both edge types carry client/server component metadata, one</a:t>
            </a:r>
          </a:p>
          <a:p>
            <a:r>
              <a:t>linear filter works over both -- this is what answers RQ2 in the next</a:t>
            </a:r>
          </a:p>
          <a:p>
            <a:r>
              <a:t>section. A schema-introspection skill reads the labels at runtime, so the</a:t>
            </a:r>
          </a:p>
          <a:p>
            <a:r>
              <a:t>pipeline is codebase-agnostic -- and crucially, the graph lets us recover</a:t>
            </a:r>
          </a:p>
          <a:p>
            <a:r>
              <a:t>pub/sub wiring that plain call-graph analysis can't see.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The static half. The Renaissance semantic-extraction tool parses the C++</a:t>
            </a:r>
          </a:p>
          <a:p>
            <a:r>
              <a:t>and populates Neo4j. What you're seeing is the full function-call dependency</a:t>
            </a:r>
          </a:p>
          <a:p>
            <a:r>
              <a:t>graph — everything the code could do, scenario-agnostic, so it over-approximates.</a:t>
            </a:r>
          </a:p>
          <a:p>
            <a:r>
              <a:t>We project the CppCalls edges into an ordered sequence-dependency table — 2,574</a:t>
            </a:r>
          </a:p>
          <a:p>
            <a:r>
              <a:t>interactions. The important role of static analysis in the fusion is as a recall</a:t>
            </a:r>
          </a:p>
          <a:p>
            <a:r>
              <a:t>floor: it guarantees interactions that a sparse trace would otherwise miss.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[2:00] The dynamic half is captured by csp_matcher, a Clang LibTooling tool I</a:t>
            </a:r>
          </a:p>
          <a:p>
            <a:r>
              <a:t>built. It inserts trace probes by matching AST patterns, and it's guided by the</a:t>
            </a:r>
          </a:p>
          <a:p>
            <a:r>
              <a:t>code graph so it only instruments the call sites relevant to a scenario. It's</a:t>
            </a:r>
          </a:p>
          <a:p>
            <a:r>
              <a:t>fully reversible — add and remove leave the source byte-for-byte unchanged.</a:t>
            </a:r>
          </a:p>
          <a:p>
            <a:r>
              <a:t>The figure illustrates the pub/sub case: csp_matcher resolves boost::signals2</a:t>
            </a:r>
          </a:p>
          <a:p>
            <a:r>
              <a:t>connect and slot wiring, which has no static call site, so it recovers edges the</a:t>
            </a:r>
          </a:p>
          <a:p>
            <a:r>
              <a:t>call graph simply cannot see. On CPSCore it produced 27 trace events.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The primary case study is CPSCore — an open-source event-driven C++</a:t>
            </a:r>
          </a:p>
          <a:p>
            <a:r>
              <a:t>framework for cyber-physical systems: about 13,000 lines, 154 files, five</a:t>
            </a:r>
          </a:p>
          <a:p>
            <a:r>
              <a:t>modules, with pub/sub over boost::signals2 and Redis.</a:t>
            </a:r>
          </a:p>
          <a:p>
            <a:r>
              <a:t>One structural property matters a lot for interpreting the results, in the amber</a:t>
            </a:r>
          </a:p>
          <a:p>
            <a:r>
              <a:t>box: CPSCore leans heavily on templates — static polymorphism — with only 32</a:t>
            </a:r>
          </a:p>
          <a:p>
            <a:r>
              <a:t>virtual signatures, all inside a single module or at config boundaries. No</a:t>
            </a:r>
          </a:p>
          <a:p>
            <a:r>
              <a:t>cross-module call goes through a vtable. That means, on the naturally-occurring</a:t>
            </a:r>
          </a:p>
          <a:p>
            <a:r>
              <a:t>scenarios, the static graph is already reachability-complete with respect to the</a:t>
            </a:r>
          </a:p>
          <a:p>
            <a:r>
              <a:t>trace. That's a property of this system, not a law — and it's precisely why I</a:t>
            </a:r>
          </a:p>
          <a:p>
            <a:r>
              <a:t>constructed scenario S4 to break it.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[2:00] Four scenarios. S1 to S3 are happy-path scenarios that occur naturally in</a:t>
            </a:r>
          </a:p>
          <a:p>
            <a:r>
              <a:t>CPSCore — an aggregation chain, a config mapping, and a multi-component runner.</a:t>
            </a:r>
          </a:p>
          <a:p>
            <a:r>
              <a:t>S4 is deliberately constructed: a boost::signals2 publish/subscribe bridge</a:t>
            </a:r>
          </a:p>
          <a:p>
            <a:r>
              <a:t>designed so each single source is blind to a *different* edge. Static sees the</a:t>
            </a:r>
          </a:p>
          <a:p>
            <a:r>
              <a:t>`stream` call but not `onStageEvent`, because the slot is connected at runtime</a:t>
            </a:r>
          </a:p>
          <a:p>
            <a:r>
              <a:t>via connect() with no static call expression. Dynamic sees `onStageEvent` but</a:t>
            </a:r>
          </a:p>
          <a:p>
            <a:r>
              <a:t>not `stream`, because a LogLevel::NONE idiom makes the log call a runtime no-op.</a:t>
            </a:r>
          </a:p>
          <a:p>
            <a:r>
              <a:t>Only the union recovers both. S4 isolates the one regime where fusion is</a:t>
            </a:r>
          </a:p>
          <a:p>
            <a:r>
              <a:t>strictly additive — I report it as its own stratum because it's constructed, not</a:t>
            </a:r>
          </a:p>
          <a:p>
            <a:r>
              <a:t>found in the wild.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Concrete prompt excerpts to have ready if asked:</a:t>
            </a:r>
          </a:p>
          <a:p>
            <a:r>
              <a:t>C1 (verbatim, run_c1_llm_only.py): "You are a software architect analysing</a:t>
            </a:r>
          </a:p>
          <a:p>
            <a:r>
              <a:t>the CPSCore C++ framework. Based ONLY on the scenario description below (no</a:t>
            </a:r>
          </a:p>
          <a:p>
            <a:r>
              <a:t>source code or traces are provided), produce a list of inter-component</a:t>
            </a:r>
          </a:p>
          <a:p>
            <a:r>
              <a:t>interactions in this exact JSON format... Do not include self-loops."</a:t>
            </a:r>
          </a:p>
          <a:p>
            <a:r>
              <a:t>C5 (verbatim, run_c5_full_pipeline.py): "You have TWO INDEPENDENT,</a:t>
            </a:r>
          </a:p>
          <a:p>
            <a:r>
              <a:t>separately-collected evidence sources. They have NOT been pre-merged -- you</a:t>
            </a:r>
          </a:p>
          <a:p>
            <a:r>
              <a:t>must reason about them together yourself... reason about *why* it is</a:t>
            </a:r>
          </a:p>
          <a:p>
            <a:r>
              <a:t>missing from the other source (suppression vs. indirect dispatch vs.</a:t>
            </a:r>
          </a:p>
          <a:p>
            <a:r>
              <a:t>genuine over-approximation)."</a:t>
            </a:r>
          </a:p>
          <a:p>
            <a:r>
              <a:t>H3 (verbatim, prompts/with_diagrams.md / no_diagrams.md): "You are analysing</a:t>
            </a:r>
          </a:p>
          <a:p>
            <a:r>
              <a:t>a scenario in the CPSCore C++ framework... Be precise. Do not hallucinate</a:t>
            </a:r>
          </a:p>
          <a:p>
            <a:r>
              <a:t>components or interactions not present in the context."</a:t>
            </a:r>
          </a:p>
          <a:p>
            <a:r>
              <a:t>All three run on gpt-5 via Azure OpenAI (see experiments/H1/conditions/ and</a:t>
            </a:r>
          </a:p>
          <a:p>
            <a:r>
              <a:t>experiments/H3/agent_conditions/ in the repo).</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H1 tests RQ1. I compare six conditions across the four scenarios. C1 is an LLM-only baseline with no code context. C2 is static-only, C3 is dynamic-only. C4 is the raw union of the two -- it turns out to be actively harmful, since union can only inherit each source's false positives. C5 is the intersection -- only edges both sources independently confirm -- which is a purely set-algebraic filter, no LLM involved, and it's the best condition on the interaction-edge metric. C6 is the full pipeline: an agent gets C2 and C3 as separately labelled evidence and adjudicates disputed single-source edges by provenance, plus orders the reconstructed sequence. Everything is scored on interaction edges -- unique ordered sender/receiver pairs -- against a reference set I authored by reading the source *before* scoring anything. Standard precision, recall, F1, aggregated as macro-F1 so each scenario counts equally. S4 is reported as its own stratum. All six conditions are runnable from the repo -- run_c1_llm_only.py through run_c6_full_pipeline.py, then evaluate_all.py.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[2:00] First the headline, aggregated over all four scenarios, one number per</a:t>
            </a:r>
          </a:p>
          <a:p>
            <a:r>
              <a:t>cell. Read down the F1 column: the LLM baseline is near-useless at 0.13. Static</a:t>
            </a:r>
          </a:p>
          <a:p>
            <a:r>
              <a:t>alone is 0.85, dynamic alone 0.92. The raw union C4 lifts recall to a perfect</a:t>
            </a:r>
          </a:p>
          <a:p>
            <a:r>
              <a:t>1.00 and F1 to 0.94. And the full pipeline C5 is the best condition tested at</a:t>
            </a:r>
          </a:p>
          <a:p>
            <a:r>
              <a:t>0.96 — it preserves C4's perfect recall while partially correcting static</a:t>
            </a:r>
          </a:p>
          <a:p>
            <a:r>
              <a:t>over-approximation. Note dynamic-only already has perfect precision, but its</a:t>
            </a:r>
          </a:p>
          <a:p>
            <a:r>
              <a:t>recall is only 0.88 — it misses edges — which is exactly what fusion fixes. The</a:t>
            </a:r>
          </a:p>
          <a:p>
            <a:r>
              <a:t>*where* and *why* are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[2:00] Now the same F1 split by stratum, which is the heart of H1. Look at the</a:t>
            </a:r>
          </a:p>
          <a:p>
            <a:r>
              <a:t>S4 column: C4 scores a perfect 1.00, strictly above both C2 and C3 at 0.67. That</a:t>
            </a:r>
          </a:p>
          <a:p>
            <a:r>
              <a:t>is the single scenario where fusion is genuinely additive — because static and</a:t>
            </a:r>
          </a:p>
          <a:p>
            <a:r>
              <a:t>dynamic are each blind to a different edge, and only the union recovers both.</a:t>
            </a:r>
          </a:p>
          <a:p>
            <a:r>
              <a:t>On the happy-path stratum, C4 equals C2. That's not a flaw: because there's no</a:t>
            </a:r>
          </a:p>
          <a:p>
            <a:r>
              <a:t>cross-module virtual dispatch, the trace edges are a subset of the static edges,</a:t>
            </a:r>
          </a:p>
          <a:p>
            <a:r>
              <a:t>so the union adds nothing new. But fusion is still protective — it guarantees a</a:t>
            </a:r>
          </a:p>
          <a:p>
            <a:r>
              <a:t>recall floor whenever traces are sparse. The takeaway: fusion helps exactly</a:t>
            </a:r>
          </a:p>
          <a:p>
            <a:r>
              <a:t>where the sources disagree, and is safely redundant otherwise. In any system</a:t>
            </a:r>
          </a:p>
          <a:p>
            <a:r>
              <a:t>with virtual dispatch, plugin loading, or reflection, the additive regime is</a:t>
            </a:r>
          </a:p>
          <a:p>
            <a:r>
              <a:t>what you'd see.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[2:30] Four mechanistic points behind those numbers. Top-left: on S4 fusion is</a:t>
            </a:r>
          </a:p>
          <a:p>
            <a:r>
              <a:t>additive because static misses the runtime connect() edge and dynamic misses the</a:t>
            </a:r>
          </a:p>
          <a:p>
            <a:r>
              <a:t>LogLevel::NONE-suppressed edge — the union recovers both. Top-right: on S1–S3</a:t>
            </a:r>
          </a:p>
          <a:p>
            <a:r>
              <a:t>it's redundant because trace edges are a subset of static edges — but still</a:t>
            </a:r>
          </a:p>
          <a:p>
            <a:r>
              <a:t>protective as a recall floor. Bottom-left: C5 wins overall because</a:t>
            </a:r>
          </a:p>
          <a:p>
            <a:r>
              <a:t>provenance-aware synthesis keeps C4's perfect recall while trimming static</a:t>
            </a:r>
          </a:p>
          <a:p>
            <a:r>
              <a:t>over-approximation — on S3 it lifts precision from 0.60 to 0.75. Bottom-right,</a:t>
            </a:r>
          </a:p>
          <a:p>
            <a:r>
              <a:t>being honest about the one miss: C5's only imprecision is a real but</a:t>
            </a:r>
          </a:p>
          <a:p>
            <a:r>
              <a:t>out-of-scope flush call on S3. Because C2's element list records source and</a:t>
            </a:r>
          </a:p>
          <a:p>
            <a:r>
              <a:t>target but not the calling function, "suppressed-but-in-scope" and</a:t>
            </a:r>
          </a:p>
          <a:p>
            <a:r>
              <a:t>"real-but-out-of-scope" are indistinguishable to the agent. That's a concrete,</a:t>
            </a:r>
          </a:p>
          <a:p>
            <a:r>
              <a:t>fixable limitation I'll return to.</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[2:30] H2 answers RQ2 -- focus. I compare "full" instrumentation, which</a:t>
            </a:r>
          </a:p>
          <a:p>
            <a:r>
              <a:t>probes everything and filters afterwards, against "guided", which slices</a:t>
            </a:r>
          </a:p>
          <a:p>
            <a:r>
              <a:t>first and only probes the scenario-relevant call sites. The objective</a:t>
            </a:r>
          </a:p>
          <a:p>
            <a:r>
              <a:t>metrics on the left: guided cuts nodes by 50% and edges by 70%, drives</a:t>
            </a:r>
          </a:p>
          <a:p>
            <a:r>
              <a:t>measured noise from 0.70 to zero, and -- critically -- loses zero</a:t>
            </a:r>
          </a:p>
          <a:p>
            <a:r>
              <a:t>coverage. So it's not just smaller; nothing relevant is dropped.</a:t>
            </a:r>
          </a:p>
          <a:p>
            <a:r>
              <a:t>That's backed by a blinded six-rater expert panel, right. Guided wins on</a:t>
            </a:r>
          </a:p>
          <a:p>
            <a:r>
              <a:t>accuracy, readability, and usefulness. Across all 54 comparisons, guided</a:t>
            </a:r>
          </a:p>
          <a:p>
            <a:r>
              <a:t>was rated higher in 47, tied in 6, and lower in exactly one. That single</a:t>
            </a:r>
          </a:p>
          <a:p>
            <a:r>
              <a:t>dissent was S2 usefulness, where collapsing seven repeated</a:t>
            </a:r>
          </a:p>
          <a:p>
            <a:r>
              <a:t>config-to-logging reads into one edge loses a count some raters want for</a:t>
            </a:r>
          </a:p>
          <a:p>
            <a:r>
              <a:t>debugging -- an honest trade-off, and I report it as such.</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[2:30] H3 asks the downstream question: is the reconstructed diagram actually useful? I gave an LLM agent a scenario-comprehension task under five evidence conditions and measured component recall, interaction recall, and a rubric completeness score.</a:t>
            </a:r>
          </a:p>
          <a:p>
            <a:r>
              <a:t>The standout result is in the two highlighted rows: "diagram only" and "source + trace + diagram" are identical -- and both are perfect. With no source and no trace, just the C6 interaction list, the agent hits perfect component and interaction recall and top completeness on every scenario, including the constructed S4. Adding source and traces on top neither helps nor hurts, because the diagram already saturates every metric. Notice source-only has the weakest interaction recall at 0.80 -- it foregrounds the main control-flow path and drops secondary log-only branches, exactly the edges the fused diagram surfaces. So the diagram isn't just a helpful supplement; it can be a *sufficient* basis for comprehension.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A concrete look at the mechanism behind H1's headline result. Ground truth on S4 is a single edge, `stream`, confirmed by both static analysis and the runtime trace. Each source also reports one edge the other doesn't confirm: C2's static graph adds `subscribeStage`, a call site the trace never exercises; C3's trace adds an unrelated `stream` row from a different caller. Naive union would inherit both false edges -- F1 drops to 0.500, worse than either source alone. Intersection keeps only what both sources agree on, cancelling both false positives while losing nothing -- F1 = 1.000. This is the mechanism, not blind-spot recovery: neither source actually misses the ground-truth edge here, they just each hallucinate a different one.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To probe transferability beyond CPSCore, a practitioner session applied</a:t>
            </a:r>
          </a:p>
          <a:p>
            <a:r>
              <a:t>the same static-extraction and query approach to a second, larger industrial</a:t>
            </a:r>
          </a:p>
          <a:p>
            <a:r>
              <a:t>codebase. The good news, on the left: the structural and dependency diagrams</a:t>
            </a:r>
          </a:p>
          <a:p>
            <a:r>
              <a:t>were rated consistently useful — the static extraction and graph queries</a:t>
            </a:r>
          </a:p>
          <a:p>
            <a:r>
              <a:t>transferred to an unseen, larger system. On the right, the clearest area to</a:t>
            </a:r>
          </a:p>
          <a:p>
            <a:r>
              <a:t>improve was sequence-diagram message labelling, which is consistent with the</a:t>
            </a:r>
          </a:p>
          <a:p>
            <a:r>
              <a:t>CPSCore finding that message-level semantics need richer provenance. It's</a:t>
            </a:r>
          </a:p>
          <a:p>
            <a:r>
              <a:t>exploratory, not a controlled study, but it points at a concrete next step.</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 Step back — the three results converge on a single pattern, and this is</a:t>
            </a:r>
          </a:p>
          <a:p>
            <a:r>
              <a:t>the sentence I want you to remember: additional evidence improves reconstruction</a:t>
            </a:r>
          </a:p>
          <a:p>
            <a:r>
              <a:t>or comprehension specifically when the primary source is missing something, and</a:t>
            </a:r>
          </a:p>
          <a:p>
            <a:r>
              <a:t>is otherwise redundant. H1: fusion is additive only where the two sources each</a:t>
            </a:r>
          </a:p>
          <a:p>
            <a:r>
              <a:t>miss a different edge, redundant where static is already complete. H2: guiding</a:t>
            </a:r>
          </a:p>
          <a:p>
            <a:r>
              <a:t>instrumentation removes all noise with zero coverage loss. H3: the diagram alone</a:t>
            </a:r>
          </a:p>
          <a:p>
            <a:r>
              <a:t>is a sufficient basis for comprehension. One principle, three angles.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Six contributions. One: a single property graph that holds the static</a:t>
            </a:r>
          </a:p>
          <a:p>
            <a:r>
              <a:t>call graph and the runtime trace together, remembering each interaction's</a:t>
            </a:r>
          </a:p>
          <a:p>
            <a:r>
              <a:t>provenance. Two: a slicing method that trims that combined graph to just one</a:t>
            </a:r>
          </a:p>
          <a:p>
            <a:r>
              <a:t>scenario. Three: a way to recover pub/sub wiring that call-graph analysis can't</a:t>
            </a:r>
          </a:p>
          <a:p>
            <a:r>
              <a:t>see. Four: csp_matcher, the small reversible instrumentation tool. Five: twelve</a:t>
            </a:r>
          </a:p>
          <a:p>
            <a:r>
              <a:t>natural-language agent skills that run the whole pipeline end-to-end, source to</a:t>
            </a:r>
          </a:p>
          <a:p>
            <a:r>
              <a:t>SysML v2, on any codebase with no code changes. And six — which I'd argue is the</a:t>
            </a:r>
          </a:p>
          <a:p>
            <a:r>
              <a:t>scientific contribution — a clear, evidence-based account of when combining</a:t>
            </a:r>
          </a:p>
          <a:p>
            <a:r>
              <a:t>static and dynamic analysis actually helps, and when it doesn't.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Being upfront about limitations, on the left. It's one primary case</a:t>
            </a:r>
          </a:p>
          <a:p>
            <a:r>
              <a:t>study, and S4 is constructed. The in-scope/out-of-scope ambiguity comes from C2's</a:t>
            </a:r>
          </a:p>
          <a:p>
            <a:r>
              <a:t>element list omitting the calling function. Two H3 conditions were rated</a:t>
            </a:r>
          </a:p>
          <a:p>
            <a:r>
              <a:t>non-blind by the same rater, which I disclose. Message-label semantics are the</a:t>
            </a:r>
          </a:p>
          <a:p>
            <a:r>
              <a:t>weakest output, and traces are bounded by what the test suite exercises.</a:t>
            </a:r>
          </a:p>
          <a:p>
            <a:r>
              <a:t>Future work, right, maps almost one-to-one: carry the calling function into the</a:t>
            </a:r>
          </a:p>
          <a:p>
            <a:r>
              <a:t>element list to remove that ambiguity; evaluate on systems with virtual</a:t>
            </a:r>
          </a:p>
          <a:p>
            <a:r>
              <a:t>dispatch, plugins, or reflection, where the additive regime should dominate;</a:t>
            </a:r>
          </a:p>
          <a:p>
            <a:r>
              <a:t>richer provenance-driven message labelling; broaden and fully blind the expert</a:t>
            </a:r>
          </a:p>
          <a:p>
            <a:r>
              <a:t>panel; and integrate this into CI for continuous model maintenance.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 To conclude: I built a hybrid pipeline that fuses a static call</a:t>
            </a:r>
          </a:p>
          <a:p>
            <a:r>
              <a:t>graph with runtime traces in one provenance-tagged property graph and</a:t>
            </a:r>
          </a:p>
          <a:p>
            <a:r>
              <a:t>slices it to scenario-specific SysML v2 diagrams. Fusion helps exactly</a:t>
            </a:r>
          </a:p>
          <a:p>
            <a:r>
              <a:t>where one source is blind -- best overall F1 of 0.96; guided slicing</a:t>
            </a:r>
          </a:p>
          <a:p>
            <a:r>
              <a:t>removes all noise at full coverage; and the reconstructed diagram alone</a:t>
            </a:r>
          </a:p>
          <a:p>
            <a:r>
              <a:t>suffices for comprehension.</a:t>
            </a:r>
          </a:p>
          <a:p>
            <a:r>
              <a:t>Mapping back: the 11/11 schema (a design decision) unifies both evidence</a:t>
            </a:r>
          </a:p>
          <a:p>
            <a:r>
              <a:t>types. RQ1 -- fusion is additive where sources disagree and protective</a:t>
            </a:r>
          </a:p>
          <a:p>
            <a:r>
              <a:t>elsewhere. RQ2 -- scenario-scoped slicing yields focused, noise-free</a:t>
            </a:r>
          </a:p>
          <a:p>
            <a:r>
              <a:t>diagrams. Thank you -- I'm happy to take questions.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slide for the Q&amp;A. Common questions to be ready for: (1) Why only one</a:t>
            </a:r>
          </a:p>
          <a:p>
            <a:r>
              <a:t>case study — transferability is addressed by the exploratory second codebase.</a:t>
            </a:r>
          </a:p>
          <a:p>
            <a:r>
              <a:t>(2) Isn't S4 contrived — yes, deliberately, to isolate the additive regime that</a:t>
            </a:r>
          </a:p>
          <a:p>
            <a:r>
              <a:t>naturally-occurring virtual dispatch / plugins would trigger. (3) LLM</a:t>
            </a:r>
          </a:p>
          <a:p>
            <a:r>
              <a:t>reproducibility — the reference set was authored before scoring; provenance</a:t>
            </a:r>
          </a:p>
          <a:p>
            <a:r>
              <a:t>tagging keeps the synthesis auditable. (4) Scalability of slicing — it's a linear</a:t>
            </a:r>
          </a:p>
          <a:p>
            <a:r>
              <a:t>edge filter. (5) Threats to validity in the expert panel — six raters, A/B</a:t>
            </a:r>
          </a:p>
          <a:p>
            <a:r>
              <a:t>randomised and blinded for the reused conditions.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for Q&amp;A: the S1 structural and reconstructed sequence views, if the</a:t>
            </a:r>
          </a:p>
          <a:p>
            <a:r>
              <a:t>committee wants to see a happy-path example end to end alongside the S4 fault</a:t>
            </a:r>
          </a:p>
          <a:p>
            <a:r>
              <a:t>path shown earlier.</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for questions on engineering depth. Four concrete challenges and how</a:t>
            </a:r>
          </a:p>
          <a:p>
            <a:r>
              <a:t>each was handled: C++ context-sensitivity forced semantic extraction via</a:t>
            </a:r>
          </a:p>
          <a:p>
            <a:r>
              <a:t>Renaissance and Neo4j, with a ClangSharp/libclang cross-check; large dependency</a:t>
            </a:r>
          </a:p>
          <a:p>
            <a:r>
              <a:t>counts that crash SysML tools were tamed with identifier quoting and relationship</a:t>
            </a:r>
          </a:p>
          <a:p>
            <a:r>
              <a:t>deduplication; brittle hardcoded slicing was replaced by the agent-skill</a:t>
            </a:r>
          </a:p>
          <a:p>
            <a:r>
              <a:t>architecture where a scenario is just a natural-language query; and trace</a:t>
            </a:r>
          </a:p>
          <a:p>
            <a:r>
              <a:t>incompleteness is exactly what static reachability in the graph compensates for —</a:t>
            </a:r>
          </a:p>
          <a:p>
            <a:r>
              <a:t>the core hybrid contribution.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4617720"/>
            <a:ext cx="12191695" cy="45720"/>
          </a:xfrm>
          <a:prstGeom prst="rect">
            <a:avLst/>
          </a:prstGeom>
          <a:solidFill>
            <a:srgbClr val="1BA1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843027" y="502920"/>
            <a:ext cx="1800028" cy="996696"/>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tno_esi.jpg"/>
          <p:cNvPicPr>
            <a:picLocks noChangeAspect="1"/>
          </p:cNvPicPr>
          <p:nvPr/>
        </p:nvPicPr>
        <p:blipFill>
          <a:blip r:embed="rId3"/>
          <a:stretch>
            <a:fillRect/>
          </a:stretch>
        </p:blipFill>
        <p:spPr>
          <a:xfrm>
            <a:off x="9952755" y="612648"/>
            <a:ext cx="1580572" cy="777240"/>
          </a:xfrm>
          <a:prstGeom prst="rect">
            <a:avLst/>
          </a:prstGeom>
        </p:spPr>
      </p:pic>
      <p:pic>
        <p:nvPicPr>
          <p:cNvPr id="7" name="Picture 6" descr="msc-se-logo-small-white.png"/>
          <p:cNvPicPr>
            <a:picLocks noChangeAspect="1"/>
          </p:cNvPicPr>
          <p:nvPr/>
        </p:nvPicPr>
        <p:blipFill>
          <a:blip r:embed="rId4"/>
          <a:stretch>
            <a:fillRect/>
          </a:stretch>
        </p:blipFill>
        <p:spPr>
          <a:xfrm>
            <a:off x="822960" y="5989320"/>
            <a:ext cx="548640" cy="548640"/>
          </a:xfrm>
          <a:prstGeom prst="rect">
            <a:avLst/>
          </a:prstGeom>
        </p:spPr>
      </p:pic>
      <p:sp>
        <p:nvSpPr>
          <p:cNvPr id="8" name="TextBox 7"/>
          <p:cNvSpPr txBox="1"/>
          <p:nvPr/>
        </p:nvSpPr>
        <p:spPr>
          <a:xfrm>
            <a:off x="822960" y="640080"/>
            <a:ext cx="8778240" cy="365760"/>
          </a:xfrm>
          <a:prstGeom prst="rect">
            <a:avLst/>
          </a:prstGeom>
          <a:noFill/>
        </p:spPr>
        <p:txBody>
          <a:bodyPr wrap="square" lIns="45720" tIns="18288" rIns="45720" bIns="18288" anchor="t">
            <a:spAutoFit/>
          </a:bodyPr>
          <a:lstStyle/>
          <a:p>
            <a:pPr algn="l"/>
            <a:r>
              <a:rPr sz="1500" b="1" i="0">
                <a:solidFill>
                  <a:srgbClr val="1BA19C"/>
                </a:solidFill>
                <a:latin typeface="Calibri"/>
              </a:rPr>
              <a:t>MSc Software Engineering  ·  Thesis Defence</a:t>
            </a:r>
          </a:p>
        </p:txBody>
      </p:sp>
      <p:sp>
        <p:nvSpPr>
          <p:cNvPr id="9" name="TextBox 8"/>
          <p:cNvSpPr txBox="1"/>
          <p:nvPr/>
        </p:nvSpPr>
        <p:spPr>
          <a:xfrm>
            <a:off x="822960" y="1371600"/>
            <a:ext cx="10607040" cy="2011680"/>
          </a:xfrm>
          <a:prstGeom prst="rect">
            <a:avLst/>
          </a:prstGeom>
          <a:noFill/>
        </p:spPr>
        <p:txBody>
          <a:bodyPr wrap="square" lIns="45720" tIns="18288" rIns="45720" bIns="18288" anchor="t">
            <a:spAutoFit/>
          </a:bodyPr>
          <a:lstStyle/>
          <a:p>
            <a:pPr algn="l">
              <a:spcAft>
                <a:spcPts val="200"/>
              </a:spcAft>
            </a:pPr>
            <a:r>
              <a:rPr sz="4000" b="1" i="0">
                <a:solidFill>
                  <a:srgbClr val="FFFFFF"/>
                </a:solidFill>
                <a:latin typeface="Calibri"/>
              </a:rPr>
              <a:t>Hybrid Static–Trace Analysis for</a:t>
            </a:r>
          </a:p>
          <a:p>
            <a:pPr algn="l"/>
            <a:r>
              <a:rPr sz="4000" b="1" i="0">
                <a:solidFill>
                  <a:srgbClr val="FFFFFF"/>
                </a:solidFill>
                <a:latin typeface="Calibri"/>
              </a:rPr>
              <a:t>Interaction Model Synthesis in Event-Driven Systems</a:t>
            </a:r>
          </a:p>
        </p:txBody>
      </p:sp>
      <p:sp>
        <p:nvSpPr>
          <p:cNvPr id="10" name="TextBox 9"/>
          <p:cNvSpPr txBox="1"/>
          <p:nvPr/>
        </p:nvSpPr>
        <p:spPr>
          <a:xfrm>
            <a:off x="822960" y="3246120"/>
            <a:ext cx="10607040" cy="548640"/>
          </a:xfrm>
          <a:prstGeom prst="rect">
            <a:avLst/>
          </a:prstGeom>
          <a:noFill/>
        </p:spPr>
        <p:txBody>
          <a:bodyPr wrap="square" lIns="45720" tIns="18288" rIns="45720" bIns="18288" anchor="t">
            <a:spAutoFit/>
          </a:bodyPr>
          <a:lstStyle/>
          <a:p>
            <a:pPr algn="l"/>
            <a:r>
              <a:rPr sz="2000" b="0" i="1">
                <a:solidFill>
                  <a:srgbClr val="C9D6E2"/>
                </a:solidFill>
                <a:latin typeface="Calibri"/>
              </a:rPr>
              <a:t>Scenario-Specific Interaction Diagrams in SysML v2</a:t>
            </a:r>
          </a:p>
        </p:txBody>
      </p:sp>
      <p:sp>
        <p:nvSpPr>
          <p:cNvPr id="11" name="TextBox 10"/>
          <p:cNvSpPr txBox="1"/>
          <p:nvPr/>
        </p:nvSpPr>
        <p:spPr>
          <a:xfrm>
            <a:off x="822960" y="4800600"/>
            <a:ext cx="10607040" cy="1097280"/>
          </a:xfrm>
          <a:prstGeom prst="rect">
            <a:avLst/>
          </a:prstGeom>
          <a:noFill/>
        </p:spPr>
        <p:txBody>
          <a:bodyPr wrap="square" lIns="45720" tIns="18288" rIns="45720" bIns="18288" anchor="t">
            <a:spAutoFit/>
          </a:bodyPr>
          <a:lstStyle/>
          <a:p>
            <a:pPr algn="l">
              <a:spcAft>
                <a:spcPts val="600"/>
              </a:spcAft>
            </a:pPr>
            <a:r>
              <a:rPr sz="2200" b="1" i="0">
                <a:solidFill>
                  <a:srgbClr val="FFFFFF"/>
                </a:solidFill>
                <a:latin typeface="Calibri"/>
              </a:rPr>
              <a:t>Prathik Anand Krishnan</a:t>
            </a:r>
          </a:p>
          <a:p>
            <a:pPr algn="l">
              <a:spcAft>
                <a:spcPts val="200"/>
              </a:spcAft>
            </a:pPr>
            <a:r>
              <a:rPr sz="1300" b="0" i="0">
                <a:solidFill>
                  <a:srgbClr val="C9D6E2"/>
                </a:solidFill>
                <a:latin typeface="Calibri"/>
              </a:rPr>
              <a:t>Examiner: Dr. L. Thomas van Binsbergen (CCI, UvA)   ·   Reader: Prof. Dr. Benny Åkesson (PCS, UvA)</a:t>
            </a:r>
          </a:p>
          <a:p>
            <a:pPr algn="l"/>
            <a:r>
              <a:rPr sz="1300" b="0" i="0">
                <a:solidFill>
                  <a:srgbClr val="C9D6E2"/>
                </a:solidFill>
                <a:latin typeface="Calibri"/>
              </a:rPr>
              <a:t>Daily supervisor: Dr. Rosilde Corvino (TNO-ESI)</a:t>
            </a:r>
          </a:p>
        </p:txBody>
      </p:sp>
      <p:sp>
        <p:nvSpPr>
          <p:cNvPr id="12" name="TextBox 11"/>
          <p:cNvSpPr txBox="1"/>
          <p:nvPr/>
        </p:nvSpPr>
        <p:spPr>
          <a:xfrm>
            <a:off x="1828800" y="6053328"/>
            <a:ext cx="6858000" cy="457200"/>
          </a:xfrm>
          <a:prstGeom prst="rect">
            <a:avLst/>
          </a:prstGeom>
          <a:noFill/>
        </p:spPr>
        <p:txBody>
          <a:bodyPr wrap="square" lIns="45720" tIns="18288" rIns="45720" bIns="18288" anchor="t">
            <a:spAutoFit/>
          </a:bodyPr>
          <a:lstStyle/>
          <a:p>
            <a:pPr algn="l"/>
            <a:r>
              <a:rPr sz="1200" b="1" i="0">
                <a:solidFill>
                  <a:srgbClr val="1BA19C"/>
                </a:solidFill>
                <a:latin typeface="Calibri"/>
              </a:rPr>
              <a:t>University of Amsterdam  ·  TNO-ESI (in partnership with Philips), Eindhoven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OVERVIEW</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Agenda</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2</a:t>
            </a:r>
          </a:p>
        </p:txBody>
      </p:sp>
      <p:sp>
        <p:nvSpPr>
          <p:cNvPr id="7" name="Rounded Rectangle 6"/>
          <p:cNvSpPr/>
          <p:nvPr/>
        </p:nvSpPr>
        <p:spPr>
          <a:xfrm>
            <a:off x="640080" y="1417320"/>
            <a:ext cx="502920" cy="502920"/>
          </a:xfrm>
          <a:prstGeom prst="roundRect">
            <a:avLst>
              <a:gd name="adj" fmla="val 2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800" b="1">
                <a:solidFill>
                  <a:srgbClr val="FFFFFF"/>
                </a:solidFill>
                <a:latin typeface="Calibri"/>
              </a:rPr>
              <a:t>1</a:t>
            </a:r>
          </a:p>
        </p:txBody>
      </p:sp>
      <p:sp>
        <p:nvSpPr>
          <p:cNvPr id="8" name="TextBox 7"/>
          <p:cNvSpPr txBox="1"/>
          <p:nvPr/>
        </p:nvSpPr>
        <p:spPr>
          <a:xfrm>
            <a:off x="1325880" y="1399032"/>
            <a:ext cx="3017520" cy="548640"/>
          </a:xfrm>
          <a:prstGeom prst="rect">
            <a:avLst/>
          </a:prstGeom>
          <a:noFill/>
        </p:spPr>
        <p:txBody>
          <a:bodyPr wrap="square" lIns="45720" tIns="18288" rIns="45720" bIns="18288" anchor="t">
            <a:spAutoFit/>
          </a:bodyPr>
          <a:lstStyle/>
          <a:p>
            <a:pPr algn="l"/>
            <a:r>
              <a:rPr sz="1800" b="1" i="0">
                <a:solidFill>
                  <a:srgbClr val="0B2B45"/>
                </a:solidFill>
                <a:latin typeface="Calibri"/>
              </a:rPr>
              <a:t>Motivation</a:t>
            </a:r>
          </a:p>
        </p:txBody>
      </p:sp>
      <p:sp>
        <p:nvSpPr>
          <p:cNvPr id="9" name="TextBox 8"/>
          <p:cNvSpPr txBox="1"/>
          <p:nvPr/>
        </p:nvSpPr>
        <p:spPr>
          <a:xfrm>
            <a:off x="4480560" y="1472184"/>
            <a:ext cx="7315200" cy="365760"/>
          </a:xfrm>
          <a:prstGeom prst="rect">
            <a:avLst/>
          </a:prstGeom>
          <a:noFill/>
        </p:spPr>
        <p:txBody>
          <a:bodyPr wrap="square" lIns="45720" tIns="18288" rIns="45720" bIns="18288" anchor="t">
            <a:spAutoFit/>
          </a:bodyPr>
          <a:lstStyle/>
          <a:p>
            <a:pPr algn="l"/>
            <a:r>
              <a:rPr sz="1300" b="0" i="0">
                <a:solidFill>
                  <a:srgbClr val="5A636E"/>
                </a:solidFill>
                <a:latin typeface="Calibri"/>
              </a:rPr>
              <a:t>Why interaction models, why they drift</a:t>
            </a:r>
          </a:p>
        </p:txBody>
      </p:sp>
      <p:sp>
        <p:nvSpPr>
          <p:cNvPr id="10" name="Rounded Rectangle 9"/>
          <p:cNvSpPr/>
          <p:nvPr/>
        </p:nvSpPr>
        <p:spPr>
          <a:xfrm>
            <a:off x="640080" y="2075688"/>
            <a:ext cx="502920" cy="502920"/>
          </a:xfrm>
          <a:prstGeom prst="roundRect">
            <a:avLst>
              <a:gd name="adj" fmla="val 2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800" b="1">
                <a:solidFill>
                  <a:srgbClr val="FFFFFF"/>
                </a:solidFill>
                <a:latin typeface="Calibri"/>
              </a:rPr>
              <a:t>2</a:t>
            </a:r>
          </a:p>
        </p:txBody>
      </p:sp>
      <p:sp>
        <p:nvSpPr>
          <p:cNvPr id="11" name="TextBox 10"/>
          <p:cNvSpPr txBox="1"/>
          <p:nvPr/>
        </p:nvSpPr>
        <p:spPr>
          <a:xfrm>
            <a:off x="1325880" y="2057400"/>
            <a:ext cx="3017520" cy="548640"/>
          </a:xfrm>
          <a:prstGeom prst="rect">
            <a:avLst/>
          </a:prstGeom>
          <a:noFill/>
        </p:spPr>
        <p:txBody>
          <a:bodyPr wrap="square" lIns="45720" tIns="18288" rIns="45720" bIns="18288" anchor="t">
            <a:spAutoFit/>
          </a:bodyPr>
          <a:lstStyle/>
          <a:p>
            <a:pPr algn="l"/>
            <a:r>
              <a:rPr sz="1800" b="1" i="0">
                <a:solidFill>
                  <a:srgbClr val="0B2B45"/>
                </a:solidFill>
                <a:latin typeface="Calibri"/>
              </a:rPr>
              <a:t>Problem, State of the Art &amp; Research Questions</a:t>
            </a:r>
          </a:p>
        </p:txBody>
      </p:sp>
      <p:sp>
        <p:nvSpPr>
          <p:cNvPr id="12" name="TextBox 11"/>
          <p:cNvSpPr txBox="1"/>
          <p:nvPr/>
        </p:nvSpPr>
        <p:spPr>
          <a:xfrm>
            <a:off x="4480560" y="2130552"/>
            <a:ext cx="7315200" cy="365760"/>
          </a:xfrm>
          <a:prstGeom prst="rect">
            <a:avLst/>
          </a:prstGeom>
          <a:noFill/>
        </p:spPr>
        <p:txBody>
          <a:bodyPr wrap="square" lIns="45720" tIns="18288" rIns="45720" bIns="18288" anchor="t">
            <a:spAutoFit/>
          </a:bodyPr>
          <a:lstStyle/>
          <a:p>
            <a:pPr algn="l"/>
            <a:r>
              <a:rPr sz="1300" b="0" i="0">
                <a:solidFill>
                  <a:srgbClr val="5A636E"/>
                </a:solidFill>
                <a:latin typeface="Calibri"/>
              </a:rPr>
              <a:t>The bidirectional fusion gap; RQ1 (combining) &amp; RQ2 (scoping)</a:t>
            </a:r>
          </a:p>
        </p:txBody>
      </p:sp>
      <p:sp>
        <p:nvSpPr>
          <p:cNvPr id="13" name="Rounded Rectangle 12"/>
          <p:cNvSpPr/>
          <p:nvPr/>
        </p:nvSpPr>
        <p:spPr>
          <a:xfrm>
            <a:off x="640080" y="2734056"/>
            <a:ext cx="502920" cy="502920"/>
          </a:xfrm>
          <a:prstGeom prst="roundRect">
            <a:avLst>
              <a:gd name="adj" fmla="val 2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800" b="1">
                <a:solidFill>
                  <a:srgbClr val="FFFFFF"/>
                </a:solidFill>
                <a:latin typeface="Calibri"/>
              </a:rPr>
              <a:t>3</a:t>
            </a:r>
          </a:p>
        </p:txBody>
      </p:sp>
      <p:sp>
        <p:nvSpPr>
          <p:cNvPr id="14" name="TextBox 13"/>
          <p:cNvSpPr txBox="1"/>
          <p:nvPr/>
        </p:nvSpPr>
        <p:spPr>
          <a:xfrm>
            <a:off x="1325880" y="2715768"/>
            <a:ext cx="3017520" cy="548640"/>
          </a:xfrm>
          <a:prstGeom prst="rect">
            <a:avLst/>
          </a:prstGeom>
          <a:noFill/>
        </p:spPr>
        <p:txBody>
          <a:bodyPr wrap="square" lIns="45720" tIns="18288" rIns="45720" bIns="18288" anchor="t">
            <a:spAutoFit/>
          </a:bodyPr>
          <a:lstStyle/>
          <a:p>
            <a:pPr algn="l"/>
            <a:r>
              <a:rPr sz="1800" b="1" i="0">
                <a:solidFill>
                  <a:srgbClr val="0B2B45"/>
                </a:solidFill>
                <a:latin typeface="Calibri"/>
              </a:rPr>
              <a:t>Skill-Based Solution</a:t>
            </a:r>
          </a:p>
        </p:txBody>
      </p:sp>
      <p:sp>
        <p:nvSpPr>
          <p:cNvPr id="15" name="TextBox 14"/>
          <p:cNvSpPr txBox="1"/>
          <p:nvPr/>
        </p:nvSpPr>
        <p:spPr>
          <a:xfrm>
            <a:off x="4480560" y="2788920"/>
            <a:ext cx="7315200" cy="365760"/>
          </a:xfrm>
          <a:prstGeom prst="rect">
            <a:avLst/>
          </a:prstGeom>
          <a:noFill/>
        </p:spPr>
        <p:txBody>
          <a:bodyPr wrap="square" lIns="45720" tIns="18288" rIns="45720" bIns="18288" anchor="t">
            <a:spAutoFit/>
          </a:bodyPr>
          <a:lstStyle/>
          <a:p>
            <a:pPr algn="l"/>
            <a:r>
              <a:rPr sz="1300" b="0" i="0">
                <a:solidFill>
                  <a:srgbClr val="5A636E"/>
                </a:solidFill>
                <a:latin typeface="Calibri"/>
              </a:rPr>
              <a:t>Pipeline, property graph &amp; skill mechanics -- worked examples</a:t>
            </a:r>
          </a:p>
        </p:txBody>
      </p:sp>
      <p:sp>
        <p:nvSpPr>
          <p:cNvPr id="16" name="Rounded Rectangle 15"/>
          <p:cNvSpPr/>
          <p:nvPr/>
        </p:nvSpPr>
        <p:spPr>
          <a:xfrm>
            <a:off x="640080" y="3392424"/>
            <a:ext cx="502920" cy="502920"/>
          </a:xfrm>
          <a:prstGeom prst="roundRect">
            <a:avLst>
              <a:gd name="adj" fmla="val 2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800" b="1">
                <a:solidFill>
                  <a:srgbClr val="FFFFFF"/>
                </a:solidFill>
                <a:latin typeface="Calibri"/>
              </a:rPr>
              <a:t>4</a:t>
            </a:r>
          </a:p>
        </p:txBody>
      </p:sp>
      <p:sp>
        <p:nvSpPr>
          <p:cNvPr id="17" name="TextBox 16"/>
          <p:cNvSpPr txBox="1"/>
          <p:nvPr/>
        </p:nvSpPr>
        <p:spPr>
          <a:xfrm>
            <a:off x="1325880" y="3374136"/>
            <a:ext cx="3017520" cy="548640"/>
          </a:xfrm>
          <a:prstGeom prst="rect">
            <a:avLst/>
          </a:prstGeom>
          <a:noFill/>
        </p:spPr>
        <p:txBody>
          <a:bodyPr wrap="square" lIns="45720" tIns="18288" rIns="45720" bIns="18288" anchor="t">
            <a:spAutoFit/>
          </a:bodyPr>
          <a:lstStyle/>
          <a:p>
            <a:pPr algn="l"/>
            <a:r>
              <a:rPr sz="1800" b="1" i="0">
                <a:solidFill>
                  <a:srgbClr val="0B2B45"/>
                </a:solidFill>
                <a:latin typeface="Calibri"/>
              </a:rPr>
              <a:t>Experimental Setup</a:t>
            </a:r>
          </a:p>
        </p:txBody>
      </p:sp>
      <p:sp>
        <p:nvSpPr>
          <p:cNvPr id="18" name="TextBox 17"/>
          <p:cNvSpPr txBox="1"/>
          <p:nvPr/>
        </p:nvSpPr>
        <p:spPr>
          <a:xfrm>
            <a:off x="4480560" y="3447288"/>
            <a:ext cx="7315200" cy="365760"/>
          </a:xfrm>
          <a:prstGeom prst="rect">
            <a:avLst/>
          </a:prstGeom>
          <a:noFill/>
        </p:spPr>
        <p:txBody>
          <a:bodyPr wrap="square" lIns="45720" tIns="18288" rIns="45720" bIns="18288" anchor="t">
            <a:spAutoFit/>
          </a:bodyPr>
          <a:lstStyle/>
          <a:p>
            <a:pPr algn="l"/>
            <a:r>
              <a:rPr sz="1300" b="0" i="0">
                <a:solidFill>
                  <a:srgbClr val="5A636E"/>
                </a:solidFill>
                <a:latin typeface="Calibri"/>
              </a:rPr>
              <a:t>Which experiment answers which question; CPSCore; scenarios; AI usage; replication</a:t>
            </a:r>
          </a:p>
        </p:txBody>
      </p:sp>
      <p:sp>
        <p:nvSpPr>
          <p:cNvPr id="19" name="Rounded Rectangle 18"/>
          <p:cNvSpPr/>
          <p:nvPr/>
        </p:nvSpPr>
        <p:spPr>
          <a:xfrm>
            <a:off x="640080" y="4050792"/>
            <a:ext cx="502920" cy="502920"/>
          </a:xfrm>
          <a:prstGeom prst="roundRect">
            <a:avLst>
              <a:gd name="adj" fmla="val 2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800" b="1">
                <a:solidFill>
                  <a:srgbClr val="FFFFFF"/>
                </a:solidFill>
                <a:latin typeface="Calibri"/>
              </a:rPr>
              <a:t>5</a:t>
            </a:r>
          </a:p>
        </p:txBody>
      </p:sp>
      <p:sp>
        <p:nvSpPr>
          <p:cNvPr id="20" name="TextBox 19"/>
          <p:cNvSpPr txBox="1"/>
          <p:nvPr/>
        </p:nvSpPr>
        <p:spPr>
          <a:xfrm>
            <a:off x="1325880" y="4032504"/>
            <a:ext cx="3017520" cy="548640"/>
          </a:xfrm>
          <a:prstGeom prst="rect">
            <a:avLst/>
          </a:prstGeom>
          <a:noFill/>
        </p:spPr>
        <p:txBody>
          <a:bodyPr wrap="square" lIns="45720" tIns="18288" rIns="45720" bIns="18288" anchor="t">
            <a:spAutoFit/>
          </a:bodyPr>
          <a:lstStyle/>
          <a:p>
            <a:pPr algn="l"/>
            <a:r>
              <a:rPr sz="1800" b="1" i="0">
                <a:solidFill>
                  <a:srgbClr val="0B2B45"/>
                </a:solidFill>
                <a:latin typeface="Calibri"/>
              </a:rPr>
              <a:t>Experiments &amp; Results</a:t>
            </a:r>
          </a:p>
        </p:txBody>
      </p:sp>
      <p:sp>
        <p:nvSpPr>
          <p:cNvPr id="21" name="TextBox 20"/>
          <p:cNvSpPr txBox="1"/>
          <p:nvPr/>
        </p:nvSpPr>
        <p:spPr>
          <a:xfrm>
            <a:off x="4480560" y="4105656"/>
            <a:ext cx="7315200" cy="365760"/>
          </a:xfrm>
          <a:prstGeom prst="rect">
            <a:avLst/>
          </a:prstGeom>
          <a:noFill/>
        </p:spPr>
        <p:txBody>
          <a:bodyPr wrap="square" lIns="45720" tIns="18288" rIns="45720" bIns="18288" anchor="t">
            <a:spAutoFit/>
          </a:bodyPr>
          <a:lstStyle/>
          <a:p>
            <a:pPr algn="l"/>
            <a:r>
              <a:rPr sz="1300" b="0" i="0">
                <a:solidFill>
                  <a:srgbClr val="5A636E"/>
                </a:solidFill>
                <a:latin typeface="Calibri"/>
              </a:rPr>
              <a:t>H1 accuracy · H2 focus · H3 utility</a:t>
            </a:r>
          </a:p>
        </p:txBody>
      </p:sp>
      <p:sp>
        <p:nvSpPr>
          <p:cNvPr id="22" name="Rounded Rectangle 21"/>
          <p:cNvSpPr/>
          <p:nvPr/>
        </p:nvSpPr>
        <p:spPr>
          <a:xfrm>
            <a:off x="640080" y="4709160"/>
            <a:ext cx="502920" cy="502920"/>
          </a:xfrm>
          <a:prstGeom prst="roundRect">
            <a:avLst>
              <a:gd name="adj" fmla="val 2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800" b="1">
                <a:solidFill>
                  <a:srgbClr val="FFFFFF"/>
                </a:solidFill>
                <a:latin typeface="Calibri"/>
              </a:rPr>
              <a:t>6</a:t>
            </a:r>
          </a:p>
        </p:txBody>
      </p:sp>
      <p:sp>
        <p:nvSpPr>
          <p:cNvPr id="23" name="TextBox 22"/>
          <p:cNvSpPr txBox="1"/>
          <p:nvPr/>
        </p:nvSpPr>
        <p:spPr>
          <a:xfrm>
            <a:off x="1325880" y="4690872"/>
            <a:ext cx="3017520" cy="548640"/>
          </a:xfrm>
          <a:prstGeom prst="rect">
            <a:avLst/>
          </a:prstGeom>
          <a:noFill/>
        </p:spPr>
        <p:txBody>
          <a:bodyPr wrap="square" lIns="45720" tIns="18288" rIns="45720" bIns="18288" anchor="t">
            <a:spAutoFit/>
          </a:bodyPr>
          <a:lstStyle/>
          <a:p>
            <a:pPr algn="l"/>
            <a:r>
              <a:rPr sz="1800" b="1" i="0">
                <a:solidFill>
                  <a:srgbClr val="0B2B45"/>
                </a:solidFill>
                <a:latin typeface="Calibri"/>
              </a:rPr>
              <a:t>Results &amp; Findings</a:t>
            </a:r>
          </a:p>
        </p:txBody>
      </p:sp>
      <p:sp>
        <p:nvSpPr>
          <p:cNvPr id="24" name="TextBox 23"/>
          <p:cNvSpPr txBox="1"/>
          <p:nvPr/>
        </p:nvSpPr>
        <p:spPr>
          <a:xfrm>
            <a:off x="4480560" y="4764024"/>
            <a:ext cx="7315200" cy="365760"/>
          </a:xfrm>
          <a:prstGeom prst="rect">
            <a:avLst/>
          </a:prstGeom>
          <a:noFill/>
        </p:spPr>
        <p:txBody>
          <a:bodyPr wrap="square" lIns="45720" tIns="18288" rIns="45720" bIns="18288" anchor="t">
            <a:spAutoFit/>
          </a:bodyPr>
          <a:lstStyle/>
          <a:p>
            <a:pPr algn="l"/>
            <a:r>
              <a:rPr sz="1300" b="0" i="0">
                <a:solidFill>
                  <a:srgbClr val="5A636E"/>
                </a:solidFill>
                <a:latin typeface="Calibri"/>
              </a:rPr>
              <a:t>When fusion helps — and when it doesn't</a:t>
            </a:r>
          </a:p>
        </p:txBody>
      </p:sp>
      <p:sp>
        <p:nvSpPr>
          <p:cNvPr id="25" name="Rounded Rectangle 24"/>
          <p:cNvSpPr/>
          <p:nvPr/>
        </p:nvSpPr>
        <p:spPr>
          <a:xfrm>
            <a:off x="640080" y="5367528"/>
            <a:ext cx="502920" cy="502920"/>
          </a:xfrm>
          <a:prstGeom prst="roundRect">
            <a:avLst>
              <a:gd name="adj" fmla="val 2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800" b="1">
                <a:solidFill>
                  <a:srgbClr val="FFFFFF"/>
                </a:solidFill>
                <a:latin typeface="Calibri"/>
              </a:rPr>
              <a:t>7</a:t>
            </a:r>
          </a:p>
        </p:txBody>
      </p:sp>
      <p:sp>
        <p:nvSpPr>
          <p:cNvPr id="26" name="TextBox 25"/>
          <p:cNvSpPr txBox="1"/>
          <p:nvPr/>
        </p:nvSpPr>
        <p:spPr>
          <a:xfrm>
            <a:off x="1325880" y="5349240"/>
            <a:ext cx="3017520" cy="548640"/>
          </a:xfrm>
          <a:prstGeom prst="rect">
            <a:avLst/>
          </a:prstGeom>
          <a:noFill/>
        </p:spPr>
        <p:txBody>
          <a:bodyPr wrap="square" lIns="45720" tIns="18288" rIns="45720" bIns="18288" anchor="t">
            <a:spAutoFit/>
          </a:bodyPr>
          <a:lstStyle/>
          <a:p>
            <a:pPr algn="l"/>
            <a:r>
              <a:rPr sz="1800" b="1" i="0">
                <a:solidFill>
                  <a:srgbClr val="0B2B45"/>
                </a:solidFill>
                <a:latin typeface="Calibri"/>
              </a:rPr>
              <a:t>Contributions, Limitations &amp; Conclusion</a:t>
            </a:r>
          </a:p>
        </p:txBody>
      </p:sp>
      <p:sp>
        <p:nvSpPr>
          <p:cNvPr id="27" name="TextBox 26"/>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28" name="TextBox 27"/>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MOTIVATION</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Understanding Behaviour Before You Change It</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3</a:t>
            </a:r>
          </a:p>
        </p:txBody>
      </p:sp>
      <p:sp>
        <p:nvSpPr>
          <p:cNvPr id="7" name="Rounded Rectangle 6"/>
          <p:cNvSpPr/>
          <p:nvPr/>
        </p:nvSpPr>
        <p:spPr>
          <a:xfrm>
            <a:off x="502920" y="1371600"/>
            <a:ext cx="5532120" cy="448056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554480"/>
            <a:ext cx="5029200" cy="4206240"/>
          </a:xfrm>
          <a:prstGeom prst="rect">
            <a:avLst/>
          </a:prstGeom>
          <a:noFill/>
        </p:spPr>
        <p:txBody>
          <a:bodyPr wrap="square" lIns="45720" tIns="18288" rIns="45720" bIns="18288" anchor="t">
            <a:spAutoFit/>
          </a:bodyPr>
          <a:lstStyle/>
          <a:p>
            <a:pPr algn="l">
              <a:spcAft>
                <a:spcPts val="600"/>
              </a:spcAft>
            </a:pPr>
            <a:r>
              <a:rPr sz="1600" b="1" i="0">
                <a:solidFill>
                  <a:srgbClr val="1F6FB2"/>
                </a:solidFill>
                <a:latin typeface="Calibri"/>
              </a:rPr>
              <a:t>The setting</a:t>
            </a:r>
          </a:p>
          <a:p>
            <a:pPr algn="l">
              <a:spcAft>
                <a:spcPts val="800"/>
              </a:spcAft>
            </a:pPr>
            <a:r>
              <a:rPr sz="1500" b="0" i="0">
                <a:solidFill>
                  <a:srgbClr val="222A33"/>
                </a:solidFill>
                <a:latin typeface="Calibri"/>
              </a:rPr>
              <a:t>•  Long-lived, safety-critical systems (medical imaging, industrial automation) evolve continuously.</a:t>
            </a:r>
          </a:p>
          <a:p>
            <a:pPr algn="l">
              <a:spcAft>
                <a:spcPts val="800"/>
              </a:spcAft>
            </a:pPr>
            <a:r>
              <a:rPr sz="1500" b="0" i="0">
                <a:solidFill>
                  <a:srgbClr val="222A33"/>
                </a:solidFill>
                <a:latin typeface="Calibri"/>
              </a:rPr>
              <a:t>•  Behaviour is meant to be captured by Interaction Models — scenario-specific sequence diagrams.</a:t>
            </a:r>
          </a:p>
          <a:p>
            <a:pPr algn="l">
              <a:spcAft>
                <a:spcPts val="800"/>
              </a:spcAft>
            </a:pPr>
            <a:r>
              <a:rPr sz="1500" b="0" i="0">
                <a:solidFill>
                  <a:srgbClr val="222A33"/>
                </a:solidFill>
                <a:latin typeface="Calibri"/>
              </a:rPr>
              <a:t>•  In practice these diagrams drift out of sync with the code and become unreliable.</a:t>
            </a:r>
          </a:p>
          <a:p>
            <a:pPr algn="l">
              <a:spcAft>
                <a:spcPts val="800"/>
              </a:spcAft>
            </a:pPr>
            <a:r>
              <a:rPr sz="1500" b="0" i="0">
                <a:solidFill>
                  <a:srgbClr val="222A33"/>
                </a:solidFill>
                <a:latin typeface="Calibri"/>
              </a:rPr>
              <a:t>•  Engineers must reconstruct behaviour by hand — slow, error-prone, expertise-dependent.</a:t>
            </a:r>
          </a:p>
          <a:p>
            <a:pPr algn="l"/>
            <a:r>
              <a:rPr sz="1500" b="0" i="0">
                <a:solidFill>
                  <a:srgbClr val="222A33"/>
                </a:solidFill>
                <a:latin typeface="Calibri"/>
              </a:rPr>
              <a:t>•  Event-driven systems make this worse: async callbacks and pub/sub hide who talks to whom.</a:t>
            </a:r>
          </a:p>
        </p:txBody>
      </p:sp>
      <p:sp>
        <p:nvSpPr>
          <p:cNvPr id="9" name="Rounded Rectangle 8"/>
          <p:cNvSpPr/>
          <p:nvPr/>
        </p:nvSpPr>
        <p:spPr>
          <a:xfrm>
            <a:off x="6217920" y="1371600"/>
            <a:ext cx="5440680" cy="4480560"/>
          </a:xfrm>
          <a:prstGeom prst="roundRect">
            <a:avLst>
              <a:gd name="adj" fmla="val 4000"/>
            </a:avLst>
          </a:prstGeom>
          <a:solidFill>
            <a:srgbClr val="FB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572768"/>
            <a:ext cx="4937760" cy="457200"/>
          </a:xfrm>
          <a:prstGeom prst="rect">
            <a:avLst/>
          </a:prstGeom>
          <a:noFill/>
        </p:spPr>
        <p:txBody>
          <a:bodyPr wrap="square" lIns="45720" tIns="18288" rIns="45720" bIns="18288" anchor="t">
            <a:spAutoFit/>
          </a:bodyPr>
          <a:lstStyle/>
          <a:p>
            <a:pPr algn="l"/>
            <a:r>
              <a:rPr sz="1200" b="1" i="0">
                <a:solidFill>
                  <a:srgbClr val="E18A1B"/>
                </a:solidFill>
                <a:latin typeface="Calibri"/>
              </a:rPr>
              <a:t>A REAL DEFECT THIS WOULD HAVE CAUGHT</a:t>
            </a:r>
          </a:p>
        </p:txBody>
      </p:sp>
      <p:sp>
        <p:nvSpPr>
          <p:cNvPr id="11" name="TextBox 10"/>
          <p:cNvSpPr txBox="1"/>
          <p:nvPr/>
        </p:nvSpPr>
        <p:spPr>
          <a:xfrm>
            <a:off x="6492240" y="2011680"/>
            <a:ext cx="4937760" cy="3657600"/>
          </a:xfrm>
          <a:prstGeom prst="rect">
            <a:avLst/>
          </a:prstGeom>
          <a:noFill/>
        </p:spPr>
        <p:txBody>
          <a:bodyPr wrap="square" lIns="45720" tIns="18288" rIns="45720" bIns="18288" anchor="t">
            <a:spAutoFit/>
          </a:bodyPr>
          <a:lstStyle/>
          <a:p>
            <a:pPr algn="l">
              <a:spcAft>
                <a:spcPts val="1000"/>
              </a:spcAft>
            </a:pPr>
            <a:r>
              <a:rPr sz="1500" b="0" i="0">
                <a:solidFill>
                  <a:srgbClr val="222A33"/>
                </a:solidFill>
                <a:latin typeface="Calibri"/>
              </a:rPr>
              <a:t>•  A stale proxy object was never freed — a reset call was missing from the connection-handling code.</a:t>
            </a:r>
          </a:p>
          <a:p>
            <a:pPr algn="l">
              <a:spcAft>
                <a:spcPts val="1000"/>
              </a:spcAft>
            </a:pPr>
            <a:r>
              <a:rPr sz="1500" b="0" i="0">
                <a:solidFill>
                  <a:srgbClr val="222A33"/>
                </a:solidFill>
                <a:latin typeface="Calibri"/>
              </a:rPr>
              <a:t>•  After a service restart, the system silently stopped delivering change-notification events.</a:t>
            </a:r>
          </a:p>
          <a:p>
            <a:pPr algn="l">
              <a:spcAft>
                <a:spcPts val="1000"/>
              </a:spcAft>
            </a:pPr>
            <a:r>
              <a:rPr sz="1500" b="0" i="0">
                <a:solidFill>
                  <a:srgbClr val="222A33"/>
                </a:solidFill>
                <a:latin typeface="Calibri"/>
              </a:rPr>
              <a:t>•  The fault was visible only by following an implicit chain of events that no interaction model showed.</a:t>
            </a:r>
          </a:p>
          <a:p>
            <a:pPr algn="l"/>
            <a:r>
              <a:rPr sz="1500" b="1" i="0">
                <a:solidFill>
                  <a:srgbClr val="0B2B45"/>
                </a:solidFill>
                <a:latin typeface="Calibri"/>
              </a:rPr>
              <a:t>•  Diagnosing it meant manually reconstructing exactly the kind of model this thesis automates.</a:t>
            </a:r>
          </a:p>
        </p:txBody>
      </p:sp>
      <p:sp>
        <p:nvSpPr>
          <p:cNvPr id="12" name="TextBox 11"/>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3" name="TextBox 12"/>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PROBLEM STATEMENT</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Two Incomplete Sources of Evidence</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4</a:t>
            </a:r>
          </a:p>
        </p:txBody>
      </p:sp>
      <p:sp>
        <p:nvSpPr>
          <p:cNvPr id="7" name="Rounded Rectangle 6"/>
          <p:cNvSpPr/>
          <p:nvPr/>
        </p:nvSpPr>
        <p:spPr>
          <a:xfrm>
            <a:off x="502920" y="1417320"/>
            <a:ext cx="5394960" cy="2148840"/>
          </a:xfrm>
          <a:prstGeom prst="roundRect">
            <a:avLst>
              <a:gd name="adj" fmla="val 4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554480"/>
            <a:ext cx="4937760" cy="365760"/>
          </a:xfrm>
          <a:prstGeom prst="rect">
            <a:avLst/>
          </a:prstGeom>
          <a:noFill/>
        </p:spPr>
        <p:txBody>
          <a:bodyPr wrap="square" lIns="45720" tIns="18288" rIns="45720" bIns="18288" anchor="t">
            <a:spAutoFit/>
          </a:bodyPr>
          <a:lstStyle/>
          <a:p>
            <a:pPr algn="l"/>
            <a:r>
              <a:rPr sz="1400" b="1" i="0">
                <a:solidFill>
                  <a:srgbClr val="1F6FB2"/>
                </a:solidFill>
                <a:latin typeface="Calibri"/>
              </a:rPr>
              <a:t>STATIC CALL GRAPH</a:t>
            </a:r>
          </a:p>
        </p:txBody>
      </p:sp>
      <p:sp>
        <p:nvSpPr>
          <p:cNvPr id="9" name="TextBox 8"/>
          <p:cNvSpPr txBox="1"/>
          <p:nvPr/>
        </p:nvSpPr>
        <p:spPr>
          <a:xfrm>
            <a:off x="731520" y="1965960"/>
            <a:ext cx="4937760" cy="1554480"/>
          </a:xfrm>
          <a:prstGeom prst="rect">
            <a:avLst/>
          </a:prstGeom>
          <a:noFill/>
        </p:spPr>
        <p:txBody>
          <a:bodyPr wrap="square" lIns="45720" tIns="18288" rIns="45720" bIns="18288" anchor="t">
            <a:spAutoFit/>
          </a:bodyPr>
          <a:lstStyle/>
          <a:p>
            <a:pPr algn="l">
              <a:spcAft>
                <a:spcPts val="500"/>
              </a:spcAft>
            </a:pPr>
            <a:r>
              <a:rPr sz="1400" b="0" i="0">
                <a:solidFill>
                  <a:srgbClr val="2E8B57"/>
                </a:solidFill>
                <a:latin typeface="Calibri"/>
              </a:rPr>
              <a:t>•  Complete view of all possible interactions.</a:t>
            </a:r>
          </a:p>
          <a:p>
            <a:pPr algn="l">
              <a:spcAft>
                <a:spcPts val="500"/>
              </a:spcAft>
            </a:pPr>
            <a:r>
              <a:rPr sz="1400" b="0" i="0">
                <a:solidFill>
                  <a:srgbClr val="C0392B"/>
                </a:solidFill>
                <a:latin typeface="Calibri"/>
              </a:rPr>
              <a:t>•  Over-approximates — includes paths never taken.</a:t>
            </a:r>
          </a:p>
          <a:p>
            <a:pPr algn="l"/>
            <a:r>
              <a:rPr sz="1400" b="0" i="0">
                <a:solidFill>
                  <a:srgbClr val="C0392B"/>
                </a:solidFill>
                <a:latin typeface="Calibri"/>
              </a:rPr>
              <a:t>•  No execution order, no scenario specificity.</a:t>
            </a:r>
          </a:p>
        </p:txBody>
      </p:sp>
      <p:sp>
        <p:nvSpPr>
          <p:cNvPr id="10" name="Rounded Rectangle 9"/>
          <p:cNvSpPr/>
          <p:nvPr/>
        </p:nvSpPr>
        <p:spPr>
          <a:xfrm>
            <a:off x="6263640" y="1417320"/>
            <a:ext cx="5394960" cy="214884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1554480"/>
            <a:ext cx="4937760" cy="365760"/>
          </a:xfrm>
          <a:prstGeom prst="rect">
            <a:avLst/>
          </a:prstGeom>
          <a:noFill/>
        </p:spPr>
        <p:txBody>
          <a:bodyPr wrap="square" lIns="45720" tIns="18288" rIns="45720" bIns="18288" anchor="t">
            <a:spAutoFit/>
          </a:bodyPr>
          <a:lstStyle/>
          <a:p>
            <a:pPr algn="l"/>
            <a:r>
              <a:rPr sz="1400" b="1" i="0">
                <a:solidFill>
                  <a:srgbClr val="1BA19C"/>
                </a:solidFill>
                <a:latin typeface="Calibri"/>
              </a:rPr>
              <a:t>RUNTIME TRACES</a:t>
            </a:r>
          </a:p>
        </p:txBody>
      </p:sp>
      <p:sp>
        <p:nvSpPr>
          <p:cNvPr id="12" name="TextBox 11"/>
          <p:cNvSpPr txBox="1"/>
          <p:nvPr/>
        </p:nvSpPr>
        <p:spPr>
          <a:xfrm>
            <a:off x="6492240" y="1965960"/>
            <a:ext cx="4937760" cy="1554480"/>
          </a:xfrm>
          <a:prstGeom prst="rect">
            <a:avLst/>
          </a:prstGeom>
          <a:noFill/>
        </p:spPr>
        <p:txBody>
          <a:bodyPr wrap="square" lIns="45720" tIns="18288" rIns="45720" bIns="18288" anchor="t">
            <a:spAutoFit/>
          </a:bodyPr>
          <a:lstStyle/>
          <a:p>
            <a:pPr algn="l">
              <a:spcAft>
                <a:spcPts val="500"/>
              </a:spcAft>
            </a:pPr>
            <a:r>
              <a:rPr sz="1400" b="0" i="0">
                <a:solidFill>
                  <a:srgbClr val="2E8B57"/>
                </a:solidFill>
                <a:latin typeface="Calibri"/>
              </a:rPr>
              <a:t>•  Scenario-specific by construction, real order.</a:t>
            </a:r>
          </a:p>
          <a:p>
            <a:pPr algn="l">
              <a:spcAft>
                <a:spcPts val="500"/>
              </a:spcAft>
            </a:pPr>
            <a:r>
              <a:rPr sz="1400" b="0" i="0">
                <a:solidFill>
                  <a:srgbClr val="C0392B"/>
                </a:solidFill>
                <a:latin typeface="Calibri"/>
              </a:rPr>
              <a:t>•  Under-approximates — only what was exercised.</a:t>
            </a:r>
          </a:p>
          <a:p>
            <a:pPr algn="l"/>
            <a:r>
              <a:rPr sz="1400" b="0" i="0">
                <a:solidFill>
                  <a:srgbClr val="C0392B"/>
                </a:solidFill>
                <a:latin typeface="Calibri"/>
              </a:rPr>
              <a:t>•  Sparse / noisy; misses suppressed or rare paths.</a:t>
            </a:r>
          </a:p>
        </p:txBody>
      </p:sp>
      <p:sp>
        <p:nvSpPr>
          <p:cNvPr id="13" name="Rounded Rectangle 12"/>
          <p:cNvSpPr/>
          <p:nvPr/>
        </p:nvSpPr>
        <p:spPr>
          <a:xfrm>
            <a:off x="502920" y="3749039"/>
            <a:ext cx="11155680" cy="2103120"/>
          </a:xfrm>
          <a:prstGeom prst="roundRect">
            <a:avLst>
              <a:gd name="adj" fmla="val 4000"/>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913632"/>
            <a:ext cx="10607040" cy="457200"/>
          </a:xfrm>
          <a:prstGeom prst="rect">
            <a:avLst/>
          </a:prstGeom>
          <a:noFill/>
        </p:spPr>
        <p:txBody>
          <a:bodyPr wrap="square" lIns="45720" tIns="18288" rIns="45720" bIns="18288" anchor="t">
            <a:spAutoFit/>
          </a:bodyPr>
          <a:lstStyle/>
          <a:p>
            <a:pPr algn="l"/>
            <a:r>
              <a:rPr sz="1300" b="1" i="0">
                <a:solidFill>
                  <a:srgbClr val="E18A1B"/>
                </a:solidFill>
                <a:latin typeface="Calibri"/>
              </a:rPr>
              <a:t>THE GAP</a:t>
            </a:r>
          </a:p>
        </p:txBody>
      </p:sp>
      <p:sp>
        <p:nvSpPr>
          <p:cNvPr id="15" name="TextBox 14"/>
          <p:cNvSpPr txBox="1"/>
          <p:nvPr/>
        </p:nvSpPr>
        <p:spPr>
          <a:xfrm>
            <a:off x="777240" y="4297680"/>
            <a:ext cx="10607040" cy="1463040"/>
          </a:xfrm>
          <a:prstGeom prst="rect">
            <a:avLst/>
          </a:prstGeom>
          <a:noFill/>
        </p:spPr>
        <p:txBody>
          <a:bodyPr wrap="square" lIns="45720" tIns="18288" rIns="45720" bIns="18288" anchor="t">
            <a:spAutoFit/>
          </a:bodyPr>
          <a:lstStyle/>
          <a:p>
            <a:pPr algn="l">
              <a:spcAft>
                <a:spcPts val="800"/>
              </a:spcAft>
            </a:pPr>
            <a:r>
              <a:rPr sz="1600" b="0" i="0">
                <a:solidFill>
                  <a:srgbClr val="FFFFFF"/>
                </a:solidFill>
                <a:latin typeface="Calibri"/>
              </a:rPr>
              <a:t>•  Existing hybrid methods use static structure only to organise an already-observed trace.</a:t>
            </a:r>
          </a:p>
          <a:p>
            <a:pPr algn="l"/>
            <a:r>
              <a:rPr sz="1600" b="1" i="0">
                <a:solidFill>
                  <a:srgbClr val="FFFFFF"/>
                </a:solidFill>
                <a:latin typeface="Calibri"/>
              </a:rPr>
              <a:t>•  No approach combines both directions at once: use static structure to recover interactions the trace missed, AND use the trace to trim the over-approximate static graph to the scenario.</a:t>
            </a:r>
          </a:p>
          <a:p>
            <a:pPr algn="l">
              <a:spcBef>
                <a:spcPts val="600"/>
              </a:spcBef>
            </a:pPr>
            <a:r>
              <a:rPr sz="1500" b="0" i="0">
                <a:solidFill>
                  <a:srgbClr val="C9D6E2"/>
                </a:solidFill>
                <a:latin typeface="Calibri"/>
              </a:rPr>
              <a:t>•  Plus: publish/subscribe indirection (boost::signals2, Redis) hides the subscription topology from call-graph analysis entirely.</a:t>
            </a:r>
          </a:p>
        </p:txBody>
      </p:sp>
      <p:sp>
        <p:nvSpPr>
          <p:cNvPr id="16" name="TextBox 15"/>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7" name="TextBox 16"/>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RELATED WORK</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State of the Art &amp; the Research Gap</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5</a:t>
            </a:r>
          </a:p>
        </p:txBody>
      </p:sp>
      <p:sp>
        <p:nvSpPr>
          <p:cNvPr id="7" name="Rounded Rectangle 6"/>
          <p:cNvSpPr/>
          <p:nvPr/>
        </p:nvSpPr>
        <p:spPr>
          <a:xfrm>
            <a:off x="502920" y="1371600"/>
            <a:ext cx="2724912" cy="320040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1371600"/>
            <a:ext cx="2724912" cy="548640"/>
          </a:xfrm>
          <a:prstGeom prst="roundRect">
            <a:avLst/>
          </a:prstGeom>
          <a:solidFill>
            <a:srgbClr val="1BA1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444752"/>
            <a:ext cx="2724912" cy="411480"/>
          </a:xfrm>
          <a:prstGeom prst="rect">
            <a:avLst/>
          </a:prstGeom>
          <a:noFill/>
        </p:spPr>
        <p:txBody>
          <a:bodyPr wrap="square" lIns="45720" tIns="18288" rIns="45720" bIns="18288" anchor="t">
            <a:spAutoFit/>
          </a:bodyPr>
          <a:lstStyle/>
          <a:p>
            <a:pPr algn="ctr"/>
            <a:r>
              <a:rPr sz="1400" b="1" i="0">
                <a:solidFill>
                  <a:srgbClr val="FFFFFF"/>
                </a:solidFill>
                <a:latin typeface="Calibri"/>
              </a:rPr>
              <a:t>Trace-Based</a:t>
            </a:r>
          </a:p>
        </p:txBody>
      </p:sp>
      <p:sp>
        <p:nvSpPr>
          <p:cNvPr id="10" name="TextBox 9"/>
          <p:cNvSpPr txBox="1"/>
          <p:nvPr/>
        </p:nvSpPr>
        <p:spPr>
          <a:xfrm>
            <a:off x="612648" y="2103120"/>
            <a:ext cx="274320" cy="731520"/>
          </a:xfrm>
          <a:prstGeom prst="rect">
            <a:avLst/>
          </a:prstGeom>
          <a:noFill/>
        </p:spPr>
        <p:txBody>
          <a:bodyPr wrap="square" lIns="45720" tIns="18288" rIns="45720" bIns="18288" anchor="t">
            <a:spAutoFit/>
          </a:bodyPr>
          <a:lstStyle/>
          <a:p>
            <a:pPr algn="l"/>
            <a:r>
              <a:rPr sz="1500" b="1" i="0">
                <a:solidFill>
                  <a:srgbClr val="2E8B57"/>
                </a:solidFill>
                <a:latin typeface="Calibri"/>
              </a:rPr>
              <a:t>✔</a:t>
            </a:r>
          </a:p>
        </p:txBody>
      </p:sp>
      <p:sp>
        <p:nvSpPr>
          <p:cNvPr id="11" name="TextBox 10"/>
          <p:cNvSpPr txBox="1"/>
          <p:nvPr/>
        </p:nvSpPr>
        <p:spPr>
          <a:xfrm>
            <a:off x="886968" y="2103120"/>
            <a:ext cx="2221992" cy="777240"/>
          </a:xfrm>
          <a:prstGeom prst="rect">
            <a:avLst/>
          </a:prstGeom>
          <a:noFill/>
        </p:spPr>
        <p:txBody>
          <a:bodyPr wrap="square" lIns="45720" tIns="18288" rIns="45720" bIns="18288" anchor="t">
            <a:spAutoFit/>
          </a:bodyPr>
          <a:lstStyle/>
          <a:p>
            <a:pPr algn="l"/>
            <a:r>
              <a:rPr sz="1250" b="0" i="0">
                <a:solidFill>
                  <a:srgbClr val="222A33"/>
                </a:solidFill>
                <a:latin typeface="Calibri"/>
              </a:rPr>
              <a:t>Concrete, observed behaviour</a:t>
            </a:r>
          </a:p>
        </p:txBody>
      </p:sp>
      <p:sp>
        <p:nvSpPr>
          <p:cNvPr id="12" name="TextBox 11"/>
          <p:cNvSpPr txBox="1"/>
          <p:nvPr/>
        </p:nvSpPr>
        <p:spPr>
          <a:xfrm>
            <a:off x="612648" y="2880360"/>
            <a:ext cx="274320" cy="731520"/>
          </a:xfrm>
          <a:prstGeom prst="rect">
            <a:avLst/>
          </a:prstGeom>
          <a:noFill/>
        </p:spPr>
        <p:txBody>
          <a:bodyPr wrap="square" lIns="45720" tIns="18288" rIns="45720" bIns="18288" anchor="t">
            <a:spAutoFit/>
          </a:bodyPr>
          <a:lstStyle/>
          <a:p>
            <a:pPr algn="l"/>
            <a:r>
              <a:rPr sz="1500" b="1" i="0">
                <a:solidFill>
                  <a:srgbClr val="C0392B"/>
                </a:solidFill>
                <a:latin typeface="Calibri"/>
              </a:rPr>
              <a:t>✖</a:t>
            </a:r>
          </a:p>
        </p:txBody>
      </p:sp>
      <p:sp>
        <p:nvSpPr>
          <p:cNvPr id="13" name="TextBox 12"/>
          <p:cNvSpPr txBox="1"/>
          <p:nvPr/>
        </p:nvSpPr>
        <p:spPr>
          <a:xfrm>
            <a:off x="886968" y="2880360"/>
            <a:ext cx="2221992" cy="777240"/>
          </a:xfrm>
          <a:prstGeom prst="rect">
            <a:avLst/>
          </a:prstGeom>
          <a:noFill/>
        </p:spPr>
        <p:txBody>
          <a:bodyPr wrap="square" lIns="45720" tIns="18288" rIns="45720" bIns="18288" anchor="t">
            <a:spAutoFit/>
          </a:bodyPr>
          <a:lstStyle/>
          <a:p>
            <a:pPr algn="l"/>
            <a:r>
              <a:rPr sz="1250" b="0" i="0">
                <a:solidFill>
                  <a:srgbClr val="222A33"/>
                </a:solidFill>
                <a:latin typeface="Calibri"/>
              </a:rPr>
              <a:t>Traces are incomplete</a:t>
            </a:r>
          </a:p>
        </p:txBody>
      </p:sp>
      <p:sp>
        <p:nvSpPr>
          <p:cNvPr id="14" name="TextBox 13"/>
          <p:cNvSpPr txBox="1"/>
          <p:nvPr/>
        </p:nvSpPr>
        <p:spPr>
          <a:xfrm>
            <a:off x="612648" y="3657600"/>
            <a:ext cx="274320" cy="731520"/>
          </a:xfrm>
          <a:prstGeom prst="rect">
            <a:avLst/>
          </a:prstGeom>
          <a:noFill/>
        </p:spPr>
        <p:txBody>
          <a:bodyPr wrap="square" lIns="45720" tIns="18288" rIns="45720" bIns="18288" anchor="t">
            <a:spAutoFit/>
          </a:bodyPr>
          <a:lstStyle/>
          <a:p>
            <a:pPr algn="l"/>
            <a:r>
              <a:rPr sz="1500" b="1" i="0">
                <a:solidFill>
                  <a:srgbClr val="C0392B"/>
                </a:solidFill>
                <a:latin typeface="Calibri"/>
              </a:rPr>
              <a:t>✖</a:t>
            </a:r>
          </a:p>
        </p:txBody>
      </p:sp>
      <p:sp>
        <p:nvSpPr>
          <p:cNvPr id="15" name="TextBox 14"/>
          <p:cNvSpPr txBox="1"/>
          <p:nvPr/>
        </p:nvSpPr>
        <p:spPr>
          <a:xfrm>
            <a:off x="886968" y="3657600"/>
            <a:ext cx="2221992" cy="777240"/>
          </a:xfrm>
          <a:prstGeom prst="rect">
            <a:avLst/>
          </a:prstGeom>
          <a:noFill/>
        </p:spPr>
        <p:txBody>
          <a:bodyPr wrap="square" lIns="45720" tIns="18288" rIns="45720" bIns="18288" anchor="t">
            <a:spAutoFit/>
          </a:bodyPr>
          <a:lstStyle/>
          <a:p>
            <a:pPr algn="l"/>
            <a:r>
              <a:rPr sz="1250" b="0" i="0">
                <a:solidFill>
                  <a:srgbClr val="222A33"/>
                </a:solidFill>
                <a:latin typeface="Calibri"/>
              </a:rPr>
              <a:t>Misses unexercised interactions</a:t>
            </a:r>
          </a:p>
        </p:txBody>
      </p:sp>
      <p:sp>
        <p:nvSpPr>
          <p:cNvPr id="16" name="Rounded Rectangle 15"/>
          <p:cNvSpPr/>
          <p:nvPr/>
        </p:nvSpPr>
        <p:spPr>
          <a:xfrm>
            <a:off x="3346704" y="1371600"/>
            <a:ext cx="2724912" cy="320040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346704" y="1371600"/>
            <a:ext cx="2724912" cy="548640"/>
          </a:xfrm>
          <a:prstGeom prst="round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346704" y="1444752"/>
            <a:ext cx="2724912" cy="411480"/>
          </a:xfrm>
          <a:prstGeom prst="rect">
            <a:avLst/>
          </a:prstGeom>
          <a:noFill/>
        </p:spPr>
        <p:txBody>
          <a:bodyPr wrap="square" lIns="45720" tIns="18288" rIns="45720" bIns="18288" anchor="t">
            <a:spAutoFit/>
          </a:bodyPr>
          <a:lstStyle/>
          <a:p>
            <a:pPr algn="ctr"/>
            <a:r>
              <a:rPr sz="1400" b="1" i="0">
                <a:solidFill>
                  <a:srgbClr val="FFFFFF"/>
                </a:solidFill>
                <a:latin typeface="Calibri"/>
              </a:rPr>
              <a:t>Static Analysis</a:t>
            </a:r>
          </a:p>
        </p:txBody>
      </p:sp>
      <p:sp>
        <p:nvSpPr>
          <p:cNvPr id="19" name="TextBox 18"/>
          <p:cNvSpPr txBox="1"/>
          <p:nvPr/>
        </p:nvSpPr>
        <p:spPr>
          <a:xfrm>
            <a:off x="3456432" y="2103120"/>
            <a:ext cx="274320" cy="731520"/>
          </a:xfrm>
          <a:prstGeom prst="rect">
            <a:avLst/>
          </a:prstGeom>
          <a:noFill/>
        </p:spPr>
        <p:txBody>
          <a:bodyPr wrap="square" lIns="45720" tIns="18288" rIns="45720" bIns="18288" anchor="t">
            <a:spAutoFit/>
          </a:bodyPr>
          <a:lstStyle/>
          <a:p>
            <a:pPr algn="l"/>
            <a:r>
              <a:rPr sz="1500" b="1" i="0">
                <a:solidFill>
                  <a:srgbClr val="2E8B57"/>
                </a:solidFill>
                <a:latin typeface="Calibri"/>
              </a:rPr>
              <a:t>✔</a:t>
            </a:r>
          </a:p>
        </p:txBody>
      </p:sp>
      <p:sp>
        <p:nvSpPr>
          <p:cNvPr id="20" name="TextBox 19"/>
          <p:cNvSpPr txBox="1"/>
          <p:nvPr/>
        </p:nvSpPr>
        <p:spPr>
          <a:xfrm>
            <a:off x="3730752" y="2103120"/>
            <a:ext cx="2221992" cy="777240"/>
          </a:xfrm>
          <a:prstGeom prst="rect">
            <a:avLst/>
          </a:prstGeom>
          <a:noFill/>
        </p:spPr>
        <p:txBody>
          <a:bodyPr wrap="square" lIns="45720" tIns="18288" rIns="45720" bIns="18288" anchor="t">
            <a:spAutoFit/>
          </a:bodyPr>
          <a:lstStyle/>
          <a:p>
            <a:pPr algn="l"/>
            <a:r>
              <a:rPr sz="1250" b="0" i="0">
                <a:solidFill>
                  <a:srgbClr val="222A33"/>
                </a:solidFill>
                <a:latin typeface="Calibri"/>
              </a:rPr>
              <a:t>Complete static structure</a:t>
            </a:r>
          </a:p>
        </p:txBody>
      </p:sp>
      <p:sp>
        <p:nvSpPr>
          <p:cNvPr id="21" name="TextBox 20"/>
          <p:cNvSpPr txBox="1"/>
          <p:nvPr/>
        </p:nvSpPr>
        <p:spPr>
          <a:xfrm>
            <a:off x="3456432" y="2880360"/>
            <a:ext cx="274320" cy="731520"/>
          </a:xfrm>
          <a:prstGeom prst="rect">
            <a:avLst/>
          </a:prstGeom>
          <a:noFill/>
        </p:spPr>
        <p:txBody>
          <a:bodyPr wrap="square" lIns="45720" tIns="18288" rIns="45720" bIns="18288" anchor="t">
            <a:spAutoFit/>
          </a:bodyPr>
          <a:lstStyle/>
          <a:p>
            <a:pPr algn="l"/>
            <a:r>
              <a:rPr sz="1500" b="1" i="0">
                <a:solidFill>
                  <a:srgbClr val="C0392B"/>
                </a:solidFill>
                <a:latin typeface="Calibri"/>
              </a:rPr>
              <a:t>✖</a:t>
            </a:r>
          </a:p>
        </p:txBody>
      </p:sp>
      <p:sp>
        <p:nvSpPr>
          <p:cNvPr id="22" name="TextBox 21"/>
          <p:cNvSpPr txBox="1"/>
          <p:nvPr/>
        </p:nvSpPr>
        <p:spPr>
          <a:xfrm>
            <a:off x="3730752" y="2880360"/>
            <a:ext cx="2221992" cy="777240"/>
          </a:xfrm>
          <a:prstGeom prst="rect">
            <a:avLst/>
          </a:prstGeom>
          <a:noFill/>
        </p:spPr>
        <p:txBody>
          <a:bodyPr wrap="square" lIns="45720" tIns="18288" rIns="45720" bIns="18288" anchor="t">
            <a:spAutoFit/>
          </a:bodyPr>
          <a:lstStyle/>
          <a:p>
            <a:pPr algn="l"/>
            <a:r>
              <a:rPr sz="1250" b="0" i="0">
                <a:solidFill>
                  <a:srgbClr val="222A33"/>
                </a:solidFill>
                <a:latin typeface="Calibri"/>
              </a:rPr>
              <a:t>Over-approximates behaviour</a:t>
            </a:r>
          </a:p>
        </p:txBody>
      </p:sp>
      <p:sp>
        <p:nvSpPr>
          <p:cNvPr id="23" name="TextBox 22"/>
          <p:cNvSpPr txBox="1"/>
          <p:nvPr/>
        </p:nvSpPr>
        <p:spPr>
          <a:xfrm>
            <a:off x="3456432" y="3657600"/>
            <a:ext cx="274320" cy="731520"/>
          </a:xfrm>
          <a:prstGeom prst="rect">
            <a:avLst/>
          </a:prstGeom>
          <a:noFill/>
        </p:spPr>
        <p:txBody>
          <a:bodyPr wrap="square" lIns="45720" tIns="18288" rIns="45720" bIns="18288" anchor="t">
            <a:spAutoFit/>
          </a:bodyPr>
          <a:lstStyle/>
          <a:p>
            <a:pPr algn="l"/>
            <a:r>
              <a:rPr sz="1500" b="1" i="0">
                <a:solidFill>
                  <a:srgbClr val="C0392B"/>
                </a:solidFill>
                <a:latin typeface="Calibri"/>
              </a:rPr>
              <a:t>✖</a:t>
            </a:r>
          </a:p>
        </p:txBody>
      </p:sp>
      <p:sp>
        <p:nvSpPr>
          <p:cNvPr id="24" name="TextBox 23"/>
          <p:cNvSpPr txBox="1"/>
          <p:nvPr/>
        </p:nvSpPr>
        <p:spPr>
          <a:xfrm>
            <a:off x="3730752" y="3657600"/>
            <a:ext cx="2221992" cy="777240"/>
          </a:xfrm>
          <a:prstGeom prst="rect">
            <a:avLst/>
          </a:prstGeom>
          <a:noFill/>
        </p:spPr>
        <p:txBody>
          <a:bodyPr wrap="square" lIns="45720" tIns="18288" rIns="45720" bIns="18288" anchor="t">
            <a:spAutoFit/>
          </a:bodyPr>
          <a:lstStyle/>
          <a:p>
            <a:pPr algn="l"/>
            <a:r>
              <a:rPr sz="1250" b="0" i="0">
                <a:solidFill>
                  <a:srgbClr val="222A33"/>
                </a:solidFill>
                <a:latin typeface="Calibri"/>
              </a:rPr>
              <a:t>No scenario focus</a:t>
            </a:r>
          </a:p>
        </p:txBody>
      </p:sp>
      <p:sp>
        <p:nvSpPr>
          <p:cNvPr id="25" name="Rounded Rectangle 24"/>
          <p:cNvSpPr/>
          <p:nvPr/>
        </p:nvSpPr>
        <p:spPr>
          <a:xfrm>
            <a:off x="6190488" y="1371600"/>
            <a:ext cx="2724912" cy="320040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190488" y="1371600"/>
            <a:ext cx="2724912" cy="548640"/>
          </a:xfrm>
          <a:prstGeom prst="roundRect">
            <a:avLst/>
          </a:prstGeom>
          <a:solidFill>
            <a:srgbClr val="5A6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190488" y="1444752"/>
            <a:ext cx="2724912" cy="411480"/>
          </a:xfrm>
          <a:prstGeom prst="rect">
            <a:avLst/>
          </a:prstGeom>
          <a:noFill/>
        </p:spPr>
        <p:txBody>
          <a:bodyPr wrap="square" lIns="45720" tIns="18288" rIns="45720" bIns="18288" anchor="t">
            <a:spAutoFit/>
          </a:bodyPr>
          <a:lstStyle/>
          <a:p>
            <a:pPr algn="ctr"/>
            <a:r>
              <a:rPr sz="1400" b="1" i="0">
                <a:solidFill>
                  <a:srgbClr val="FFFFFF"/>
                </a:solidFill>
                <a:latin typeface="Calibri"/>
              </a:rPr>
              <a:t>Existing Hybrid</a:t>
            </a:r>
          </a:p>
        </p:txBody>
      </p:sp>
      <p:sp>
        <p:nvSpPr>
          <p:cNvPr id="28" name="TextBox 27"/>
          <p:cNvSpPr txBox="1"/>
          <p:nvPr/>
        </p:nvSpPr>
        <p:spPr>
          <a:xfrm>
            <a:off x="6300216" y="2103120"/>
            <a:ext cx="274320" cy="731520"/>
          </a:xfrm>
          <a:prstGeom prst="rect">
            <a:avLst/>
          </a:prstGeom>
          <a:noFill/>
        </p:spPr>
        <p:txBody>
          <a:bodyPr wrap="square" lIns="45720" tIns="18288" rIns="45720" bIns="18288" anchor="t">
            <a:spAutoFit/>
          </a:bodyPr>
          <a:lstStyle/>
          <a:p>
            <a:pPr algn="l"/>
            <a:r>
              <a:rPr sz="1500" b="1" i="0">
                <a:solidFill>
                  <a:srgbClr val="2E8B57"/>
                </a:solidFill>
                <a:latin typeface="Calibri"/>
              </a:rPr>
              <a:t>✔</a:t>
            </a:r>
          </a:p>
        </p:txBody>
      </p:sp>
      <p:sp>
        <p:nvSpPr>
          <p:cNvPr id="29" name="TextBox 28"/>
          <p:cNvSpPr txBox="1"/>
          <p:nvPr/>
        </p:nvSpPr>
        <p:spPr>
          <a:xfrm>
            <a:off x="6574536" y="2103120"/>
            <a:ext cx="2221992" cy="777240"/>
          </a:xfrm>
          <a:prstGeom prst="rect">
            <a:avLst/>
          </a:prstGeom>
          <a:noFill/>
        </p:spPr>
        <p:txBody>
          <a:bodyPr wrap="square" lIns="45720" tIns="18288" rIns="45720" bIns="18288" anchor="t">
            <a:spAutoFit/>
          </a:bodyPr>
          <a:lstStyle/>
          <a:p>
            <a:pPr algn="l"/>
            <a:r>
              <a:rPr sz="1250" b="0" i="0">
                <a:solidFill>
                  <a:srgbClr val="222A33"/>
                </a:solidFill>
                <a:latin typeface="Calibri"/>
              </a:rPr>
              <a:t>Uses static to reduce logging</a:t>
            </a:r>
          </a:p>
        </p:txBody>
      </p:sp>
      <p:sp>
        <p:nvSpPr>
          <p:cNvPr id="30" name="TextBox 29"/>
          <p:cNvSpPr txBox="1"/>
          <p:nvPr/>
        </p:nvSpPr>
        <p:spPr>
          <a:xfrm>
            <a:off x="6300216" y="2880360"/>
            <a:ext cx="274320" cy="731520"/>
          </a:xfrm>
          <a:prstGeom prst="rect">
            <a:avLst/>
          </a:prstGeom>
          <a:noFill/>
        </p:spPr>
        <p:txBody>
          <a:bodyPr wrap="square" lIns="45720" tIns="18288" rIns="45720" bIns="18288" anchor="t">
            <a:spAutoFit/>
          </a:bodyPr>
          <a:lstStyle/>
          <a:p>
            <a:pPr algn="l"/>
            <a:r>
              <a:rPr sz="1500" b="1" i="0">
                <a:solidFill>
                  <a:srgbClr val="C0392B"/>
                </a:solidFill>
                <a:latin typeface="Calibri"/>
              </a:rPr>
              <a:t>✖</a:t>
            </a:r>
          </a:p>
        </p:txBody>
      </p:sp>
      <p:sp>
        <p:nvSpPr>
          <p:cNvPr id="31" name="TextBox 30"/>
          <p:cNvSpPr txBox="1"/>
          <p:nvPr/>
        </p:nvSpPr>
        <p:spPr>
          <a:xfrm>
            <a:off x="6574536" y="2880360"/>
            <a:ext cx="2221992" cy="777240"/>
          </a:xfrm>
          <a:prstGeom prst="rect">
            <a:avLst/>
          </a:prstGeom>
          <a:noFill/>
        </p:spPr>
        <p:txBody>
          <a:bodyPr wrap="square" lIns="45720" tIns="18288" rIns="45720" bIns="18288" anchor="t">
            <a:spAutoFit/>
          </a:bodyPr>
          <a:lstStyle/>
          <a:p>
            <a:pPr algn="l"/>
            <a:r>
              <a:rPr sz="1250" b="0" i="0">
                <a:solidFill>
                  <a:srgbClr val="222A33"/>
                </a:solidFill>
                <a:latin typeface="Calibri"/>
              </a:rPr>
              <a:t>Assumes observed traces complete</a:t>
            </a:r>
          </a:p>
        </p:txBody>
      </p:sp>
      <p:sp>
        <p:nvSpPr>
          <p:cNvPr id="32" name="TextBox 31"/>
          <p:cNvSpPr txBox="1"/>
          <p:nvPr/>
        </p:nvSpPr>
        <p:spPr>
          <a:xfrm>
            <a:off x="6300216" y="3657600"/>
            <a:ext cx="274320" cy="731520"/>
          </a:xfrm>
          <a:prstGeom prst="rect">
            <a:avLst/>
          </a:prstGeom>
          <a:noFill/>
        </p:spPr>
        <p:txBody>
          <a:bodyPr wrap="square" lIns="45720" tIns="18288" rIns="45720" bIns="18288" anchor="t">
            <a:spAutoFit/>
          </a:bodyPr>
          <a:lstStyle/>
          <a:p>
            <a:pPr algn="l"/>
            <a:r>
              <a:rPr sz="1500" b="1" i="0">
                <a:solidFill>
                  <a:srgbClr val="C0392B"/>
                </a:solidFill>
                <a:latin typeface="Calibri"/>
              </a:rPr>
              <a:t>✖</a:t>
            </a:r>
          </a:p>
        </p:txBody>
      </p:sp>
      <p:sp>
        <p:nvSpPr>
          <p:cNvPr id="33" name="TextBox 32"/>
          <p:cNvSpPr txBox="1"/>
          <p:nvPr/>
        </p:nvSpPr>
        <p:spPr>
          <a:xfrm>
            <a:off x="6574536" y="3657600"/>
            <a:ext cx="2221992" cy="777240"/>
          </a:xfrm>
          <a:prstGeom prst="rect">
            <a:avLst/>
          </a:prstGeom>
          <a:noFill/>
        </p:spPr>
        <p:txBody>
          <a:bodyPr wrap="square" lIns="45720" tIns="18288" rIns="45720" bIns="18288" anchor="t">
            <a:spAutoFit/>
          </a:bodyPr>
          <a:lstStyle/>
          <a:p>
            <a:pPr algn="l"/>
            <a:r>
              <a:rPr sz="1250" b="0" i="0">
                <a:solidFill>
                  <a:srgbClr val="222A33"/>
                </a:solidFill>
                <a:latin typeface="Calibri"/>
              </a:rPr>
              <a:t>Does not recover missing edges</a:t>
            </a:r>
          </a:p>
        </p:txBody>
      </p:sp>
      <p:sp>
        <p:nvSpPr>
          <p:cNvPr id="34" name="Rounded Rectangle 33"/>
          <p:cNvSpPr/>
          <p:nvPr/>
        </p:nvSpPr>
        <p:spPr>
          <a:xfrm>
            <a:off x="9034272" y="1371600"/>
            <a:ext cx="2724912" cy="3200400"/>
          </a:xfrm>
          <a:prstGeom prst="roundRect">
            <a:avLst>
              <a:gd name="adj" fmla="val 4000"/>
            </a:avLst>
          </a:prstGeom>
          <a:solidFill>
            <a:srgbClr val="FBF2E3"/>
          </a:solidFill>
          <a:ln w="12700">
            <a:solidFill>
              <a:srgbClr val="E18A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9034272" y="1371600"/>
            <a:ext cx="2724912" cy="548640"/>
          </a:xfrm>
          <a:prstGeom prst="round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034272" y="1444752"/>
            <a:ext cx="2724912" cy="411480"/>
          </a:xfrm>
          <a:prstGeom prst="rect">
            <a:avLst/>
          </a:prstGeom>
          <a:noFill/>
        </p:spPr>
        <p:txBody>
          <a:bodyPr wrap="square" lIns="45720" tIns="18288" rIns="45720" bIns="18288" anchor="t">
            <a:spAutoFit/>
          </a:bodyPr>
          <a:lstStyle/>
          <a:p>
            <a:pPr algn="ctr"/>
            <a:r>
              <a:rPr sz="1400" b="1" i="0">
                <a:solidFill>
                  <a:srgbClr val="0B2B45"/>
                </a:solidFill>
                <a:latin typeface="Calibri"/>
              </a:rPr>
              <a:t>This Thesis</a:t>
            </a:r>
          </a:p>
        </p:txBody>
      </p:sp>
      <p:sp>
        <p:nvSpPr>
          <p:cNvPr id="37" name="TextBox 36"/>
          <p:cNvSpPr txBox="1"/>
          <p:nvPr/>
        </p:nvSpPr>
        <p:spPr>
          <a:xfrm>
            <a:off x="9144000" y="2103120"/>
            <a:ext cx="274320" cy="731520"/>
          </a:xfrm>
          <a:prstGeom prst="rect">
            <a:avLst/>
          </a:prstGeom>
          <a:noFill/>
        </p:spPr>
        <p:txBody>
          <a:bodyPr wrap="square" lIns="45720" tIns="18288" rIns="45720" bIns="18288" anchor="t">
            <a:spAutoFit/>
          </a:bodyPr>
          <a:lstStyle/>
          <a:p>
            <a:pPr algn="l"/>
            <a:r>
              <a:rPr sz="1500" b="1" i="0">
                <a:solidFill>
                  <a:srgbClr val="2E8B57"/>
                </a:solidFill>
                <a:latin typeface="Calibri"/>
              </a:rPr>
              <a:t>✔</a:t>
            </a:r>
          </a:p>
        </p:txBody>
      </p:sp>
      <p:sp>
        <p:nvSpPr>
          <p:cNvPr id="38" name="TextBox 37"/>
          <p:cNvSpPr txBox="1"/>
          <p:nvPr/>
        </p:nvSpPr>
        <p:spPr>
          <a:xfrm>
            <a:off x="9418320" y="2103120"/>
            <a:ext cx="2221992" cy="777240"/>
          </a:xfrm>
          <a:prstGeom prst="rect">
            <a:avLst/>
          </a:prstGeom>
          <a:noFill/>
        </p:spPr>
        <p:txBody>
          <a:bodyPr wrap="square" lIns="45720" tIns="18288" rIns="45720" bIns="18288" anchor="t">
            <a:spAutoFit/>
          </a:bodyPr>
          <a:lstStyle/>
          <a:p>
            <a:pPr algn="l"/>
            <a:r>
              <a:rPr sz="1250" b="0" i="0">
                <a:solidFill>
                  <a:srgbClr val="222A33"/>
                </a:solidFill>
                <a:latin typeface="Calibri"/>
              </a:rPr>
              <a:t>Recovers trace-missed edges from static</a:t>
            </a:r>
          </a:p>
        </p:txBody>
      </p:sp>
      <p:sp>
        <p:nvSpPr>
          <p:cNvPr id="39" name="TextBox 38"/>
          <p:cNvSpPr txBox="1"/>
          <p:nvPr/>
        </p:nvSpPr>
        <p:spPr>
          <a:xfrm>
            <a:off x="9144000" y="2880360"/>
            <a:ext cx="274320" cy="731520"/>
          </a:xfrm>
          <a:prstGeom prst="rect">
            <a:avLst/>
          </a:prstGeom>
          <a:noFill/>
        </p:spPr>
        <p:txBody>
          <a:bodyPr wrap="square" lIns="45720" tIns="18288" rIns="45720" bIns="18288" anchor="t">
            <a:spAutoFit/>
          </a:bodyPr>
          <a:lstStyle/>
          <a:p>
            <a:pPr algn="l"/>
            <a:r>
              <a:rPr sz="1500" b="1" i="0">
                <a:solidFill>
                  <a:srgbClr val="2E8B57"/>
                </a:solidFill>
                <a:latin typeface="Calibri"/>
              </a:rPr>
              <a:t>✔</a:t>
            </a:r>
          </a:p>
        </p:txBody>
      </p:sp>
      <p:sp>
        <p:nvSpPr>
          <p:cNvPr id="40" name="TextBox 39"/>
          <p:cNvSpPr txBox="1"/>
          <p:nvPr/>
        </p:nvSpPr>
        <p:spPr>
          <a:xfrm>
            <a:off x="9418320" y="2880360"/>
            <a:ext cx="2221992" cy="777240"/>
          </a:xfrm>
          <a:prstGeom prst="rect">
            <a:avLst/>
          </a:prstGeom>
          <a:noFill/>
        </p:spPr>
        <p:txBody>
          <a:bodyPr wrap="square" lIns="45720" tIns="18288" rIns="45720" bIns="18288" anchor="t">
            <a:spAutoFit/>
          </a:bodyPr>
          <a:lstStyle/>
          <a:p>
            <a:pPr algn="l"/>
            <a:r>
              <a:rPr sz="1250" b="0" i="0">
                <a:solidFill>
                  <a:srgbClr val="222A33"/>
                </a:solidFill>
                <a:latin typeface="Calibri"/>
              </a:rPr>
              <a:t>Trims static to scenario via trace</a:t>
            </a:r>
          </a:p>
        </p:txBody>
      </p:sp>
      <p:sp>
        <p:nvSpPr>
          <p:cNvPr id="41" name="TextBox 40"/>
          <p:cNvSpPr txBox="1"/>
          <p:nvPr/>
        </p:nvSpPr>
        <p:spPr>
          <a:xfrm>
            <a:off x="9144000" y="3657600"/>
            <a:ext cx="274320" cy="731520"/>
          </a:xfrm>
          <a:prstGeom prst="rect">
            <a:avLst/>
          </a:prstGeom>
          <a:noFill/>
        </p:spPr>
        <p:txBody>
          <a:bodyPr wrap="square" lIns="45720" tIns="18288" rIns="45720" bIns="18288" anchor="t">
            <a:spAutoFit/>
          </a:bodyPr>
          <a:lstStyle/>
          <a:p>
            <a:pPr algn="l"/>
            <a:r>
              <a:rPr sz="1500" b="1" i="0">
                <a:solidFill>
                  <a:srgbClr val="2E8B57"/>
                </a:solidFill>
                <a:latin typeface="Calibri"/>
              </a:rPr>
              <a:t>✔</a:t>
            </a:r>
          </a:p>
        </p:txBody>
      </p:sp>
      <p:sp>
        <p:nvSpPr>
          <p:cNvPr id="42" name="TextBox 41"/>
          <p:cNvSpPr txBox="1"/>
          <p:nvPr/>
        </p:nvSpPr>
        <p:spPr>
          <a:xfrm>
            <a:off x="9418320" y="3657600"/>
            <a:ext cx="2221992" cy="777240"/>
          </a:xfrm>
          <a:prstGeom prst="rect">
            <a:avLst/>
          </a:prstGeom>
          <a:noFill/>
        </p:spPr>
        <p:txBody>
          <a:bodyPr wrap="square" lIns="45720" tIns="18288" rIns="45720" bIns="18288" anchor="t">
            <a:spAutoFit/>
          </a:bodyPr>
          <a:lstStyle/>
          <a:p>
            <a:pPr algn="l"/>
            <a:r>
              <a:rPr sz="1250" b="0" i="0">
                <a:solidFill>
                  <a:srgbClr val="222A33"/>
                </a:solidFill>
                <a:latin typeface="Calibri"/>
              </a:rPr>
              <a:t>Recovers pub/sub wiring</a:t>
            </a:r>
          </a:p>
        </p:txBody>
      </p:sp>
      <p:sp>
        <p:nvSpPr>
          <p:cNvPr id="43" name="Rounded Rectangle 42"/>
          <p:cNvSpPr/>
          <p:nvPr/>
        </p:nvSpPr>
        <p:spPr>
          <a:xfrm>
            <a:off x="502920" y="4800600"/>
            <a:ext cx="11155680" cy="1508760"/>
          </a:xfrm>
          <a:prstGeom prst="roundRect">
            <a:avLst>
              <a:gd name="adj" fmla="val 4000"/>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77240" y="4956048"/>
            <a:ext cx="10698480" cy="365760"/>
          </a:xfrm>
          <a:prstGeom prst="rect">
            <a:avLst/>
          </a:prstGeom>
          <a:noFill/>
        </p:spPr>
        <p:txBody>
          <a:bodyPr wrap="square" lIns="45720" tIns="18288" rIns="45720" bIns="18288" anchor="t">
            <a:spAutoFit/>
          </a:bodyPr>
          <a:lstStyle/>
          <a:p>
            <a:pPr algn="l"/>
            <a:r>
              <a:rPr sz="1300" b="1" i="0">
                <a:solidFill>
                  <a:srgbClr val="E18A1B"/>
                </a:solidFill>
                <a:latin typeface="Calibri"/>
              </a:rPr>
              <a:t>THE GAP</a:t>
            </a:r>
          </a:p>
        </p:txBody>
      </p:sp>
      <p:sp>
        <p:nvSpPr>
          <p:cNvPr id="45" name="TextBox 44"/>
          <p:cNvSpPr txBox="1"/>
          <p:nvPr/>
        </p:nvSpPr>
        <p:spPr>
          <a:xfrm>
            <a:off x="777240" y="5321808"/>
            <a:ext cx="10698480" cy="914400"/>
          </a:xfrm>
          <a:prstGeom prst="rect">
            <a:avLst/>
          </a:prstGeom>
          <a:noFill/>
        </p:spPr>
        <p:txBody>
          <a:bodyPr wrap="square" lIns="45720" tIns="18288" rIns="45720" bIns="18288" anchor="t">
            <a:spAutoFit/>
          </a:bodyPr>
          <a:lstStyle/>
          <a:p>
            <a:pPr algn="l"/>
            <a:r>
              <a:rPr sz="1600" b="1" i="0">
                <a:solidFill>
                  <a:srgbClr val="FFFFFF"/>
                </a:solidFill>
                <a:latin typeface="Calibri"/>
              </a:rPr>
              <a:t>No existing approach infers unobserved interactions by combining static structure and runtime traces to generate scenario-specific interaction models — closing this gap in both directions is the core contribution.</a:t>
            </a:r>
          </a:p>
        </p:txBody>
      </p:sp>
      <p:sp>
        <p:nvSpPr>
          <p:cNvPr id="46" name="TextBox 45"/>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47" name="TextBox 46"/>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OBJECTIVES</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Research Questions &amp; Hypotheses</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6</a:t>
            </a:r>
          </a:p>
        </p:txBody>
      </p:sp>
      <p:sp>
        <p:nvSpPr>
          <p:cNvPr id="7" name="Rounded Rectangle 6"/>
          <p:cNvSpPr/>
          <p:nvPr/>
        </p:nvSpPr>
        <p:spPr>
          <a:xfrm>
            <a:off x="502920" y="1371600"/>
            <a:ext cx="11155680" cy="105156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645920"/>
            <a:ext cx="1051560" cy="502920"/>
          </a:xfrm>
          <a:prstGeom prst="roundRect">
            <a:avLst>
              <a:gd name="adj" fmla="val 2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800" b="1">
                <a:solidFill>
                  <a:srgbClr val="FFFFFF"/>
                </a:solidFill>
                <a:latin typeface="Calibri"/>
              </a:rPr>
              <a:t>Design</a:t>
            </a:r>
          </a:p>
        </p:txBody>
      </p:sp>
      <p:sp>
        <p:nvSpPr>
          <p:cNvPr id="9" name="TextBox 8"/>
          <p:cNvSpPr txBox="1"/>
          <p:nvPr/>
        </p:nvSpPr>
        <p:spPr>
          <a:xfrm>
            <a:off x="1920240" y="1499616"/>
            <a:ext cx="7406640" cy="868680"/>
          </a:xfrm>
          <a:prstGeom prst="rect">
            <a:avLst/>
          </a:prstGeom>
          <a:noFill/>
        </p:spPr>
        <p:txBody>
          <a:bodyPr wrap="square" lIns="45720" tIns="18288" rIns="45720" bIns="18288" anchor="ctr">
            <a:spAutoFit/>
          </a:bodyPr>
          <a:lstStyle/>
          <a:p>
            <a:pPr algn="l"/>
            <a:r>
              <a:rPr sz="1500" b="1" i="0">
                <a:solidFill>
                  <a:srgbClr val="0B2B45"/>
                </a:solidFill>
                <a:latin typeface="Calibri"/>
              </a:rPr>
              <a:t>What property-graph representation integrates static call graphs and timestamped runtime events?</a:t>
            </a:r>
          </a:p>
        </p:txBody>
      </p:sp>
      <p:sp>
        <p:nvSpPr>
          <p:cNvPr id="10" name="Rounded Rectangle 9"/>
          <p:cNvSpPr/>
          <p:nvPr/>
        </p:nvSpPr>
        <p:spPr>
          <a:xfrm>
            <a:off x="9509760" y="1682496"/>
            <a:ext cx="1965960" cy="438912"/>
          </a:xfrm>
          <a:prstGeom prst="roundRect">
            <a:avLst>
              <a:gd name="adj" fmla="val 25000"/>
            </a:avLst>
          </a:prstGeom>
          <a:solidFill>
            <a:srgbClr val="1BA19C"/>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300" b="1">
                <a:solidFill>
                  <a:srgbClr val="FFFFFF"/>
                </a:solidFill>
                <a:latin typeface="Calibri"/>
              </a:rPr>
              <a:t>Schema</a:t>
            </a:r>
          </a:p>
        </p:txBody>
      </p:sp>
      <p:sp>
        <p:nvSpPr>
          <p:cNvPr id="11" name="Rounded Rectangle 10"/>
          <p:cNvSpPr/>
          <p:nvPr/>
        </p:nvSpPr>
        <p:spPr>
          <a:xfrm>
            <a:off x="502920" y="2578608"/>
            <a:ext cx="11155680" cy="105156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85800" y="2852928"/>
            <a:ext cx="1051560" cy="502920"/>
          </a:xfrm>
          <a:prstGeom prst="roundRect">
            <a:avLst>
              <a:gd name="adj" fmla="val 2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800" b="1">
                <a:solidFill>
                  <a:srgbClr val="FFFFFF"/>
                </a:solidFill>
                <a:latin typeface="Calibri"/>
              </a:rPr>
              <a:t>RQ1</a:t>
            </a:r>
          </a:p>
        </p:txBody>
      </p:sp>
      <p:sp>
        <p:nvSpPr>
          <p:cNvPr id="13" name="TextBox 12"/>
          <p:cNvSpPr txBox="1"/>
          <p:nvPr/>
        </p:nvSpPr>
        <p:spPr>
          <a:xfrm>
            <a:off x="1920240" y="2706624"/>
            <a:ext cx="7406640" cy="868680"/>
          </a:xfrm>
          <a:prstGeom prst="rect">
            <a:avLst/>
          </a:prstGeom>
          <a:noFill/>
        </p:spPr>
        <p:txBody>
          <a:bodyPr wrap="square" lIns="45720" tIns="18288" rIns="45720" bIns="18288" anchor="ctr">
            <a:spAutoFit/>
          </a:bodyPr>
          <a:lstStyle/>
          <a:p>
            <a:pPr algn="l"/>
            <a:r>
              <a:rPr sz="1500" b="1" i="0">
                <a:solidFill>
                  <a:srgbClr val="0B2B45"/>
                </a:solidFill>
                <a:latin typeface="Calibri"/>
              </a:rPr>
              <a:t>How does combining static analysis and incomplete traces improve reconstruction accuracy &amp; completeness?</a:t>
            </a:r>
          </a:p>
        </p:txBody>
      </p:sp>
      <p:sp>
        <p:nvSpPr>
          <p:cNvPr id="14" name="Rounded Rectangle 13"/>
          <p:cNvSpPr/>
          <p:nvPr/>
        </p:nvSpPr>
        <p:spPr>
          <a:xfrm>
            <a:off x="9509760" y="2889504"/>
            <a:ext cx="1965960" cy="438912"/>
          </a:xfrm>
          <a:prstGeom prst="roundRect">
            <a:avLst>
              <a:gd name="adj" fmla="val 25000"/>
            </a:avLst>
          </a:prstGeom>
          <a:solidFill>
            <a:srgbClr val="1BA19C"/>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300" b="1">
                <a:solidFill>
                  <a:srgbClr val="FFFFFF"/>
                </a:solidFill>
                <a:latin typeface="Calibri"/>
              </a:rPr>
              <a:t>H1</a:t>
            </a:r>
          </a:p>
        </p:txBody>
      </p:sp>
      <p:sp>
        <p:nvSpPr>
          <p:cNvPr id="15" name="Rounded Rectangle 14"/>
          <p:cNvSpPr/>
          <p:nvPr/>
        </p:nvSpPr>
        <p:spPr>
          <a:xfrm>
            <a:off x="502920" y="3785616"/>
            <a:ext cx="11155680" cy="105156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85800" y="4059936"/>
            <a:ext cx="1051560" cy="502920"/>
          </a:xfrm>
          <a:prstGeom prst="roundRect">
            <a:avLst>
              <a:gd name="adj" fmla="val 2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800" b="1">
                <a:solidFill>
                  <a:srgbClr val="FFFFFF"/>
                </a:solidFill>
                <a:latin typeface="Calibri"/>
              </a:rPr>
              <a:t>RQ2</a:t>
            </a:r>
          </a:p>
        </p:txBody>
      </p:sp>
      <p:sp>
        <p:nvSpPr>
          <p:cNvPr id="17" name="TextBox 16"/>
          <p:cNvSpPr txBox="1"/>
          <p:nvPr/>
        </p:nvSpPr>
        <p:spPr>
          <a:xfrm>
            <a:off x="1920240" y="3913632"/>
            <a:ext cx="7406640" cy="868680"/>
          </a:xfrm>
          <a:prstGeom prst="rect">
            <a:avLst/>
          </a:prstGeom>
          <a:noFill/>
        </p:spPr>
        <p:txBody>
          <a:bodyPr wrap="square" lIns="45720" tIns="18288" rIns="45720" bIns="18288" anchor="ctr">
            <a:spAutoFit/>
          </a:bodyPr>
          <a:lstStyle/>
          <a:p>
            <a:pPr algn="l"/>
            <a:r>
              <a:rPr sz="1500" b="1" i="0">
                <a:solidFill>
                  <a:srgbClr val="0B2B45"/>
                </a:solidFill>
                <a:latin typeface="Calibri"/>
              </a:rPr>
              <a:t>How can scenario-scoped querying of the static call graph restrict reconstruction to only scenario-relevant behaviour?</a:t>
            </a:r>
          </a:p>
        </p:txBody>
      </p:sp>
      <p:sp>
        <p:nvSpPr>
          <p:cNvPr id="18" name="Rounded Rectangle 17"/>
          <p:cNvSpPr/>
          <p:nvPr/>
        </p:nvSpPr>
        <p:spPr>
          <a:xfrm>
            <a:off x="9509760" y="4096512"/>
            <a:ext cx="1965960" cy="438912"/>
          </a:xfrm>
          <a:prstGeom prst="roundRect">
            <a:avLst>
              <a:gd name="adj" fmla="val 25000"/>
            </a:avLst>
          </a:prstGeom>
          <a:solidFill>
            <a:srgbClr val="1BA19C"/>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300" b="1">
                <a:solidFill>
                  <a:srgbClr val="FFFFFF"/>
                </a:solidFill>
                <a:latin typeface="Calibri"/>
              </a:rPr>
              <a:t>H2</a:t>
            </a:r>
          </a:p>
        </p:txBody>
      </p:sp>
      <p:sp>
        <p:nvSpPr>
          <p:cNvPr id="19" name="Rounded Rectangle 18"/>
          <p:cNvSpPr/>
          <p:nvPr/>
        </p:nvSpPr>
        <p:spPr>
          <a:xfrm>
            <a:off x="502920" y="4992624"/>
            <a:ext cx="11155680" cy="822960"/>
          </a:xfrm>
          <a:prstGeom prst="roundRect">
            <a:avLst>
              <a:gd name="adj" fmla="val 4000"/>
            </a:avLst>
          </a:prstGeom>
          <a:solidFill>
            <a:srgbClr val="FB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5102352"/>
            <a:ext cx="10972800" cy="640080"/>
          </a:xfrm>
          <a:prstGeom prst="rect">
            <a:avLst/>
          </a:prstGeom>
          <a:noFill/>
        </p:spPr>
        <p:txBody>
          <a:bodyPr wrap="square" lIns="45720" tIns="18288" rIns="45720" bIns="18288" anchor="ctr">
            <a:spAutoFit/>
          </a:bodyPr>
          <a:lstStyle/>
          <a:p>
            <a:pPr algn="l"/>
            <a:r>
              <a:rPr sz="1500" b="1" i="0">
                <a:solidFill>
                  <a:srgbClr val="E18A1B"/>
                </a:solidFill>
                <a:latin typeface="Calibri"/>
              </a:rPr>
              <a:t>H3 (downstream): the reconstructed diagram improves — and can even be sufficient for — LLM-agent scenario comprehension.</a:t>
            </a:r>
          </a:p>
        </p:txBody>
      </p:sp>
      <p:sp>
        <p:nvSpPr>
          <p:cNvPr id="21" name="TextBox 20"/>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22" name="TextBox 21"/>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APPROACH</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The GDI Hybrid Pipeline</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7</a:t>
            </a:r>
          </a:p>
        </p:txBody>
      </p:sp>
      <p:sp>
        <p:nvSpPr>
          <p:cNvPr id="7" name="Rounded Rectangle 6"/>
          <p:cNvSpPr/>
          <p:nvPr/>
        </p:nvSpPr>
        <p:spPr>
          <a:xfrm>
            <a:off x="457200" y="2148840"/>
            <a:ext cx="1463040" cy="1554480"/>
          </a:xfrm>
          <a:prstGeom prst="roundRect">
            <a:avLst>
              <a:gd name="adj" fmla="val 4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350008"/>
            <a:ext cx="1463040" cy="822960"/>
          </a:xfrm>
          <a:prstGeom prst="rect">
            <a:avLst/>
          </a:prstGeom>
          <a:noFill/>
        </p:spPr>
        <p:txBody>
          <a:bodyPr wrap="square" lIns="45720" tIns="18288" rIns="45720" bIns="18288" anchor="t">
            <a:spAutoFit/>
          </a:bodyPr>
          <a:lstStyle/>
          <a:p>
            <a:pPr algn="ctr"/>
            <a:r>
              <a:rPr sz="1400" b="1" i="0">
                <a:solidFill>
                  <a:srgbClr val="FFFFFF"/>
                </a:solidFill>
                <a:latin typeface="Calibri"/>
              </a:rPr>
              <a:t>Static
Extraction</a:t>
            </a:r>
          </a:p>
        </p:txBody>
      </p:sp>
      <p:sp>
        <p:nvSpPr>
          <p:cNvPr id="9" name="TextBox 8"/>
          <p:cNvSpPr txBox="1"/>
          <p:nvPr/>
        </p:nvSpPr>
        <p:spPr>
          <a:xfrm>
            <a:off x="457200" y="3081528"/>
            <a:ext cx="1463040" cy="548640"/>
          </a:xfrm>
          <a:prstGeom prst="rect">
            <a:avLst/>
          </a:prstGeom>
          <a:noFill/>
        </p:spPr>
        <p:txBody>
          <a:bodyPr wrap="square" lIns="45720" tIns="18288" rIns="45720" bIns="18288" anchor="t">
            <a:spAutoFit/>
          </a:bodyPr>
          <a:lstStyle/>
          <a:p>
            <a:pPr algn="ctr"/>
            <a:r>
              <a:rPr sz="1050" b="0" i="0">
                <a:solidFill>
                  <a:srgbClr val="DCE6F0"/>
                </a:solidFill>
                <a:latin typeface="Calibri"/>
              </a:rPr>
              <a:t>Renaissance
C++ → graph</a:t>
            </a:r>
          </a:p>
        </p:txBody>
      </p:sp>
      <p:sp>
        <p:nvSpPr>
          <p:cNvPr id="10" name="Right Arrow 9"/>
          <p:cNvSpPr/>
          <p:nvPr/>
        </p:nvSpPr>
        <p:spPr>
          <a:xfrm>
            <a:off x="1929384" y="2816352"/>
            <a:ext cx="164592" cy="219456"/>
          </a:xfrm>
          <a:prstGeom prst="rightArrow">
            <a:avLst/>
          </a:prstGeom>
          <a:solidFill>
            <a:srgbClr val="5A6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103120" y="2148840"/>
            <a:ext cx="1463040" cy="1554480"/>
          </a:xfrm>
          <a:prstGeom prst="roundRect">
            <a:avLst>
              <a:gd name="adj" fmla="val 4000"/>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03120" y="2350008"/>
            <a:ext cx="1463040" cy="822960"/>
          </a:xfrm>
          <a:prstGeom prst="rect">
            <a:avLst/>
          </a:prstGeom>
          <a:noFill/>
        </p:spPr>
        <p:txBody>
          <a:bodyPr wrap="square" lIns="45720" tIns="18288" rIns="45720" bIns="18288" anchor="t">
            <a:spAutoFit/>
          </a:bodyPr>
          <a:lstStyle/>
          <a:p>
            <a:pPr algn="ctr"/>
            <a:r>
              <a:rPr sz="1400" b="1" i="0">
                <a:solidFill>
                  <a:srgbClr val="FFFFFF"/>
                </a:solidFill>
                <a:latin typeface="Calibri"/>
              </a:rPr>
              <a:t>Property
Graph</a:t>
            </a:r>
          </a:p>
        </p:txBody>
      </p:sp>
      <p:sp>
        <p:nvSpPr>
          <p:cNvPr id="13" name="TextBox 12"/>
          <p:cNvSpPr txBox="1"/>
          <p:nvPr/>
        </p:nvSpPr>
        <p:spPr>
          <a:xfrm>
            <a:off x="2103120" y="3081528"/>
            <a:ext cx="1463040" cy="548640"/>
          </a:xfrm>
          <a:prstGeom prst="rect">
            <a:avLst/>
          </a:prstGeom>
          <a:noFill/>
        </p:spPr>
        <p:txBody>
          <a:bodyPr wrap="square" lIns="45720" tIns="18288" rIns="45720" bIns="18288" anchor="t">
            <a:spAutoFit/>
          </a:bodyPr>
          <a:lstStyle/>
          <a:p>
            <a:pPr algn="ctr"/>
            <a:r>
              <a:rPr sz="1050" b="0" i="0">
                <a:solidFill>
                  <a:srgbClr val="DCE6F0"/>
                </a:solidFill>
                <a:latin typeface="Calibri"/>
              </a:rPr>
              <a:t>Neo4j
11 / 11 schema</a:t>
            </a:r>
          </a:p>
        </p:txBody>
      </p:sp>
      <p:sp>
        <p:nvSpPr>
          <p:cNvPr id="14" name="Right Arrow 13"/>
          <p:cNvSpPr/>
          <p:nvPr/>
        </p:nvSpPr>
        <p:spPr>
          <a:xfrm>
            <a:off x="3575304" y="2816352"/>
            <a:ext cx="164592" cy="219456"/>
          </a:xfrm>
          <a:prstGeom prst="rightArrow">
            <a:avLst/>
          </a:prstGeom>
          <a:solidFill>
            <a:srgbClr val="5A6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749040" y="2148840"/>
            <a:ext cx="1463040" cy="1554480"/>
          </a:xfrm>
          <a:prstGeom prst="roundRect">
            <a:avLst>
              <a:gd name="adj" fmla="val 4000"/>
            </a:avLst>
          </a:prstGeom>
          <a:solidFill>
            <a:srgbClr val="1BA1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749040" y="2350008"/>
            <a:ext cx="1463040" cy="822960"/>
          </a:xfrm>
          <a:prstGeom prst="rect">
            <a:avLst/>
          </a:prstGeom>
          <a:noFill/>
        </p:spPr>
        <p:txBody>
          <a:bodyPr wrap="square" lIns="45720" tIns="18288" rIns="45720" bIns="18288" anchor="t">
            <a:spAutoFit/>
          </a:bodyPr>
          <a:lstStyle/>
          <a:p>
            <a:pPr algn="ctr"/>
            <a:r>
              <a:rPr sz="1400" b="1" i="0">
                <a:solidFill>
                  <a:srgbClr val="FFFFFF"/>
                </a:solidFill>
                <a:latin typeface="Calibri"/>
              </a:rPr>
              <a:t>Runtime
Tracing</a:t>
            </a:r>
          </a:p>
        </p:txBody>
      </p:sp>
      <p:sp>
        <p:nvSpPr>
          <p:cNvPr id="17" name="TextBox 16"/>
          <p:cNvSpPr txBox="1"/>
          <p:nvPr/>
        </p:nvSpPr>
        <p:spPr>
          <a:xfrm>
            <a:off x="3749040" y="3081528"/>
            <a:ext cx="1463040" cy="548640"/>
          </a:xfrm>
          <a:prstGeom prst="rect">
            <a:avLst/>
          </a:prstGeom>
          <a:noFill/>
        </p:spPr>
        <p:txBody>
          <a:bodyPr wrap="square" lIns="45720" tIns="18288" rIns="45720" bIns="18288" anchor="t">
            <a:spAutoFit/>
          </a:bodyPr>
          <a:lstStyle/>
          <a:p>
            <a:pPr algn="ctr"/>
            <a:r>
              <a:rPr sz="1050" b="0" i="0">
                <a:solidFill>
                  <a:srgbClr val="DCE6F0"/>
                </a:solidFill>
                <a:latin typeface="Calibri"/>
              </a:rPr>
              <a:t>csp_matcher
probes</a:t>
            </a:r>
          </a:p>
        </p:txBody>
      </p:sp>
      <p:sp>
        <p:nvSpPr>
          <p:cNvPr id="18" name="Right Arrow 17"/>
          <p:cNvSpPr/>
          <p:nvPr/>
        </p:nvSpPr>
        <p:spPr>
          <a:xfrm>
            <a:off x="5221224" y="2816352"/>
            <a:ext cx="164592" cy="219456"/>
          </a:xfrm>
          <a:prstGeom prst="rightArrow">
            <a:avLst/>
          </a:prstGeom>
          <a:solidFill>
            <a:srgbClr val="5A6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394960" y="2148840"/>
            <a:ext cx="1463040" cy="1554480"/>
          </a:xfrm>
          <a:prstGeom prst="roundRect">
            <a:avLst>
              <a:gd name="adj" fmla="val 4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94960" y="2350008"/>
            <a:ext cx="1463040" cy="822960"/>
          </a:xfrm>
          <a:prstGeom prst="rect">
            <a:avLst/>
          </a:prstGeom>
          <a:noFill/>
        </p:spPr>
        <p:txBody>
          <a:bodyPr wrap="square" lIns="45720" tIns="18288" rIns="45720" bIns="18288" anchor="t">
            <a:spAutoFit/>
          </a:bodyPr>
          <a:lstStyle/>
          <a:p>
            <a:pPr algn="ctr"/>
            <a:r>
              <a:rPr sz="1400" b="1" i="0">
                <a:solidFill>
                  <a:srgbClr val="FFFFFF"/>
                </a:solidFill>
                <a:latin typeface="Calibri"/>
              </a:rPr>
              <a:t>Graph
Fusion</a:t>
            </a:r>
          </a:p>
        </p:txBody>
      </p:sp>
      <p:sp>
        <p:nvSpPr>
          <p:cNvPr id="21" name="TextBox 20"/>
          <p:cNvSpPr txBox="1"/>
          <p:nvPr/>
        </p:nvSpPr>
        <p:spPr>
          <a:xfrm>
            <a:off x="5394960" y="3081528"/>
            <a:ext cx="1463040" cy="548640"/>
          </a:xfrm>
          <a:prstGeom prst="rect">
            <a:avLst/>
          </a:prstGeom>
          <a:noFill/>
        </p:spPr>
        <p:txBody>
          <a:bodyPr wrap="square" lIns="45720" tIns="18288" rIns="45720" bIns="18288" anchor="t">
            <a:spAutoFit/>
          </a:bodyPr>
          <a:lstStyle/>
          <a:p>
            <a:pPr algn="ctr"/>
            <a:r>
              <a:rPr sz="1050" b="0" i="0">
                <a:solidFill>
                  <a:srgbClr val="DCE6F0"/>
                </a:solidFill>
                <a:latin typeface="Calibri"/>
              </a:rPr>
              <a:t>static ∪ trace
(provenance)</a:t>
            </a:r>
          </a:p>
        </p:txBody>
      </p:sp>
      <p:sp>
        <p:nvSpPr>
          <p:cNvPr id="22" name="Right Arrow 21"/>
          <p:cNvSpPr/>
          <p:nvPr/>
        </p:nvSpPr>
        <p:spPr>
          <a:xfrm>
            <a:off x="6867144" y="2816352"/>
            <a:ext cx="164592" cy="219456"/>
          </a:xfrm>
          <a:prstGeom prst="rightArrow">
            <a:avLst/>
          </a:prstGeom>
          <a:solidFill>
            <a:srgbClr val="5A6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040880" y="2148840"/>
            <a:ext cx="1463040" cy="1554480"/>
          </a:xfrm>
          <a:prstGeom prst="roundRect">
            <a:avLst>
              <a:gd name="adj" fmla="val 4000"/>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040880" y="2350008"/>
            <a:ext cx="1463040" cy="822960"/>
          </a:xfrm>
          <a:prstGeom prst="rect">
            <a:avLst/>
          </a:prstGeom>
          <a:noFill/>
        </p:spPr>
        <p:txBody>
          <a:bodyPr wrap="square" lIns="45720" tIns="18288" rIns="45720" bIns="18288" anchor="t">
            <a:spAutoFit/>
          </a:bodyPr>
          <a:lstStyle/>
          <a:p>
            <a:pPr algn="ctr"/>
            <a:r>
              <a:rPr sz="1400" b="1" i="0">
                <a:solidFill>
                  <a:srgbClr val="FFFFFF"/>
                </a:solidFill>
                <a:latin typeface="Calibri"/>
              </a:rPr>
              <a:t>Scenario
Slicing</a:t>
            </a:r>
          </a:p>
        </p:txBody>
      </p:sp>
      <p:sp>
        <p:nvSpPr>
          <p:cNvPr id="25" name="TextBox 24"/>
          <p:cNvSpPr txBox="1"/>
          <p:nvPr/>
        </p:nvSpPr>
        <p:spPr>
          <a:xfrm>
            <a:off x="7040880" y="3081528"/>
            <a:ext cx="1463040" cy="548640"/>
          </a:xfrm>
          <a:prstGeom prst="rect">
            <a:avLst/>
          </a:prstGeom>
          <a:noFill/>
        </p:spPr>
        <p:txBody>
          <a:bodyPr wrap="square" lIns="45720" tIns="18288" rIns="45720" bIns="18288" anchor="t">
            <a:spAutoFit/>
          </a:bodyPr>
          <a:lstStyle/>
          <a:p>
            <a:pPr algn="ctr"/>
            <a:r>
              <a:rPr sz="1050" b="0" i="0">
                <a:solidFill>
                  <a:srgbClr val="DCE6F0"/>
                </a:solidFill>
                <a:latin typeface="Calibri"/>
              </a:rPr>
              <a:t>scope-constrained
Cypher</a:t>
            </a:r>
          </a:p>
        </p:txBody>
      </p:sp>
      <p:sp>
        <p:nvSpPr>
          <p:cNvPr id="26" name="Right Arrow 25"/>
          <p:cNvSpPr/>
          <p:nvPr/>
        </p:nvSpPr>
        <p:spPr>
          <a:xfrm>
            <a:off x="8513064" y="2816352"/>
            <a:ext cx="164592" cy="219456"/>
          </a:xfrm>
          <a:prstGeom prst="rightArrow">
            <a:avLst/>
          </a:prstGeom>
          <a:solidFill>
            <a:srgbClr val="5A6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686800" y="2148840"/>
            <a:ext cx="1463040" cy="1554480"/>
          </a:xfrm>
          <a:prstGeom prst="roundRect">
            <a:avLst>
              <a:gd name="adj" fmla="val 4000"/>
            </a:avLst>
          </a:prstGeom>
          <a:solidFill>
            <a:srgbClr val="1BA1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86800" y="2350008"/>
            <a:ext cx="1463040" cy="822960"/>
          </a:xfrm>
          <a:prstGeom prst="rect">
            <a:avLst/>
          </a:prstGeom>
          <a:noFill/>
        </p:spPr>
        <p:txBody>
          <a:bodyPr wrap="square" lIns="45720" tIns="18288" rIns="45720" bIns="18288" anchor="t">
            <a:spAutoFit/>
          </a:bodyPr>
          <a:lstStyle/>
          <a:p>
            <a:pPr algn="ctr"/>
            <a:r>
              <a:rPr sz="1400" b="1" i="0">
                <a:solidFill>
                  <a:srgbClr val="FFFFFF"/>
                </a:solidFill>
                <a:latin typeface="Calibri"/>
              </a:rPr>
              <a:t>Agent
Synthesis</a:t>
            </a:r>
          </a:p>
        </p:txBody>
      </p:sp>
      <p:sp>
        <p:nvSpPr>
          <p:cNvPr id="29" name="TextBox 28"/>
          <p:cNvSpPr txBox="1"/>
          <p:nvPr/>
        </p:nvSpPr>
        <p:spPr>
          <a:xfrm>
            <a:off x="8686800" y="3081528"/>
            <a:ext cx="1463040" cy="548640"/>
          </a:xfrm>
          <a:prstGeom prst="rect">
            <a:avLst/>
          </a:prstGeom>
          <a:noFill/>
        </p:spPr>
        <p:txBody>
          <a:bodyPr wrap="square" lIns="45720" tIns="18288" rIns="45720" bIns="18288" anchor="t">
            <a:spAutoFit/>
          </a:bodyPr>
          <a:lstStyle/>
          <a:p>
            <a:pPr algn="ctr"/>
            <a:r>
              <a:rPr sz="1050" b="0" i="0">
                <a:solidFill>
                  <a:srgbClr val="DCE6F0"/>
                </a:solidFill>
                <a:latin typeface="Calibri"/>
              </a:rPr>
              <a:t>provenance-aware
pruning</a:t>
            </a:r>
          </a:p>
        </p:txBody>
      </p:sp>
      <p:sp>
        <p:nvSpPr>
          <p:cNvPr id="30" name="Right Arrow 29"/>
          <p:cNvSpPr/>
          <p:nvPr/>
        </p:nvSpPr>
        <p:spPr>
          <a:xfrm>
            <a:off x="10158984" y="2816352"/>
            <a:ext cx="164592" cy="219456"/>
          </a:xfrm>
          <a:prstGeom prst="rightArrow">
            <a:avLst/>
          </a:prstGeom>
          <a:solidFill>
            <a:srgbClr val="5A6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0332720" y="2148840"/>
            <a:ext cx="1463040" cy="1554480"/>
          </a:xfrm>
          <a:prstGeom prst="roundRect">
            <a:avLst>
              <a:gd name="adj" fmla="val 4000"/>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332720" y="2350008"/>
            <a:ext cx="1463040" cy="822960"/>
          </a:xfrm>
          <a:prstGeom prst="rect">
            <a:avLst/>
          </a:prstGeom>
          <a:noFill/>
        </p:spPr>
        <p:txBody>
          <a:bodyPr wrap="square" lIns="45720" tIns="18288" rIns="45720" bIns="18288" anchor="t">
            <a:spAutoFit/>
          </a:bodyPr>
          <a:lstStyle/>
          <a:p>
            <a:pPr algn="ctr"/>
            <a:r>
              <a:rPr sz="1400" b="1" i="0">
                <a:solidFill>
                  <a:srgbClr val="FFFFFF"/>
                </a:solidFill>
                <a:latin typeface="Calibri"/>
              </a:rPr>
              <a:t>SysML v2 /
Mermaid</a:t>
            </a:r>
          </a:p>
        </p:txBody>
      </p:sp>
      <p:sp>
        <p:nvSpPr>
          <p:cNvPr id="33" name="TextBox 32"/>
          <p:cNvSpPr txBox="1"/>
          <p:nvPr/>
        </p:nvSpPr>
        <p:spPr>
          <a:xfrm>
            <a:off x="10332720" y="3081528"/>
            <a:ext cx="1463040" cy="548640"/>
          </a:xfrm>
          <a:prstGeom prst="rect">
            <a:avLst/>
          </a:prstGeom>
          <a:noFill/>
        </p:spPr>
        <p:txBody>
          <a:bodyPr wrap="square" lIns="45720" tIns="18288" rIns="45720" bIns="18288" anchor="t">
            <a:spAutoFit/>
          </a:bodyPr>
          <a:lstStyle/>
          <a:p>
            <a:pPr algn="ctr"/>
            <a:r>
              <a:rPr sz="1050" b="0" i="0">
                <a:solidFill>
                  <a:srgbClr val="DCE6F0"/>
                </a:solidFill>
                <a:latin typeface="Calibri"/>
              </a:rPr>
              <a:t>scenario
diagram</a:t>
            </a:r>
          </a:p>
        </p:txBody>
      </p:sp>
      <p:sp>
        <p:nvSpPr>
          <p:cNvPr id="34" name="TextBox 33"/>
          <p:cNvSpPr txBox="1"/>
          <p:nvPr/>
        </p:nvSpPr>
        <p:spPr>
          <a:xfrm>
            <a:off x="457200" y="1371600"/>
            <a:ext cx="10058400" cy="548640"/>
          </a:xfrm>
          <a:prstGeom prst="rect">
            <a:avLst/>
          </a:prstGeom>
          <a:noFill/>
        </p:spPr>
        <p:txBody>
          <a:bodyPr wrap="square" lIns="45720" tIns="18288" rIns="45720" bIns="18288" anchor="t">
            <a:spAutoFit/>
          </a:bodyPr>
          <a:lstStyle/>
          <a:p>
            <a:pPr algn="l"/>
            <a:r>
              <a:rPr sz="1500" b="1" i="0">
                <a:solidFill>
                  <a:srgbClr val="0B2B45"/>
                </a:solidFill>
                <a:latin typeface="Calibri"/>
              </a:rPr>
              <a:t>11 composable agent skills -- each invocable by natural language, no code changes to the target system.</a:t>
            </a:r>
          </a:p>
        </p:txBody>
      </p:sp>
      <p:sp>
        <p:nvSpPr>
          <p:cNvPr id="35" name="TextBox 34"/>
          <p:cNvSpPr txBox="1"/>
          <p:nvPr/>
        </p:nvSpPr>
        <p:spPr>
          <a:xfrm>
            <a:off x="457200" y="1755648"/>
            <a:ext cx="11247120" cy="320040"/>
          </a:xfrm>
          <a:prstGeom prst="rect">
            <a:avLst/>
          </a:prstGeom>
          <a:noFill/>
        </p:spPr>
        <p:txBody>
          <a:bodyPr wrap="square" lIns="45720" tIns="18288" rIns="45720" bIns="18288" anchor="t">
            <a:spAutoFit/>
          </a:bodyPr>
          <a:lstStyle/>
          <a:p>
            <a:pPr algn="l"/>
            <a:r>
              <a:rPr sz="1200" b="0" i="1">
                <a:solidFill>
                  <a:srgbClr val="5A636E"/>
                </a:solidFill>
                <a:latin typeface="Calibri"/>
              </a:rPr>
              <a:t>Originally scoped as a 5-stage methodology (proposal); realised as this graph-centric 7-stage pipeline.</a:t>
            </a:r>
          </a:p>
        </p:txBody>
      </p:sp>
      <p:sp>
        <p:nvSpPr>
          <p:cNvPr id="36" name="Rounded Rectangle 35"/>
          <p:cNvSpPr/>
          <p:nvPr/>
        </p:nvSpPr>
        <p:spPr>
          <a:xfrm>
            <a:off x="457200" y="4114800"/>
            <a:ext cx="5532120" cy="155448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85800" y="4251960"/>
            <a:ext cx="5120640" cy="1371600"/>
          </a:xfrm>
          <a:prstGeom prst="rect">
            <a:avLst/>
          </a:prstGeom>
          <a:noFill/>
        </p:spPr>
        <p:txBody>
          <a:bodyPr wrap="square" lIns="45720" tIns="18288" rIns="45720" bIns="18288" anchor="t">
            <a:spAutoFit/>
          </a:bodyPr>
          <a:lstStyle/>
          <a:p>
            <a:pPr algn="l">
              <a:spcAft>
                <a:spcPts val="300"/>
              </a:spcAft>
            </a:pPr>
            <a:r>
              <a:rPr sz="1400" b="1" i="0">
                <a:solidFill>
                  <a:srgbClr val="1F6FB2"/>
                </a:solidFill>
                <a:latin typeface="Calibri"/>
              </a:rPr>
              <a:t>Fusion (RQ1)</a:t>
            </a:r>
          </a:p>
          <a:p>
            <a:pPr algn="l"/>
            <a:r>
              <a:rPr sz="1350" b="0" i="0">
                <a:solidFill>
                  <a:srgbClr val="222A33"/>
                </a:solidFill>
                <a:latin typeface="Calibri"/>
              </a:rPr>
              <a:t>Set union of static (CppCalls) and trace (TRACE_CALLS) edges, each tagged with which source observed it.</a:t>
            </a:r>
          </a:p>
        </p:txBody>
      </p:sp>
      <p:sp>
        <p:nvSpPr>
          <p:cNvPr id="38" name="Rounded Rectangle 37"/>
          <p:cNvSpPr/>
          <p:nvPr/>
        </p:nvSpPr>
        <p:spPr>
          <a:xfrm>
            <a:off x="6126480" y="4114800"/>
            <a:ext cx="5532120" cy="155448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55080" y="4251960"/>
            <a:ext cx="5120640" cy="1371600"/>
          </a:xfrm>
          <a:prstGeom prst="rect">
            <a:avLst/>
          </a:prstGeom>
          <a:noFill/>
        </p:spPr>
        <p:txBody>
          <a:bodyPr wrap="square" lIns="45720" tIns="18288" rIns="45720" bIns="18288" anchor="t">
            <a:spAutoFit/>
          </a:bodyPr>
          <a:lstStyle/>
          <a:p>
            <a:pPr algn="l">
              <a:spcAft>
                <a:spcPts val="300"/>
              </a:spcAft>
            </a:pPr>
            <a:r>
              <a:rPr sz="1400" b="1" i="0">
                <a:solidFill>
                  <a:srgbClr val="1BA19C"/>
                </a:solidFill>
                <a:latin typeface="Calibri"/>
              </a:rPr>
              <a:t>Slicing (RQ2)</a:t>
            </a:r>
          </a:p>
          <a:p>
            <a:pPr algn="l"/>
            <a:r>
              <a:rPr sz="1350" b="0" i="0">
                <a:solidFill>
                  <a:srgbClr val="222A33"/>
                </a:solidFill>
                <a:latin typeface="Calibri"/>
              </a:rPr>
              <a:t>Linear edge filter: keep e where src ∈ scenario.primary and tgt ∈ scenario.targets — identical over static &amp; trace edges.</a:t>
            </a:r>
          </a:p>
        </p:txBody>
      </p:sp>
      <p:sp>
        <p:nvSpPr>
          <p:cNvPr id="40" name="TextBox 39"/>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41" name="TextBox 40"/>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APPROACH · DESIGN</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A Single Property Graph for Both Evidence Types</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8</a:t>
            </a:r>
          </a:p>
        </p:txBody>
      </p:sp>
      <p:sp>
        <p:nvSpPr>
          <p:cNvPr id="7" name="TextBox 6"/>
          <p:cNvSpPr txBox="1"/>
          <p:nvPr/>
        </p:nvSpPr>
        <p:spPr>
          <a:xfrm>
            <a:off x="502920" y="1234440"/>
            <a:ext cx="10972800" cy="457200"/>
          </a:xfrm>
          <a:prstGeom prst="rect">
            <a:avLst/>
          </a:prstGeom>
          <a:noFill/>
        </p:spPr>
        <p:txBody>
          <a:bodyPr wrap="square" lIns="45720" tIns="18288" rIns="45720" bIns="18288" anchor="t">
            <a:spAutoFit/>
          </a:bodyPr>
          <a:lstStyle/>
          <a:p>
            <a:pPr algn="l"/>
            <a:r>
              <a:rPr sz="1600" b="1" i="0">
                <a:solidFill>
                  <a:srgbClr val="0B2B45"/>
                </a:solidFill>
                <a:latin typeface="Calibri"/>
              </a:rPr>
              <a:t>Static call graph and runtime trace live in one Neo4j graph — each interaction remembers which evidence produced it.</a:t>
            </a:r>
          </a:p>
        </p:txBody>
      </p:sp>
      <p:sp>
        <p:nvSpPr>
          <p:cNvPr id="8" name="Rounded Rectangle 7"/>
          <p:cNvSpPr/>
          <p:nvPr/>
        </p:nvSpPr>
        <p:spPr>
          <a:xfrm>
            <a:off x="502920" y="1874519"/>
            <a:ext cx="4937760" cy="566928"/>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920239"/>
            <a:ext cx="1554480" cy="457200"/>
          </a:xfrm>
          <a:prstGeom prst="rect">
            <a:avLst/>
          </a:prstGeom>
          <a:noFill/>
        </p:spPr>
        <p:txBody>
          <a:bodyPr wrap="square" lIns="45720" tIns="18288" rIns="45720" bIns="18288" anchor="t">
            <a:spAutoFit/>
          </a:bodyPr>
          <a:lstStyle/>
          <a:p>
            <a:pPr algn="r"/>
            <a:r>
              <a:rPr sz="2000" b="1" i="0">
                <a:solidFill>
                  <a:srgbClr val="1F6FB2"/>
                </a:solidFill>
                <a:latin typeface="Calibri"/>
              </a:rPr>
              <a:t>11</a:t>
            </a:r>
          </a:p>
        </p:txBody>
      </p:sp>
      <p:sp>
        <p:nvSpPr>
          <p:cNvPr id="10" name="TextBox 9"/>
          <p:cNvSpPr txBox="1"/>
          <p:nvPr/>
        </p:nvSpPr>
        <p:spPr>
          <a:xfrm>
            <a:off x="2286000" y="1984247"/>
            <a:ext cx="3108960" cy="365760"/>
          </a:xfrm>
          <a:prstGeom prst="rect">
            <a:avLst/>
          </a:prstGeom>
          <a:noFill/>
        </p:spPr>
        <p:txBody>
          <a:bodyPr wrap="square" lIns="45720" tIns="18288" rIns="45720" bIns="18288" anchor="t">
            <a:spAutoFit/>
          </a:bodyPr>
          <a:lstStyle/>
          <a:p>
            <a:pPr algn="l"/>
            <a:r>
              <a:rPr sz="1400" b="0" i="0">
                <a:solidFill>
                  <a:srgbClr val="222A33"/>
                </a:solidFill>
                <a:latin typeface="Calibri"/>
              </a:rPr>
              <a:t>node labels</a:t>
            </a:r>
          </a:p>
        </p:txBody>
      </p:sp>
      <p:sp>
        <p:nvSpPr>
          <p:cNvPr id="11" name="Rounded Rectangle 10"/>
          <p:cNvSpPr/>
          <p:nvPr/>
        </p:nvSpPr>
        <p:spPr>
          <a:xfrm>
            <a:off x="502920" y="2532887"/>
            <a:ext cx="4937760" cy="566928"/>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578607"/>
            <a:ext cx="1554480" cy="457200"/>
          </a:xfrm>
          <a:prstGeom prst="rect">
            <a:avLst/>
          </a:prstGeom>
          <a:noFill/>
        </p:spPr>
        <p:txBody>
          <a:bodyPr wrap="square" lIns="45720" tIns="18288" rIns="45720" bIns="18288" anchor="t">
            <a:spAutoFit/>
          </a:bodyPr>
          <a:lstStyle/>
          <a:p>
            <a:pPr algn="r"/>
            <a:r>
              <a:rPr sz="2000" b="1" i="0">
                <a:solidFill>
                  <a:srgbClr val="1F6FB2"/>
                </a:solidFill>
                <a:latin typeface="Calibri"/>
              </a:rPr>
              <a:t>11</a:t>
            </a:r>
          </a:p>
        </p:txBody>
      </p:sp>
      <p:sp>
        <p:nvSpPr>
          <p:cNvPr id="13" name="TextBox 12"/>
          <p:cNvSpPr txBox="1"/>
          <p:nvPr/>
        </p:nvSpPr>
        <p:spPr>
          <a:xfrm>
            <a:off x="2286000" y="2642615"/>
            <a:ext cx="3108960" cy="365760"/>
          </a:xfrm>
          <a:prstGeom prst="rect">
            <a:avLst/>
          </a:prstGeom>
          <a:noFill/>
        </p:spPr>
        <p:txBody>
          <a:bodyPr wrap="square" lIns="45720" tIns="18288" rIns="45720" bIns="18288" anchor="t">
            <a:spAutoFit/>
          </a:bodyPr>
          <a:lstStyle/>
          <a:p>
            <a:pPr algn="l"/>
            <a:r>
              <a:rPr sz="1400" b="0" i="0">
                <a:solidFill>
                  <a:srgbClr val="222A33"/>
                </a:solidFill>
                <a:latin typeface="Calibri"/>
              </a:rPr>
              <a:t>relationship types</a:t>
            </a:r>
          </a:p>
        </p:txBody>
      </p:sp>
      <p:sp>
        <p:nvSpPr>
          <p:cNvPr id="14" name="Rounded Rectangle 13"/>
          <p:cNvSpPr/>
          <p:nvPr/>
        </p:nvSpPr>
        <p:spPr>
          <a:xfrm>
            <a:off x="502920" y="3191255"/>
            <a:ext cx="4937760" cy="566928"/>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3236975"/>
            <a:ext cx="1554480" cy="457200"/>
          </a:xfrm>
          <a:prstGeom prst="rect">
            <a:avLst/>
          </a:prstGeom>
          <a:noFill/>
        </p:spPr>
        <p:txBody>
          <a:bodyPr wrap="square" lIns="45720" tIns="18288" rIns="45720" bIns="18288" anchor="t">
            <a:spAutoFit/>
          </a:bodyPr>
          <a:lstStyle/>
          <a:p>
            <a:pPr algn="r"/>
            <a:r>
              <a:rPr sz="2000" b="1" i="0">
                <a:solidFill>
                  <a:srgbClr val="1F6FB2"/>
                </a:solidFill>
                <a:latin typeface="Calibri"/>
              </a:rPr>
              <a:t>2,574</a:t>
            </a:r>
          </a:p>
        </p:txBody>
      </p:sp>
      <p:sp>
        <p:nvSpPr>
          <p:cNvPr id="16" name="TextBox 15"/>
          <p:cNvSpPr txBox="1"/>
          <p:nvPr/>
        </p:nvSpPr>
        <p:spPr>
          <a:xfrm>
            <a:off x="2286000" y="3300983"/>
            <a:ext cx="3108960" cy="365760"/>
          </a:xfrm>
          <a:prstGeom prst="rect">
            <a:avLst/>
          </a:prstGeom>
          <a:noFill/>
        </p:spPr>
        <p:txBody>
          <a:bodyPr wrap="square" lIns="45720" tIns="18288" rIns="45720" bIns="18288" anchor="t">
            <a:spAutoFit/>
          </a:bodyPr>
          <a:lstStyle/>
          <a:p>
            <a:pPr algn="l"/>
            <a:r>
              <a:rPr sz="1400" b="0" i="0">
                <a:solidFill>
                  <a:srgbClr val="222A33"/>
                </a:solidFill>
                <a:latin typeface="Calibri"/>
              </a:rPr>
              <a:t>ordered static interactions</a:t>
            </a:r>
          </a:p>
        </p:txBody>
      </p:sp>
      <p:sp>
        <p:nvSpPr>
          <p:cNvPr id="17" name="Rounded Rectangle 16"/>
          <p:cNvSpPr/>
          <p:nvPr/>
        </p:nvSpPr>
        <p:spPr>
          <a:xfrm>
            <a:off x="502920" y="3849623"/>
            <a:ext cx="4937760" cy="566928"/>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895343"/>
            <a:ext cx="1554480" cy="457200"/>
          </a:xfrm>
          <a:prstGeom prst="rect">
            <a:avLst/>
          </a:prstGeom>
          <a:noFill/>
        </p:spPr>
        <p:txBody>
          <a:bodyPr wrap="square" lIns="45720" tIns="18288" rIns="45720" bIns="18288" anchor="t">
            <a:spAutoFit/>
          </a:bodyPr>
          <a:lstStyle/>
          <a:p>
            <a:pPr algn="r"/>
            <a:r>
              <a:rPr sz="2000" b="1" i="0">
                <a:solidFill>
                  <a:srgbClr val="1F6FB2"/>
                </a:solidFill>
                <a:latin typeface="Calibri"/>
              </a:rPr>
              <a:t>121</a:t>
            </a:r>
          </a:p>
        </p:txBody>
      </p:sp>
      <p:sp>
        <p:nvSpPr>
          <p:cNvPr id="19" name="TextBox 18"/>
          <p:cNvSpPr txBox="1"/>
          <p:nvPr/>
        </p:nvSpPr>
        <p:spPr>
          <a:xfrm>
            <a:off x="2286000" y="3959351"/>
            <a:ext cx="3108960" cy="365760"/>
          </a:xfrm>
          <a:prstGeom prst="rect">
            <a:avLst/>
          </a:prstGeom>
          <a:noFill/>
        </p:spPr>
        <p:txBody>
          <a:bodyPr wrap="square" lIns="45720" tIns="18288" rIns="45720" bIns="18288" anchor="t">
            <a:spAutoFit/>
          </a:bodyPr>
          <a:lstStyle/>
          <a:p>
            <a:pPr algn="l"/>
            <a:r>
              <a:rPr sz="1400" b="0" i="0">
                <a:solidFill>
                  <a:srgbClr val="222A33"/>
                </a:solidFill>
                <a:latin typeface="Calibri"/>
              </a:rPr>
              <a:t>components</a:t>
            </a:r>
          </a:p>
        </p:txBody>
      </p:sp>
      <p:sp>
        <p:nvSpPr>
          <p:cNvPr id="20" name="Rounded Rectangle 19"/>
          <p:cNvSpPr/>
          <p:nvPr/>
        </p:nvSpPr>
        <p:spPr>
          <a:xfrm>
            <a:off x="502920" y="4507991"/>
            <a:ext cx="4937760" cy="566928"/>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4553711"/>
            <a:ext cx="1554480" cy="457200"/>
          </a:xfrm>
          <a:prstGeom prst="rect">
            <a:avLst/>
          </a:prstGeom>
          <a:noFill/>
        </p:spPr>
        <p:txBody>
          <a:bodyPr wrap="square" lIns="45720" tIns="18288" rIns="45720" bIns="18288" anchor="t">
            <a:spAutoFit/>
          </a:bodyPr>
          <a:lstStyle/>
          <a:p>
            <a:pPr algn="r"/>
            <a:r>
              <a:rPr sz="2000" b="1" i="0">
                <a:solidFill>
                  <a:srgbClr val="1F6FB2"/>
                </a:solidFill>
                <a:latin typeface="Calibri"/>
              </a:rPr>
              <a:t>27</a:t>
            </a:r>
          </a:p>
        </p:txBody>
      </p:sp>
      <p:sp>
        <p:nvSpPr>
          <p:cNvPr id="22" name="TextBox 21"/>
          <p:cNvSpPr txBox="1"/>
          <p:nvPr/>
        </p:nvSpPr>
        <p:spPr>
          <a:xfrm>
            <a:off x="2286000" y="4617719"/>
            <a:ext cx="3108960" cy="365760"/>
          </a:xfrm>
          <a:prstGeom prst="rect">
            <a:avLst/>
          </a:prstGeom>
          <a:noFill/>
        </p:spPr>
        <p:txBody>
          <a:bodyPr wrap="square" lIns="45720" tIns="18288" rIns="45720" bIns="18288" anchor="t">
            <a:spAutoFit/>
          </a:bodyPr>
          <a:lstStyle/>
          <a:p>
            <a:pPr algn="l"/>
            <a:r>
              <a:rPr sz="1400" b="0" i="0">
                <a:solidFill>
                  <a:srgbClr val="222A33"/>
                </a:solidFill>
                <a:latin typeface="Calibri"/>
              </a:rPr>
              <a:t>runtime trace events</a:t>
            </a:r>
          </a:p>
        </p:txBody>
      </p:sp>
      <p:sp>
        <p:nvSpPr>
          <p:cNvPr id="23" name="Rounded Rectangle 22"/>
          <p:cNvSpPr/>
          <p:nvPr/>
        </p:nvSpPr>
        <p:spPr>
          <a:xfrm>
            <a:off x="502920" y="5166359"/>
            <a:ext cx="4937760" cy="566928"/>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5212079"/>
            <a:ext cx="1554480" cy="457200"/>
          </a:xfrm>
          <a:prstGeom prst="rect">
            <a:avLst/>
          </a:prstGeom>
          <a:noFill/>
        </p:spPr>
        <p:txBody>
          <a:bodyPr wrap="square" lIns="45720" tIns="18288" rIns="45720" bIns="18288" anchor="t">
            <a:spAutoFit/>
          </a:bodyPr>
          <a:lstStyle/>
          <a:p>
            <a:pPr algn="r"/>
            <a:r>
              <a:rPr sz="2000" b="1" i="0">
                <a:solidFill>
                  <a:srgbClr val="1F6FB2"/>
                </a:solidFill>
                <a:latin typeface="Calibri"/>
              </a:rPr>
              <a:t>26</a:t>
            </a:r>
          </a:p>
        </p:txBody>
      </p:sp>
      <p:sp>
        <p:nvSpPr>
          <p:cNvPr id="25" name="TextBox 24"/>
          <p:cNvSpPr txBox="1"/>
          <p:nvPr/>
        </p:nvSpPr>
        <p:spPr>
          <a:xfrm>
            <a:off x="2286000" y="5276087"/>
            <a:ext cx="3108960" cy="365760"/>
          </a:xfrm>
          <a:prstGeom prst="rect">
            <a:avLst/>
          </a:prstGeom>
          <a:noFill/>
        </p:spPr>
        <p:txBody>
          <a:bodyPr wrap="square" lIns="45720" tIns="18288" rIns="45720" bIns="18288" anchor="t">
            <a:spAutoFit/>
          </a:bodyPr>
          <a:lstStyle/>
          <a:p>
            <a:pPr algn="l"/>
            <a:r>
              <a:rPr sz="1400" b="0" i="0">
                <a:solidFill>
                  <a:srgbClr val="222A33"/>
                </a:solidFill>
                <a:latin typeface="Calibri"/>
              </a:rPr>
              <a:t>unique traced pairs</a:t>
            </a:r>
          </a:p>
        </p:txBody>
      </p:sp>
      <p:sp>
        <p:nvSpPr>
          <p:cNvPr id="26" name="Rounded Rectangle 25"/>
          <p:cNvSpPr/>
          <p:nvPr/>
        </p:nvSpPr>
        <p:spPr>
          <a:xfrm>
            <a:off x="5760720" y="1874519"/>
            <a:ext cx="5897880" cy="3977639"/>
          </a:xfrm>
          <a:prstGeom prst="roundRect">
            <a:avLst>
              <a:gd name="adj" fmla="val 4000"/>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035040" y="2057400"/>
            <a:ext cx="5394960" cy="365760"/>
          </a:xfrm>
          <a:prstGeom prst="rect">
            <a:avLst/>
          </a:prstGeom>
          <a:noFill/>
        </p:spPr>
        <p:txBody>
          <a:bodyPr wrap="square" lIns="45720" tIns="18288" rIns="45720" bIns="18288" anchor="t">
            <a:spAutoFit/>
          </a:bodyPr>
          <a:lstStyle/>
          <a:p>
            <a:pPr algn="l"/>
            <a:r>
              <a:rPr sz="1300" b="1" i="0">
                <a:solidFill>
                  <a:srgbClr val="E18A1B"/>
                </a:solidFill>
                <a:latin typeface="Calibri"/>
              </a:rPr>
              <a:t>FUSION &amp; SLICE, FORMALLY</a:t>
            </a:r>
          </a:p>
        </p:txBody>
      </p:sp>
      <p:sp>
        <p:nvSpPr>
          <p:cNvPr id="28" name="TextBox 27"/>
          <p:cNvSpPr txBox="1"/>
          <p:nvPr/>
        </p:nvSpPr>
        <p:spPr>
          <a:xfrm>
            <a:off x="6035040" y="2514600"/>
            <a:ext cx="5394960" cy="1097280"/>
          </a:xfrm>
          <a:prstGeom prst="rect">
            <a:avLst/>
          </a:prstGeom>
          <a:noFill/>
        </p:spPr>
        <p:txBody>
          <a:bodyPr wrap="square" lIns="45720" tIns="18288" rIns="45720" bIns="18288" anchor="t">
            <a:spAutoFit/>
          </a:bodyPr>
          <a:lstStyle/>
          <a:p>
            <a:pPr algn="ctr">
              <a:spcAft>
                <a:spcPts val="600"/>
              </a:spcAft>
            </a:pPr>
            <a:r>
              <a:rPr sz="1700" b="1" i="0">
                <a:solidFill>
                  <a:srgbClr val="FFFFFF"/>
                </a:solidFill>
                <a:latin typeface="Calibri"/>
              </a:rPr>
              <a:t>Gσ = slice(G_static ∪ G_trace, σ)</a:t>
            </a:r>
          </a:p>
          <a:p>
            <a:pPr algn="ctr"/>
            <a:r>
              <a:rPr sz="1400" b="0" i="0">
                <a:solidFill>
                  <a:srgbClr val="C9D6E2"/>
                </a:solidFill>
                <a:latin typeface="Calibri"/>
              </a:rPr>
              <a:t>= { e ∈ Es ∪ Et  |  src(e) ∈ σ.primary  ∧  tgt(e) ∈ σ.targets }</a:t>
            </a:r>
          </a:p>
        </p:txBody>
      </p:sp>
      <p:sp>
        <p:nvSpPr>
          <p:cNvPr id="29" name="TextBox 28"/>
          <p:cNvSpPr txBox="1"/>
          <p:nvPr/>
        </p:nvSpPr>
        <p:spPr>
          <a:xfrm>
            <a:off x="6035040" y="3794760"/>
            <a:ext cx="5394960" cy="1920240"/>
          </a:xfrm>
          <a:prstGeom prst="rect">
            <a:avLst/>
          </a:prstGeom>
          <a:noFill/>
        </p:spPr>
        <p:txBody>
          <a:bodyPr wrap="square" lIns="45720" tIns="18288" rIns="45720" bIns="18288" anchor="t">
            <a:spAutoFit/>
          </a:bodyPr>
          <a:lstStyle/>
          <a:p>
            <a:pPr algn="l">
              <a:spcAft>
                <a:spcPts val="800"/>
              </a:spcAft>
            </a:pPr>
            <a:r>
              <a:rPr sz="1400" b="0" i="0">
                <a:solidFill>
                  <a:srgbClr val="FFFFFF"/>
                </a:solidFill>
                <a:latin typeface="Calibri"/>
              </a:rPr>
              <a:t>•  Both edge types carry ClientComponent / ServerComponent metadata, so one filter works over both.</a:t>
            </a:r>
          </a:p>
          <a:p>
            <a:pPr algn="l">
              <a:spcAft>
                <a:spcPts val="800"/>
              </a:spcAft>
            </a:pPr>
            <a:r>
              <a:rPr sz="1400" b="0" i="0">
                <a:solidFill>
                  <a:srgbClr val="FFFFFF"/>
                </a:solidFill>
                <a:latin typeface="Calibri"/>
              </a:rPr>
              <a:t>•  Schema-introspection skill reads labels at runtime → the pipeline is codebase-agnostic.</a:t>
            </a:r>
          </a:p>
          <a:p>
            <a:pPr algn="l"/>
            <a:r>
              <a:rPr sz="1400" b="0" i="0">
                <a:solidFill>
                  <a:srgbClr val="FFFFFF"/>
                </a:solidFill>
                <a:latin typeface="Calibri"/>
              </a:rPr>
              <a:t>•  Recovers pub/sub wiring (boost::signals2) that plain call-graph analysis cannot see.</a:t>
            </a:r>
          </a:p>
        </p:txBody>
      </p:sp>
      <p:sp>
        <p:nvSpPr>
          <p:cNvPr id="30" name="TextBox 29"/>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31" name="TextBox 30"/>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APPROACH · STATIC</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Static Extraction: The Full Call Graph</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9</a:t>
            </a:r>
          </a:p>
        </p:txBody>
      </p:sp>
      <p:pic>
        <p:nvPicPr>
          <p:cNvPr id="7" name="Picture 6" descr="function-call-dependencies.png"/>
          <p:cNvPicPr>
            <a:picLocks noChangeAspect="1"/>
          </p:cNvPicPr>
          <p:nvPr/>
        </p:nvPicPr>
        <p:blipFill>
          <a:blip r:embed="rId3"/>
          <a:stretch>
            <a:fillRect/>
          </a:stretch>
        </p:blipFill>
        <p:spPr>
          <a:xfrm>
            <a:off x="502920" y="3256559"/>
            <a:ext cx="7680960" cy="893522"/>
          </a:xfrm>
          <a:prstGeom prst="rect">
            <a:avLst/>
          </a:prstGeom>
        </p:spPr>
      </p:pic>
      <p:sp>
        <p:nvSpPr>
          <p:cNvPr id="8" name="Rounded Rectangle 7"/>
          <p:cNvSpPr/>
          <p:nvPr/>
        </p:nvSpPr>
        <p:spPr>
          <a:xfrm>
            <a:off x="8412480" y="1371600"/>
            <a:ext cx="3246120" cy="457200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41080" y="1554480"/>
            <a:ext cx="2834640" cy="4297680"/>
          </a:xfrm>
          <a:prstGeom prst="rect">
            <a:avLst/>
          </a:prstGeom>
          <a:noFill/>
        </p:spPr>
        <p:txBody>
          <a:bodyPr wrap="square" lIns="45720" tIns="18288" rIns="45720" bIns="18288" anchor="t">
            <a:spAutoFit/>
          </a:bodyPr>
          <a:lstStyle/>
          <a:p>
            <a:pPr algn="l">
              <a:spcAft>
                <a:spcPts val="800"/>
              </a:spcAft>
            </a:pPr>
            <a:r>
              <a:rPr sz="1500" b="1" i="0">
                <a:solidFill>
                  <a:srgbClr val="1F6FB2"/>
                </a:solidFill>
                <a:latin typeface="Calibri"/>
              </a:rPr>
              <a:t>What it gives us</a:t>
            </a:r>
          </a:p>
          <a:p>
            <a:pPr algn="l">
              <a:spcAft>
                <a:spcPts val="700"/>
              </a:spcAft>
            </a:pPr>
            <a:r>
              <a:rPr sz="1350" b="0" i="0">
                <a:solidFill>
                  <a:srgbClr val="222A33"/>
                </a:solidFill>
                <a:latin typeface="Calibri"/>
              </a:rPr>
              <a:t>•  Renaissance parses C++ → Neo4j.</a:t>
            </a:r>
          </a:p>
          <a:p>
            <a:pPr algn="l">
              <a:spcAft>
                <a:spcPts val="700"/>
              </a:spcAft>
            </a:pPr>
            <a:r>
              <a:rPr sz="1350" b="0" i="0">
                <a:solidFill>
                  <a:srgbClr val="222A33"/>
                </a:solidFill>
                <a:latin typeface="Calibri"/>
              </a:rPr>
              <a:t>•  Over-approximate: every possible call, scenario-agnostic.</a:t>
            </a:r>
          </a:p>
          <a:p>
            <a:pPr algn="l">
              <a:spcAft>
                <a:spcPts val="700"/>
              </a:spcAft>
            </a:pPr>
            <a:r>
              <a:rPr sz="1350" b="0" i="0">
                <a:solidFill>
                  <a:srgbClr val="222A33"/>
                </a:solidFill>
                <a:latin typeface="Calibri"/>
              </a:rPr>
              <a:t>•  Projected into an ordered sequence-dependency table (2,574 interactions).</a:t>
            </a:r>
          </a:p>
          <a:p>
            <a:pPr algn="l"/>
            <a:r>
              <a:rPr sz="1350" b="1" i="0">
                <a:solidFill>
                  <a:srgbClr val="0B2B45"/>
                </a:solidFill>
                <a:latin typeface="Calibri"/>
              </a:rPr>
              <a:t>•  Recall floor: guarantees interactions a sparse trace would miss.</a:t>
            </a:r>
          </a:p>
        </p:txBody>
      </p:sp>
      <p:sp>
        <p:nvSpPr>
          <p:cNvPr id="10" name="TextBox 9"/>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1" name="TextBox 10"/>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APPROACH · DYNAMIC</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Runtime Tracing with csp_matcher</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10</a:t>
            </a:r>
          </a:p>
        </p:txBody>
      </p:sp>
      <p:pic>
        <p:nvPicPr>
          <p:cNvPr id="7" name="Picture 6" descr="signal-runtime-tracing.png"/>
          <p:cNvPicPr>
            <a:picLocks noChangeAspect="1"/>
          </p:cNvPicPr>
          <p:nvPr/>
        </p:nvPicPr>
        <p:blipFill>
          <a:blip r:embed="rId3"/>
          <a:stretch>
            <a:fillRect/>
          </a:stretch>
        </p:blipFill>
        <p:spPr>
          <a:xfrm>
            <a:off x="5943600" y="1695022"/>
            <a:ext cx="5760720" cy="3925156"/>
          </a:xfrm>
          <a:prstGeom prst="rect">
            <a:avLst/>
          </a:prstGeom>
        </p:spPr>
      </p:pic>
      <p:sp>
        <p:nvSpPr>
          <p:cNvPr id="8" name="TextBox 7"/>
          <p:cNvSpPr txBox="1"/>
          <p:nvPr/>
        </p:nvSpPr>
        <p:spPr>
          <a:xfrm>
            <a:off x="502920" y="1325880"/>
            <a:ext cx="5212080" cy="4572000"/>
          </a:xfrm>
          <a:prstGeom prst="rect">
            <a:avLst/>
          </a:prstGeom>
          <a:noFill/>
        </p:spPr>
        <p:txBody>
          <a:bodyPr wrap="square" lIns="45720" tIns="18288" rIns="45720" bIns="18288" anchor="t">
            <a:spAutoFit/>
          </a:bodyPr>
          <a:lstStyle/>
          <a:p>
            <a:pPr algn="l">
              <a:spcAft>
                <a:spcPts val="1000"/>
              </a:spcAft>
            </a:pPr>
            <a:r>
              <a:rPr sz="1600" b="1" i="0">
                <a:solidFill>
                  <a:srgbClr val="0B2B45"/>
                </a:solidFill>
                <a:latin typeface="Calibri"/>
              </a:rPr>
              <a:t>A small, reversible instrumentation tool</a:t>
            </a:r>
          </a:p>
          <a:p>
            <a:pPr algn="l">
              <a:spcAft>
                <a:spcPts val="900"/>
              </a:spcAft>
            </a:pPr>
            <a:r>
              <a:rPr sz="1500" b="0" i="0">
                <a:solidFill>
                  <a:srgbClr val="222A33"/>
                </a:solidFill>
                <a:latin typeface="Calibri"/>
              </a:rPr>
              <a:t>•  Clang LibTooling-based; inserts trace probes by AST-level pattern matching.</a:t>
            </a:r>
          </a:p>
          <a:p>
            <a:pPr algn="l">
              <a:spcAft>
                <a:spcPts val="900"/>
              </a:spcAft>
            </a:pPr>
            <a:r>
              <a:rPr sz="1500" b="0" i="0">
                <a:solidFill>
                  <a:srgbClr val="222A33"/>
                </a:solidFill>
                <a:latin typeface="Calibri"/>
              </a:rPr>
              <a:t>•  Guided by the code graph — probes only the call sites that matter for a scenario.</a:t>
            </a:r>
          </a:p>
          <a:p>
            <a:pPr algn="l">
              <a:spcAft>
                <a:spcPts val="900"/>
              </a:spcAft>
            </a:pPr>
            <a:r>
              <a:rPr sz="1500" b="0" i="0">
                <a:solidFill>
                  <a:srgbClr val="222A33"/>
                </a:solidFill>
                <a:latin typeface="Calibri"/>
              </a:rPr>
              <a:t>•  Fully reversible: add_tracing / remove_tracing restore the original source exactly.</a:t>
            </a:r>
          </a:p>
          <a:p>
            <a:pPr algn="l">
              <a:spcAft>
                <a:spcPts val="900"/>
              </a:spcAft>
            </a:pPr>
            <a:r>
              <a:rPr sz="1500" b="0" i="0">
                <a:solidFill>
                  <a:srgbClr val="222A33"/>
                </a:solidFill>
                <a:latin typeface="Calibri"/>
              </a:rPr>
              <a:t>•  Recovers pub/sub edges: resolves boost::signals2 connect()/slot wiring invisible to static call sites.</a:t>
            </a:r>
          </a:p>
          <a:p>
            <a:pPr algn="l">
              <a:spcAft>
                <a:spcPts val="900"/>
              </a:spcAft>
            </a:pPr>
            <a:r>
              <a:rPr sz="1500" b="0" i="0">
                <a:solidFill>
                  <a:srgbClr val="222A33"/>
                </a:solidFill>
                <a:latin typeface="Calibri"/>
              </a:rPr>
              <a:t>•  Real trace line: [TRACE] 14:23:45.832, runStage, Synchronization, Aggregator.getAll, Aggregation, SimpleRunner, SimpleRunner.cpp:67</a:t>
            </a:r>
          </a:p>
          <a:p>
            <a:pPr algn="l">
              <a:spcAft>
                <a:spcPts val="900"/>
              </a:spcAft>
            </a:pPr>
            <a:r>
              <a:rPr sz="1500" b="0" i="0">
                <a:solidFill>
                  <a:srgbClr val="222A33"/>
                </a:solidFill>
                <a:latin typeface="Calibri"/>
              </a:rPr>
              <a:t>•  Pattern DSL example -- find: Aggregator::getAll&lt;$T&gt;()  replace: wraps the call in std::fprintf("[TRACE] ...Aggregator.getAll...") before executing the original call unchanged</a:t>
            </a:r>
          </a:p>
          <a:p>
            <a:pPr algn="l"/>
            <a:r>
              <a:rPr sz="1500" b="1" i="0">
                <a:solidFill>
                  <a:srgbClr val="1F6FB2"/>
                </a:solidFill>
                <a:latin typeface="Calibri"/>
              </a:rPr>
              <a:t>•  Produced 27 trace events across the studied scenarios.</a:t>
            </a:r>
          </a:p>
        </p:txBody>
      </p:sp>
      <p:sp>
        <p:nvSpPr>
          <p:cNvPr id="9" name="TextBox 8"/>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0" name="TextBox 9"/>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SKILL-BASED SOLUTION</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Skill Mechanics: Query Skills, Concrete Example</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11</a:t>
            </a:r>
          </a:p>
        </p:txBody>
      </p:sp>
      <p:graphicFrame>
        <p:nvGraphicFramePr>
          <p:cNvPr id="7" name="Table 6"/>
          <p:cNvGraphicFramePr>
            <a:graphicFrameLocks noGrp="1"/>
          </p:cNvGraphicFramePr>
          <p:nvPr/>
        </p:nvGraphicFramePr>
        <p:xfrm>
          <a:off x="502920" y="1417320"/>
          <a:ext cx="11155679" cy="4151376"/>
        </p:xfrm>
        <a:graphic>
          <a:graphicData uri="http://schemas.openxmlformats.org/drawingml/2006/table">
            <a:tbl>
              <a:tblPr>
                <a:tableStyleId>{5C22544A-7EE6-4342-B048-85BDC9FD1C3A}</a:tableStyleId>
              </a:tblPr>
              <a:tblGrid>
                <a:gridCol w="4276343">
                  <a:extLst>
                    <a:ext uri="{9D8B030D-6E8A-4147-A177-3AD203B41FA5}">
                      <a16:colId xmlns:a16="http://schemas.microsoft.com/office/drawing/2014/main" val="20000"/>
                    </a:ext>
                  </a:extLst>
                </a:gridCol>
                <a:gridCol w="6879336">
                  <a:extLst>
                    <a:ext uri="{9D8B030D-6E8A-4147-A177-3AD203B41FA5}">
                      <a16:colId xmlns:a16="http://schemas.microsoft.com/office/drawing/2014/main" val="20001"/>
                    </a:ext>
                  </a:extLst>
                </a:gridCol>
              </a:tblGrid>
              <a:tr h="914400">
                <a:tc>
                  <a:txBody>
                    <a:bodyPr/>
                    <a:lstStyle/>
                    <a:p>
                      <a:pPr algn="l"/>
                      <a:r>
                        <a:rPr b="1"/>
                        <a:t>Skill</a:t>
                      </a:r>
                    </a:p>
                  </a:txBody>
                  <a:tcPr marL="54864" marR="54864" marT="18288" marB="18288" anchor="ctr">
                    <a:solidFill>
                      <a:srgbClr val="0B2B45"/>
                    </a:solidFill>
                  </a:tcPr>
                </a:tc>
                <a:tc>
                  <a:txBody>
                    <a:bodyPr/>
                    <a:lstStyle/>
                    <a:p>
                      <a:pPr algn="ctr"/>
                      <a:r>
                        <a:rPr b="1"/>
                        <a:t>What It Does — Concrete Example</a:t>
                      </a:r>
                    </a:p>
                  </a:txBody>
                  <a:tcPr marL="54864" marR="54864" marT="18288" marB="18288" anchor="ctr">
                    <a:solidFill>
                      <a:srgbClr val="0B2B45"/>
                    </a:solidFill>
                  </a:tcPr>
                </a:tc>
                <a:extLst>
                  <a:ext uri="{0D108BD9-81ED-4DB2-BD59-A6C34878D82A}">
                    <a16:rowId xmlns:a16="http://schemas.microsoft.com/office/drawing/2014/main" val="10000"/>
                  </a:ext>
                </a:extLst>
              </a:tr>
              <a:tr h="914400">
                <a:tc>
                  <a:txBody>
                    <a:bodyPr/>
                    <a:lstStyle/>
                    <a:p>
                      <a:pPr algn="l"/>
                      <a:r>
                        <a:t>get-neo4j-schema</a:t>
                      </a:r>
                    </a:p>
                  </a:txBody>
                  <a:tcPr marL="54864" marR="54864" marT="18288" marB="18288" anchor="ctr">
                    <a:solidFill>
                      <a:srgbClr val="FFFFFF"/>
                    </a:solidFill>
                  </a:tcPr>
                </a:tc>
                <a:tc>
                  <a:txBody>
                    <a:bodyPr/>
                    <a:lstStyle/>
                    <a:p>
                      <a:pPr algn="ctr"/>
                      <a:r>
                        <a:t>Runs a read-only script → graph_schema.txt: every node label, relationship type, and property. Every downstream skill reads this file instead of hardcoding labels, so the pipeline is codebase-agnostic.</a:t>
                      </a:r>
                    </a:p>
                  </a:txBody>
                  <a:tcPr marL="54864" marR="54864" marT="18288" marB="18288" anchor="ctr">
                    <a:solidFill>
                      <a:srgbClr val="FFFFFF"/>
                    </a:solidFill>
                  </a:tcPr>
                </a:tc>
                <a:extLst>
                  <a:ext uri="{0D108BD9-81ED-4DB2-BD59-A6C34878D82A}">
                    <a16:rowId xmlns:a16="http://schemas.microsoft.com/office/drawing/2014/main" val="10001"/>
                  </a:ext>
                </a:extLst>
              </a:tr>
              <a:tr h="914400">
                <a:tc>
                  <a:txBody>
                    <a:bodyPr/>
                    <a:lstStyle/>
                    <a:p>
                      <a:pPr algn="l"/>
                      <a:r>
                        <a:t>text-to-cypher</a:t>
                      </a:r>
                    </a:p>
                  </a:txBody>
                  <a:tcPr marL="54864" marR="54864" marT="18288" marB="18288" anchor="ctr">
                    <a:solidFill>
                      <a:srgbClr val="F1F4F7"/>
                    </a:solidFill>
                  </a:tcPr>
                </a:tc>
                <a:tc>
                  <a:txBody>
                    <a:bodyPr/>
                    <a:lstStyle/>
                    <a:p>
                      <a:pPr algn="ctr"/>
                      <a:r>
                        <a:t>Prompt: "Using agent skills, show me Synchronization calling into Aggregation and Logging." → compiles to the scope constraint: ClientComponent == Synchronization AND ServerComponent IN {Aggregation, Logging}. The "Using agent skills" prefix anchors the model to skill invocation instead of ad-hoc code reading.</a:t>
                      </a:r>
                    </a:p>
                  </a:txBody>
                  <a:tcPr marL="54864" marR="54864" marT="18288" marB="18288" anchor="ctr">
                    <a:solidFill>
                      <a:srgbClr val="F1F4F7"/>
                    </a:solidFill>
                  </a:tcPr>
                </a:tc>
                <a:extLst>
                  <a:ext uri="{0D108BD9-81ED-4DB2-BD59-A6C34878D82A}">
                    <a16:rowId xmlns:a16="http://schemas.microsoft.com/office/drawing/2014/main" val="10002"/>
                  </a:ext>
                </a:extLst>
              </a:tr>
              <a:tr h="914400">
                <a:tc>
                  <a:txBody>
                    <a:bodyPr/>
                    <a:lstStyle/>
                    <a:p>
                      <a:pPr algn="l"/>
                      <a:r>
                        <a:t>cypher-to-output / get-cypher</a:t>
                      </a:r>
                    </a:p>
                  </a:txBody>
                  <a:tcPr marL="54864" marR="54864" marT="18288" marB="18288" anchor="ctr">
                    <a:solidFill>
                      <a:srgbClr val="FFFFFF"/>
                    </a:solidFill>
                  </a:tcPr>
                </a:tc>
                <a:tc>
                  <a:txBody>
                    <a:bodyPr/>
                    <a:lstStyle/>
                    <a:p>
                      <a:pPr algn="ctr"/>
                      <a:r>
                        <a:t>cypher-to-output executes the query and renders the result as a table in plain language; get-cypher returns only the raw Cypher, for a user who wants to run it elsewhere.</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9" name="TextBox 8"/>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SKILL-BASED SOLUTION</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Skill Mechanics: Structural Extraction → SysML v2</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12</a:t>
            </a:r>
          </a:p>
        </p:txBody>
      </p:sp>
      <p:graphicFrame>
        <p:nvGraphicFramePr>
          <p:cNvPr id="7" name="Table 6"/>
          <p:cNvGraphicFramePr>
            <a:graphicFrameLocks noGrp="1"/>
          </p:cNvGraphicFramePr>
          <p:nvPr/>
        </p:nvGraphicFramePr>
        <p:xfrm>
          <a:off x="502920" y="1417320"/>
          <a:ext cx="11155679" cy="4572000"/>
        </p:xfrm>
        <a:graphic>
          <a:graphicData uri="http://schemas.openxmlformats.org/drawingml/2006/table">
            <a:tbl>
              <a:tblPr>
                <a:tableStyleId>{5C22544A-7EE6-4342-B048-85BDC9FD1C3A}</a:tableStyleId>
              </a:tblPr>
              <a:tblGrid>
                <a:gridCol w="4276343">
                  <a:extLst>
                    <a:ext uri="{9D8B030D-6E8A-4147-A177-3AD203B41FA5}">
                      <a16:colId xmlns:a16="http://schemas.microsoft.com/office/drawing/2014/main" val="20000"/>
                    </a:ext>
                  </a:extLst>
                </a:gridCol>
                <a:gridCol w="6879336">
                  <a:extLst>
                    <a:ext uri="{9D8B030D-6E8A-4147-A177-3AD203B41FA5}">
                      <a16:colId xmlns:a16="http://schemas.microsoft.com/office/drawing/2014/main" val="20001"/>
                    </a:ext>
                  </a:extLst>
                </a:gridCol>
              </a:tblGrid>
              <a:tr h="914400">
                <a:tc>
                  <a:txBody>
                    <a:bodyPr/>
                    <a:lstStyle/>
                    <a:p>
                      <a:pPr algn="l"/>
                      <a:r>
                        <a:rPr b="1"/>
                        <a:t>Stage</a:t>
                      </a:r>
                    </a:p>
                  </a:txBody>
                  <a:tcPr marL="54864" marR="54864" marT="18288" marB="18288" anchor="ctr">
                    <a:solidFill>
                      <a:srgbClr val="0B2B45"/>
                    </a:solidFill>
                  </a:tcPr>
                </a:tc>
                <a:tc>
                  <a:txBody>
                    <a:bodyPr/>
                    <a:lstStyle/>
                    <a:p>
                      <a:pPr algn="ctr"/>
                      <a:r>
                        <a:rPr b="1"/>
                        <a:t>Concrete Input / Output</a:t>
                      </a:r>
                    </a:p>
                  </a:txBody>
                  <a:tcPr marL="54864" marR="54864" marT="18288" marB="18288" anchor="ctr">
                    <a:solidFill>
                      <a:srgbClr val="0B2B45"/>
                    </a:solidFill>
                  </a:tcPr>
                </a:tc>
                <a:extLst>
                  <a:ext uri="{0D108BD9-81ED-4DB2-BD59-A6C34878D82A}">
                    <a16:rowId xmlns:a16="http://schemas.microsoft.com/office/drawing/2014/main" val="10000"/>
                  </a:ext>
                </a:extLst>
              </a:tr>
              <a:tr h="914400">
                <a:tc>
                  <a:txBody>
                    <a:bodyPr/>
                    <a:lstStyle/>
                    <a:p>
                      <a:pPr algn="l"/>
                      <a:r>
                        <a:t>get-interface-dependency-table</a:t>
                      </a:r>
                    </a:p>
                    <a:p>
                      <a:r>
                        <a:t>(reads the Neo4j graph)</a:t>
                      </a:r>
                    </a:p>
                  </a:txBody>
                  <a:tcPr marL="54864" marR="54864" marT="18288" marB="18288" anchor="ctr">
                    <a:solidFill>
                      <a:srgbClr val="FFFFFF"/>
                    </a:solidFill>
                  </a:tcPr>
                </a:tc>
                <a:tc>
                  <a:txBody>
                    <a:bodyPr/>
                    <a:lstStyle/>
                    <a:p>
                      <a:pPr algn="ctr"/>
                      <a:r>
                        <a:t>Output row: InterfaceName=Include, Server=HeaderFile;OtherFile, Client=SourceFile;HeaderFile -- one CSV row per relationship type:</a:t>
                      </a:r>
                    </a:p>
                    <a:p>
                      <a:r>
                        <a:t>MATCH (client)-[r]-&gt;(server) RETURN type(r), collect(server), collect(client)</a:t>
                      </a:r>
                    </a:p>
                  </a:txBody>
                  <a:tcPr marL="54864" marR="54864" marT="18288" marB="18288" anchor="ctr">
                    <a:solidFill>
                      <a:srgbClr val="FFFFFF"/>
                    </a:solidFill>
                  </a:tcPr>
                </a:tc>
                <a:extLst>
                  <a:ext uri="{0D108BD9-81ED-4DB2-BD59-A6C34878D82A}">
                    <a16:rowId xmlns:a16="http://schemas.microsoft.com/office/drawing/2014/main" val="10001"/>
                  </a:ext>
                </a:extLst>
              </a:tr>
              <a:tr h="914400">
                <a:tc>
                  <a:txBody>
                    <a:bodyPr/>
                    <a:lstStyle/>
                    <a:p>
                      <a:pPr algn="l"/>
                      <a:r>
                        <a:t>draw-sysml-structural-model</a:t>
                      </a:r>
                    </a:p>
                    <a:p>
                      <a:r>
                        <a:t>(reads the CSV)</a:t>
                      </a:r>
                    </a:p>
                  </a:txBody>
                  <a:tcPr marL="54864" marR="54864" marT="18288" marB="18288" anchor="ctr">
                    <a:solidFill>
                      <a:srgbClr val="F1F4F7"/>
                    </a:solidFill>
                  </a:tcPr>
                </a:tc>
                <a:tc>
                  <a:txBody>
                    <a:bodyPr/>
                    <a:lstStyle/>
                    <a:p>
                      <a:pPr algn="ctr"/>
                      <a:r>
                        <a:t>For rows I1:C1→C2, I2:C2→C3, I3:C3→C1, generates:</a:t>
                      </a:r>
                    </a:p>
                    <a:p>
                      <a:r>
                        <a:t>port def I1; port def I2; port def I3;</a:t>
                      </a:r>
                    </a:p>
                    <a:p>
                      <a:r>
                        <a:t>part def C1 { port serverI1:I1; port clientI3:I3; }  (one part def per component)</a:t>
                      </a:r>
                    </a:p>
                  </a:txBody>
                  <a:tcPr marL="54864" marR="54864" marT="18288" marB="18288" anchor="ctr">
                    <a:solidFill>
                      <a:srgbClr val="F1F4F7"/>
                    </a:solidFill>
                  </a:tcPr>
                </a:tc>
                <a:extLst>
                  <a:ext uri="{0D108BD9-81ED-4DB2-BD59-A6C34878D82A}">
                    <a16:rowId xmlns:a16="http://schemas.microsoft.com/office/drawing/2014/main" val="10002"/>
                  </a:ext>
                </a:extLst>
              </a:tr>
              <a:tr h="914400">
                <a:tc>
                  <a:txBody>
                    <a:bodyPr/>
                    <a:lstStyle/>
                    <a:p>
                      <a:pPr algn="l"/>
                      <a:r>
                        <a:t>Generated connect statements</a:t>
                      </a:r>
                    </a:p>
                    <a:p>
                      <a:r>
                        <a:t>(output .sysml file)</a:t>
                      </a:r>
                    </a:p>
                  </a:txBody>
                  <a:tcPr marL="54864" marR="54864" marT="18288" marB="18288" anchor="ctr">
                    <a:solidFill>
                      <a:srgbClr val="FFFFFF"/>
                    </a:solidFill>
                  </a:tcPr>
                </a:tc>
                <a:tc>
                  <a:txBody>
                    <a:bodyPr/>
                    <a:lstStyle/>
                    <a:p>
                      <a:pPr algn="ctr"/>
                      <a:r>
                        <a:t>part def System {</a:t>
                      </a:r>
                    </a:p>
                    <a:p>
                      <a:r>
                        <a:t>  part c1:C1; part c2:C2; part c3:C3;</a:t>
                      </a:r>
                    </a:p>
                    <a:p>
                      <a:r>
                        <a:t>  connect c1.serverI1 to c2.clientI1;</a:t>
                      </a:r>
                    </a:p>
                    <a:p>
                      <a:r>
                        <a:t>  connect c2.serverI2 to c3.clientI2;</a:t>
                      </a:r>
                    </a:p>
                    <a:p>
                      <a:r>
                        <a:t>  connect c3.serverI3 to c1.clientI3; }</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9" name="TextBox 8"/>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SKILL-BASED SOLUTION</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Skill Mechanics: Sequence Extraction → SysML/Mermaid</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13</a:t>
            </a:r>
          </a:p>
        </p:txBody>
      </p:sp>
      <p:graphicFrame>
        <p:nvGraphicFramePr>
          <p:cNvPr id="7" name="Table 6"/>
          <p:cNvGraphicFramePr>
            <a:graphicFrameLocks noGrp="1"/>
          </p:cNvGraphicFramePr>
          <p:nvPr/>
        </p:nvGraphicFramePr>
        <p:xfrm>
          <a:off x="502920" y="1417320"/>
          <a:ext cx="11155679" cy="4572000"/>
        </p:xfrm>
        <a:graphic>
          <a:graphicData uri="http://schemas.openxmlformats.org/drawingml/2006/table">
            <a:tbl>
              <a:tblPr>
                <a:tableStyleId>{5C22544A-7EE6-4342-B048-85BDC9FD1C3A}</a:tableStyleId>
              </a:tblPr>
              <a:tblGrid>
                <a:gridCol w="4276343">
                  <a:extLst>
                    <a:ext uri="{9D8B030D-6E8A-4147-A177-3AD203B41FA5}">
                      <a16:colId xmlns:a16="http://schemas.microsoft.com/office/drawing/2014/main" val="20000"/>
                    </a:ext>
                  </a:extLst>
                </a:gridCol>
                <a:gridCol w="6879336">
                  <a:extLst>
                    <a:ext uri="{9D8B030D-6E8A-4147-A177-3AD203B41FA5}">
                      <a16:colId xmlns:a16="http://schemas.microsoft.com/office/drawing/2014/main" val="20001"/>
                    </a:ext>
                  </a:extLst>
                </a:gridCol>
              </a:tblGrid>
              <a:tr h="914400">
                <a:tc>
                  <a:txBody>
                    <a:bodyPr/>
                    <a:lstStyle/>
                    <a:p>
                      <a:pPr algn="l"/>
                      <a:r>
                        <a:rPr b="1"/>
                        <a:t>Aspect</a:t>
                      </a:r>
                    </a:p>
                  </a:txBody>
                  <a:tcPr marL="54864" marR="54864" marT="18288" marB="18288" anchor="ctr">
                    <a:solidFill>
                      <a:srgbClr val="0B2B45"/>
                    </a:solidFill>
                  </a:tcPr>
                </a:tc>
                <a:tc>
                  <a:txBody>
                    <a:bodyPr/>
                    <a:lstStyle/>
                    <a:p>
                      <a:pPr algn="ctr"/>
                      <a:r>
                        <a:rPr b="1"/>
                        <a:t>Detail</a:t>
                      </a:r>
                    </a:p>
                  </a:txBody>
                  <a:tcPr marL="54864" marR="54864" marT="18288" marB="18288" anchor="ctr">
                    <a:solidFill>
                      <a:srgbClr val="0B2B45"/>
                    </a:solidFill>
                  </a:tcPr>
                </a:tc>
                <a:extLst>
                  <a:ext uri="{0D108BD9-81ED-4DB2-BD59-A6C34878D82A}">
                    <a16:rowId xmlns:a16="http://schemas.microsoft.com/office/drawing/2014/main" val="10000"/>
                  </a:ext>
                </a:extLst>
              </a:tr>
              <a:tr h="914400">
                <a:tc>
                  <a:txBody>
                    <a:bodyPr/>
                    <a:lstStyle/>
                    <a:p>
                      <a:pPr algn="l"/>
                      <a:r>
                        <a:t>CSV schema</a:t>
                      </a:r>
                    </a:p>
                    <a:p>
                      <a:r>
                        <a:t>(get-sequence-dependency-table)</a:t>
                      </a:r>
                    </a:p>
                  </a:txBody>
                  <a:tcPr marL="54864" marR="54864" marT="18288" marB="18288" anchor="ctr">
                    <a:solidFill>
                      <a:srgbClr val="FFFFFF"/>
                    </a:solidFill>
                  </a:tcPr>
                </a:tc>
                <a:tc>
                  <a:txBody>
                    <a:bodyPr/>
                    <a:lstStyle/>
                    <a:p>
                      <a:pPr algn="ctr"/>
                      <a:r>
                        <a:t>Sequence, EventName, ClientComponent, ClientFunction, ServerComponent, ServerFunction, RelationshipType, EventTimestamp</a:t>
                      </a:r>
                    </a:p>
                  </a:txBody>
                  <a:tcPr marL="54864" marR="54864" marT="18288" marB="18288" anchor="ctr">
                    <a:solidFill>
                      <a:srgbClr val="FFFFFF"/>
                    </a:solidFill>
                  </a:tcPr>
                </a:tc>
                <a:extLst>
                  <a:ext uri="{0D108BD9-81ED-4DB2-BD59-A6C34878D82A}">
                    <a16:rowId xmlns:a16="http://schemas.microsoft.com/office/drawing/2014/main" val="10001"/>
                  </a:ext>
                </a:extLst>
              </a:tr>
              <a:tr h="914400">
                <a:tc>
                  <a:txBody>
                    <a:bodyPr/>
                    <a:lstStyle/>
                    <a:p>
                      <a:pPr algn="l"/>
                      <a:r>
                        <a:t>Direction rule</a:t>
                      </a:r>
                    </a:p>
                  </a:txBody>
                  <a:tcPr marL="54864" marR="54864" marT="18288" marB="18288" anchor="ctr">
                    <a:solidFill>
                      <a:srgbClr val="F1F4F7"/>
                    </a:solidFill>
                  </a:tcPr>
                </a:tc>
                <a:tc>
                  <a:txBody>
                    <a:bodyPr/>
                    <a:lstStyle/>
                    <a:p>
                      <a:pPr algn="ctr"/>
                      <a:r>
                        <a:t>ClientComponent = sender, ServerComponent = receiver. If RelationshipType = Reply, direction reverses (server replies to client).</a:t>
                      </a:r>
                    </a:p>
                  </a:txBody>
                  <a:tcPr marL="54864" marR="54864" marT="18288" marB="18288" anchor="ctr">
                    <a:solidFill>
                      <a:srgbClr val="F1F4F7"/>
                    </a:solidFill>
                  </a:tcPr>
                </a:tc>
                <a:extLst>
                  <a:ext uri="{0D108BD9-81ED-4DB2-BD59-A6C34878D82A}">
                    <a16:rowId xmlns:a16="http://schemas.microsoft.com/office/drawing/2014/main" val="10002"/>
                  </a:ext>
                </a:extLst>
              </a:tr>
              <a:tr h="914400">
                <a:tc>
                  <a:txBody>
                    <a:bodyPr/>
                    <a:lstStyle/>
                    <a:p>
                      <a:pPr algn="l"/>
                      <a:r>
                        <a:t>Arrow mapping (Mermaid)</a:t>
                      </a:r>
                    </a:p>
                  </a:txBody>
                  <a:tcPr marL="54864" marR="54864" marT="18288" marB="18288" anchor="ctr">
                    <a:solidFill>
                      <a:srgbClr val="FFFFFF"/>
                    </a:solidFill>
                  </a:tcPr>
                </a:tc>
                <a:tc>
                  <a:txBody>
                    <a:bodyPr/>
                    <a:lstStyle/>
                    <a:p>
                      <a:pPr algn="ctr"/>
                      <a:r>
                        <a:t>Command → -&gt;&gt;  (solid, filled)  ·  Reply → --&gt;&gt;  (dashed, filled)  ·  Notification → -)  (solid, open)</a:t>
                      </a:r>
                    </a:p>
                  </a:txBody>
                  <a:tcPr marL="54864" marR="54864" marT="18288" marB="18288" anchor="ctr">
                    <a:solidFill>
                      <a:srgbClr val="FFFFFF"/>
                    </a:solidFill>
                  </a:tcPr>
                </a:tc>
                <a:extLst>
                  <a:ext uri="{0D108BD9-81ED-4DB2-BD59-A6C34878D82A}">
                    <a16:rowId xmlns:a16="http://schemas.microsoft.com/office/drawing/2014/main" val="10003"/>
                  </a:ext>
                </a:extLst>
              </a:tr>
              <a:tr h="914400">
                <a:tc>
                  <a:txBody>
                    <a:bodyPr/>
                    <a:lstStyle/>
                    <a:p>
                      <a:pPr algn="l"/>
                      <a:r>
                        <a:t>Label rule</a:t>
                      </a:r>
                    </a:p>
                  </a:txBody>
                  <a:tcPr marL="54864" marR="54864" marT="18288" marB="18288" anchor="ctr">
                    <a:solidFill>
                      <a:srgbClr val="F1F4F7"/>
                    </a:solidFill>
                  </a:tcPr>
                </a:tc>
                <a:tc>
                  <a:txBody>
                    <a:bodyPr/>
                    <a:lstStyle/>
                    <a:p>
                      <a:pPr algn="ctr"/>
                      <a:r>
                        <a:t>EventName is the arrow label, truncated to 40 characters on arrows only -- Note-box content is never truncated.</a:t>
                      </a:r>
                    </a:p>
                  </a:txBody>
                  <a:tcPr marL="54864" marR="54864" marT="18288" marB="18288" anchor="ctr">
                    <a:solidFill>
                      <a:srgbClr val="F1F4F7"/>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9" name="TextBox 8"/>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EXPERIMENTS</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Which Experiment Answers Which Question</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14</a:t>
            </a:r>
          </a:p>
        </p:txBody>
      </p:sp>
      <p:graphicFrame>
        <p:nvGraphicFramePr>
          <p:cNvPr id="8" name="Table 7"/>
          <p:cNvGraphicFramePr>
            <a:graphicFrameLocks noGrp="1"/>
          </p:cNvGraphicFramePr>
          <p:nvPr>
            <p:extLst>
              <p:ext uri="{D42A27DB-BD31-4B8C-83A1-F6EECF244321}">
                <p14:modId xmlns:p14="http://schemas.microsoft.com/office/powerpoint/2010/main" val="3433538956"/>
              </p:ext>
            </p:extLst>
          </p:nvPr>
        </p:nvGraphicFramePr>
        <p:xfrm>
          <a:off x="502920" y="1417320"/>
          <a:ext cx="7879080" cy="4727448"/>
        </p:xfrm>
        <a:graphic>
          <a:graphicData uri="http://schemas.openxmlformats.org/drawingml/2006/table">
            <a:tbl>
              <a:tblPr>
                <a:tableStyleId>{5C22544A-7EE6-4342-B048-85BDC9FD1C3A}</a:tableStyleId>
              </a:tblPr>
              <a:tblGrid>
                <a:gridCol w="1199270">
                  <a:extLst>
                    <a:ext uri="{9D8B030D-6E8A-4147-A177-3AD203B41FA5}">
                      <a16:colId xmlns:a16="http://schemas.microsoft.com/office/drawing/2014/main" val="20000"/>
                    </a:ext>
                  </a:extLst>
                </a:gridCol>
                <a:gridCol w="1526344">
                  <a:extLst>
                    <a:ext uri="{9D8B030D-6E8A-4147-A177-3AD203B41FA5}">
                      <a16:colId xmlns:a16="http://schemas.microsoft.com/office/drawing/2014/main" val="20001"/>
                    </a:ext>
                  </a:extLst>
                </a:gridCol>
                <a:gridCol w="5153466">
                  <a:extLst>
                    <a:ext uri="{9D8B030D-6E8A-4147-A177-3AD203B41FA5}">
                      <a16:colId xmlns:a16="http://schemas.microsoft.com/office/drawing/2014/main" val="20002"/>
                    </a:ext>
                  </a:extLst>
                </a:gridCol>
              </a:tblGrid>
              <a:tr h="502920">
                <a:tc>
                  <a:txBody>
                    <a:bodyPr/>
                    <a:lstStyle/>
                    <a:p>
                      <a:pPr algn="l"/>
                      <a:r>
                        <a:rPr b="1"/>
                        <a:t>Experiment</a:t>
                      </a:r>
                    </a:p>
                  </a:txBody>
                  <a:tcPr marL="54864" marR="54864" marT="18288" marB="18288" anchor="ctr">
                    <a:solidFill>
                      <a:srgbClr val="0B2B45"/>
                    </a:solidFill>
                  </a:tcPr>
                </a:tc>
                <a:tc>
                  <a:txBody>
                    <a:bodyPr/>
                    <a:lstStyle/>
                    <a:p>
                      <a:pPr algn="ctr"/>
                      <a:r>
                        <a:rPr b="1"/>
                        <a:t>Answers</a:t>
                      </a:r>
                    </a:p>
                  </a:txBody>
                  <a:tcPr marL="54864" marR="54864" marT="18288" marB="18288" anchor="ctr">
                    <a:solidFill>
                      <a:srgbClr val="0B2B45"/>
                    </a:solidFill>
                  </a:tcPr>
                </a:tc>
                <a:tc>
                  <a:txBody>
                    <a:bodyPr/>
                    <a:lstStyle/>
                    <a:p>
                      <a:pPr algn="ctr"/>
                      <a:r>
                        <a:rPr b="1"/>
                        <a:t>Headline Result</a:t>
                      </a:r>
                    </a:p>
                  </a:txBody>
                  <a:tcPr marL="54864" marR="54864" marT="18288" marB="18288" anchor="ctr">
                    <a:solidFill>
                      <a:srgbClr val="0B2B45"/>
                    </a:solidFill>
                  </a:tcPr>
                </a:tc>
                <a:extLst>
                  <a:ext uri="{0D108BD9-81ED-4DB2-BD59-A6C34878D82A}">
                    <a16:rowId xmlns:a16="http://schemas.microsoft.com/office/drawing/2014/main" val="10000"/>
                  </a:ext>
                </a:extLst>
              </a:tr>
              <a:tr h="502920">
                <a:tc>
                  <a:txBody>
                    <a:bodyPr/>
                    <a:lstStyle/>
                    <a:p>
                      <a:pPr algn="l"/>
                      <a:r>
                        <a:t>H1 — 5 conditions (C1–C5) × 4 scenarios</a:t>
                      </a:r>
                    </a:p>
                  </a:txBody>
                  <a:tcPr marL="54864" marR="54864" marT="18288" marB="18288" anchor="ctr">
                    <a:solidFill>
                      <a:srgbClr val="FFFFFF"/>
                    </a:solidFill>
                  </a:tcPr>
                </a:tc>
                <a:tc>
                  <a:txBody>
                    <a:bodyPr/>
                    <a:lstStyle/>
                    <a:p>
                      <a:pPr algn="ctr"/>
                      <a:r>
                        <a:t>RQ1: does combining static + dynamic evidence help?</a:t>
                      </a:r>
                    </a:p>
                  </a:txBody>
                  <a:tcPr marL="54864" marR="54864" marT="18288" marB="18288" anchor="ctr">
                    <a:solidFill>
                      <a:srgbClr val="FFFFFF"/>
                    </a:solidFill>
                  </a:tcPr>
                </a:tc>
                <a:tc>
                  <a:txBody>
                    <a:bodyPr/>
                    <a:lstStyle/>
                    <a:p>
                      <a:pPr algn="ctr"/>
                      <a:r>
                        <a:rPr dirty="0"/>
                        <a:t>Full pipeline (C5) macro-F1 = 0.964; combining is strictly additive only on the constructed scenario S4</a:t>
                      </a:r>
                    </a:p>
                  </a:txBody>
                  <a:tcPr marL="54864" marR="54864" marT="18288" marB="18288" anchor="ctr">
                    <a:solidFill>
                      <a:srgbClr val="FFFFFF"/>
                    </a:solidFill>
                  </a:tcPr>
                </a:tc>
                <a:extLst>
                  <a:ext uri="{0D108BD9-81ED-4DB2-BD59-A6C34878D82A}">
                    <a16:rowId xmlns:a16="http://schemas.microsoft.com/office/drawing/2014/main" val="10001"/>
                  </a:ext>
                </a:extLst>
              </a:tr>
              <a:tr h="502920">
                <a:tc>
                  <a:txBody>
                    <a:bodyPr/>
                    <a:lstStyle/>
                    <a:p>
                      <a:pPr algn="l"/>
                      <a:r>
                        <a:t>H2 — full vs. guided instrumentation × 3 scenarios</a:t>
                      </a:r>
                    </a:p>
                  </a:txBody>
                  <a:tcPr marL="54864" marR="54864" marT="18288" marB="18288" anchor="ctr">
                    <a:solidFill>
                      <a:srgbClr val="F1F4F7"/>
                    </a:solidFill>
                  </a:tcPr>
                </a:tc>
                <a:tc>
                  <a:txBody>
                    <a:bodyPr/>
                    <a:lstStyle/>
                    <a:p>
                      <a:pPr algn="ctr"/>
                      <a:r>
                        <a:t>RQ2: does scenario-scoped querying focus the output?</a:t>
                      </a:r>
                    </a:p>
                  </a:txBody>
                  <a:tcPr marL="54864" marR="54864" marT="18288" marB="18288" anchor="ctr">
                    <a:solidFill>
                      <a:srgbClr val="F1F4F7"/>
                    </a:solidFill>
                  </a:tcPr>
                </a:tc>
                <a:tc>
                  <a:txBody>
                    <a:bodyPr/>
                    <a:lstStyle/>
                    <a:p>
                      <a:pPr algn="ctr"/>
                      <a:r>
                        <a:t>Guided cuts nodes 50%, edges 70%, noise 100%, zero coverage loss; 6-rater panel prefers guided in 47/54 comparisons</a:t>
                      </a:r>
                    </a:p>
                  </a:txBody>
                  <a:tcPr marL="54864" marR="54864" marT="18288" marB="18288" anchor="ctr">
                    <a:solidFill>
                      <a:srgbClr val="F1F4F7"/>
                    </a:solidFill>
                  </a:tcPr>
                </a:tc>
                <a:extLst>
                  <a:ext uri="{0D108BD9-81ED-4DB2-BD59-A6C34878D82A}">
                    <a16:rowId xmlns:a16="http://schemas.microsoft.com/office/drawing/2014/main" val="10002"/>
                  </a:ext>
                </a:extLst>
              </a:tr>
              <a:tr h="502920">
                <a:tc>
                  <a:txBody>
                    <a:bodyPr/>
                    <a:lstStyle/>
                    <a:p>
                      <a:pPr algn="l"/>
                      <a:r>
                        <a:t>H3 — 5-condition comprehension task × 4 scenarios</a:t>
                      </a:r>
                    </a:p>
                  </a:txBody>
                  <a:tcPr marL="54864" marR="54864" marT="18288" marB="18288" anchor="ctr">
                    <a:solidFill>
                      <a:srgbClr val="FFFFFF"/>
                    </a:solidFill>
                  </a:tcPr>
                </a:tc>
                <a:tc>
                  <a:txBody>
                    <a:bodyPr/>
                    <a:lstStyle/>
                    <a:p>
                      <a:pPr algn="ctr"/>
                      <a:r>
                        <a:t>Downstream: is the reconstructed diagram useful?</a:t>
                      </a:r>
                    </a:p>
                  </a:txBody>
                  <a:tcPr marL="54864" marR="54864" marT="18288" marB="18288" anchor="ctr">
                    <a:solidFill>
                      <a:srgbClr val="FFFFFF"/>
                    </a:solidFill>
                  </a:tcPr>
                </a:tc>
                <a:tc>
                  <a:txBody>
                    <a:bodyPr/>
                    <a:lstStyle/>
                    <a:p>
                      <a:pPr algn="ctr"/>
                      <a:r>
                        <a:rPr dirty="0"/>
                        <a:t>Diagram-only matches the full </a:t>
                      </a:r>
                      <a:r>
                        <a:rPr dirty="0" err="1"/>
                        <a:t>source+trace+diagram</a:t>
                      </a:r>
                      <a:r>
                        <a:rPr dirty="0"/>
                        <a:t> condition exactly -- perfect recall on every scenario</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2" name="TextBox 11"/>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3" name="TextBox 12"/>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EVALUATION TARGET</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Case Study: CPSCore</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15</a:t>
            </a:r>
          </a:p>
        </p:txBody>
      </p:sp>
      <p:pic>
        <p:nvPicPr>
          <p:cNvPr id="7" name="Picture 6" descr="module-dependency.png"/>
          <p:cNvPicPr>
            <a:picLocks noChangeAspect="1"/>
          </p:cNvPicPr>
          <p:nvPr/>
        </p:nvPicPr>
        <p:blipFill>
          <a:blip r:embed="rId3"/>
          <a:stretch>
            <a:fillRect/>
          </a:stretch>
        </p:blipFill>
        <p:spPr>
          <a:xfrm>
            <a:off x="6273307" y="1280160"/>
            <a:ext cx="5101306" cy="4754880"/>
          </a:xfrm>
          <a:prstGeom prst="rect">
            <a:avLst/>
          </a:prstGeom>
        </p:spPr>
      </p:pic>
      <p:sp>
        <p:nvSpPr>
          <p:cNvPr id="8" name="TextBox 7"/>
          <p:cNvSpPr txBox="1"/>
          <p:nvPr/>
        </p:nvSpPr>
        <p:spPr>
          <a:xfrm>
            <a:off x="502920" y="1280160"/>
            <a:ext cx="5212080" cy="2011680"/>
          </a:xfrm>
          <a:prstGeom prst="rect">
            <a:avLst/>
          </a:prstGeom>
          <a:noFill/>
        </p:spPr>
        <p:txBody>
          <a:bodyPr wrap="square" lIns="45720" tIns="18288" rIns="45720" bIns="18288" anchor="t">
            <a:spAutoFit/>
          </a:bodyPr>
          <a:lstStyle/>
          <a:p>
            <a:pPr algn="l">
              <a:spcAft>
                <a:spcPts val="800"/>
              </a:spcAft>
            </a:pPr>
            <a:r>
              <a:rPr sz="1500" b="1" i="0">
                <a:solidFill>
                  <a:srgbClr val="0B2B45"/>
                </a:solidFill>
                <a:latin typeface="Calibri"/>
              </a:rPr>
              <a:t>Open-source event-driven C++ framework for cyber-physical systems.</a:t>
            </a:r>
          </a:p>
          <a:p>
            <a:pPr algn="l">
              <a:spcAft>
                <a:spcPts val="600"/>
              </a:spcAft>
            </a:pPr>
            <a:r>
              <a:rPr sz="1400" b="0" i="0">
                <a:solidFill>
                  <a:srgbClr val="222A33"/>
                </a:solidFill>
                <a:latin typeface="Calibri"/>
              </a:rPr>
              <a:t>•  ~13,000 LOC · 154 files · 5 modules: Aggregation, Configuration, Synchronization, Logging, Utilities.</a:t>
            </a:r>
          </a:p>
          <a:p>
            <a:pPr algn="l"/>
            <a:r>
              <a:rPr sz="1400" b="0" i="0">
                <a:solidFill>
                  <a:srgbClr val="222A33"/>
                </a:solidFill>
                <a:latin typeface="Calibri"/>
              </a:rPr>
              <a:t>•  Event-driven pub/sub via boost::signals2 and Redis.</a:t>
            </a:r>
          </a:p>
        </p:txBody>
      </p:sp>
      <p:sp>
        <p:nvSpPr>
          <p:cNvPr id="9" name="Rounded Rectangle 8"/>
          <p:cNvSpPr/>
          <p:nvPr/>
        </p:nvSpPr>
        <p:spPr>
          <a:xfrm>
            <a:off x="502920" y="3429000"/>
            <a:ext cx="5212080" cy="2423160"/>
          </a:xfrm>
          <a:prstGeom prst="roundRect">
            <a:avLst>
              <a:gd name="adj" fmla="val 4000"/>
            </a:avLst>
          </a:prstGeom>
          <a:solidFill>
            <a:srgbClr val="FB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3566160"/>
            <a:ext cx="4754880" cy="2194560"/>
          </a:xfrm>
          <a:prstGeom prst="rect">
            <a:avLst/>
          </a:prstGeom>
          <a:noFill/>
        </p:spPr>
        <p:txBody>
          <a:bodyPr wrap="square" lIns="45720" tIns="18288" rIns="45720" bIns="18288" anchor="t">
            <a:spAutoFit/>
          </a:bodyPr>
          <a:lstStyle/>
          <a:p>
            <a:pPr algn="l">
              <a:spcAft>
                <a:spcPts val="600"/>
              </a:spcAft>
            </a:pPr>
            <a:r>
              <a:rPr sz="1200" b="1" i="0">
                <a:solidFill>
                  <a:srgbClr val="E18A1B"/>
                </a:solidFill>
                <a:latin typeface="Calibri"/>
              </a:rPr>
              <a:t>KEY STRUCTURAL PROPERTY</a:t>
            </a:r>
          </a:p>
          <a:p>
            <a:pPr algn="l">
              <a:spcAft>
                <a:spcPts val="600"/>
              </a:spcAft>
            </a:pPr>
            <a:r>
              <a:rPr sz="1350" b="0" i="0">
                <a:solidFill>
                  <a:srgbClr val="222A33"/>
                </a:solidFill>
                <a:latin typeface="Calibri"/>
              </a:rPr>
              <a:t>•  ~470 template occurrences (static polymorphism); only 32 virtual signatures, all within one module or at config boundaries.</a:t>
            </a:r>
          </a:p>
          <a:p>
            <a:pPr algn="l">
              <a:spcAft>
                <a:spcPts val="600"/>
              </a:spcAft>
            </a:pPr>
            <a:r>
              <a:rPr sz="1350" b="0" i="0">
                <a:solidFill>
                  <a:srgbClr val="222A33"/>
                </a:solidFill>
                <a:latin typeface="Calibri"/>
              </a:rPr>
              <a:t>•  No cross-module call goes through a vtable → static graph is reachability-complete w.r.t. the trace on found-in-the-wild scenarios.</a:t>
            </a:r>
          </a:p>
          <a:p>
            <a:pPr algn="l"/>
            <a:r>
              <a:rPr sz="1350" b="1" i="0">
                <a:solidFill>
                  <a:srgbClr val="0B2B45"/>
                </a:solidFill>
                <a:latin typeface="Calibri"/>
              </a:rPr>
              <a:t>•  This is exactly why we constructed scenario S4.</a:t>
            </a:r>
          </a:p>
        </p:txBody>
      </p:sp>
      <p:sp>
        <p:nvSpPr>
          <p:cNvPr id="11" name="TextBox 10"/>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2" name="TextBox 11"/>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EVALUATION</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Four Evaluation Scenarios</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16</a:t>
            </a:r>
          </a:p>
        </p:txBody>
      </p:sp>
      <p:pic>
        <p:nvPicPr>
          <p:cNvPr id="7" name="Picture 6" descr="s4-structural.png"/>
          <p:cNvPicPr>
            <a:picLocks noChangeAspect="1"/>
          </p:cNvPicPr>
          <p:nvPr/>
        </p:nvPicPr>
        <p:blipFill>
          <a:blip r:embed="rId3"/>
          <a:stretch>
            <a:fillRect/>
          </a:stretch>
        </p:blipFill>
        <p:spPr>
          <a:xfrm>
            <a:off x="6492240" y="1937942"/>
            <a:ext cx="5212080" cy="1976276"/>
          </a:xfrm>
          <a:prstGeom prst="rect">
            <a:avLst/>
          </a:prstGeom>
        </p:spPr>
      </p:pic>
      <p:graphicFrame>
        <p:nvGraphicFramePr>
          <p:cNvPr id="8" name="Table 7"/>
          <p:cNvGraphicFramePr>
            <a:graphicFrameLocks noGrp="1"/>
          </p:cNvGraphicFramePr>
          <p:nvPr/>
        </p:nvGraphicFramePr>
        <p:xfrm>
          <a:off x="502920" y="1417320"/>
          <a:ext cx="5669278" cy="2514600"/>
        </p:xfrm>
        <a:graphic>
          <a:graphicData uri="http://schemas.openxmlformats.org/drawingml/2006/table">
            <a:tbl>
              <a:tblPr>
                <a:tableStyleId>{5C22544A-7EE6-4342-B048-85BDC9FD1C3A}</a:tableStyleId>
              </a:tblPr>
              <a:tblGrid>
                <a:gridCol w="1199270">
                  <a:extLst>
                    <a:ext uri="{9D8B030D-6E8A-4147-A177-3AD203B41FA5}">
                      <a16:colId xmlns:a16="http://schemas.microsoft.com/office/drawing/2014/main" val="20000"/>
                    </a:ext>
                  </a:extLst>
                </a:gridCol>
                <a:gridCol w="1526344">
                  <a:extLst>
                    <a:ext uri="{9D8B030D-6E8A-4147-A177-3AD203B41FA5}">
                      <a16:colId xmlns:a16="http://schemas.microsoft.com/office/drawing/2014/main" val="20001"/>
                    </a:ext>
                  </a:extLst>
                </a:gridCol>
                <a:gridCol w="2943664">
                  <a:extLst>
                    <a:ext uri="{9D8B030D-6E8A-4147-A177-3AD203B41FA5}">
                      <a16:colId xmlns:a16="http://schemas.microsoft.com/office/drawing/2014/main" val="20002"/>
                    </a:ext>
                  </a:extLst>
                </a:gridCol>
              </a:tblGrid>
              <a:tr h="502920">
                <a:tc>
                  <a:txBody>
                    <a:bodyPr/>
                    <a:lstStyle/>
                    <a:p>
                      <a:pPr algn="l"/>
                      <a:r>
                        <a:rPr sz="1300" b="1">
                          <a:solidFill>
                            <a:srgbClr val="FFFFFF"/>
                          </a:solidFill>
                          <a:latin typeface="Calibri"/>
                        </a:rPr>
                        <a:t>Scenario</a:t>
                      </a:r>
                    </a:p>
                  </a:txBody>
                  <a:tcPr marL="54864" marR="54864" marT="18288" marB="18288" anchor="ctr">
                    <a:solidFill>
                      <a:srgbClr val="0B2B45"/>
                    </a:solidFill>
                  </a:tcPr>
                </a:tc>
                <a:tc>
                  <a:txBody>
                    <a:bodyPr/>
                    <a:lstStyle/>
                    <a:p>
                      <a:pPr algn="ctr"/>
                      <a:r>
                        <a:rPr sz="1300" b="1">
                          <a:solidFill>
                            <a:srgbClr val="FFFFFF"/>
                          </a:solidFill>
                          <a:latin typeface="Calibri"/>
                        </a:rPr>
                        <a:t>Nature</a:t>
                      </a:r>
                    </a:p>
                  </a:txBody>
                  <a:tcPr marL="54864" marR="54864" marT="18288" marB="18288" anchor="ctr">
                    <a:solidFill>
                      <a:srgbClr val="0B2B45"/>
                    </a:solidFill>
                  </a:tcPr>
                </a:tc>
                <a:tc>
                  <a:txBody>
                    <a:bodyPr/>
                    <a:lstStyle/>
                    <a:p>
                      <a:pPr algn="ctr"/>
                      <a:r>
                        <a:rPr sz="1300" b="1">
                          <a:solidFill>
                            <a:srgbClr val="FFFFFF"/>
                          </a:solidFill>
                          <a:latin typeface="Calibri"/>
                        </a:rPr>
                        <a:t>What it exercises</a:t>
                      </a:r>
                    </a:p>
                  </a:txBody>
                  <a:tcPr marL="54864" marR="54864" marT="18288" marB="18288" anchor="ctr">
                    <a:solidFill>
                      <a:srgbClr val="0B2B45"/>
                    </a:solidFill>
                  </a:tcPr>
                </a:tc>
                <a:extLst>
                  <a:ext uri="{0D108BD9-81ED-4DB2-BD59-A6C34878D82A}">
                    <a16:rowId xmlns:a16="http://schemas.microsoft.com/office/drawing/2014/main" val="10000"/>
                  </a:ext>
                </a:extLst>
              </a:tr>
              <a:tr h="502920">
                <a:tc>
                  <a:txBody>
                    <a:bodyPr/>
                    <a:lstStyle/>
                    <a:p>
                      <a:pPr algn="l"/>
                      <a:r>
                        <a:rPr sz="1300" b="0">
                          <a:solidFill>
                            <a:srgbClr val="222A33"/>
                          </a:solidFill>
                          <a:latin typeface="Calibri"/>
                        </a:rPr>
                        <a:t>S1</a:t>
                      </a:r>
                    </a:p>
                  </a:txBody>
                  <a:tcPr marL="54864" marR="54864" marT="18288" marB="18288" anchor="ctr">
                    <a:solidFill>
                      <a:srgbClr val="FFFFFF"/>
                    </a:solidFill>
                  </a:tcPr>
                </a:tc>
                <a:tc>
                  <a:txBody>
                    <a:bodyPr/>
                    <a:lstStyle/>
                    <a:p>
                      <a:pPr algn="ctr"/>
                      <a:r>
                        <a:rPr sz="1300" b="0">
                          <a:solidFill>
                            <a:srgbClr val="222A33"/>
                          </a:solidFill>
                          <a:latin typeface="Calibri"/>
                        </a:rPr>
                        <a:t>Happy-path</a:t>
                      </a:r>
                    </a:p>
                  </a:txBody>
                  <a:tcPr marL="54864" marR="54864" marT="18288" marB="18288" anchor="ctr">
                    <a:solidFill>
                      <a:srgbClr val="FFFFFF"/>
                    </a:solidFill>
                  </a:tcPr>
                </a:tc>
                <a:tc>
                  <a:txBody>
                    <a:bodyPr/>
                    <a:lstStyle/>
                    <a:p>
                      <a:pPr algn="ctr"/>
                      <a:r>
                        <a:rPr sz="1300" b="0">
                          <a:solidFill>
                            <a:srgbClr val="222A33"/>
                          </a:solidFill>
                          <a:latin typeface="Calibri"/>
                        </a:rPr>
                        <a:t>Aggregation chain</a:t>
                      </a:r>
                    </a:p>
                  </a:txBody>
                  <a:tcPr marL="54864" marR="54864" marT="18288" marB="18288" anchor="ctr">
                    <a:solidFill>
                      <a:srgbClr val="FFFFFF"/>
                    </a:solidFill>
                  </a:tcPr>
                </a:tc>
                <a:extLst>
                  <a:ext uri="{0D108BD9-81ED-4DB2-BD59-A6C34878D82A}">
                    <a16:rowId xmlns:a16="http://schemas.microsoft.com/office/drawing/2014/main" val="10001"/>
                  </a:ext>
                </a:extLst>
              </a:tr>
              <a:tr h="502920">
                <a:tc>
                  <a:txBody>
                    <a:bodyPr/>
                    <a:lstStyle/>
                    <a:p>
                      <a:pPr algn="l"/>
                      <a:r>
                        <a:rPr sz="1300" b="0">
                          <a:solidFill>
                            <a:srgbClr val="222A33"/>
                          </a:solidFill>
                          <a:latin typeface="Calibri"/>
                        </a:rPr>
                        <a:t>S2</a:t>
                      </a:r>
                    </a:p>
                  </a:txBody>
                  <a:tcPr marL="54864" marR="54864" marT="18288" marB="18288" anchor="ctr">
                    <a:solidFill>
                      <a:srgbClr val="F1F4F7"/>
                    </a:solidFill>
                  </a:tcPr>
                </a:tc>
                <a:tc>
                  <a:txBody>
                    <a:bodyPr/>
                    <a:lstStyle/>
                    <a:p>
                      <a:pPr algn="ctr"/>
                      <a:r>
                        <a:rPr sz="1300" b="0">
                          <a:solidFill>
                            <a:srgbClr val="222A33"/>
                          </a:solidFill>
                          <a:latin typeface="Calibri"/>
                        </a:rPr>
                        <a:t>Happy-path</a:t>
                      </a:r>
                    </a:p>
                  </a:txBody>
                  <a:tcPr marL="54864" marR="54864" marT="18288" marB="18288" anchor="ctr">
                    <a:solidFill>
                      <a:srgbClr val="F1F4F7"/>
                    </a:solidFill>
                  </a:tcPr>
                </a:tc>
                <a:tc>
                  <a:txBody>
                    <a:bodyPr/>
                    <a:lstStyle/>
                    <a:p>
                      <a:pPr algn="ctr"/>
                      <a:r>
                        <a:rPr sz="1300" b="0">
                          <a:solidFill>
                            <a:srgbClr val="222A33"/>
                          </a:solidFill>
                          <a:latin typeface="Calibri"/>
                        </a:rPr>
                        <a:t>Config mapping</a:t>
                      </a:r>
                    </a:p>
                  </a:txBody>
                  <a:tcPr marL="54864" marR="54864" marT="18288" marB="18288" anchor="ctr">
                    <a:solidFill>
                      <a:srgbClr val="F1F4F7"/>
                    </a:solidFill>
                  </a:tcPr>
                </a:tc>
                <a:extLst>
                  <a:ext uri="{0D108BD9-81ED-4DB2-BD59-A6C34878D82A}">
                    <a16:rowId xmlns:a16="http://schemas.microsoft.com/office/drawing/2014/main" val="10002"/>
                  </a:ext>
                </a:extLst>
              </a:tr>
              <a:tr h="502920">
                <a:tc>
                  <a:txBody>
                    <a:bodyPr/>
                    <a:lstStyle/>
                    <a:p>
                      <a:pPr algn="l"/>
                      <a:r>
                        <a:rPr sz="1300" b="0">
                          <a:solidFill>
                            <a:srgbClr val="222A33"/>
                          </a:solidFill>
                          <a:latin typeface="Calibri"/>
                        </a:rPr>
                        <a:t>S3</a:t>
                      </a:r>
                    </a:p>
                  </a:txBody>
                  <a:tcPr marL="54864" marR="54864" marT="18288" marB="18288" anchor="ctr">
                    <a:solidFill>
                      <a:srgbClr val="FFFFFF"/>
                    </a:solidFill>
                  </a:tcPr>
                </a:tc>
                <a:tc>
                  <a:txBody>
                    <a:bodyPr/>
                    <a:lstStyle/>
                    <a:p>
                      <a:pPr algn="ctr"/>
                      <a:r>
                        <a:rPr sz="1300" b="0">
                          <a:solidFill>
                            <a:srgbClr val="222A33"/>
                          </a:solidFill>
                          <a:latin typeface="Calibri"/>
                        </a:rPr>
                        <a:t>Happy-path</a:t>
                      </a:r>
                    </a:p>
                  </a:txBody>
                  <a:tcPr marL="54864" marR="54864" marT="18288" marB="18288" anchor="ctr">
                    <a:solidFill>
                      <a:srgbClr val="FFFFFF"/>
                    </a:solidFill>
                  </a:tcPr>
                </a:tc>
                <a:tc>
                  <a:txBody>
                    <a:bodyPr/>
                    <a:lstStyle/>
                    <a:p>
                      <a:pPr algn="ctr"/>
                      <a:r>
                        <a:rPr sz="1300" b="0">
                          <a:solidFill>
                            <a:srgbClr val="222A33"/>
                          </a:solidFill>
                          <a:latin typeface="Calibri"/>
                        </a:rPr>
                        <a:t>Multi-component runner</a:t>
                      </a:r>
                    </a:p>
                  </a:txBody>
                  <a:tcPr marL="54864" marR="54864" marT="18288" marB="18288" anchor="ctr">
                    <a:solidFill>
                      <a:srgbClr val="FFFFFF"/>
                    </a:solidFill>
                  </a:tcPr>
                </a:tc>
                <a:extLst>
                  <a:ext uri="{0D108BD9-81ED-4DB2-BD59-A6C34878D82A}">
                    <a16:rowId xmlns:a16="http://schemas.microsoft.com/office/drawing/2014/main" val="10003"/>
                  </a:ext>
                </a:extLst>
              </a:tr>
              <a:tr h="502920">
                <a:tc>
                  <a:txBody>
                    <a:bodyPr/>
                    <a:lstStyle/>
                    <a:p>
                      <a:pPr algn="l"/>
                      <a:r>
                        <a:rPr sz="1300" b="1">
                          <a:solidFill>
                            <a:srgbClr val="222A33"/>
                          </a:solidFill>
                          <a:latin typeface="Calibri"/>
                        </a:rPr>
                        <a:t>S4</a:t>
                      </a:r>
                    </a:p>
                  </a:txBody>
                  <a:tcPr marL="54864" marR="54864" marT="18288" marB="18288" anchor="ctr">
                    <a:solidFill>
                      <a:srgbClr val="ECF6EE"/>
                    </a:solidFill>
                  </a:tcPr>
                </a:tc>
                <a:tc>
                  <a:txBody>
                    <a:bodyPr/>
                    <a:lstStyle/>
                    <a:p>
                      <a:pPr algn="ctr"/>
                      <a:r>
                        <a:rPr sz="1300" b="0">
                          <a:solidFill>
                            <a:srgbClr val="222A33"/>
                          </a:solidFill>
                          <a:latin typeface="Calibri"/>
                        </a:rPr>
                        <a:t>Constructed</a:t>
                      </a:r>
                    </a:p>
                  </a:txBody>
                  <a:tcPr marL="54864" marR="54864" marT="18288" marB="18288" anchor="ctr">
                    <a:solidFill>
                      <a:srgbClr val="ECF6EE"/>
                    </a:solidFill>
                  </a:tcPr>
                </a:tc>
                <a:tc>
                  <a:txBody>
                    <a:bodyPr/>
                    <a:lstStyle/>
                    <a:p>
                      <a:pPr algn="ctr"/>
                      <a:r>
                        <a:rPr sz="1300" b="0">
                          <a:solidFill>
                            <a:srgbClr val="222A33"/>
                          </a:solidFill>
                          <a:latin typeface="Calibri"/>
                        </a:rPr>
                        <a:t>pub/sub dual-gap fault path</a:t>
                      </a:r>
                    </a:p>
                  </a:txBody>
                  <a:tcPr marL="54864" marR="54864" marT="18288" marB="18288" anchor="ctr">
                    <a:solidFill>
                      <a:srgbClr val="ECF6EE"/>
                    </a:solidFill>
                  </a:tcPr>
                </a:tc>
                <a:extLst>
                  <a:ext uri="{0D108BD9-81ED-4DB2-BD59-A6C34878D82A}">
                    <a16:rowId xmlns:a16="http://schemas.microsoft.com/office/drawing/2014/main" val="10004"/>
                  </a:ext>
                </a:extLst>
              </a:tr>
            </a:tbl>
          </a:graphicData>
        </a:graphic>
      </p:graphicFrame>
      <p:sp>
        <p:nvSpPr>
          <p:cNvPr id="9" name="Rounded Rectangle 8"/>
          <p:cNvSpPr/>
          <p:nvPr/>
        </p:nvSpPr>
        <p:spPr>
          <a:xfrm>
            <a:off x="502920" y="4480560"/>
            <a:ext cx="5669280" cy="1417320"/>
          </a:xfrm>
          <a:prstGeom prst="roundRect">
            <a:avLst>
              <a:gd name="adj" fmla="val 4000"/>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4617720"/>
            <a:ext cx="5257800" cy="1234440"/>
          </a:xfrm>
          <a:prstGeom prst="rect">
            <a:avLst/>
          </a:prstGeom>
          <a:noFill/>
        </p:spPr>
        <p:txBody>
          <a:bodyPr wrap="square" lIns="45720" tIns="18288" rIns="45720" bIns="18288" anchor="t">
            <a:spAutoFit/>
          </a:bodyPr>
          <a:lstStyle/>
          <a:p>
            <a:pPr algn="l">
              <a:spcAft>
                <a:spcPts val="400"/>
              </a:spcAft>
            </a:pPr>
            <a:r>
              <a:rPr sz="1300" b="1" i="0">
                <a:solidFill>
                  <a:srgbClr val="E18A1B"/>
                </a:solidFill>
                <a:latin typeface="Calibri"/>
              </a:rPr>
              <a:t>S4 — the dual-gap scenario</a:t>
            </a:r>
          </a:p>
          <a:p>
            <a:pPr algn="l"/>
            <a:r>
              <a:rPr sz="1300" b="0" i="0">
                <a:solidFill>
                  <a:srgbClr val="FFFFFF"/>
                </a:solidFill>
                <a:latin typeface="Calibri"/>
              </a:rPr>
              <a:t>A boost::signals2 bridge where static sees stream but not onStageEvent (runtime connect()), and dynamic sees onStageEvent but not stream (a LogLevel::NONE no-op). Only the union recovers both.</a:t>
            </a:r>
          </a:p>
        </p:txBody>
      </p:sp>
      <p:sp>
        <p:nvSpPr>
          <p:cNvPr id="11" name="TextBox 10"/>
          <p:cNvSpPr txBox="1"/>
          <p:nvPr/>
        </p:nvSpPr>
        <p:spPr>
          <a:xfrm>
            <a:off x="6492240" y="4526280"/>
            <a:ext cx="5212080" cy="457200"/>
          </a:xfrm>
          <a:prstGeom prst="rect">
            <a:avLst/>
          </a:prstGeom>
          <a:noFill/>
        </p:spPr>
        <p:txBody>
          <a:bodyPr wrap="square" lIns="45720" tIns="18288" rIns="45720" bIns="18288" anchor="t">
            <a:spAutoFit/>
          </a:bodyPr>
          <a:lstStyle/>
          <a:p>
            <a:pPr algn="ctr"/>
            <a:r>
              <a:rPr sz="1100" b="0" i="1">
                <a:solidFill>
                  <a:srgbClr val="5A636E"/>
                </a:solidFill>
                <a:latin typeface="Calibri"/>
              </a:rPr>
              <a:t>S4 structural view — StageEventBridge ↔ StageEventListener</a:t>
            </a:r>
          </a:p>
        </p:txBody>
      </p:sp>
      <p:sp>
        <p:nvSpPr>
          <p:cNvPr id="12" name="TextBox 11"/>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3" name="TextBox 12"/>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EXPERIMENTAL SETUP · AI USAGE</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Where AI Was Used, and How</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17</a:t>
            </a:r>
          </a:p>
        </p:txBody>
      </p:sp>
      <p:sp>
        <p:nvSpPr>
          <p:cNvPr id="7" name="Rounded Rectangle 6"/>
          <p:cNvSpPr/>
          <p:nvPr/>
        </p:nvSpPr>
        <p:spPr>
          <a:xfrm>
            <a:off x="502920" y="1417320"/>
            <a:ext cx="5394960" cy="2148840"/>
          </a:xfrm>
          <a:prstGeom prst="roundRect">
            <a:avLst>
              <a:gd name="adj" fmla="val 4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554480"/>
            <a:ext cx="4937760" cy="365760"/>
          </a:xfrm>
          <a:prstGeom prst="rect">
            <a:avLst/>
          </a:prstGeom>
          <a:noFill/>
        </p:spPr>
        <p:txBody>
          <a:bodyPr wrap="square" lIns="45720" tIns="18288" rIns="45720" bIns="18288" anchor="t">
            <a:spAutoFit/>
          </a:bodyPr>
          <a:lstStyle/>
          <a:p>
            <a:pPr algn="l"/>
            <a:r>
              <a:rPr sz="1400" b="1" i="0">
                <a:solidFill>
                  <a:srgbClr val="1F6FB2"/>
                </a:solidFill>
                <a:latin typeface="Calibri"/>
              </a:rPr>
              <a:t>AI-INVOKED SKILLS (LLM, natural language)</a:t>
            </a:r>
          </a:p>
        </p:txBody>
      </p:sp>
      <p:sp>
        <p:nvSpPr>
          <p:cNvPr id="9" name="TextBox 8"/>
          <p:cNvSpPr txBox="1"/>
          <p:nvPr/>
        </p:nvSpPr>
        <p:spPr>
          <a:xfrm>
            <a:off x="731520" y="1965960"/>
            <a:ext cx="4937760" cy="1554480"/>
          </a:xfrm>
          <a:prstGeom prst="rect">
            <a:avLst/>
          </a:prstGeom>
          <a:noFill/>
        </p:spPr>
        <p:txBody>
          <a:bodyPr wrap="square" lIns="45720" tIns="18288" rIns="45720" bIns="18288" anchor="t">
            <a:spAutoFit/>
          </a:bodyPr>
          <a:lstStyle/>
          <a:p>
            <a:pPr algn="l">
              <a:spcAft>
                <a:spcPts val="500"/>
              </a:spcAft>
            </a:pPr>
            <a:r>
              <a:rPr sz="1400" b="0" i="0">
                <a:solidFill>
                  <a:srgbClr val="2E8B57"/>
                </a:solidFill>
                <a:latin typeface="Calibri"/>
              </a:rPr>
              <a:t>•  text-to-cypher, get-cypher, cypher-to-output — NL query ↔ Cypher</a:t>
            </a:r>
          </a:p>
          <a:p>
            <a:pPr algn="l">
              <a:spcAft>
                <a:spcPts val="500"/>
              </a:spcAft>
            </a:pPr>
            <a:r>
              <a:rPr sz="1400" b="0" i="0">
                <a:solidFill>
                  <a:srgbClr val="C0392B"/>
                </a:solidFill>
                <a:latin typeface="Calibri"/>
              </a:rPr>
              <a:t>•  draw-sysml-structural-model, draw-sysml-sequence-model — CSV → SysML v2</a:t>
            </a:r>
          </a:p>
          <a:p>
            <a:pPr algn="l"/>
            <a:r>
              <a:rPr sz="1400" b="0" i="0">
                <a:solidFill>
                  <a:srgbClr val="C0392B"/>
                </a:solidFill>
                <a:latin typeface="Calibri"/>
              </a:rPr>
              <a:t>•  draw-structural-mermaid, draw-sequential-mermaid-general — CSV → Mermaid</a:t>
            </a:r>
          </a:p>
          <a:p>
            <a:pPr algn="l">
              <a:spcAft>
                <a:spcPts val="500"/>
              </a:spcAft>
            </a:pPr>
            <a:r>
              <a:rPr sz="1400" b="0" i="0">
                <a:solidFill>
                  <a:srgbClr val="C0392B"/>
                </a:solidFill>
                <a:latin typeface="Calibri"/>
              </a:rPr>
              <a:t>•  Each follows a strict, deterministic rule-set written into the skill; the LLM applies the rules, it does not invent semantics.</a:t>
            </a:r>
          </a:p>
        </p:txBody>
      </p:sp>
      <p:sp>
        <p:nvSpPr>
          <p:cNvPr id="10" name="Rounded Rectangle 9"/>
          <p:cNvSpPr/>
          <p:nvPr/>
        </p:nvSpPr>
        <p:spPr>
          <a:xfrm>
            <a:off x="6263640" y="1417320"/>
            <a:ext cx="5394960" cy="214884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1554480"/>
            <a:ext cx="4937760" cy="365760"/>
          </a:xfrm>
          <a:prstGeom prst="rect">
            <a:avLst/>
          </a:prstGeom>
          <a:noFill/>
        </p:spPr>
        <p:txBody>
          <a:bodyPr wrap="square" lIns="45720" tIns="18288" rIns="45720" bIns="18288" anchor="t">
            <a:spAutoFit/>
          </a:bodyPr>
          <a:lstStyle/>
          <a:p>
            <a:pPr algn="l"/>
            <a:r>
              <a:rPr sz="1400" b="1" i="0">
                <a:solidFill>
                  <a:srgbClr val="1BA19C"/>
                </a:solidFill>
                <a:latin typeface="Calibri"/>
              </a:rPr>
              <a:t>NOT AI (deterministic scripts / tools)</a:t>
            </a:r>
          </a:p>
        </p:txBody>
      </p:sp>
      <p:sp>
        <p:nvSpPr>
          <p:cNvPr id="12" name="TextBox 11"/>
          <p:cNvSpPr txBox="1"/>
          <p:nvPr/>
        </p:nvSpPr>
        <p:spPr>
          <a:xfrm>
            <a:off x="6492240" y="1965960"/>
            <a:ext cx="4937760" cy="1554480"/>
          </a:xfrm>
          <a:prstGeom prst="rect">
            <a:avLst/>
          </a:prstGeom>
          <a:noFill/>
        </p:spPr>
        <p:txBody>
          <a:bodyPr wrap="square" lIns="45720" tIns="18288" rIns="45720" bIns="18288" anchor="t">
            <a:spAutoFit/>
          </a:bodyPr>
          <a:lstStyle/>
          <a:p>
            <a:pPr algn="l">
              <a:spcAft>
                <a:spcPts val="500"/>
              </a:spcAft>
            </a:pPr>
            <a:r>
              <a:rPr sz="1400" b="0" i="0">
                <a:solidFill>
                  <a:srgbClr val="2E8B57"/>
                </a:solidFill>
                <a:latin typeface="Calibri"/>
              </a:rPr>
              <a:t>•  get-neo4j-schema — plain Python script against Neo4j</a:t>
            </a:r>
          </a:p>
          <a:p>
            <a:pPr algn="l">
              <a:spcAft>
                <a:spcPts val="500"/>
              </a:spcAft>
            </a:pPr>
            <a:r>
              <a:rPr sz="1400" b="0" i="0">
                <a:solidFill>
                  <a:srgbClr val="C0392B"/>
                </a:solidFill>
                <a:latin typeface="Calibri"/>
              </a:rPr>
              <a:t>•  get-interface-dependency-table — Cypher aggregation script</a:t>
            </a:r>
          </a:p>
          <a:p>
            <a:pPr algn="l"/>
            <a:r>
              <a:rPr sz="1400" b="0" i="0">
                <a:solidFill>
                  <a:srgbClr val="C0392B"/>
                </a:solidFill>
                <a:latin typeface="Calibri"/>
              </a:rPr>
              <a:t>•  get-sequence-dependency-table — trace-log parser (no LLM)</a:t>
            </a:r>
          </a:p>
          <a:p>
            <a:pPr algn="l">
              <a:spcAft>
                <a:spcPts val="500"/>
              </a:spcAft>
            </a:pPr>
            <a:r>
              <a:rPr sz="1400" b="0" i="0">
                <a:solidFill>
                  <a:srgbClr val="C0392B"/>
                </a:solidFill>
                <a:latin typeface="Calibri"/>
              </a:rPr>
              <a:t>•  add-runtime-instrumentation / csp_matcher — Clang LibTooling AST pattern matching, zero LLM involvement</a:t>
            </a:r>
          </a:p>
        </p:txBody>
      </p:sp>
      <p:sp>
        <p:nvSpPr>
          <p:cNvPr id="13" name="Rounded Rectangle 12"/>
          <p:cNvSpPr/>
          <p:nvPr/>
        </p:nvSpPr>
        <p:spPr>
          <a:xfrm>
            <a:off x="502920" y="3749039"/>
            <a:ext cx="11155680" cy="2103120"/>
          </a:xfrm>
          <a:prstGeom prst="roundRect">
            <a:avLst>
              <a:gd name="adj" fmla="val 4000"/>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913632"/>
            <a:ext cx="10607040" cy="457200"/>
          </a:xfrm>
          <a:prstGeom prst="rect">
            <a:avLst/>
          </a:prstGeom>
          <a:noFill/>
        </p:spPr>
        <p:txBody>
          <a:bodyPr wrap="square" lIns="45720" tIns="18288" rIns="45720" bIns="18288" anchor="t">
            <a:spAutoFit/>
          </a:bodyPr>
          <a:lstStyle/>
          <a:p>
            <a:pPr algn="l"/>
            <a:r>
              <a:rPr sz="1300" b="1" i="0">
                <a:solidFill>
                  <a:srgbClr val="E18A1B"/>
                </a:solidFill>
                <a:latin typeface="Calibri"/>
              </a:rPr>
              <a:t>AI USED DIRECTLY INSIDE THE EXPERIMENTS (gpt-5 via Azure OpenAI)</a:t>
            </a:r>
          </a:p>
        </p:txBody>
      </p:sp>
      <p:sp>
        <p:nvSpPr>
          <p:cNvPr id="15" name="TextBox 14"/>
          <p:cNvSpPr txBox="1"/>
          <p:nvPr/>
        </p:nvSpPr>
        <p:spPr>
          <a:xfrm>
            <a:off x="777240" y="4297680"/>
            <a:ext cx="10607040" cy="1463040"/>
          </a:xfrm>
          <a:prstGeom prst="rect">
            <a:avLst/>
          </a:prstGeom>
          <a:noFill/>
        </p:spPr>
        <p:txBody>
          <a:bodyPr wrap="square" lIns="45720" tIns="18288" rIns="45720" bIns="18288" anchor="t">
            <a:spAutoFit/>
          </a:bodyPr>
          <a:lstStyle/>
          <a:p>
            <a:pPr algn="l">
              <a:spcAft>
                <a:spcPts val="800"/>
              </a:spcAft>
            </a:pPr>
            <a:r>
              <a:rPr sz="1600" b="0" i="0">
                <a:solidFill>
                  <a:srgbClr val="FFFFFF"/>
                </a:solidFill>
                <a:latin typeface="Calibri"/>
              </a:rPr>
              <a:t>•  C1 (LLM-only baseline): prompted with ONLY the scenario's plain-English description; must output {source,target,interaction} triples from world knowledge alone — no graph, no trace, no source</a:t>
            </a:r>
          </a:p>
          <a:p>
            <a:pPr algn="l"/>
            <a:r>
              <a:rPr sz="1600" b="1" i="0">
                <a:solidFill>
                  <a:srgbClr val="FFFFFF"/>
                </a:solidFill>
                <a:latin typeface="Calibri"/>
              </a:rPr>
              <a:t>•  C5 (agent synthesis): given C2 (static) and C3 (dynamic, real execution order) as two separately-labelled evidence sources; prompted to reason about WHY a single-source edge might be missing (suppressed at runtime, indirect dispatch, or over-approximation) before finalising the edge set and an ordered sequence</a:t>
            </a:r>
          </a:p>
          <a:p>
            <a:pPr algn="l">
              <a:spcBef>
                <a:spcPts val="600"/>
              </a:spcBef>
            </a:pPr>
            <a:r>
              <a:rPr sz="1500" b="0" i="0">
                <a:solidFill>
                  <a:srgbClr val="C9D6E2"/>
                </a:solidFill>
                <a:latin typeface="Calibri"/>
              </a:rPr>
              <a:t>•  H3 comprehension task: given one of 5 evidence conditions, prompted to list components, list interactions as "Source → Target : Method", and explain the flow in 3–5 sentences; "do not hallucinate" is stated explicitly in every prompt variant</a:t>
            </a:r>
          </a:p>
        </p:txBody>
      </p:sp>
      <p:sp>
        <p:nvSpPr>
          <p:cNvPr id="16" name="TextBox 15"/>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7" name="TextBox 16"/>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REPLICATION</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How to Reproduce These Results</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18</a:t>
            </a:r>
          </a:p>
        </p:txBody>
      </p:sp>
      <p:sp>
        <p:nvSpPr>
          <p:cNvPr id="7" name="Rounded Rectangle 6"/>
          <p:cNvSpPr/>
          <p:nvPr/>
        </p:nvSpPr>
        <p:spPr>
          <a:xfrm>
            <a:off x="502920" y="1371600"/>
            <a:ext cx="5532120" cy="448056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554480"/>
            <a:ext cx="5029200" cy="4206240"/>
          </a:xfrm>
          <a:prstGeom prst="rect">
            <a:avLst/>
          </a:prstGeom>
          <a:noFill/>
        </p:spPr>
        <p:txBody>
          <a:bodyPr wrap="square" lIns="45720" tIns="18288" rIns="45720" bIns="18288" anchor="t">
            <a:spAutoFit/>
          </a:bodyPr>
          <a:lstStyle/>
          <a:p>
            <a:pPr algn="l">
              <a:spcAft>
                <a:spcPts val="600"/>
              </a:spcAft>
            </a:pPr>
            <a:r>
              <a:rPr sz="1600" b="1" i="0">
                <a:solidFill>
                  <a:srgbClr val="1F6FB2"/>
                </a:solidFill>
                <a:latin typeface="Calibri"/>
              </a:rPr>
              <a:t>Everything here is regenerated by code, not hand-computed</a:t>
            </a:r>
          </a:p>
          <a:p>
            <a:pPr algn="l">
              <a:spcAft>
                <a:spcPts val="800"/>
              </a:spcAft>
            </a:pPr>
            <a:r>
              <a:rPr sz="1500" b="0" i="0">
                <a:solidFill>
                  <a:srgbClr val="222A33"/>
                </a:solidFill>
                <a:latin typeface="Calibri"/>
              </a:rPr>
              <a:t>•  Reference edge sets (ground truth) are version-controlled JSON, authored by reading the source before any condition was scored.</a:t>
            </a:r>
          </a:p>
          <a:p>
            <a:pPr algn="l">
              <a:spcAft>
                <a:spcPts val="800"/>
              </a:spcAft>
            </a:pPr>
            <a:r>
              <a:rPr sz="1500" b="0" i="0">
                <a:solidFill>
                  <a:srgbClr val="222A33"/>
                </a:solidFill>
                <a:latin typeface="Calibri"/>
              </a:rPr>
              <a:t>•  python score.py --all recomputes P/R/F1 for all 5×4 condition/scenario pairs and rewrites results.csv from scratch.</a:t>
            </a:r>
          </a:p>
          <a:p>
            <a:pPr algn="l">
              <a:spcAft>
                <a:spcPts val="800"/>
              </a:spcAft>
            </a:pPr>
            <a:r>
              <a:rPr sz="1500" b="0" i="0">
                <a:solidFill>
                  <a:srgbClr val="222A33"/>
                </a:solidFill>
                <a:latin typeface="Calibri"/>
              </a:rPr>
              <a:t>•  H2's node/edge/coverage/noise numbers come from comparing the full vs. guided instrumentation graphs directly.</a:t>
            </a:r>
          </a:p>
          <a:p>
            <a:pPr algn="l">
              <a:spcAft>
                <a:spcPts val="800"/>
              </a:spcAft>
            </a:pPr>
            <a:r>
              <a:rPr sz="1500" b="0" i="0">
                <a:solidFill>
                  <a:srgbClr val="222A33"/>
                </a:solidFill>
                <a:latin typeface="Calibri"/>
              </a:rPr>
              <a:t>•  H3's recall/completeness numbers come from re-scoring the agent's JSON output against the same reference set used in H1.</a:t>
            </a:r>
          </a:p>
          <a:p>
            <a:pPr algn="l"/>
            <a:r>
              <a:rPr sz="1500" b="0" i="0">
                <a:solidFill>
                  <a:srgbClr val="222A33"/>
                </a:solidFill>
                <a:latin typeface="Calibri"/>
              </a:rPr>
              <a:t>•  Requires AZURE_ENDPOINT + AZURE_OPENAI_API_KEY in .env, and a gpt-5 deployment, for the LLM-based conditions (C1, C5) and the H3 agent.</a:t>
            </a:r>
          </a:p>
        </p:txBody>
      </p:sp>
      <p:sp>
        <p:nvSpPr>
          <p:cNvPr id="9" name="Rounded Rectangle 8"/>
          <p:cNvSpPr/>
          <p:nvPr/>
        </p:nvSpPr>
        <p:spPr>
          <a:xfrm>
            <a:off x="6217920" y="1371600"/>
            <a:ext cx="5440680" cy="4480560"/>
          </a:xfrm>
          <a:prstGeom prst="roundRect">
            <a:avLst>
              <a:gd name="adj" fmla="val 4000"/>
            </a:avLst>
          </a:prstGeom>
          <a:solidFill>
            <a:srgbClr val="FB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572768"/>
            <a:ext cx="4937760" cy="457200"/>
          </a:xfrm>
          <a:prstGeom prst="rect">
            <a:avLst/>
          </a:prstGeom>
          <a:noFill/>
        </p:spPr>
        <p:txBody>
          <a:bodyPr wrap="square" lIns="45720" tIns="18288" rIns="45720" bIns="18288" anchor="t">
            <a:spAutoFit/>
          </a:bodyPr>
          <a:lstStyle/>
          <a:p>
            <a:pPr algn="l"/>
            <a:r>
              <a:rPr sz="1200" b="1" i="0">
                <a:solidFill>
                  <a:srgbClr val="E18A1B"/>
                </a:solidFill>
                <a:latin typeface="Calibri"/>
              </a:rPr>
              <a:t>COMMANDS</a:t>
            </a:r>
          </a:p>
        </p:txBody>
      </p:sp>
      <p:sp>
        <p:nvSpPr>
          <p:cNvPr id="11" name="TextBox 10"/>
          <p:cNvSpPr txBox="1"/>
          <p:nvPr/>
        </p:nvSpPr>
        <p:spPr>
          <a:xfrm>
            <a:off x="6492240" y="2011680"/>
            <a:ext cx="4937760" cy="3657600"/>
          </a:xfrm>
          <a:prstGeom prst="rect">
            <a:avLst/>
          </a:prstGeom>
          <a:noFill/>
        </p:spPr>
        <p:txBody>
          <a:bodyPr wrap="square" lIns="45720" tIns="18288" rIns="45720" bIns="18288" anchor="t">
            <a:spAutoFit/>
          </a:bodyPr>
          <a:lstStyle/>
          <a:p>
            <a:pPr algn="l">
              <a:spcAft>
                <a:spcPts val="1000"/>
              </a:spcAft>
            </a:pPr>
            <a:r>
              <a:rPr sz="1500" b="0" i="0">
                <a:solidFill>
                  <a:srgbClr val="222A33"/>
                </a:solidFill>
                <a:latin typeface="Calibri"/>
              </a:rPr>
              <a:t>•  python run_c1_llm_only.py --all  ...  python run_c5_full_pipeline.py --all</a:t>
            </a:r>
          </a:p>
          <a:p>
            <a:pPr algn="l">
              <a:spcAft>
                <a:spcPts val="1000"/>
              </a:spcAft>
            </a:pPr>
            <a:r>
              <a:rPr sz="1500" b="0" i="0">
                <a:solidFill>
                  <a:srgbClr val="222A33"/>
                </a:solidFill>
                <a:latin typeface="Calibri"/>
              </a:rPr>
              <a:t>•  python score.py --all  →  results.csv</a:t>
            </a:r>
          </a:p>
          <a:p>
            <a:pPr algn="l">
              <a:spcAft>
                <a:spcPts val="1000"/>
              </a:spcAft>
            </a:pPr>
            <a:r>
              <a:rPr sz="1500" b="0" i="0">
                <a:solidFill>
                  <a:srgbClr val="222A33"/>
                </a:solidFill>
                <a:latin typeface="Calibri"/>
              </a:rPr>
              <a:t>•  experiments/H2/ scripts regenerate the full vs. guided instrumentation comparison and metrics</a:t>
            </a:r>
          </a:p>
          <a:p>
            <a:pPr algn="l"/>
            <a:r>
              <a:rPr sz="1500" b="1" i="0">
                <a:solidFill>
                  <a:srgbClr val="0B2B45"/>
                </a:solidFill>
                <a:latin typeface="Calibri"/>
              </a:rPr>
              <a:t>•  Repo: github.com/prathikanand7/masters-thesis-work.git (+ TNO GitLab mirror)</a:t>
            </a:r>
          </a:p>
        </p:txBody>
      </p:sp>
      <p:sp>
        <p:nvSpPr>
          <p:cNvPr id="12" name="TextBox 11"/>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3" name="TextBox 12"/>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EXPERIMENT · RQ1</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H1 — Does Fusion Improve Accuracy?</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19</a:t>
            </a:r>
          </a:p>
        </p:txBody>
      </p:sp>
      <p:sp>
        <p:nvSpPr>
          <p:cNvPr id="7" name="TextBox 6"/>
          <p:cNvSpPr txBox="1"/>
          <p:nvPr/>
        </p:nvSpPr>
        <p:spPr>
          <a:xfrm>
            <a:off x="502920" y="1234440"/>
            <a:ext cx="10972800" cy="457200"/>
          </a:xfrm>
          <a:prstGeom prst="rect">
            <a:avLst/>
          </a:prstGeom>
          <a:noFill/>
        </p:spPr>
        <p:txBody>
          <a:bodyPr wrap="square" lIns="45720" tIns="18288" rIns="45720" bIns="18288" anchor="t">
            <a:spAutoFit/>
          </a:bodyPr>
          <a:lstStyle/>
          <a:p>
            <a:pPr algn="l"/>
            <a:r>
              <a:rPr sz="1500" b="1" i="0">
                <a:solidFill>
                  <a:srgbClr val="0B2B45"/>
                </a:solidFill>
                <a:latin typeface="Calibri"/>
              </a:rPr>
              <a:t>Six conditions × four scenarios, scored against a manually source-read reference edge set (authored before scoring).</a:t>
            </a:r>
          </a:p>
        </p:txBody>
      </p:sp>
      <p:sp>
        <p:nvSpPr>
          <p:cNvPr id="8" name="Rounded Rectangle 7"/>
          <p:cNvSpPr/>
          <p:nvPr/>
        </p:nvSpPr>
        <p:spPr>
          <a:xfrm>
            <a:off x="502920" y="1874519"/>
            <a:ext cx="6766560" cy="658368"/>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58368" y="2002535"/>
            <a:ext cx="822960" cy="402336"/>
          </a:xfrm>
          <a:prstGeom prst="roundRect">
            <a:avLst>
              <a:gd name="adj" fmla="val 25000"/>
            </a:avLst>
          </a:prstGeom>
          <a:solidFill>
            <a:srgbClr val="5A636E"/>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500" b="1">
                <a:solidFill>
                  <a:srgbClr val="FFFFFF"/>
                </a:solidFill>
                <a:latin typeface="Calibri"/>
              </a:rPr>
              <a:t>C1</a:t>
            </a:r>
          </a:p>
        </p:txBody>
      </p:sp>
      <p:sp>
        <p:nvSpPr>
          <p:cNvPr id="10" name="TextBox 9"/>
          <p:cNvSpPr txBox="1"/>
          <p:nvPr/>
        </p:nvSpPr>
        <p:spPr>
          <a:xfrm>
            <a:off x="1645920" y="1947671"/>
            <a:ext cx="2743200" cy="502920"/>
          </a:xfrm>
          <a:prstGeom prst="rect">
            <a:avLst/>
          </a:prstGeom>
          <a:noFill/>
        </p:spPr>
        <p:txBody>
          <a:bodyPr wrap="square" lIns="45720" tIns="18288" rIns="45720" bIns="18288" anchor="ctr">
            <a:spAutoFit/>
          </a:bodyPr>
          <a:lstStyle/>
          <a:p>
            <a:pPr algn="l"/>
            <a:r>
              <a:rPr sz="1500" b="1" i="0">
                <a:solidFill>
                  <a:srgbClr val="0B2B45"/>
                </a:solidFill>
                <a:latin typeface="Calibri"/>
              </a:rPr>
              <a:t>LLM-only</a:t>
            </a:r>
          </a:p>
        </p:txBody>
      </p:sp>
      <p:sp>
        <p:nvSpPr>
          <p:cNvPr id="11" name="TextBox 10"/>
          <p:cNvSpPr txBox="1"/>
          <p:nvPr/>
        </p:nvSpPr>
        <p:spPr>
          <a:xfrm>
            <a:off x="4297680" y="1947671"/>
            <a:ext cx="2834640" cy="502920"/>
          </a:xfrm>
          <a:prstGeom prst="rect">
            <a:avLst/>
          </a:prstGeom>
          <a:noFill/>
        </p:spPr>
        <p:txBody>
          <a:bodyPr wrap="square" lIns="45720" tIns="18288" rIns="45720" bIns="18288" anchor="ctr">
            <a:spAutoFit/>
          </a:bodyPr>
          <a:lstStyle/>
          <a:p>
            <a:pPr algn="l"/>
            <a:r>
              <a:rPr sz="1300" b="0" i="0">
                <a:solidFill>
                  <a:srgbClr val="5A636E"/>
                </a:solidFill>
                <a:latin typeface="Calibri"/>
              </a:rPr>
              <a:t>no code context</a:t>
            </a:r>
          </a:p>
        </p:txBody>
      </p:sp>
      <p:sp>
        <p:nvSpPr>
          <p:cNvPr id="12" name="Rounded Rectangle 11"/>
          <p:cNvSpPr/>
          <p:nvPr/>
        </p:nvSpPr>
        <p:spPr>
          <a:xfrm>
            <a:off x="502920" y="2624327"/>
            <a:ext cx="6766560" cy="658368"/>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58368" y="2752343"/>
            <a:ext cx="822960" cy="402336"/>
          </a:xfrm>
          <a:prstGeom prst="roundRect">
            <a:avLst>
              <a:gd name="adj" fmla="val 2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500" b="1">
                <a:solidFill>
                  <a:srgbClr val="FFFFFF"/>
                </a:solidFill>
                <a:latin typeface="Calibri"/>
              </a:rPr>
              <a:t>C2</a:t>
            </a:r>
          </a:p>
        </p:txBody>
      </p:sp>
      <p:sp>
        <p:nvSpPr>
          <p:cNvPr id="14" name="TextBox 13"/>
          <p:cNvSpPr txBox="1"/>
          <p:nvPr/>
        </p:nvSpPr>
        <p:spPr>
          <a:xfrm>
            <a:off x="1645920" y="2697479"/>
            <a:ext cx="2743200" cy="502920"/>
          </a:xfrm>
          <a:prstGeom prst="rect">
            <a:avLst/>
          </a:prstGeom>
          <a:noFill/>
        </p:spPr>
        <p:txBody>
          <a:bodyPr wrap="square" lIns="45720" tIns="18288" rIns="45720" bIns="18288" anchor="ctr">
            <a:spAutoFit/>
          </a:bodyPr>
          <a:lstStyle/>
          <a:p>
            <a:pPr algn="l"/>
            <a:r>
              <a:rPr sz="1500" b="1" i="0">
                <a:solidFill>
                  <a:srgbClr val="0B2B45"/>
                </a:solidFill>
                <a:latin typeface="Calibri"/>
              </a:rPr>
              <a:t>Static-only</a:t>
            </a:r>
          </a:p>
        </p:txBody>
      </p:sp>
      <p:sp>
        <p:nvSpPr>
          <p:cNvPr id="15" name="TextBox 14"/>
          <p:cNvSpPr txBox="1"/>
          <p:nvPr/>
        </p:nvSpPr>
        <p:spPr>
          <a:xfrm>
            <a:off x="4297680" y="2697479"/>
            <a:ext cx="2834640" cy="502920"/>
          </a:xfrm>
          <a:prstGeom prst="rect">
            <a:avLst/>
          </a:prstGeom>
          <a:noFill/>
        </p:spPr>
        <p:txBody>
          <a:bodyPr wrap="square" lIns="45720" tIns="18288" rIns="45720" bIns="18288" anchor="ctr">
            <a:spAutoFit/>
          </a:bodyPr>
          <a:lstStyle/>
          <a:p>
            <a:pPr algn="l"/>
            <a:r>
              <a:rPr sz="1300" b="0" i="0">
                <a:solidFill>
                  <a:srgbClr val="5A636E"/>
                </a:solidFill>
                <a:latin typeface="Calibri"/>
              </a:rPr>
              <a:t>call graph</a:t>
            </a:r>
          </a:p>
        </p:txBody>
      </p:sp>
      <p:sp>
        <p:nvSpPr>
          <p:cNvPr id="16" name="Rounded Rectangle 15"/>
          <p:cNvSpPr/>
          <p:nvPr/>
        </p:nvSpPr>
        <p:spPr>
          <a:xfrm>
            <a:off x="502920" y="3374135"/>
            <a:ext cx="6766560" cy="658368"/>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8368" y="3502151"/>
            <a:ext cx="822960" cy="402336"/>
          </a:xfrm>
          <a:prstGeom prst="roundRect">
            <a:avLst>
              <a:gd name="adj" fmla="val 25000"/>
            </a:avLst>
          </a:prstGeom>
          <a:solidFill>
            <a:srgbClr val="1BA19C"/>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500" b="1">
                <a:solidFill>
                  <a:srgbClr val="FFFFFF"/>
                </a:solidFill>
                <a:latin typeface="Calibri"/>
              </a:rPr>
              <a:t>C3</a:t>
            </a:r>
          </a:p>
        </p:txBody>
      </p:sp>
      <p:sp>
        <p:nvSpPr>
          <p:cNvPr id="18" name="TextBox 17"/>
          <p:cNvSpPr txBox="1"/>
          <p:nvPr/>
        </p:nvSpPr>
        <p:spPr>
          <a:xfrm>
            <a:off x="1645920" y="3447287"/>
            <a:ext cx="2743200" cy="502920"/>
          </a:xfrm>
          <a:prstGeom prst="rect">
            <a:avLst/>
          </a:prstGeom>
          <a:noFill/>
        </p:spPr>
        <p:txBody>
          <a:bodyPr wrap="square" lIns="45720" tIns="18288" rIns="45720" bIns="18288" anchor="ctr">
            <a:spAutoFit/>
          </a:bodyPr>
          <a:lstStyle/>
          <a:p>
            <a:pPr algn="l"/>
            <a:r>
              <a:rPr sz="1500" b="1" i="0">
                <a:solidFill>
                  <a:srgbClr val="0B2B45"/>
                </a:solidFill>
                <a:latin typeface="Calibri"/>
              </a:rPr>
              <a:t>Dynamic-only</a:t>
            </a:r>
          </a:p>
        </p:txBody>
      </p:sp>
      <p:sp>
        <p:nvSpPr>
          <p:cNvPr id="19" name="TextBox 18"/>
          <p:cNvSpPr txBox="1"/>
          <p:nvPr/>
        </p:nvSpPr>
        <p:spPr>
          <a:xfrm>
            <a:off x="4297680" y="3447287"/>
            <a:ext cx="2834640" cy="502920"/>
          </a:xfrm>
          <a:prstGeom prst="rect">
            <a:avLst/>
          </a:prstGeom>
          <a:noFill/>
        </p:spPr>
        <p:txBody>
          <a:bodyPr wrap="square" lIns="45720" tIns="18288" rIns="45720" bIns="18288" anchor="ctr">
            <a:spAutoFit/>
          </a:bodyPr>
          <a:lstStyle/>
          <a:p>
            <a:pPr algn="l"/>
            <a:r>
              <a:rPr sz="1300" b="0" i="0">
                <a:solidFill>
                  <a:srgbClr val="5A636E"/>
                </a:solidFill>
                <a:latin typeface="Calibri"/>
              </a:rPr>
              <a:t>runtime traces</a:t>
            </a:r>
          </a:p>
        </p:txBody>
      </p:sp>
      <p:sp>
        <p:nvSpPr>
          <p:cNvPr id="20" name="Rounded Rectangle 19"/>
          <p:cNvSpPr/>
          <p:nvPr/>
        </p:nvSpPr>
        <p:spPr>
          <a:xfrm>
            <a:off x="502920" y="4123943"/>
            <a:ext cx="6766560" cy="658368"/>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58368" y="4251959"/>
            <a:ext cx="822960" cy="402336"/>
          </a:xfrm>
          <a:prstGeom prst="roundRect">
            <a:avLst>
              <a:gd name="adj" fmla="val 25000"/>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500" b="1">
                <a:solidFill>
                  <a:srgbClr val="FFFFFF"/>
                </a:solidFill>
                <a:latin typeface="Calibri"/>
              </a:rPr>
              <a:t>C4</a:t>
            </a:r>
          </a:p>
        </p:txBody>
      </p:sp>
      <p:sp>
        <p:nvSpPr>
          <p:cNvPr id="22" name="TextBox 21"/>
          <p:cNvSpPr txBox="1"/>
          <p:nvPr/>
        </p:nvSpPr>
        <p:spPr>
          <a:xfrm>
            <a:off x="1645920" y="4197095"/>
            <a:ext cx="2743200" cy="502920"/>
          </a:xfrm>
          <a:prstGeom prst="rect">
            <a:avLst/>
          </a:prstGeom>
          <a:noFill/>
        </p:spPr>
        <p:txBody>
          <a:bodyPr wrap="square" lIns="45720" tIns="18288" rIns="45720" bIns="18288" anchor="ctr">
            <a:spAutoFit/>
          </a:bodyPr>
          <a:lstStyle/>
          <a:p>
            <a:pPr algn="l"/>
            <a:r>
              <a:rPr sz="1500" b="1" i="0">
                <a:solidFill>
                  <a:srgbClr val="0B2B45"/>
                </a:solidFill>
                <a:latin typeface="Calibri"/>
              </a:rPr>
              <a:t>Static ∪ Dynamic</a:t>
            </a:r>
          </a:p>
        </p:txBody>
      </p:sp>
      <p:sp>
        <p:nvSpPr>
          <p:cNvPr id="23" name="TextBox 22"/>
          <p:cNvSpPr txBox="1"/>
          <p:nvPr/>
        </p:nvSpPr>
        <p:spPr>
          <a:xfrm>
            <a:off x="4297680" y="4197095"/>
            <a:ext cx="2834640" cy="502920"/>
          </a:xfrm>
          <a:prstGeom prst="rect">
            <a:avLst/>
          </a:prstGeom>
          <a:noFill/>
        </p:spPr>
        <p:txBody>
          <a:bodyPr wrap="square" lIns="45720" tIns="18288" rIns="45720" bIns="18288" anchor="ctr">
            <a:spAutoFit/>
          </a:bodyPr>
          <a:lstStyle/>
          <a:p>
            <a:pPr algn="l"/>
            <a:r>
              <a:rPr sz="1300" b="0" i="0">
                <a:solidFill>
                  <a:srgbClr val="5A636E"/>
                </a:solidFill>
                <a:latin typeface="Calibri"/>
              </a:rPr>
              <a:t>raw union</a:t>
            </a:r>
          </a:p>
        </p:txBody>
      </p:sp>
      <p:sp>
        <p:nvSpPr>
          <p:cNvPr id="24" name="Rounded Rectangle 23"/>
          <p:cNvSpPr/>
          <p:nvPr/>
        </p:nvSpPr>
        <p:spPr>
          <a:xfrm>
            <a:off x="502920" y="4873751"/>
            <a:ext cx="6766560" cy="658368"/>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58368" y="5001767"/>
            <a:ext cx="822960" cy="402336"/>
          </a:xfrm>
          <a:prstGeom prst="roundRect">
            <a:avLst>
              <a:gd name="adj" fmla="val 25000"/>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500" b="1">
                <a:solidFill>
                  <a:srgbClr val="FFFFFF"/>
                </a:solidFill>
                <a:latin typeface="Calibri"/>
              </a:rPr>
              <a:t>C5</a:t>
            </a:r>
          </a:p>
        </p:txBody>
      </p:sp>
      <p:sp>
        <p:nvSpPr>
          <p:cNvPr id="26" name="TextBox 25"/>
          <p:cNvSpPr txBox="1"/>
          <p:nvPr/>
        </p:nvSpPr>
        <p:spPr>
          <a:xfrm>
            <a:off x="1645920" y="4946903"/>
            <a:ext cx="2743200" cy="502920"/>
          </a:xfrm>
          <a:prstGeom prst="rect">
            <a:avLst/>
          </a:prstGeom>
          <a:noFill/>
        </p:spPr>
        <p:txBody>
          <a:bodyPr wrap="square" lIns="45720" tIns="18288" rIns="45720" bIns="18288" anchor="ctr">
            <a:spAutoFit/>
          </a:bodyPr>
          <a:lstStyle/>
          <a:p>
            <a:pPr algn="l"/>
            <a:r>
              <a:rPr sz="1500" b="1" i="0">
                <a:solidFill>
                  <a:srgbClr val="0B2B45"/>
                </a:solidFill>
                <a:latin typeface="Calibri"/>
              </a:rPr>
              <a:t>Intersection</a:t>
            </a:r>
          </a:p>
        </p:txBody>
      </p:sp>
      <p:sp>
        <p:nvSpPr>
          <p:cNvPr id="27" name="TextBox 26"/>
          <p:cNvSpPr txBox="1"/>
          <p:nvPr/>
        </p:nvSpPr>
        <p:spPr>
          <a:xfrm>
            <a:off x="4297680" y="4946903"/>
            <a:ext cx="2834640" cy="502920"/>
          </a:xfrm>
          <a:prstGeom prst="rect">
            <a:avLst/>
          </a:prstGeom>
          <a:noFill/>
        </p:spPr>
        <p:txBody>
          <a:bodyPr wrap="square" lIns="45720" tIns="18288" rIns="45720" bIns="18288" anchor="ctr">
            <a:spAutoFit/>
          </a:bodyPr>
          <a:lstStyle/>
          <a:p>
            <a:pPr algn="l"/>
            <a:r>
              <a:rPr sz="1300" b="0" i="0">
                <a:solidFill>
                  <a:srgbClr val="5A636E"/>
                </a:solidFill>
                <a:latin typeface="Calibri"/>
              </a:rPr>
              <a:t>C2 ∩ C3, no LLM</a:t>
            </a:r>
          </a:p>
        </p:txBody>
      </p:sp>
      <p:sp>
        <p:nvSpPr>
          <p:cNvPr id="28" name="Rounded Rectangle 27"/>
          <p:cNvSpPr/>
          <p:nvPr/>
        </p:nvSpPr>
        <p:spPr>
          <a:xfrm>
            <a:off x="7543800" y="1874519"/>
            <a:ext cx="4114800" cy="3794760"/>
          </a:xfrm>
          <a:prstGeom prst="roundRect">
            <a:avLst>
              <a:gd name="adj" fmla="val 4000"/>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72400" y="2057400"/>
            <a:ext cx="3657600" cy="365760"/>
          </a:xfrm>
          <a:prstGeom prst="rect">
            <a:avLst/>
          </a:prstGeom>
          <a:noFill/>
        </p:spPr>
        <p:txBody>
          <a:bodyPr wrap="square" lIns="45720" tIns="18288" rIns="45720" bIns="18288" anchor="t">
            <a:spAutoFit/>
          </a:bodyPr>
          <a:lstStyle/>
          <a:p>
            <a:pPr algn="l"/>
            <a:r>
              <a:rPr sz="1250" b="1" i="0">
                <a:solidFill>
                  <a:srgbClr val="E18A1B"/>
                </a:solidFill>
                <a:latin typeface="Calibri"/>
              </a:rPr>
              <a:t>METRICS (on interaction edges)</a:t>
            </a:r>
          </a:p>
        </p:txBody>
      </p:sp>
      <p:sp>
        <p:nvSpPr>
          <p:cNvPr id="30" name="TextBox 29"/>
          <p:cNvSpPr txBox="1"/>
          <p:nvPr/>
        </p:nvSpPr>
        <p:spPr>
          <a:xfrm>
            <a:off x="7772400" y="2514600"/>
            <a:ext cx="3657600" cy="3017520"/>
          </a:xfrm>
          <a:prstGeom prst="rect">
            <a:avLst/>
          </a:prstGeom>
          <a:noFill/>
        </p:spPr>
        <p:txBody>
          <a:bodyPr wrap="square" lIns="45720" tIns="18288" rIns="45720" bIns="18288" anchor="t">
            <a:spAutoFit/>
          </a:bodyPr>
          <a:lstStyle/>
          <a:p>
            <a:pPr algn="l">
              <a:spcAft>
                <a:spcPts val="800"/>
              </a:spcAft>
            </a:pPr>
            <a:r>
              <a:rPr sz="1500" b="1" i="0">
                <a:solidFill>
                  <a:srgbClr val="FFFFFF"/>
                </a:solidFill>
                <a:latin typeface="Calibri"/>
              </a:rPr>
              <a:t>P = |gen ∩ ref| / |gen|</a:t>
            </a:r>
          </a:p>
          <a:p>
            <a:pPr algn="l">
              <a:spcAft>
                <a:spcPts val="800"/>
              </a:spcAft>
            </a:pPr>
            <a:r>
              <a:rPr sz="1500" b="1" i="0">
                <a:solidFill>
                  <a:srgbClr val="FFFFFF"/>
                </a:solidFill>
                <a:latin typeface="Calibri"/>
              </a:rPr>
              <a:t>R = |gen ∩ ref| / |ref|</a:t>
            </a:r>
          </a:p>
          <a:p>
            <a:pPr algn="l">
              <a:spcAft>
                <a:spcPts val="1400"/>
              </a:spcAft>
            </a:pPr>
            <a:r>
              <a:rPr sz="1500" b="1" i="0">
                <a:solidFill>
                  <a:srgbClr val="FFFFFF"/>
                </a:solidFill>
                <a:latin typeface="Calibri"/>
              </a:rPr>
              <a:t>F1 = 2PR / (P + R)</a:t>
            </a:r>
          </a:p>
          <a:p>
            <a:pPr algn="l"/>
            <a:r>
              <a:rPr sz="1350" b="0" i="0">
                <a:solidFill>
                  <a:srgbClr val="C9D6E2"/>
                </a:solidFill>
                <a:latin typeface="Calibri"/>
              </a:rPr>
              <a:t>Aggregated as macro-F1 — each scenario weighted equally.</a:t>
            </a:r>
          </a:p>
          <a:p>
            <a:pPr algn="l">
              <a:spcBef>
                <a:spcPts val="800"/>
              </a:spcBef>
            </a:pPr>
            <a:r>
              <a:rPr sz="1350" b="0" i="0">
                <a:solidFill>
                  <a:srgbClr val="C9D6E2"/>
                </a:solidFill>
                <a:latin typeface="Calibri"/>
              </a:rPr>
              <a:t>S4 kept as its own stratum (constructed, not found in the wild).</a:t>
            </a:r>
          </a:p>
        </p:txBody>
      </p:sp>
      <p:sp>
        <p:nvSpPr>
          <p:cNvPr id="31" name="TextBox 30"/>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32" name="TextBox 31"/>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19</a:t>
            </a:r>
          </a:p>
        </p:txBody>
      </p:sp>
      <p:sp>
        <p:nvSpPr>
          <p:cNvPr id="33" name="Rounded Rectangle 23"/>
          <p:cNvSpPr/>
          <p:nvPr/>
        </p:nvSpPr>
        <p:spPr>
          <a:xfrm>
            <a:off x="502920" y="5623559"/>
            <a:ext cx="6766560" cy="658368"/>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24"/>
          <p:cNvSpPr/>
          <p:nvPr/>
        </p:nvSpPr>
        <p:spPr>
          <a:xfrm>
            <a:off x="658368" y="5751575"/>
            <a:ext cx="822960" cy="402336"/>
          </a:xfrm>
          <a:prstGeom prst="roundRect">
            <a:avLst>
              <a:gd name="adj" fmla="val 25000"/>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500" b="1">
                <a:solidFill>
                  <a:srgbClr val="FFFFFF"/>
                </a:solidFill>
                <a:latin typeface="Calibri"/>
              </a:rPr>
              <a:t>C6</a:t>
            </a:r>
          </a:p>
        </p:txBody>
      </p:sp>
      <p:sp>
        <p:nvSpPr>
          <p:cNvPr id="35" name="TextBox 25"/>
          <p:cNvSpPr txBox="1"/>
          <p:nvPr/>
        </p:nvSpPr>
        <p:spPr>
          <a:xfrm>
            <a:off x="1645920" y="5696711"/>
            <a:ext cx="2743200" cy="502920"/>
          </a:xfrm>
          <a:prstGeom prst="rect">
            <a:avLst/>
          </a:prstGeom>
          <a:noFill/>
        </p:spPr>
        <p:txBody>
          <a:bodyPr wrap="square" lIns="45720" tIns="18288" rIns="45720" bIns="18288" anchor="ctr">
            <a:spAutoFit/>
          </a:bodyPr>
          <a:lstStyle/>
          <a:p>
            <a:pPr algn="l"/>
            <a:r>
              <a:rPr sz="1500" b="1" i="0">
                <a:solidFill>
                  <a:srgbClr val="0B2B45"/>
                </a:solidFill>
                <a:latin typeface="Calibri"/>
              </a:rPr>
              <a:t>Full pipeline</a:t>
            </a:r>
          </a:p>
        </p:txBody>
      </p:sp>
      <p:sp>
        <p:nvSpPr>
          <p:cNvPr id="36" name="TextBox 26"/>
          <p:cNvSpPr txBox="1"/>
          <p:nvPr/>
        </p:nvSpPr>
        <p:spPr>
          <a:xfrm>
            <a:off x="4297680" y="5696711"/>
            <a:ext cx="2834640" cy="502920"/>
          </a:xfrm>
          <a:prstGeom prst="rect">
            <a:avLst/>
          </a:prstGeom>
          <a:noFill/>
        </p:spPr>
        <p:txBody>
          <a:bodyPr wrap="square" lIns="45720" tIns="18288" rIns="45720" bIns="18288" anchor="ctr">
            <a:spAutoFit/>
          </a:bodyPr>
          <a:lstStyle/>
          <a:p>
            <a:pPr algn="l"/>
            <a:r>
              <a:rPr sz="1300" b="0" i="0">
                <a:solidFill>
                  <a:srgbClr val="5A636E"/>
                </a:solidFill>
                <a:latin typeface="Calibri"/>
              </a:rPr>
              <a:t>C2 + C3 separate, LLM adjudicates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RESULTS · RQ1  (S1–S4)</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H1 Results — Overall Precision / Recall / F1</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20</a:t>
            </a:r>
          </a:p>
        </p:txBody>
      </p:sp>
      <p:graphicFrame>
        <p:nvGraphicFramePr>
          <p:cNvPr id="7" name="Table 6"/>
          <p:cNvGraphicFramePr>
            <a:graphicFrameLocks noGrp="1"/>
          </p:cNvGraphicFramePr>
          <p:nvPr/>
        </p:nvGraphicFramePr>
        <p:xfrm>
          <a:off x="1280160" y="1508760"/>
          <a:ext cx="9601198" cy="3621024"/>
        </p:xfrm>
        <a:graphic>
          <a:graphicData uri="http://schemas.openxmlformats.org/drawingml/2006/table">
            <a:tbl>
              <a:tblPr>
                <a:tableStyleId>{5C22544A-7EE6-4342-B048-85BDC9FD1C3A}</a:tableStyleId>
              </a:tblPr>
              <a:tblGrid>
                <a:gridCol w="3339547">
                  <a:extLst>
                    <a:ext uri="{9D8B030D-6E8A-4147-A177-3AD203B41FA5}">
                      <a16:colId xmlns:a16="http://schemas.microsoft.com/office/drawing/2014/main" val="20000"/>
                    </a:ext>
                  </a:extLst>
                </a:gridCol>
                <a:gridCol w="2087217">
                  <a:extLst>
                    <a:ext uri="{9D8B030D-6E8A-4147-A177-3AD203B41FA5}">
                      <a16:colId xmlns:a16="http://schemas.microsoft.com/office/drawing/2014/main" val="20001"/>
                    </a:ext>
                  </a:extLst>
                </a:gridCol>
                <a:gridCol w="2087217">
                  <a:extLst>
                    <a:ext uri="{9D8B030D-6E8A-4147-A177-3AD203B41FA5}">
                      <a16:colId xmlns:a16="http://schemas.microsoft.com/office/drawing/2014/main" val="20002"/>
                    </a:ext>
                  </a:extLst>
                </a:gridCol>
                <a:gridCol w="2087217">
                  <a:extLst>
                    <a:ext uri="{9D8B030D-6E8A-4147-A177-3AD203B41FA5}">
                      <a16:colId xmlns:a16="http://schemas.microsoft.com/office/drawing/2014/main" val="20003"/>
                    </a:ext>
                  </a:extLst>
                </a:gridCol>
              </a:tblGrid>
              <a:tr h="603504">
                <a:tc>
                  <a:txBody>
                    <a:bodyPr/>
                    <a:lstStyle/>
                    <a:p>
                      <a:pPr algn="l"/>
                      <a:r>
                        <a:rPr sz="1600" b="1">
                          <a:solidFill>
                            <a:srgbClr val="FFFFFF"/>
                          </a:solidFill>
                          <a:latin typeface="Calibri"/>
                        </a:rPr>
                        <a:t>Condition</a:t>
                      </a:r>
                    </a:p>
                  </a:txBody>
                  <a:tcPr marL="54864" marR="54864" marT="18288" marB="18288" anchor="ctr">
                    <a:solidFill>
                      <a:srgbClr val="0B2B45"/>
                    </a:solidFill>
                  </a:tcPr>
                </a:tc>
                <a:tc>
                  <a:txBody>
                    <a:bodyPr/>
                    <a:lstStyle/>
                    <a:p>
                      <a:pPr algn="ctr"/>
                      <a:r>
                        <a:rPr sz="1600" b="1">
                          <a:solidFill>
                            <a:srgbClr val="FFFFFF"/>
                          </a:solidFill>
                          <a:latin typeface="Calibri"/>
                        </a:rPr>
                        <a:t>Precision</a:t>
                      </a:r>
                    </a:p>
                  </a:txBody>
                  <a:tcPr marL="54864" marR="54864" marT="18288" marB="18288" anchor="ctr">
                    <a:solidFill>
                      <a:srgbClr val="0B2B45"/>
                    </a:solidFill>
                  </a:tcPr>
                </a:tc>
                <a:tc>
                  <a:txBody>
                    <a:bodyPr/>
                    <a:lstStyle/>
                    <a:p>
                      <a:pPr algn="ctr"/>
                      <a:r>
                        <a:rPr sz="1600" b="1">
                          <a:solidFill>
                            <a:srgbClr val="FFFFFF"/>
                          </a:solidFill>
                          <a:latin typeface="Calibri"/>
                        </a:rPr>
                        <a:t>Recall</a:t>
                      </a:r>
                    </a:p>
                  </a:txBody>
                  <a:tcPr marL="54864" marR="54864" marT="18288" marB="18288" anchor="ctr">
                    <a:solidFill>
                      <a:srgbClr val="0B2B45"/>
                    </a:solidFill>
                  </a:tcPr>
                </a:tc>
                <a:tc>
                  <a:txBody>
                    <a:bodyPr/>
                    <a:lstStyle/>
                    <a:p>
                      <a:pPr algn="ctr"/>
                      <a:r>
                        <a:rPr sz="1600" b="1">
                          <a:solidFill>
                            <a:srgbClr val="FFFFFF"/>
                          </a:solidFill>
                          <a:latin typeface="Calibri"/>
                        </a:rPr>
                        <a:t>F1</a:t>
                      </a:r>
                    </a:p>
                  </a:txBody>
                  <a:tcPr marL="54864" marR="54864" marT="18288" marB="18288" anchor="ctr">
                    <a:solidFill>
                      <a:srgbClr val="0B2B45"/>
                    </a:solidFill>
                  </a:tcPr>
                </a:tc>
                <a:extLst>
                  <a:ext uri="{0D108BD9-81ED-4DB2-BD59-A6C34878D82A}">
                    <a16:rowId xmlns:a16="http://schemas.microsoft.com/office/drawing/2014/main" val="10000"/>
                  </a:ext>
                </a:extLst>
              </a:tr>
              <a:tr h="603504">
                <a:tc>
                  <a:txBody>
                    <a:bodyPr/>
                    <a:lstStyle/>
                    <a:p>
                      <a:pPr algn="l"/>
                      <a:r>
                        <a:rPr sz="1600" b="0">
                          <a:solidFill>
                            <a:srgbClr val="222A33"/>
                          </a:solidFill>
                          <a:latin typeface="Calibri"/>
                        </a:rPr>
                        <a:t>C1  LLM-only</a:t>
                      </a:r>
                    </a:p>
                  </a:txBody>
                  <a:tcPr marL="54864" marR="54864" marT="18288" marB="18288" anchor="ctr">
                    <a:solidFill>
                      <a:srgbClr val="FFFFFF"/>
                    </a:solidFill>
                  </a:tcPr>
                </a:tc>
                <a:tc>
                  <a:txBody>
                    <a:bodyPr/>
                    <a:lstStyle/>
                    <a:p>
                      <a:pPr algn="ctr"/>
                      <a:r>
                        <a:rPr sz="1600" b="0">
                          <a:solidFill>
                            <a:srgbClr val="222A33"/>
                          </a:solidFill>
                          <a:latin typeface="Calibri"/>
                        </a:rPr>
                        <a:t>0.13</a:t>
                      </a:r>
                    </a:p>
                  </a:txBody>
                  <a:tcPr marL="54864" marR="54864" marT="18288" marB="18288" anchor="ctr">
                    <a:solidFill>
                      <a:srgbClr val="FFFFFF"/>
                    </a:solidFill>
                  </a:tcPr>
                </a:tc>
                <a:tc>
                  <a:txBody>
                    <a:bodyPr/>
                    <a:lstStyle/>
                    <a:p>
                      <a:pPr algn="ctr"/>
                      <a:r>
                        <a:rPr sz="1600" b="0">
                          <a:solidFill>
                            <a:srgbClr val="222A33"/>
                          </a:solidFill>
                          <a:latin typeface="Calibri"/>
                        </a:rPr>
                        <a:t>0.13</a:t>
                      </a:r>
                    </a:p>
                  </a:txBody>
                  <a:tcPr marL="54864" marR="54864" marT="18288" marB="18288" anchor="ctr">
                    <a:solidFill>
                      <a:srgbClr val="FFFFFF"/>
                    </a:solidFill>
                  </a:tcPr>
                </a:tc>
                <a:tc>
                  <a:txBody>
                    <a:bodyPr/>
                    <a:lstStyle/>
                    <a:p>
                      <a:pPr algn="ctr"/>
                      <a:r>
                        <a:rPr sz="1600" b="0">
                          <a:solidFill>
                            <a:srgbClr val="222A33"/>
                          </a:solidFill>
                          <a:latin typeface="Calibri"/>
                        </a:rPr>
                        <a:t>0.13</a:t>
                      </a:r>
                    </a:p>
                  </a:txBody>
                  <a:tcPr marL="54864" marR="54864" marT="18288" marB="18288" anchor="ctr">
                    <a:solidFill>
                      <a:srgbClr val="FFFFFF"/>
                    </a:solidFill>
                  </a:tcPr>
                </a:tc>
                <a:extLst>
                  <a:ext uri="{0D108BD9-81ED-4DB2-BD59-A6C34878D82A}">
                    <a16:rowId xmlns:a16="http://schemas.microsoft.com/office/drawing/2014/main" val="10001"/>
                  </a:ext>
                </a:extLst>
              </a:tr>
              <a:tr h="603504">
                <a:tc>
                  <a:txBody>
                    <a:bodyPr/>
                    <a:lstStyle/>
                    <a:p>
                      <a:pPr algn="l"/>
                      <a:r>
                        <a:rPr sz="1600" b="0">
                          <a:solidFill>
                            <a:srgbClr val="222A33"/>
                          </a:solidFill>
                          <a:latin typeface="Calibri"/>
                        </a:rPr>
                        <a:t>C2  Static-only</a:t>
                      </a:r>
                    </a:p>
                  </a:txBody>
                  <a:tcPr marL="54864" marR="54864" marT="18288" marB="18288" anchor="ctr">
                    <a:solidFill>
                      <a:srgbClr val="F1F4F7"/>
                    </a:solidFill>
                  </a:tcPr>
                </a:tc>
                <a:tc>
                  <a:txBody>
                    <a:bodyPr/>
                    <a:lstStyle/>
                    <a:p>
                      <a:pPr algn="ctr"/>
                      <a:r>
                        <a:rPr sz="1600" b="0">
                          <a:solidFill>
                            <a:srgbClr val="222A33"/>
                          </a:solidFill>
                          <a:latin typeface="Calibri"/>
                        </a:rPr>
                        <a:t>0.90</a:t>
                      </a:r>
                    </a:p>
                  </a:txBody>
                  <a:tcPr marL="54864" marR="54864" marT="18288" marB="18288" anchor="ctr">
                    <a:solidFill>
                      <a:srgbClr val="F1F4F7"/>
                    </a:solidFill>
                  </a:tcPr>
                </a:tc>
                <a:tc>
                  <a:txBody>
                    <a:bodyPr/>
                    <a:lstStyle/>
                    <a:p>
                      <a:pPr algn="ctr"/>
                      <a:r>
                        <a:rPr sz="1600" b="0">
                          <a:solidFill>
                            <a:srgbClr val="222A33"/>
                          </a:solidFill>
                          <a:latin typeface="Calibri"/>
                        </a:rPr>
                        <a:t>0.88</a:t>
                      </a:r>
                    </a:p>
                  </a:txBody>
                  <a:tcPr marL="54864" marR="54864" marT="18288" marB="18288" anchor="ctr">
                    <a:solidFill>
                      <a:srgbClr val="F1F4F7"/>
                    </a:solidFill>
                  </a:tcPr>
                </a:tc>
                <a:tc>
                  <a:txBody>
                    <a:bodyPr/>
                    <a:lstStyle/>
                    <a:p>
                      <a:pPr algn="ctr"/>
                      <a:r>
                        <a:rPr sz="1600" b="0">
                          <a:solidFill>
                            <a:srgbClr val="222A33"/>
                          </a:solidFill>
                          <a:latin typeface="Calibri"/>
                        </a:rPr>
                        <a:t>0.85</a:t>
                      </a:r>
                    </a:p>
                  </a:txBody>
                  <a:tcPr marL="54864" marR="54864" marT="18288" marB="18288" anchor="ctr">
                    <a:solidFill>
                      <a:srgbClr val="F1F4F7"/>
                    </a:solidFill>
                  </a:tcPr>
                </a:tc>
                <a:extLst>
                  <a:ext uri="{0D108BD9-81ED-4DB2-BD59-A6C34878D82A}">
                    <a16:rowId xmlns:a16="http://schemas.microsoft.com/office/drawing/2014/main" val="10002"/>
                  </a:ext>
                </a:extLst>
              </a:tr>
              <a:tr h="603504">
                <a:tc>
                  <a:txBody>
                    <a:bodyPr/>
                    <a:lstStyle/>
                    <a:p>
                      <a:pPr algn="l"/>
                      <a:r>
                        <a:rPr sz="1600" b="0">
                          <a:solidFill>
                            <a:srgbClr val="222A33"/>
                          </a:solidFill>
                          <a:latin typeface="Calibri"/>
                        </a:rPr>
                        <a:t>C3  Dynamic-only</a:t>
                      </a:r>
                    </a:p>
                  </a:txBody>
                  <a:tcPr marL="54864" marR="54864" marT="18288" marB="18288" anchor="ctr">
                    <a:solidFill>
                      <a:srgbClr val="FFFFFF"/>
                    </a:solidFill>
                  </a:tcPr>
                </a:tc>
                <a:tc>
                  <a:txBody>
                    <a:bodyPr/>
                    <a:lstStyle/>
                    <a:p>
                      <a:pPr algn="ctr"/>
                      <a:r>
                        <a:rPr sz="1600" b="0">
                          <a:solidFill>
                            <a:srgbClr val="222A33"/>
                          </a:solidFill>
                          <a:latin typeface="Calibri"/>
                        </a:rPr>
                        <a:t>1.00</a:t>
                      </a:r>
                    </a:p>
                  </a:txBody>
                  <a:tcPr marL="54864" marR="54864" marT="18288" marB="18288" anchor="ctr">
                    <a:solidFill>
                      <a:srgbClr val="FFFFFF"/>
                    </a:solidFill>
                  </a:tcPr>
                </a:tc>
                <a:tc>
                  <a:txBody>
                    <a:bodyPr/>
                    <a:lstStyle/>
                    <a:p>
                      <a:pPr algn="ctr"/>
                      <a:r>
                        <a:rPr sz="1600" b="0">
                          <a:solidFill>
                            <a:srgbClr val="222A33"/>
                          </a:solidFill>
                          <a:latin typeface="Calibri"/>
                        </a:rPr>
                        <a:t>0.88</a:t>
                      </a:r>
                    </a:p>
                  </a:txBody>
                  <a:tcPr marL="54864" marR="54864" marT="18288" marB="18288" anchor="ctr">
                    <a:solidFill>
                      <a:srgbClr val="FFFFFF"/>
                    </a:solidFill>
                  </a:tcPr>
                </a:tc>
                <a:tc>
                  <a:txBody>
                    <a:bodyPr/>
                    <a:lstStyle/>
                    <a:p>
                      <a:pPr algn="ctr"/>
                      <a:r>
                        <a:rPr sz="1600" b="0">
                          <a:solidFill>
                            <a:srgbClr val="222A33"/>
                          </a:solidFill>
                          <a:latin typeface="Calibri"/>
                        </a:rPr>
                        <a:t>0.92</a:t>
                      </a:r>
                    </a:p>
                  </a:txBody>
                  <a:tcPr marL="54864" marR="54864" marT="18288" marB="18288" anchor="ctr">
                    <a:solidFill>
                      <a:srgbClr val="FFFFFF"/>
                    </a:solidFill>
                  </a:tcPr>
                </a:tc>
                <a:extLst>
                  <a:ext uri="{0D108BD9-81ED-4DB2-BD59-A6C34878D82A}">
                    <a16:rowId xmlns:a16="http://schemas.microsoft.com/office/drawing/2014/main" val="10003"/>
                  </a:ext>
                </a:extLst>
              </a:tr>
              <a:tr h="603504">
                <a:tc>
                  <a:txBody>
                    <a:bodyPr/>
                    <a:lstStyle/>
                    <a:p>
                      <a:pPr algn="l"/>
                      <a:r>
                        <a:rPr sz="1600" b="0">
                          <a:solidFill>
                            <a:srgbClr val="222A33"/>
                          </a:solidFill>
                          <a:latin typeface="Calibri"/>
                        </a:rPr>
                        <a:t>C4  Static ∪ Dynamic</a:t>
                      </a:r>
                    </a:p>
                  </a:txBody>
                  <a:tcPr marL="54864" marR="54864" marT="18288" marB="18288" anchor="ctr">
                    <a:solidFill>
                      <a:srgbClr val="F1F4F7"/>
                    </a:solidFill>
                  </a:tcPr>
                </a:tc>
                <a:tc>
                  <a:txBody>
                    <a:bodyPr/>
                    <a:lstStyle/>
                    <a:p>
                      <a:pPr algn="ctr"/>
                      <a:r>
                        <a:rPr sz="1600" b="0">
                          <a:solidFill>
                            <a:srgbClr val="222A33"/>
                          </a:solidFill>
                          <a:latin typeface="Calibri"/>
                        </a:rPr>
                        <a:t>0.90</a:t>
                      </a:r>
                    </a:p>
                  </a:txBody>
                  <a:tcPr marL="54864" marR="54864" marT="18288" marB="18288" anchor="ctr">
                    <a:solidFill>
                      <a:srgbClr val="F1F4F7"/>
                    </a:solidFill>
                  </a:tcPr>
                </a:tc>
                <a:tc>
                  <a:txBody>
                    <a:bodyPr/>
                    <a:lstStyle/>
                    <a:p>
                      <a:pPr algn="ctr"/>
                      <a:r>
                        <a:rPr sz="1600" b="0">
                          <a:solidFill>
                            <a:srgbClr val="222A33"/>
                          </a:solidFill>
                          <a:latin typeface="Calibri"/>
                        </a:rPr>
                        <a:t>1.00</a:t>
                      </a:r>
                    </a:p>
                  </a:txBody>
                  <a:tcPr marL="54864" marR="54864" marT="18288" marB="18288" anchor="ctr">
                    <a:solidFill>
                      <a:srgbClr val="F1F4F7"/>
                    </a:solidFill>
                  </a:tcPr>
                </a:tc>
                <a:tc>
                  <a:txBody>
                    <a:bodyPr/>
                    <a:lstStyle/>
                    <a:p>
                      <a:pPr algn="ctr"/>
                      <a:r>
                        <a:rPr sz="1600" b="0">
                          <a:solidFill>
                            <a:srgbClr val="222A33"/>
                          </a:solidFill>
                          <a:latin typeface="Calibri"/>
                        </a:rPr>
                        <a:t>0.94</a:t>
                      </a:r>
                    </a:p>
                  </a:txBody>
                  <a:tcPr marL="54864" marR="54864" marT="18288" marB="18288" anchor="ctr">
                    <a:solidFill>
                      <a:srgbClr val="F1F4F7"/>
                    </a:solidFill>
                  </a:tcPr>
                </a:tc>
                <a:extLst>
                  <a:ext uri="{0D108BD9-81ED-4DB2-BD59-A6C34878D82A}">
                    <a16:rowId xmlns:a16="http://schemas.microsoft.com/office/drawing/2014/main" val="10004"/>
                  </a:ext>
                </a:extLst>
              </a:tr>
              <a:tr h="603504">
                <a:tc>
                  <a:txBody>
                    <a:bodyPr/>
                    <a:lstStyle/>
                    <a:p>
                      <a:pPr algn="l"/>
                      <a:r>
                        <a:rPr sz="1600" b="1">
                          <a:solidFill>
                            <a:srgbClr val="222A33"/>
                          </a:solidFill>
                          <a:latin typeface="Calibri"/>
                        </a:rPr>
                        <a:t>C5  Full pipeline</a:t>
                      </a:r>
                    </a:p>
                  </a:txBody>
                  <a:tcPr marL="54864" marR="54864" marT="18288" marB="18288" anchor="ctr">
                    <a:solidFill>
                      <a:srgbClr val="ECF6EE"/>
                    </a:solidFill>
                  </a:tcPr>
                </a:tc>
                <a:tc>
                  <a:txBody>
                    <a:bodyPr/>
                    <a:lstStyle/>
                    <a:p>
                      <a:pPr algn="ctr"/>
                      <a:r>
                        <a:rPr sz="1600" b="0">
                          <a:solidFill>
                            <a:srgbClr val="222A33"/>
                          </a:solidFill>
                          <a:latin typeface="Calibri"/>
                        </a:rPr>
                        <a:t>0.94</a:t>
                      </a:r>
                    </a:p>
                  </a:txBody>
                  <a:tcPr marL="54864" marR="54864" marT="18288" marB="18288" anchor="ctr">
                    <a:solidFill>
                      <a:srgbClr val="ECF6EE"/>
                    </a:solidFill>
                  </a:tcPr>
                </a:tc>
                <a:tc>
                  <a:txBody>
                    <a:bodyPr/>
                    <a:lstStyle/>
                    <a:p>
                      <a:pPr algn="ctr"/>
                      <a:r>
                        <a:rPr sz="1600" b="0">
                          <a:solidFill>
                            <a:srgbClr val="222A33"/>
                          </a:solidFill>
                          <a:latin typeface="Calibri"/>
                        </a:rPr>
                        <a:t>1.00</a:t>
                      </a:r>
                    </a:p>
                  </a:txBody>
                  <a:tcPr marL="54864" marR="54864" marT="18288" marB="18288" anchor="ctr">
                    <a:solidFill>
                      <a:srgbClr val="ECF6EE"/>
                    </a:solidFill>
                  </a:tcPr>
                </a:tc>
                <a:tc>
                  <a:txBody>
                    <a:bodyPr/>
                    <a:lstStyle/>
                    <a:p>
                      <a:pPr algn="ctr"/>
                      <a:r>
                        <a:rPr sz="1600" b="0">
                          <a:solidFill>
                            <a:srgbClr val="222A33"/>
                          </a:solidFill>
                          <a:latin typeface="Calibri"/>
                        </a:rPr>
                        <a:t>0.96</a:t>
                      </a:r>
                    </a:p>
                  </a:txBody>
                  <a:tcPr marL="54864" marR="54864" marT="18288" marB="18288" anchor="ctr">
                    <a:solidFill>
                      <a:srgbClr val="ECF6EE"/>
                    </a:solidFill>
                  </a:tcPr>
                </a:tc>
                <a:extLst>
                  <a:ext uri="{0D108BD9-81ED-4DB2-BD59-A6C34878D82A}">
                    <a16:rowId xmlns:a16="http://schemas.microsoft.com/office/drawing/2014/main" val="10005"/>
                  </a:ext>
                </a:extLst>
              </a:tr>
            </a:tbl>
          </a:graphicData>
        </a:graphic>
      </p:graphicFrame>
      <p:sp>
        <p:nvSpPr>
          <p:cNvPr id="8" name="Rounded Rectangle 7"/>
          <p:cNvSpPr/>
          <p:nvPr/>
        </p:nvSpPr>
        <p:spPr>
          <a:xfrm>
            <a:off x="1280160" y="5394960"/>
            <a:ext cx="9601200" cy="914400"/>
          </a:xfrm>
          <a:prstGeom prst="roundRect">
            <a:avLst>
              <a:gd name="adj" fmla="val 4000"/>
            </a:avLst>
          </a:prstGeom>
          <a:solidFill>
            <a:srgbClr val="EC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508760" y="5504688"/>
            <a:ext cx="9235440" cy="731520"/>
          </a:xfrm>
          <a:prstGeom prst="rect">
            <a:avLst/>
          </a:prstGeom>
          <a:noFill/>
        </p:spPr>
        <p:txBody>
          <a:bodyPr wrap="square" lIns="45720" tIns="18288" rIns="45720" bIns="18288" anchor="ctr">
            <a:spAutoFit/>
          </a:bodyPr>
          <a:lstStyle/>
          <a:p>
            <a:pPr algn="l"/>
            <a:r>
              <a:rPr sz="1500" b="1" i="0">
                <a:solidFill>
                  <a:srgbClr val="2E8B57"/>
                </a:solidFill>
                <a:latin typeface="Calibri"/>
              </a:rPr>
              <a:t>C5 posts the highest overall F1 of any condition (0.96): it keeps C4's perfect recall while partially fixing static over-approximation.</a:t>
            </a:r>
          </a:p>
        </p:txBody>
      </p:sp>
      <p:sp>
        <p:nvSpPr>
          <p:cNvPr id="10" name="TextBox 9"/>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1" name="TextBox 10"/>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RESULTS · RQ1  (PER STRATUM, F1)</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H1 Results — Fusion Is Additive Only on S4</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21</a:t>
            </a:r>
          </a:p>
        </p:txBody>
      </p:sp>
      <p:graphicFrame>
        <p:nvGraphicFramePr>
          <p:cNvPr id="7" name="Table 6"/>
          <p:cNvGraphicFramePr>
            <a:graphicFrameLocks noGrp="1"/>
          </p:cNvGraphicFramePr>
          <p:nvPr/>
        </p:nvGraphicFramePr>
        <p:xfrm>
          <a:off x="640080" y="1463040"/>
          <a:ext cx="10881357" cy="3291840"/>
        </p:xfrm>
        <a:graphic>
          <a:graphicData uri="http://schemas.openxmlformats.org/drawingml/2006/table">
            <a:tbl>
              <a:tblPr>
                <a:tableStyleId>{5C22544A-7EE6-4342-B048-85BDC9FD1C3A}</a:tableStyleId>
              </a:tblPr>
              <a:tblGrid>
                <a:gridCol w="2994869">
                  <a:extLst>
                    <a:ext uri="{9D8B030D-6E8A-4147-A177-3AD203B41FA5}">
                      <a16:colId xmlns:a16="http://schemas.microsoft.com/office/drawing/2014/main" val="20000"/>
                    </a:ext>
                  </a:extLst>
                </a:gridCol>
                <a:gridCol w="2994869">
                  <a:extLst>
                    <a:ext uri="{9D8B030D-6E8A-4147-A177-3AD203B41FA5}">
                      <a16:colId xmlns:a16="http://schemas.microsoft.com/office/drawing/2014/main" val="20001"/>
                    </a:ext>
                  </a:extLst>
                </a:gridCol>
                <a:gridCol w="2895040">
                  <a:extLst>
                    <a:ext uri="{9D8B030D-6E8A-4147-A177-3AD203B41FA5}">
                      <a16:colId xmlns:a16="http://schemas.microsoft.com/office/drawing/2014/main" val="20002"/>
                    </a:ext>
                  </a:extLst>
                </a:gridCol>
                <a:gridCol w="1996579">
                  <a:extLst>
                    <a:ext uri="{9D8B030D-6E8A-4147-A177-3AD203B41FA5}">
                      <a16:colId xmlns:a16="http://schemas.microsoft.com/office/drawing/2014/main" val="20003"/>
                    </a:ext>
                  </a:extLst>
                </a:gridCol>
              </a:tblGrid>
              <a:tr h="548640">
                <a:tc>
                  <a:txBody>
                    <a:bodyPr/>
                    <a:lstStyle/>
                    <a:p>
                      <a:pPr algn="l"/>
                      <a:r>
                        <a:rPr sz="1500" b="1">
                          <a:solidFill>
                            <a:srgbClr val="FFFFFF"/>
                          </a:solidFill>
                          <a:latin typeface="Calibri"/>
                        </a:rPr>
                        <a:t>Condition</a:t>
                      </a:r>
                    </a:p>
                  </a:txBody>
                  <a:tcPr marL="54864" marR="54864" marT="18288" marB="18288" anchor="ctr">
                    <a:solidFill>
                      <a:srgbClr val="0B2B45"/>
                    </a:solidFill>
                  </a:tcPr>
                </a:tc>
                <a:tc>
                  <a:txBody>
                    <a:bodyPr/>
                    <a:lstStyle/>
                    <a:p>
                      <a:pPr algn="ctr"/>
                      <a:r>
                        <a:rPr sz="1500" b="1">
                          <a:solidFill>
                            <a:srgbClr val="FFFFFF"/>
                          </a:solidFill>
                          <a:latin typeface="Calibri"/>
                        </a:rPr>
                        <a:t>Happy-path (S1–S3)</a:t>
                      </a:r>
                    </a:p>
                  </a:txBody>
                  <a:tcPr marL="54864" marR="54864" marT="18288" marB="18288" anchor="ctr">
                    <a:solidFill>
                      <a:srgbClr val="0B2B45"/>
                    </a:solidFill>
                  </a:tcPr>
                </a:tc>
                <a:tc>
                  <a:txBody>
                    <a:bodyPr/>
                    <a:lstStyle/>
                    <a:p>
                      <a:pPr algn="ctr"/>
                      <a:r>
                        <a:rPr sz="1500" b="1">
                          <a:solidFill>
                            <a:srgbClr val="FFFFFF"/>
                          </a:solidFill>
                          <a:latin typeface="Calibri"/>
                        </a:rPr>
                        <a:t>Constructed (S4)</a:t>
                      </a:r>
                    </a:p>
                  </a:txBody>
                  <a:tcPr marL="54864" marR="54864" marT="18288" marB="18288" anchor="ctr">
                    <a:solidFill>
                      <a:srgbClr val="0B2B45"/>
                    </a:solidFill>
                  </a:tcPr>
                </a:tc>
                <a:tc>
                  <a:txBody>
                    <a:bodyPr/>
                    <a:lstStyle/>
                    <a:p>
                      <a:pPr algn="ctr"/>
                      <a:r>
                        <a:rPr sz="1500" b="1">
                          <a:solidFill>
                            <a:srgbClr val="FFFFFF"/>
                          </a:solidFill>
                          <a:latin typeface="Calibri"/>
                        </a:rPr>
                        <a:t>Overall</a:t>
                      </a:r>
                    </a:p>
                  </a:txBody>
                  <a:tcPr marL="54864" marR="54864" marT="18288" marB="18288" anchor="ctr">
                    <a:solidFill>
                      <a:srgbClr val="0B2B45"/>
                    </a:solidFill>
                  </a:tcPr>
                </a:tc>
                <a:extLst>
                  <a:ext uri="{0D108BD9-81ED-4DB2-BD59-A6C34878D82A}">
                    <a16:rowId xmlns:a16="http://schemas.microsoft.com/office/drawing/2014/main" val="10000"/>
                  </a:ext>
                </a:extLst>
              </a:tr>
              <a:tr h="548640">
                <a:tc>
                  <a:txBody>
                    <a:bodyPr/>
                    <a:lstStyle/>
                    <a:p>
                      <a:pPr algn="l"/>
                      <a:r>
                        <a:rPr sz="1500" b="0">
                          <a:solidFill>
                            <a:srgbClr val="222A33"/>
                          </a:solidFill>
                          <a:latin typeface="Calibri"/>
                        </a:rPr>
                        <a:t>C1  LLM-only</a:t>
                      </a:r>
                    </a:p>
                  </a:txBody>
                  <a:tcPr marL="54864" marR="54864" marT="18288" marB="18288" anchor="ctr">
                    <a:solidFill>
                      <a:srgbClr val="FFFFFF"/>
                    </a:solidFill>
                  </a:tcPr>
                </a:tc>
                <a:tc>
                  <a:txBody>
                    <a:bodyPr/>
                    <a:lstStyle/>
                    <a:p>
                      <a:pPr algn="ctr"/>
                      <a:r>
                        <a:rPr sz="1500" b="0">
                          <a:solidFill>
                            <a:srgbClr val="222A33"/>
                          </a:solidFill>
                          <a:latin typeface="Calibri"/>
                        </a:rPr>
                        <a:t>0.00</a:t>
                      </a:r>
                    </a:p>
                  </a:txBody>
                  <a:tcPr marL="54864" marR="54864" marT="18288" marB="18288" anchor="ctr">
                    <a:solidFill>
                      <a:srgbClr val="FFFFFF"/>
                    </a:solidFill>
                  </a:tcPr>
                </a:tc>
                <a:tc>
                  <a:txBody>
                    <a:bodyPr/>
                    <a:lstStyle/>
                    <a:p>
                      <a:pPr algn="ctr"/>
                      <a:r>
                        <a:rPr sz="1500" b="0">
                          <a:solidFill>
                            <a:srgbClr val="222A33"/>
                          </a:solidFill>
                          <a:latin typeface="Calibri"/>
                        </a:rPr>
                        <a:t>0.50</a:t>
                      </a:r>
                    </a:p>
                  </a:txBody>
                  <a:tcPr marL="54864" marR="54864" marT="18288" marB="18288" anchor="ctr">
                    <a:solidFill>
                      <a:srgbClr val="FFFFFF"/>
                    </a:solidFill>
                  </a:tcPr>
                </a:tc>
                <a:tc>
                  <a:txBody>
                    <a:bodyPr/>
                    <a:lstStyle/>
                    <a:p>
                      <a:pPr algn="ctr"/>
                      <a:r>
                        <a:rPr sz="1500" b="0">
                          <a:solidFill>
                            <a:srgbClr val="222A33"/>
                          </a:solidFill>
                          <a:latin typeface="Calibri"/>
                        </a:rPr>
                        <a:t>0.13</a:t>
                      </a:r>
                    </a:p>
                  </a:txBody>
                  <a:tcPr marL="54864" marR="54864" marT="18288" marB="18288" anchor="ctr">
                    <a:solidFill>
                      <a:srgbClr val="FFFFFF"/>
                    </a:solidFill>
                  </a:tcPr>
                </a:tc>
                <a:extLst>
                  <a:ext uri="{0D108BD9-81ED-4DB2-BD59-A6C34878D82A}">
                    <a16:rowId xmlns:a16="http://schemas.microsoft.com/office/drawing/2014/main" val="10001"/>
                  </a:ext>
                </a:extLst>
              </a:tr>
              <a:tr h="548640">
                <a:tc>
                  <a:txBody>
                    <a:bodyPr/>
                    <a:lstStyle/>
                    <a:p>
                      <a:pPr algn="l"/>
                      <a:r>
                        <a:rPr sz="1500" b="0">
                          <a:solidFill>
                            <a:srgbClr val="222A33"/>
                          </a:solidFill>
                          <a:latin typeface="Calibri"/>
                        </a:rPr>
                        <a:t>C2  Static-only</a:t>
                      </a:r>
                    </a:p>
                  </a:txBody>
                  <a:tcPr marL="54864" marR="54864" marT="18288" marB="18288" anchor="ctr">
                    <a:solidFill>
                      <a:srgbClr val="F1F4F7"/>
                    </a:solidFill>
                  </a:tcPr>
                </a:tc>
                <a:tc>
                  <a:txBody>
                    <a:bodyPr/>
                    <a:lstStyle/>
                    <a:p>
                      <a:pPr algn="ctr"/>
                      <a:r>
                        <a:rPr sz="1500" b="0">
                          <a:solidFill>
                            <a:srgbClr val="222A33"/>
                          </a:solidFill>
                          <a:latin typeface="Calibri"/>
                        </a:rPr>
                        <a:t>0.92</a:t>
                      </a:r>
                    </a:p>
                  </a:txBody>
                  <a:tcPr marL="54864" marR="54864" marT="18288" marB="18288" anchor="ctr">
                    <a:solidFill>
                      <a:srgbClr val="F1F4F7"/>
                    </a:solidFill>
                  </a:tcPr>
                </a:tc>
                <a:tc>
                  <a:txBody>
                    <a:bodyPr/>
                    <a:lstStyle/>
                    <a:p>
                      <a:pPr algn="ctr"/>
                      <a:r>
                        <a:rPr sz="1500" b="0">
                          <a:solidFill>
                            <a:srgbClr val="222A33"/>
                          </a:solidFill>
                          <a:latin typeface="Calibri"/>
                        </a:rPr>
                        <a:t>0.67</a:t>
                      </a:r>
                    </a:p>
                  </a:txBody>
                  <a:tcPr marL="54864" marR="54864" marT="18288" marB="18288" anchor="ctr">
                    <a:solidFill>
                      <a:srgbClr val="F1F4F7"/>
                    </a:solidFill>
                  </a:tcPr>
                </a:tc>
                <a:tc>
                  <a:txBody>
                    <a:bodyPr/>
                    <a:lstStyle/>
                    <a:p>
                      <a:pPr algn="ctr"/>
                      <a:r>
                        <a:rPr sz="1500" b="0">
                          <a:solidFill>
                            <a:srgbClr val="222A33"/>
                          </a:solidFill>
                          <a:latin typeface="Calibri"/>
                        </a:rPr>
                        <a:t>0.85</a:t>
                      </a:r>
                    </a:p>
                  </a:txBody>
                  <a:tcPr marL="54864" marR="54864" marT="18288" marB="18288" anchor="ctr">
                    <a:solidFill>
                      <a:srgbClr val="F1F4F7"/>
                    </a:solidFill>
                  </a:tcPr>
                </a:tc>
                <a:extLst>
                  <a:ext uri="{0D108BD9-81ED-4DB2-BD59-A6C34878D82A}">
                    <a16:rowId xmlns:a16="http://schemas.microsoft.com/office/drawing/2014/main" val="10002"/>
                  </a:ext>
                </a:extLst>
              </a:tr>
              <a:tr h="548640">
                <a:tc>
                  <a:txBody>
                    <a:bodyPr/>
                    <a:lstStyle/>
                    <a:p>
                      <a:pPr algn="l"/>
                      <a:r>
                        <a:rPr sz="1500" b="0">
                          <a:solidFill>
                            <a:srgbClr val="222A33"/>
                          </a:solidFill>
                          <a:latin typeface="Calibri"/>
                        </a:rPr>
                        <a:t>C3  Dynamic-only</a:t>
                      </a:r>
                    </a:p>
                  </a:txBody>
                  <a:tcPr marL="54864" marR="54864" marT="18288" marB="18288" anchor="ctr">
                    <a:solidFill>
                      <a:srgbClr val="FFFFFF"/>
                    </a:solidFill>
                  </a:tcPr>
                </a:tc>
                <a:tc>
                  <a:txBody>
                    <a:bodyPr/>
                    <a:lstStyle/>
                    <a:p>
                      <a:pPr algn="ctr"/>
                      <a:r>
                        <a:rPr sz="1500" b="0">
                          <a:solidFill>
                            <a:srgbClr val="222A33"/>
                          </a:solidFill>
                          <a:latin typeface="Calibri"/>
                        </a:rPr>
                        <a:t>1.00</a:t>
                      </a:r>
                    </a:p>
                  </a:txBody>
                  <a:tcPr marL="54864" marR="54864" marT="18288" marB="18288" anchor="ctr">
                    <a:solidFill>
                      <a:srgbClr val="FFFFFF"/>
                    </a:solidFill>
                  </a:tcPr>
                </a:tc>
                <a:tc>
                  <a:txBody>
                    <a:bodyPr/>
                    <a:lstStyle/>
                    <a:p>
                      <a:pPr algn="ctr"/>
                      <a:r>
                        <a:rPr sz="1500" b="0">
                          <a:solidFill>
                            <a:srgbClr val="222A33"/>
                          </a:solidFill>
                          <a:latin typeface="Calibri"/>
                        </a:rPr>
                        <a:t>0.67</a:t>
                      </a:r>
                    </a:p>
                  </a:txBody>
                  <a:tcPr marL="54864" marR="54864" marT="18288" marB="18288" anchor="ctr">
                    <a:solidFill>
                      <a:srgbClr val="FFFFFF"/>
                    </a:solidFill>
                  </a:tcPr>
                </a:tc>
                <a:tc>
                  <a:txBody>
                    <a:bodyPr/>
                    <a:lstStyle/>
                    <a:p>
                      <a:pPr algn="ctr"/>
                      <a:r>
                        <a:rPr sz="1500" b="0">
                          <a:solidFill>
                            <a:srgbClr val="222A33"/>
                          </a:solidFill>
                          <a:latin typeface="Calibri"/>
                        </a:rPr>
                        <a:t>0.92</a:t>
                      </a:r>
                    </a:p>
                  </a:txBody>
                  <a:tcPr marL="54864" marR="54864" marT="18288" marB="18288" anchor="ctr">
                    <a:solidFill>
                      <a:srgbClr val="FFFFFF"/>
                    </a:solidFill>
                  </a:tcPr>
                </a:tc>
                <a:extLst>
                  <a:ext uri="{0D108BD9-81ED-4DB2-BD59-A6C34878D82A}">
                    <a16:rowId xmlns:a16="http://schemas.microsoft.com/office/drawing/2014/main" val="10003"/>
                  </a:ext>
                </a:extLst>
              </a:tr>
              <a:tr h="548640">
                <a:tc>
                  <a:txBody>
                    <a:bodyPr/>
                    <a:lstStyle/>
                    <a:p>
                      <a:pPr algn="l"/>
                      <a:r>
                        <a:rPr sz="1500" b="1">
                          <a:solidFill>
                            <a:srgbClr val="222A33"/>
                          </a:solidFill>
                          <a:latin typeface="Calibri"/>
                        </a:rPr>
                        <a:t>C4  Static ∪ Dynamic</a:t>
                      </a:r>
                    </a:p>
                  </a:txBody>
                  <a:tcPr marL="54864" marR="54864" marT="18288" marB="18288" anchor="ctr">
                    <a:solidFill>
                      <a:srgbClr val="ECF6EE"/>
                    </a:solidFill>
                  </a:tcPr>
                </a:tc>
                <a:tc>
                  <a:txBody>
                    <a:bodyPr/>
                    <a:lstStyle/>
                    <a:p>
                      <a:pPr algn="ctr"/>
                      <a:r>
                        <a:rPr sz="1500" b="0">
                          <a:solidFill>
                            <a:srgbClr val="222A33"/>
                          </a:solidFill>
                          <a:latin typeface="Calibri"/>
                        </a:rPr>
                        <a:t>0.92</a:t>
                      </a:r>
                    </a:p>
                  </a:txBody>
                  <a:tcPr marL="54864" marR="54864" marT="18288" marB="18288" anchor="ctr">
                    <a:solidFill>
                      <a:srgbClr val="ECF6EE"/>
                    </a:solidFill>
                  </a:tcPr>
                </a:tc>
                <a:tc>
                  <a:txBody>
                    <a:bodyPr/>
                    <a:lstStyle/>
                    <a:p>
                      <a:pPr algn="ctr"/>
                      <a:r>
                        <a:rPr sz="1500" b="0">
                          <a:solidFill>
                            <a:srgbClr val="222A33"/>
                          </a:solidFill>
                          <a:latin typeface="Calibri"/>
                        </a:rPr>
                        <a:t>1.00</a:t>
                      </a:r>
                    </a:p>
                  </a:txBody>
                  <a:tcPr marL="54864" marR="54864" marT="18288" marB="18288" anchor="ctr">
                    <a:solidFill>
                      <a:srgbClr val="ECF6EE"/>
                    </a:solidFill>
                  </a:tcPr>
                </a:tc>
                <a:tc>
                  <a:txBody>
                    <a:bodyPr/>
                    <a:lstStyle/>
                    <a:p>
                      <a:pPr algn="ctr"/>
                      <a:r>
                        <a:rPr sz="1500" b="0">
                          <a:solidFill>
                            <a:srgbClr val="222A33"/>
                          </a:solidFill>
                          <a:latin typeface="Calibri"/>
                        </a:rPr>
                        <a:t>0.94</a:t>
                      </a:r>
                    </a:p>
                  </a:txBody>
                  <a:tcPr marL="54864" marR="54864" marT="18288" marB="18288" anchor="ctr">
                    <a:solidFill>
                      <a:srgbClr val="ECF6EE"/>
                    </a:solidFill>
                  </a:tcPr>
                </a:tc>
                <a:extLst>
                  <a:ext uri="{0D108BD9-81ED-4DB2-BD59-A6C34878D82A}">
                    <a16:rowId xmlns:a16="http://schemas.microsoft.com/office/drawing/2014/main" val="10004"/>
                  </a:ext>
                </a:extLst>
              </a:tr>
              <a:tr h="548640">
                <a:tc>
                  <a:txBody>
                    <a:bodyPr/>
                    <a:lstStyle/>
                    <a:p>
                      <a:pPr algn="l"/>
                      <a:r>
                        <a:rPr sz="1500" b="1">
                          <a:solidFill>
                            <a:srgbClr val="222A33"/>
                          </a:solidFill>
                          <a:latin typeface="Calibri"/>
                        </a:rPr>
                        <a:t>C5  Full pipeline</a:t>
                      </a:r>
                    </a:p>
                  </a:txBody>
                  <a:tcPr marL="54864" marR="54864" marT="18288" marB="18288" anchor="ctr">
                    <a:solidFill>
                      <a:srgbClr val="ECF6EE"/>
                    </a:solidFill>
                  </a:tcPr>
                </a:tc>
                <a:tc>
                  <a:txBody>
                    <a:bodyPr/>
                    <a:lstStyle/>
                    <a:p>
                      <a:pPr algn="ctr"/>
                      <a:r>
                        <a:rPr sz="1500" b="0">
                          <a:solidFill>
                            <a:srgbClr val="222A33"/>
                          </a:solidFill>
                          <a:latin typeface="Calibri"/>
                        </a:rPr>
                        <a:t>0.95</a:t>
                      </a:r>
                    </a:p>
                  </a:txBody>
                  <a:tcPr marL="54864" marR="54864" marT="18288" marB="18288" anchor="ctr">
                    <a:solidFill>
                      <a:srgbClr val="ECF6EE"/>
                    </a:solidFill>
                  </a:tcPr>
                </a:tc>
                <a:tc>
                  <a:txBody>
                    <a:bodyPr/>
                    <a:lstStyle/>
                    <a:p>
                      <a:pPr algn="ctr"/>
                      <a:r>
                        <a:rPr sz="1500" b="0">
                          <a:solidFill>
                            <a:srgbClr val="222A33"/>
                          </a:solidFill>
                          <a:latin typeface="Calibri"/>
                        </a:rPr>
                        <a:t>1.00</a:t>
                      </a:r>
                    </a:p>
                  </a:txBody>
                  <a:tcPr marL="54864" marR="54864" marT="18288" marB="18288" anchor="ctr">
                    <a:solidFill>
                      <a:srgbClr val="ECF6EE"/>
                    </a:solidFill>
                  </a:tcPr>
                </a:tc>
                <a:tc>
                  <a:txBody>
                    <a:bodyPr/>
                    <a:lstStyle/>
                    <a:p>
                      <a:pPr algn="ctr"/>
                      <a:r>
                        <a:rPr sz="1500" b="0">
                          <a:solidFill>
                            <a:srgbClr val="222A33"/>
                          </a:solidFill>
                          <a:latin typeface="Calibri"/>
                        </a:rPr>
                        <a:t>0.96</a:t>
                      </a:r>
                    </a:p>
                  </a:txBody>
                  <a:tcPr marL="54864" marR="54864" marT="18288" marB="18288" anchor="ctr">
                    <a:solidFill>
                      <a:srgbClr val="ECF6EE"/>
                    </a:solidFill>
                  </a:tcPr>
                </a:tc>
                <a:extLst>
                  <a:ext uri="{0D108BD9-81ED-4DB2-BD59-A6C34878D82A}">
                    <a16:rowId xmlns:a16="http://schemas.microsoft.com/office/drawing/2014/main" val="10005"/>
                  </a:ext>
                </a:extLst>
              </a:tr>
            </a:tbl>
          </a:graphicData>
        </a:graphic>
      </p:graphicFrame>
      <p:sp>
        <p:nvSpPr>
          <p:cNvPr id="8" name="Rounded Rectangle 7"/>
          <p:cNvSpPr/>
          <p:nvPr/>
        </p:nvSpPr>
        <p:spPr>
          <a:xfrm>
            <a:off x="640080" y="5029200"/>
            <a:ext cx="5349240" cy="1280160"/>
          </a:xfrm>
          <a:prstGeom prst="roundRect">
            <a:avLst>
              <a:gd name="adj" fmla="val 4000"/>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5138928"/>
            <a:ext cx="4937760" cy="1097280"/>
          </a:xfrm>
          <a:prstGeom prst="rect">
            <a:avLst/>
          </a:prstGeom>
          <a:noFill/>
        </p:spPr>
        <p:txBody>
          <a:bodyPr wrap="square" lIns="45720" tIns="18288" rIns="45720" bIns="18288" anchor="t">
            <a:spAutoFit/>
          </a:bodyPr>
          <a:lstStyle/>
          <a:p>
            <a:pPr algn="l">
              <a:spcAft>
                <a:spcPts val="400"/>
              </a:spcAft>
            </a:pPr>
            <a:r>
              <a:rPr sz="1400" b="1" i="0">
                <a:solidFill>
                  <a:srgbClr val="FFFFFF"/>
                </a:solidFill>
                <a:latin typeface="Calibri"/>
              </a:rPr>
              <a:t>On S4: C4 = 1.00 strictly beats C2 = 0.67 and C3 = 0.67.</a:t>
            </a:r>
          </a:p>
          <a:p>
            <a:pPr algn="l"/>
            <a:r>
              <a:rPr sz="1250" b="0" i="0">
                <a:solidFill>
                  <a:srgbClr val="C9D6E2"/>
                </a:solidFill>
                <a:latin typeface="Calibri"/>
              </a:rPr>
              <a:t>The only scenario where fusion is additive — each source is blind to a different edge.</a:t>
            </a:r>
          </a:p>
        </p:txBody>
      </p:sp>
      <p:sp>
        <p:nvSpPr>
          <p:cNvPr id="10" name="Rounded Rectangle 9"/>
          <p:cNvSpPr/>
          <p:nvPr/>
        </p:nvSpPr>
        <p:spPr>
          <a:xfrm>
            <a:off x="6172200" y="5029200"/>
            <a:ext cx="5349240" cy="1280160"/>
          </a:xfrm>
          <a:prstGeom prst="roundRect">
            <a:avLst>
              <a:gd name="adj" fmla="val 4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5138928"/>
            <a:ext cx="4937760" cy="1097280"/>
          </a:xfrm>
          <a:prstGeom prst="rect">
            <a:avLst/>
          </a:prstGeom>
          <a:noFill/>
        </p:spPr>
        <p:txBody>
          <a:bodyPr wrap="square" lIns="45720" tIns="18288" rIns="45720" bIns="18288" anchor="t">
            <a:spAutoFit/>
          </a:bodyPr>
          <a:lstStyle/>
          <a:p>
            <a:pPr algn="l">
              <a:spcAft>
                <a:spcPts val="400"/>
              </a:spcAft>
            </a:pPr>
            <a:r>
              <a:rPr sz="1400" b="1" i="0">
                <a:solidFill>
                  <a:srgbClr val="1F6FB2"/>
                </a:solidFill>
                <a:latin typeface="Calibri"/>
              </a:rPr>
              <a:t>On S1–S3: C4 = C2 (fusion redundant).</a:t>
            </a:r>
          </a:p>
          <a:p>
            <a:pPr algn="l"/>
            <a:r>
              <a:rPr sz="1250" b="0" i="0">
                <a:solidFill>
                  <a:srgbClr val="222A33"/>
                </a:solidFill>
                <a:latin typeface="Calibri"/>
              </a:rPr>
              <a:t>C3 ⊆ C2 here, so the union adds nothing — but it still guarantees a recall floor (C4 ≥ C3 always).</a:t>
            </a:r>
          </a:p>
        </p:txBody>
      </p:sp>
      <p:sp>
        <p:nvSpPr>
          <p:cNvPr id="12" name="TextBox 11"/>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3" name="TextBox 12"/>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RESULTS · INTERPRETATION</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Why the Numbers Look the Way They Do</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22</a:t>
            </a:r>
          </a:p>
        </p:txBody>
      </p:sp>
      <p:sp>
        <p:nvSpPr>
          <p:cNvPr id="7" name="Rounded Rectangle 6"/>
          <p:cNvSpPr/>
          <p:nvPr/>
        </p:nvSpPr>
        <p:spPr>
          <a:xfrm>
            <a:off x="502920" y="1371600"/>
            <a:ext cx="5532120" cy="219456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371600"/>
            <a:ext cx="109728" cy="219456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36192"/>
            <a:ext cx="5120640" cy="457200"/>
          </a:xfrm>
          <a:prstGeom prst="rect">
            <a:avLst/>
          </a:prstGeom>
          <a:noFill/>
        </p:spPr>
        <p:txBody>
          <a:bodyPr wrap="square" lIns="45720" tIns="18288" rIns="45720" bIns="18288" anchor="t">
            <a:spAutoFit/>
          </a:bodyPr>
          <a:lstStyle/>
          <a:p>
            <a:pPr algn="l"/>
            <a:r>
              <a:rPr sz="1500" b="1" i="0">
                <a:solidFill>
                  <a:srgbClr val="2E8B57"/>
                </a:solidFill>
                <a:latin typeface="Calibri"/>
              </a:rPr>
              <a:t>Fusion additive on S4</a:t>
            </a:r>
          </a:p>
        </p:txBody>
      </p:sp>
      <p:sp>
        <p:nvSpPr>
          <p:cNvPr id="10" name="TextBox 9"/>
          <p:cNvSpPr txBox="1"/>
          <p:nvPr/>
        </p:nvSpPr>
        <p:spPr>
          <a:xfrm>
            <a:off x="777240" y="2011680"/>
            <a:ext cx="5120640" cy="1463040"/>
          </a:xfrm>
          <a:prstGeom prst="rect">
            <a:avLst/>
          </a:prstGeom>
          <a:noFill/>
        </p:spPr>
        <p:txBody>
          <a:bodyPr wrap="square" lIns="45720" tIns="18288" rIns="45720" bIns="18288" anchor="t">
            <a:spAutoFit/>
          </a:bodyPr>
          <a:lstStyle/>
          <a:p>
            <a:pPr algn="l"/>
            <a:r>
              <a:rPr sz="1350" b="0" i="0">
                <a:solidFill>
                  <a:srgbClr val="222A33"/>
                </a:solidFill>
                <a:latin typeface="Calibri"/>
              </a:rPr>
              <a:t>Static misses the runtime connect() edge; dynamic misses the LogLevel::NONE-suppressed edge. Only the union C4 recovers both → F1 1.00 vs 0.67 / 0.67.</a:t>
            </a:r>
          </a:p>
        </p:txBody>
      </p:sp>
      <p:sp>
        <p:nvSpPr>
          <p:cNvPr id="11" name="Rounded Rectangle 10"/>
          <p:cNvSpPr/>
          <p:nvPr/>
        </p:nvSpPr>
        <p:spPr>
          <a:xfrm>
            <a:off x="6126480" y="1371600"/>
            <a:ext cx="5532120" cy="219456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26480" y="1371600"/>
            <a:ext cx="109728" cy="219456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1536192"/>
            <a:ext cx="5120640" cy="457200"/>
          </a:xfrm>
          <a:prstGeom prst="rect">
            <a:avLst/>
          </a:prstGeom>
          <a:noFill/>
        </p:spPr>
        <p:txBody>
          <a:bodyPr wrap="square" lIns="45720" tIns="18288" rIns="45720" bIns="18288" anchor="t">
            <a:spAutoFit/>
          </a:bodyPr>
          <a:lstStyle/>
          <a:p>
            <a:pPr algn="l"/>
            <a:r>
              <a:rPr sz="1500" b="1" i="0">
                <a:solidFill>
                  <a:srgbClr val="1F6FB2"/>
                </a:solidFill>
                <a:latin typeface="Calibri"/>
              </a:rPr>
              <a:t>Fusion redundant on S1–S3</a:t>
            </a:r>
          </a:p>
        </p:txBody>
      </p:sp>
      <p:sp>
        <p:nvSpPr>
          <p:cNvPr id="14" name="TextBox 13"/>
          <p:cNvSpPr txBox="1"/>
          <p:nvPr/>
        </p:nvSpPr>
        <p:spPr>
          <a:xfrm>
            <a:off x="6400800" y="2011680"/>
            <a:ext cx="5120640" cy="1463040"/>
          </a:xfrm>
          <a:prstGeom prst="rect">
            <a:avLst/>
          </a:prstGeom>
          <a:noFill/>
        </p:spPr>
        <p:txBody>
          <a:bodyPr wrap="square" lIns="45720" tIns="18288" rIns="45720" bIns="18288" anchor="t">
            <a:spAutoFit/>
          </a:bodyPr>
          <a:lstStyle/>
          <a:p>
            <a:pPr algn="l"/>
            <a:r>
              <a:rPr sz="1350" b="0" i="0">
                <a:solidFill>
                  <a:srgbClr val="222A33"/>
                </a:solidFill>
                <a:latin typeface="Calibri"/>
              </a:rPr>
              <a:t>No cross-module virtual dispatch in CPSCore ⇒ C3 ⊆ C2, so C4 = C2. Fusion is still protective: it guarantees a recall floor when traces are sparse (C4 ≥ C3 always).</a:t>
            </a:r>
          </a:p>
        </p:txBody>
      </p:sp>
      <p:sp>
        <p:nvSpPr>
          <p:cNvPr id="15" name="Rounded Rectangle 14"/>
          <p:cNvSpPr/>
          <p:nvPr/>
        </p:nvSpPr>
        <p:spPr>
          <a:xfrm>
            <a:off x="502920" y="3794760"/>
            <a:ext cx="5532120" cy="219456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794760"/>
            <a:ext cx="109728" cy="2194560"/>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3959352"/>
            <a:ext cx="5120640" cy="457200"/>
          </a:xfrm>
          <a:prstGeom prst="rect">
            <a:avLst/>
          </a:prstGeom>
          <a:noFill/>
        </p:spPr>
        <p:txBody>
          <a:bodyPr wrap="square" lIns="45720" tIns="18288" rIns="45720" bIns="18288" anchor="t">
            <a:spAutoFit/>
          </a:bodyPr>
          <a:lstStyle/>
          <a:p>
            <a:pPr algn="l"/>
            <a:r>
              <a:rPr sz="1500" b="1" i="0">
                <a:solidFill>
                  <a:srgbClr val="E18A1B"/>
                </a:solidFill>
                <a:latin typeface="Calibri"/>
              </a:rPr>
              <a:t>Why C5 wins overall</a:t>
            </a:r>
          </a:p>
        </p:txBody>
      </p:sp>
      <p:sp>
        <p:nvSpPr>
          <p:cNvPr id="18" name="TextBox 17"/>
          <p:cNvSpPr txBox="1"/>
          <p:nvPr/>
        </p:nvSpPr>
        <p:spPr>
          <a:xfrm>
            <a:off x="777240" y="4434840"/>
            <a:ext cx="5120640" cy="1463040"/>
          </a:xfrm>
          <a:prstGeom prst="rect">
            <a:avLst/>
          </a:prstGeom>
          <a:noFill/>
        </p:spPr>
        <p:txBody>
          <a:bodyPr wrap="square" lIns="45720" tIns="18288" rIns="45720" bIns="18288" anchor="t">
            <a:spAutoFit/>
          </a:bodyPr>
          <a:lstStyle/>
          <a:p>
            <a:pPr algn="l"/>
            <a:r>
              <a:rPr sz="1350" b="0" i="0">
                <a:solidFill>
                  <a:srgbClr val="222A33"/>
                </a:solidFill>
                <a:latin typeface="Calibri"/>
              </a:rPr>
              <a:t>Provenance-aware synthesis preserves C4's perfect recall while partially fixing static over-approximation on S3 (precision 0.60 → 0.75) → best overall F1 = 0.964.</a:t>
            </a:r>
          </a:p>
        </p:txBody>
      </p:sp>
      <p:sp>
        <p:nvSpPr>
          <p:cNvPr id="19" name="Rounded Rectangle 18"/>
          <p:cNvSpPr/>
          <p:nvPr/>
        </p:nvSpPr>
        <p:spPr>
          <a:xfrm>
            <a:off x="6126480" y="3794760"/>
            <a:ext cx="5532120" cy="219456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26480" y="3794760"/>
            <a:ext cx="109728"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0" y="3959352"/>
            <a:ext cx="5120640" cy="457200"/>
          </a:xfrm>
          <a:prstGeom prst="rect">
            <a:avLst/>
          </a:prstGeom>
          <a:noFill/>
        </p:spPr>
        <p:txBody>
          <a:bodyPr wrap="square" lIns="45720" tIns="18288" rIns="45720" bIns="18288" anchor="t">
            <a:spAutoFit/>
          </a:bodyPr>
          <a:lstStyle/>
          <a:p>
            <a:pPr algn="l"/>
            <a:r>
              <a:rPr sz="1500" b="1" i="0">
                <a:solidFill>
                  <a:srgbClr val="C0392B"/>
                </a:solidFill>
                <a:latin typeface="Calibri"/>
              </a:rPr>
              <a:t>The one honest miss</a:t>
            </a:r>
          </a:p>
        </p:txBody>
      </p:sp>
      <p:sp>
        <p:nvSpPr>
          <p:cNvPr id="22" name="TextBox 21"/>
          <p:cNvSpPr txBox="1"/>
          <p:nvPr/>
        </p:nvSpPr>
        <p:spPr>
          <a:xfrm>
            <a:off x="6400800" y="4434840"/>
            <a:ext cx="5120640" cy="1463040"/>
          </a:xfrm>
          <a:prstGeom prst="rect">
            <a:avLst/>
          </a:prstGeom>
          <a:noFill/>
        </p:spPr>
        <p:txBody>
          <a:bodyPr wrap="square" lIns="45720" tIns="18288" rIns="45720" bIns="18288" anchor="t">
            <a:spAutoFit/>
          </a:bodyPr>
          <a:lstStyle/>
          <a:p>
            <a:pPr algn="l"/>
            <a:r>
              <a:rPr sz="1350" b="0" i="0">
                <a:solidFill>
                  <a:srgbClr val="222A33"/>
                </a:solidFill>
                <a:latin typeface="Calibri"/>
              </a:rPr>
              <a:t>C5's only imprecision: a real but out-of-scope flush call on S3. C2's element list omits the calling function, so 'suppressed-in-scope' and 'real-out-of-scope' look identical to the agent.</a:t>
            </a:r>
          </a:p>
        </p:txBody>
      </p:sp>
      <p:sp>
        <p:nvSpPr>
          <p:cNvPr id="23" name="TextBox 22"/>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24" name="TextBox 23"/>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EXPERIMENT · RQ2</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H2 — Guided Instrumentation Improves Focus</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23</a:t>
            </a:r>
          </a:p>
        </p:txBody>
      </p:sp>
      <p:sp>
        <p:nvSpPr>
          <p:cNvPr id="7" name="TextBox 6"/>
          <p:cNvSpPr txBox="1"/>
          <p:nvPr/>
        </p:nvSpPr>
        <p:spPr>
          <a:xfrm>
            <a:off x="502920" y="1234440"/>
            <a:ext cx="10972800" cy="457200"/>
          </a:xfrm>
          <a:prstGeom prst="rect">
            <a:avLst/>
          </a:prstGeom>
          <a:noFill/>
        </p:spPr>
        <p:txBody>
          <a:bodyPr wrap="square" lIns="45720" tIns="18288" rIns="45720" bIns="18288" anchor="t">
            <a:spAutoFit/>
          </a:bodyPr>
          <a:lstStyle/>
          <a:p>
            <a:pPr algn="l"/>
            <a:r>
              <a:rPr sz="1500" b="1" i="0">
                <a:solidFill>
                  <a:srgbClr val="0B2B45"/>
                </a:solidFill>
                <a:latin typeface="Calibri"/>
              </a:rPr>
              <a:t>Full (probe everything, filter after) vs Guided (slice first, then probe only scenario-relevant call sites), on S1–S3.</a:t>
            </a:r>
          </a:p>
        </p:txBody>
      </p:sp>
      <p:graphicFrame>
        <p:nvGraphicFramePr>
          <p:cNvPr id="8" name="Table 7"/>
          <p:cNvGraphicFramePr>
            <a:graphicFrameLocks noGrp="1"/>
          </p:cNvGraphicFramePr>
          <p:nvPr/>
        </p:nvGraphicFramePr>
        <p:xfrm>
          <a:off x="502920" y="1874519"/>
          <a:ext cx="5486398" cy="2743200"/>
        </p:xfrm>
        <a:graphic>
          <a:graphicData uri="http://schemas.openxmlformats.org/drawingml/2006/table">
            <a:tbl>
              <a:tblPr>
                <a:tableStyleId>{5C22544A-7EE6-4342-B048-85BDC9FD1C3A}</a:tableStyleId>
              </a:tblPr>
              <a:tblGrid>
                <a:gridCol w="1828800">
                  <a:extLst>
                    <a:ext uri="{9D8B030D-6E8A-4147-A177-3AD203B41FA5}">
                      <a16:colId xmlns:a16="http://schemas.microsoft.com/office/drawing/2014/main" val="20000"/>
                    </a:ext>
                  </a:extLst>
                </a:gridCol>
                <a:gridCol w="1155031">
                  <a:extLst>
                    <a:ext uri="{9D8B030D-6E8A-4147-A177-3AD203B41FA5}">
                      <a16:colId xmlns:a16="http://schemas.microsoft.com/office/drawing/2014/main" val="20001"/>
                    </a:ext>
                  </a:extLst>
                </a:gridCol>
                <a:gridCol w="1155031">
                  <a:extLst>
                    <a:ext uri="{9D8B030D-6E8A-4147-A177-3AD203B41FA5}">
                      <a16:colId xmlns:a16="http://schemas.microsoft.com/office/drawing/2014/main" val="20002"/>
                    </a:ext>
                  </a:extLst>
                </a:gridCol>
                <a:gridCol w="1347536">
                  <a:extLst>
                    <a:ext uri="{9D8B030D-6E8A-4147-A177-3AD203B41FA5}">
                      <a16:colId xmlns:a16="http://schemas.microsoft.com/office/drawing/2014/main" val="20003"/>
                    </a:ext>
                  </a:extLst>
                </a:gridCol>
              </a:tblGrid>
              <a:tr h="548640">
                <a:tc>
                  <a:txBody>
                    <a:bodyPr/>
                    <a:lstStyle/>
                    <a:p>
                      <a:pPr algn="l"/>
                      <a:r>
                        <a:rPr sz="1400" b="1">
                          <a:solidFill>
                            <a:srgbClr val="FFFFFF"/>
                          </a:solidFill>
                          <a:latin typeface="Calibri"/>
                        </a:rPr>
                        <a:t>Metric</a:t>
                      </a:r>
                    </a:p>
                  </a:txBody>
                  <a:tcPr marL="54864" marR="54864" marT="18288" marB="18288" anchor="ctr">
                    <a:solidFill>
                      <a:srgbClr val="0B2B45"/>
                    </a:solidFill>
                  </a:tcPr>
                </a:tc>
                <a:tc>
                  <a:txBody>
                    <a:bodyPr/>
                    <a:lstStyle/>
                    <a:p>
                      <a:pPr algn="ctr"/>
                      <a:r>
                        <a:rPr sz="1400" b="1">
                          <a:solidFill>
                            <a:srgbClr val="FFFFFF"/>
                          </a:solidFill>
                          <a:latin typeface="Calibri"/>
                        </a:rPr>
                        <a:t>Full</a:t>
                      </a:r>
                    </a:p>
                  </a:txBody>
                  <a:tcPr marL="54864" marR="54864" marT="18288" marB="18288" anchor="ctr">
                    <a:solidFill>
                      <a:srgbClr val="0B2B45"/>
                    </a:solidFill>
                  </a:tcPr>
                </a:tc>
                <a:tc>
                  <a:txBody>
                    <a:bodyPr/>
                    <a:lstStyle/>
                    <a:p>
                      <a:pPr algn="ctr"/>
                      <a:r>
                        <a:rPr sz="1400" b="1">
                          <a:solidFill>
                            <a:srgbClr val="FFFFFF"/>
                          </a:solidFill>
                          <a:latin typeface="Calibri"/>
                        </a:rPr>
                        <a:t>Guided</a:t>
                      </a:r>
                    </a:p>
                  </a:txBody>
                  <a:tcPr marL="54864" marR="54864" marT="18288" marB="18288" anchor="ctr">
                    <a:solidFill>
                      <a:srgbClr val="0B2B45"/>
                    </a:solidFill>
                  </a:tcPr>
                </a:tc>
                <a:tc>
                  <a:txBody>
                    <a:bodyPr/>
                    <a:lstStyle/>
                    <a:p>
                      <a:pPr algn="ctr"/>
                      <a:r>
                        <a:rPr sz="1400" b="1">
                          <a:solidFill>
                            <a:srgbClr val="FFFFFF"/>
                          </a:solidFill>
                          <a:latin typeface="Calibri"/>
                        </a:rPr>
                        <a:t>Change</a:t>
                      </a:r>
                    </a:p>
                  </a:txBody>
                  <a:tcPr marL="54864" marR="54864" marT="18288" marB="18288" anchor="ctr">
                    <a:solidFill>
                      <a:srgbClr val="0B2B45"/>
                    </a:solidFill>
                  </a:tcPr>
                </a:tc>
                <a:extLst>
                  <a:ext uri="{0D108BD9-81ED-4DB2-BD59-A6C34878D82A}">
                    <a16:rowId xmlns:a16="http://schemas.microsoft.com/office/drawing/2014/main" val="10000"/>
                  </a:ext>
                </a:extLst>
              </a:tr>
              <a:tr h="548640">
                <a:tc>
                  <a:txBody>
                    <a:bodyPr/>
                    <a:lstStyle/>
                    <a:p>
                      <a:pPr algn="l"/>
                      <a:r>
                        <a:rPr sz="1400" b="0">
                          <a:solidFill>
                            <a:srgbClr val="222A33"/>
                          </a:solidFill>
                          <a:latin typeface="Calibri"/>
                        </a:rPr>
                        <a:t>Nodes</a:t>
                      </a:r>
                    </a:p>
                  </a:txBody>
                  <a:tcPr marL="54864" marR="54864" marT="18288" marB="18288" anchor="ctr">
                    <a:solidFill>
                      <a:srgbClr val="FFFFFF"/>
                    </a:solidFill>
                  </a:tcPr>
                </a:tc>
                <a:tc>
                  <a:txBody>
                    <a:bodyPr/>
                    <a:lstStyle/>
                    <a:p>
                      <a:pPr algn="ctr"/>
                      <a:r>
                        <a:rPr sz="1400" b="0">
                          <a:solidFill>
                            <a:srgbClr val="222A33"/>
                          </a:solidFill>
                          <a:latin typeface="Calibri"/>
                        </a:rPr>
                        <a:t>6.0</a:t>
                      </a:r>
                    </a:p>
                  </a:txBody>
                  <a:tcPr marL="54864" marR="54864" marT="18288" marB="18288" anchor="ctr">
                    <a:solidFill>
                      <a:srgbClr val="FFFFFF"/>
                    </a:solidFill>
                  </a:tcPr>
                </a:tc>
                <a:tc>
                  <a:txBody>
                    <a:bodyPr/>
                    <a:lstStyle/>
                    <a:p>
                      <a:pPr algn="ctr"/>
                      <a:r>
                        <a:rPr sz="1400" b="0">
                          <a:solidFill>
                            <a:srgbClr val="222A33"/>
                          </a:solidFill>
                          <a:latin typeface="Calibri"/>
                        </a:rPr>
                        <a:t>3.0</a:t>
                      </a:r>
                    </a:p>
                  </a:txBody>
                  <a:tcPr marL="54864" marR="54864" marT="18288" marB="18288" anchor="ctr">
                    <a:solidFill>
                      <a:srgbClr val="FFFFFF"/>
                    </a:solidFill>
                  </a:tcPr>
                </a:tc>
                <a:tc>
                  <a:txBody>
                    <a:bodyPr/>
                    <a:lstStyle/>
                    <a:p>
                      <a:pPr algn="ctr"/>
                      <a:r>
                        <a:rPr sz="1400" b="0">
                          <a:solidFill>
                            <a:srgbClr val="222A33"/>
                          </a:solidFill>
                          <a:latin typeface="Calibri"/>
                        </a:rPr>
                        <a:t>−50%</a:t>
                      </a:r>
                    </a:p>
                  </a:txBody>
                  <a:tcPr marL="54864" marR="54864" marT="18288" marB="18288" anchor="ctr">
                    <a:solidFill>
                      <a:srgbClr val="FFFFFF"/>
                    </a:solidFill>
                  </a:tcPr>
                </a:tc>
                <a:extLst>
                  <a:ext uri="{0D108BD9-81ED-4DB2-BD59-A6C34878D82A}">
                    <a16:rowId xmlns:a16="http://schemas.microsoft.com/office/drawing/2014/main" val="10001"/>
                  </a:ext>
                </a:extLst>
              </a:tr>
              <a:tr h="548640">
                <a:tc>
                  <a:txBody>
                    <a:bodyPr/>
                    <a:lstStyle/>
                    <a:p>
                      <a:pPr algn="l"/>
                      <a:r>
                        <a:rPr sz="1400" b="0">
                          <a:solidFill>
                            <a:srgbClr val="222A33"/>
                          </a:solidFill>
                          <a:latin typeface="Calibri"/>
                        </a:rPr>
                        <a:t>Edges</a:t>
                      </a:r>
                    </a:p>
                  </a:txBody>
                  <a:tcPr marL="54864" marR="54864" marT="18288" marB="18288" anchor="ctr">
                    <a:solidFill>
                      <a:srgbClr val="F1F4F7"/>
                    </a:solidFill>
                  </a:tcPr>
                </a:tc>
                <a:tc>
                  <a:txBody>
                    <a:bodyPr/>
                    <a:lstStyle/>
                    <a:p>
                      <a:pPr algn="ctr"/>
                      <a:r>
                        <a:rPr sz="1400" b="0">
                          <a:solidFill>
                            <a:srgbClr val="222A33"/>
                          </a:solidFill>
                          <a:latin typeface="Calibri"/>
                        </a:rPr>
                        <a:t>9.0</a:t>
                      </a:r>
                    </a:p>
                  </a:txBody>
                  <a:tcPr marL="54864" marR="54864" marT="18288" marB="18288" anchor="ctr">
                    <a:solidFill>
                      <a:srgbClr val="F1F4F7"/>
                    </a:solidFill>
                  </a:tcPr>
                </a:tc>
                <a:tc>
                  <a:txBody>
                    <a:bodyPr/>
                    <a:lstStyle/>
                    <a:p>
                      <a:pPr algn="ctr"/>
                      <a:r>
                        <a:rPr sz="1400" b="0">
                          <a:solidFill>
                            <a:srgbClr val="222A33"/>
                          </a:solidFill>
                          <a:latin typeface="Calibri"/>
                        </a:rPr>
                        <a:t>2.7</a:t>
                      </a:r>
                    </a:p>
                  </a:txBody>
                  <a:tcPr marL="54864" marR="54864" marT="18288" marB="18288" anchor="ctr">
                    <a:solidFill>
                      <a:srgbClr val="F1F4F7"/>
                    </a:solidFill>
                  </a:tcPr>
                </a:tc>
                <a:tc>
                  <a:txBody>
                    <a:bodyPr/>
                    <a:lstStyle/>
                    <a:p>
                      <a:pPr algn="ctr"/>
                      <a:r>
                        <a:rPr sz="1400" b="0">
                          <a:solidFill>
                            <a:srgbClr val="222A33"/>
                          </a:solidFill>
                          <a:latin typeface="Calibri"/>
                        </a:rPr>
                        <a:t>−70%</a:t>
                      </a:r>
                    </a:p>
                  </a:txBody>
                  <a:tcPr marL="54864" marR="54864" marT="18288" marB="18288" anchor="ctr">
                    <a:solidFill>
                      <a:srgbClr val="F1F4F7"/>
                    </a:solidFill>
                  </a:tcPr>
                </a:tc>
                <a:extLst>
                  <a:ext uri="{0D108BD9-81ED-4DB2-BD59-A6C34878D82A}">
                    <a16:rowId xmlns:a16="http://schemas.microsoft.com/office/drawing/2014/main" val="10002"/>
                  </a:ext>
                </a:extLst>
              </a:tr>
              <a:tr h="548640">
                <a:tc>
                  <a:txBody>
                    <a:bodyPr/>
                    <a:lstStyle/>
                    <a:p>
                      <a:pPr algn="l"/>
                      <a:r>
                        <a:rPr sz="1400" b="0">
                          <a:solidFill>
                            <a:srgbClr val="222A33"/>
                          </a:solidFill>
                          <a:latin typeface="Calibri"/>
                        </a:rPr>
                        <a:t>Coverage</a:t>
                      </a:r>
                    </a:p>
                  </a:txBody>
                  <a:tcPr marL="54864" marR="54864" marT="18288" marB="18288" anchor="ctr">
                    <a:solidFill>
                      <a:srgbClr val="FFFFFF"/>
                    </a:solidFill>
                  </a:tcPr>
                </a:tc>
                <a:tc>
                  <a:txBody>
                    <a:bodyPr/>
                    <a:lstStyle/>
                    <a:p>
                      <a:pPr algn="ctr"/>
                      <a:r>
                        <a:rPr sz="1400" b="0">
                          <a:solidFill>
                            <a:srgbClr val="222A33"/>
                          </a:solidFill>
                          <a:latin typeface="Calibri"/>
                        </a:rPr>
                        <a:t>1.000</a:t>
                      </a:r>
                    </a:p>
                  </a:txBody>
                  <a:tcPr marL="54864" marR="54864" marT="18288" marB="18288" anchor="ctr">
                    <a:solidFill>
                      <a:srgbClr val="FFFFFF"/>
                    </a:solidFill>
                  </a:tcPr>
                </a:tc>
                <a:tc>
                  <a:txBody>
                    <a:bodyPr/>
                    <a:lstStyle/>
                    <a:p>
                      <a:pPr algn="ctr"/>
                      <a:r>
                        <a:rPr sz="1400" b="0">
                          <a:solidFill>
                            <a:srgbClr val="222A33"/>
                          </a:solidFill>
                          <a:latin typeface="Calibri"/>
                        </a:rPr>
                        <a:t>1.000</a:t>
                      </a:r>
                    </a:p>
                  </a:txBody>
                  <a:tcPr marL="54864" marR="54864" marT="18288" marB="18288" anchor="ctr">
                    <a:solidFill>
                      <a:srgbClr val="FFFFFF"/>
                    </a:solidFill>
                  </a:tcPr>
                </a:tc>
                <a:tc>
                  <a:txBody>
                    <a:bodyPr/>
                    <a:lstStyle/>
                    <a:p>
                      <a:pPr algn="ctr"/>
                      <a:r>
                        <a:rPr sz="1400" b="0">
                          <a:solidFill>
                            <a:srgbClr val="222A33"/>
                          </a:solidFill>
                          <a:latin typeface="Calibri"/>
                        </a:rPr>
                        <a:t>0% loss</a:t>
                      </a:r>
                    </a:p>
                  </a:txBody>
                  <a:tcPr marL="54864" marR="54864" marT="18288" marB="18288" anchor="ctr">
                    <a:solidFill>
                      <a:srgbClr val="FFFFFF"/>
                    </a:solidFill>
                  </a:tcPr>
                </a:tc>
                <a:extLst>
                  <a:ext uri="{0D108BD9-81ED-4DB2-BD59-A6C34878D82A}">
                    <a16:rowId xmlns:a16="http://schemas.microsoft.com/office/drawing/2014/main" val="10003"/>
                  </a:ext>
                </a:extLst>
              </a:tr>
              <a:tr h="548640">
                <a:tc>
                  <a:txBody>
                    <a:bodyPr/>
                    <a:lstStyle/>
                    <a:p>
                      <a:pPr algn="l"/>
                      <a:r>
                        <a:rPr sz="1400" b="1">
                          <a:solidFill>
                            <a:srgbClr val="222A33"/>
                          </a:solidFill>
                          <a:latin typeface="Calibri"/>
                        </a:rPr>
                        <a:t>Noise</a:t>
                      </a:r>
                    </a:p>
                  </a:txBody>
                  <a:tcPr marL="54864" marR="54864" marT="18288" marB="18288" anchor="ctr">
                    <a:solidFill>
                      <a:srgbClr val="ECF6EE"/>
                    </a:solidFill>
                  </a:tcPr>
                </a:tc>
                <a:tc>
                  <a:txBody>
                    <a:bodyPr/>
                    <a:lstStyle/>
                    <a:p>
                      <a:pPr algn="ctr"/>
                      <a:r>
                        <a:rPr sz="1400" b="0">
                          <a:solidFill>
                            <a:srgbClr val="222A33"/>
                          </a:solidFill>
                          <a:latin typeface="Calibri"/>
                        </a:rPr>
                        <a:t>0.704</a:t>
                      </a:r>
                    </a:p>
                  </a:txBody>
                  <a:tcPr marL="54864" marR="54864" marT="18288" marB="18288" anchor="ctr">
                    <a:solidFill>
                      <a:srgbClr val="ECF6EE"/>
                    </a:solidFill>
                  </a:tcPr>
                </a:tc>
                <a:tc>
                  <a:txBody>
                    <a:bodyPr/>
                    <a:lstStyle/>
                    <a:p>
                      <a:pPr algn="ctr"/>
                      <a:r>
                        <a:rPr sz="1400" b="0">
                          <a:solidFill>
                            <a:srgbClr val="222A33"/>
                          </a:solidFill>
                          <a:latin typeface="Calibri"/>
                        </a:rPr>
                        <a:t>0.000</a:t>
                      </a:r>
                    </a:p>
                  </a:txBody>
                  <a:tcPr marL="54864" marR="54864" marT="18288" marB="18288" anchor="ctr">
                    <a:solidFill>
                      <a:srgbClr val="ECF6EE"/>
                    </a:solidFill>
                  </a:tcPr>
                </a:tc>
                <a:tc>
                  <a:txBody>
                    <a:bodyPr/>
                    <a:lstStyle/>
                    <a:p>
                      <a:pPr algn="ctr"/>
                      <a:r>
                        <a:rPr sz="1400" b="0">
                          <a:solidFill>
                            <a:srgbClr val="222A33"/>
                          </a:solidFill>
                          <a:latin typeface="Calibri"/>
                        </a:rPr>
                        <a:t>−100%</a:t>
                      </a:r>
                    </a:p>
                  </a:txBody>
                  <a:tcPr marL="54864" marR="54864" marT="18288" marB="18288" anchor="ctr">
                    <a:solidFill>
                      <a:srgbClr val="ECF6EE"/>
                    </a:solidFill>
                  </a:tcPr>
                </a:tc>
                <a:extLst>
                  <a:ext uri="{0D108BD9-81ED-4DB2-BD59-A6C34878D82A}">
                    <a16:rowId xmlns:a16="http://schemas.microsoft.com/office/drawing/2014/main" val="10004"/>
                  </a:ext>
                </a:extLst>
              </a:tr>
            </a:tbl>
          </a:graphicData>
        </a:graphic>
      </p:graphicFrame>
      <p:sp>
        <p:nvSpPr>
          <p:cNvPr id="9" name="Rounded Rectangle 8"/>
          <p:cNvSpPr/>
          <p:nvPr/>
        </p:nvSpPr>
        <p:spPr>
          <a:xfrm>
            <a:off x="6263640" y="1874519"/>
            <a:ext cx="5394960" cy="274320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2011680"/>
            <a:ext cx="4937760" cy="365760"/>
          </a:xfrm>
          <a:prstGeom prst="rect">
            <a:avLst/>
          </a:prstGeom>
          <a:noFill/>
        </p:spPr>
        <p:txBody>
          <a:bodyPr wrap="square" lIns="45720" tIns="18288" rIns="45720" bIns="18288" anchor="t">
            <a:spAutoFit/>
          </a:bodyPr>
          <a:lstStyle/>
          <a:p>
            <a:pPr algn="l"/>
            <a:r>
              <a:rPr sz="1200" b="1" i="0">
                <a:solidFill>
                  <a:srgbClr val="1F6FB2"/>
                </a:solidFill>
                <a:latin typeface="Calibri"/>
              </a:rPr>
              <a:t>BLINDED 6-RATER EXPERT PANEL (mean, 1–5)</a:t>
            </a:r>
          </a:p>
        </p:txBody>
      </p:sp>
      <p:graphicFrame>
        <p:nvGraphicFramePr>
          <p:cNvPr id="11" name="Table 10"/>
          <p:cNvGraphicFramePr>
            <a:graphicFrameLocks noGrp="1"/>
          </p:cNvGraphicFramePr>
          <p:nvPr/>
        </p:nvGraphicFramePr>
        <p:xfrm>
          <a:off x="6492240" y="2468880"/>
          <a:ext cx="4937760" cy="1828800"/>
        </p:xfrm>
        <a:graphic>
          <a:graphicData uri="http://schemas.openxmlformats.org/drawingml/2006/table">
            <a:tbl>
              <a:tblPr>
                <a:tableStyleId>{5C22544A-7EE6-4342-B048-85BDC9FD1C3A}</a:tableStyleId>
              </a:tblPr>
              <a:tblGrid>
                <a:gridCol w="246888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457200">
                <a:tc>
                  <a:txBody>
                    <a:bodyPr/>
                    <a:lstStyle/>
                    <a:p>
                      <a:pPr algn="l"/>
                      <a:r>
                        <a:rPr sz="1300" b="1">
                          <a:solidFill>
                            <a:srgbClr val="FFFFFF"/>
                          </a:solidFill>
                          <a:latin typeface="Calibri"/>
                        </a:rPr>
                        <a:t>Dimension</a:t>
                      </a:r>
                    </a:p>
                  </a:txBody>
                  <a:tcPr marL="54864" marR="54864" marT="18288" marB="18288" anchor="ctr">
                    <a:solidFill>
                      <a:srgbClr val="0B2B45"/>
                    </a:solidFill>
                  </a:tcPr>
                </a:tc>
                <a:tc>
                  <a:txBody>
                    <a:bodyPr/>
                    <a:lstStyle/>
                    <a:p>
                      <a:pPr algn="ctr"/>
                      <a:r>
                        <a:rPr sz="1300" b="1">
                          <a:solidFill>
                            <a:srgbClr val="FFFFFF"/>
                          </a:solidFill>
                          <a:latin typeface="Calibri"/>
                        </a:rPr>
                        <a:t>Full</a:t>
                      </a:r>
                    </a:p>
                  </a:txBody>
                  <a:tcPr marL="54864" marR="54864" marT="18288" marB="18288" anchor="ctr">
                    <a:solidFill>
                      <a:srgbClr val="0B2B45"/>
                    </a:solidFill>
                  </a:tcPr>
                </a:tc>
                <a:tc>
                  <a:txBody>
                    <a:bodyPr/>
                    <a:lstStyle/>
                    <a:p>
                      <a:pPr algn="ctr"/>
                      <a:r>
                        <a:rPr sz="1300" b="1">
                          <a:solidFill>
                            <a:srgbClr val="FFFFFF"/>
                          </a:solidFill>
                          <a:latin typeface="Calibri"/>
                        </a:rPr>
                        <a:t>Guided</a:t>
                      </a:r>
                    </a:p>
                  </a:txBody>
                  <a:tcPr marL="54864" marR="54864" marT="18288" marB="18288" anchor="ctr">
                    <a:solidFill>
                      <a:srgbClr val="0B2B45"/>
                    </a:solidFill>
                  </a:tcPr>
                </a:tc>
                <a:extLst>
                  <a:ext uri="{0D108BD9-81ED-4DB2-BD59-A6C34878D82A}">
                    <a16:rowId xmlns:a16="http://schemas.microsoft.com/office/drawing/2014/main" val="10000"/>
                  </a:ext>
                </a:extLst>
              </a:tr>
              <a:tr h="457200">
                <a:tc>
                  <a:txBody>
                    <a:bodyPr/>
                    <a:lstStyle/>
                    <a:p>
                      <a:pPr algn="l"/>
                      <a:r>
                        <a:rPr sz="1300" b="0">
                          <a:solidFill>
                            <a:srgbClr val="222A33"/>
                          </a:solidFill>
                          <a:latin typeface="Calibri"/>
                        </a:rPr>
                        <a:t>Accuracy</a:t>
                      </a:r>
                    </a:p>
                  </a:txBody>
                  <a:tcPr marL="54864" marR="54864" marT="18288" marB="18288" anchor="ctr">
                    <a:solidFill>
                      <a:srgbClr val="FFFFFF"/>
                    </a:solidFill>
                  </a:tcPr>
                </a:tc>
                <a:tc>
                  <a:txBody>
                    <a:bodyPr/>
                    <a:lstStyle/>
                    <a:p>
                      <a:pPr algn="ctr"/>
                      <a:r>
                        <a:rPr sz="1300" b="0">
                          <a:solidFill>
                            <a:srgbClr val="222A33"/>
                          </a:solidFill>
                          <a:latin typeface="Calibri"/>
                        </a:rPr>
                        <a:t>2.39</a:t>
                      </a:r>
                    </a:p>
                  </a:txBody>
                  <a:tcPr marL="54864" marR="54864" marT="18288" marB="18288" anchor="ctr">
                    <a:solidFill>
                      <a:srgbClr val="FFFFFF"/>
                    </a:solidFill>
                  </a:tcPr>
                </a:tc>
                <a:tc>
                  <a:txBody>
                    <a:bodyPr/>
                    <a:lstStyle/>
                    <a:p>
                      <a:pPr algn="ctr"/>
                      <a:r>
                        <a:rPr sz="1300" b="0">
                          <a:solidFill>
                            <a:srgbClr val="222A33"/>
                          </a:solidFill>
                          <a:latin typeface="Calibri"/>
                        </a:rPr>
                        <a:t>4.61</a:t>
                      </a:r>
                    </a:p>
                  </a:txBody>
                  <a:tcPr marL="54864" marR="54864" marT="18288" marB="18288" anchor="ctr">
                    <a:solidFill>
                      <a:srgbClr val="FFFFFF"/>
                    </a:solidFill>
                  </a:tcPr>
                </a:tc>
                <a:extLst>
                  <a:ext uri="{0D108BD9-81ED-4DB2-BD59-A6C34878D82A}">
                    <a16:rowId xmlns:a16="http://schemas.microsoft.com/office/drawing/2014/main" val="10001"/>
                  </a:ext>
                </a:extLst>
              </a:tr>
              <a:tr h="457200">
                <a:tc>
                  <a:txBody>
                    <a:bodyPr/>
                    <a:lstStyle/>
                    <a:p>
                      <a:pPr algn="l"/>
                      <a:r>
                        <a:rPr sz="1300" b="0">
                          <a:solidFill>
                            <a:srgbClr val="222A33"/>
                          </a:solidFill>
                          <a:latin typeface="Calibri"/>
                        </a:rPr>
                        <a:t>Readability</a:t>
                      </a:r>
                    </a:p>
                  </a:txBody>
                  <a:tcPr marL="54864" marR="54864" marT="18288" marB="18288" anchor="ctr">
                    <a:solidFill>
                      <a:srgbClr val="F1F4F7"/>
                    </a:solidFill>
                  </a:tcPr>
                </a:tc>
                <a:tc>
                  <a:txBody>
                    <a:bodyPr/>
                    <a:lstStyle/>
                    <a:p>
                      <a:pPr algn="ctr"/>
                      <a:r>
                        <a:rPr sz="1300" b="0">
                          <a:solidFill>
                            <a:srgbClr val="222A33"/>
                          </a:solidFill>
                          <a:latin typeface="Calibri"/>
                        </a:rPr>
                        <a:t>2.44</a:t>
                      </a:r>
                    </a:p>
                  </a:txBody>
                  <a:tcPr marL="54864" marR="54864" marT="18288" marB="18288" anchor="ctr">
                    <a:solidFill>
                      <a:srgbClr val="F1F4F7"/>
                    </a:solidFill>
                  </a:tcPr>
                </a:tc>
                <a:tc>
                  <a:txBody>
                    <a:bodyPr/>
                    <a:lstStyle/>
                    <a:p>
                      <a:pPr algn="ctr"/>
                      <a:r>
                        <a:rPr sz="1300" b="0">
                          <a:solidFill>
                            <a:srgbClr val="222A33"/>
                          </a:solidFill>
                          <a:latin typeface="Calibri"/>
                        </a:rPr>
                        <a:t>4.89</a:t>
                      </a:r>
                    </a:p>
                  </a:txBody>
                  <a:tcPr marL="54864" marR="54864" marT="18288" marB="18288" anchor="ctr">
                    <a:solidFill>
                      <a:srgbClr val="F1F4F7"/>
                    </a:solidFill>
                  </a:tcPr>
                </a:tc>
                <a:extLst>
                  <a:ext uri="{0D108BD9-81ED-4DB2-BD59-A6C34878D82A}">
                    <a16:rowId xmlns:a16="http://schemas.microsoft.com/office/drawing/2014/main" val="10002"/>
                  </a:ext>
                </a:extLst>
              </a:tr>
              <a:tr h="457200">
                <a:tc>
                  <a:txBody>
                    <a:bodyPr/>
                    <a:lstStyle/>
                    <a:p>
                      <a:pPr algn="l"/>
                      <a:r>
                        <a:rPr sz="1300" b="0">
                          <a:solidFill>
                            <a:srgbClr val="222A33"/>
                          </a:solidFill>
                          <a:latin typeface="Calibri"/>
                        </a:rPr>
                        <a:t>Usefulness</a:t>
                      </a:r>
                    </a:p>
                  </a:txBody>
                  <a:tcPr marL="54864" marR="54864" marT="18288" marB="18288" anchor="ctr">
                    <a:solidFill>
                      <a:srgbClr val="FFFFFF"/>
                    </a:solidFill>
                  </a:tcPr>
                </a:tc>
                <a:tc>
                  <a:txBody>
                    <a:bodyPr/>
                    <a:lstStyle/>
                    <a:p>
                      <a:pPr algn="ctr"/>
                      <a:r>
                        <a:rPr sz="1300" b="0">
                          <a:solidFill>
                            <a:srgbClr val="222A33"/>
                          </a:solidFill>
                          <a:latin typeface="Calibri"/>
                        </a:rPr>
                        <a:t>2.94</a:t>
                      </a:r>
                    </a:p>
                  </a:txBody>
                  <a:tcPr marL="54864" marR="54864" marT="18288" marB="18288" anchor="ctr">
                    <a:solidFill>
                      <a:srgbClr val="FFFFFF"/>
                    </a:solidFill>
                  </a:tcPr>
                </a:tc>
                <a:tc>
                  <a:txBody>
                    <a:bodyPr/>
                    <a:lstStyle/>
                    <a:p>
                      <a:pPr algn="ctr"/>
                      <a:r>
                        <a:rPr sz="1300" b="0">
                          <a:solidFill>
                            <a:srgbClr val="222A33"/>
                          </a:solidFill>
                          <a:latin typeface="Calibri"/>
                        </a:rPr>
                        <a:t>4.00</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2" name="Rounded Rectangle 11"/>
          <p:cNvSpPr/>
          <p:nvPr/>
        </p:nvSpPr>
        <p:spPr>
          <a:xfrm>
            <a:off x="502920" y="4892040"/>
            <a:ext cx="11155680" cy="1371600"/>
          </a:xfrm>
          <a:prstGeom prst="roundRect">
            <a:avLst>
              <a:gd name="adj" fmla="val 4000"/>
            </a:avLst>
          </a:prstGeom>
          <a:solidFill>
            <a:srgbClr val="EC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5029200"/>
            <a:ext cx="10881360" cy="1188720"/>
          </a:xfrm>
          <a:prstGeom prst="rect">
            <a:avLst/>
          </a:prstGeom>
          <a:noFill/>
        </p:spPr>
        <p:txBody>
          <a:bodyPr wrap="square" lIns="45720" tIns="18288" rIns="45720" bIns="18288" anchor="t">
            <a:spAutoFit/>
          </a:bodyPr>
          <a:lstStyle/>
          <a:p>
            <a:pPr algn="l">
              <a:spcAft>
                <a:spcPts val="400"/>
              </a:spcAft>
            </a:pPr>
            <a:r>
              <a:rPr sz="1500" b="1" i="0">
                <a:solidFill>
                  <a:srgbClr val="2E8B57"/>
                </a:solidFill>
                <a:latin typeface="Calibri"/>
              </a:rPr>
              <a:t>•  Across all 54 rater × scenario × dimension comparisons: guided rated higher in 47, tied in 6, lower in exactly 1.</a:t>
            </a:r>
          </a:p>
          <a:p>
            <a:pPr algn="l"/>
            <a:r>
              <a:rPr sz="1350" b="0" i="0">
                <a:solidFill>
                  <a:srgbClr val="222A33"/>
                </a:solidFill>
                <a:latin typeface="Calibri"/>
              </a:rPr>
              <a:t>•  The single dissent (S2 usefulness): collapsing 7 repeated Config→Logging reads into one edge loses a count some find useful for debugging — an honest trade-off, not a defect.</a:t>
            </a:r>
          </a:p>
        </p:txBody>
      </p:sp>
      <p:sp>
        <p:nvSpPr>
          <p:cNvPr id="14" name="TextBox 13"/>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5" name="TextBox 14"/>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EXPERIMENT · UTILITY</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H3 — Is the Diagram Actually Useful?</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24</a:t>
            </a:r>
          </a:p>
        </p:txBody>
      </p:sp>
      <p:sp>
        <p:nvSpPr>
          <p:cNvPr id="7" name="TextBox 6"/>
          <p:cNvSpPr txBox="1"/>
          <p:nvPr/>
        </p:nvSpPr>
        <p:spPr>
          <a:xfrm>
            <a:off x="502920" y="1234440"/>
            <a:ext cx="10972800" cy="457200"/>
          </a:xfrm>
          <a:prstGeom prst="rect">
            <a:avLst/>
          </a:prstGeom>
          <a:noFill/>
        </p:spPr>
        <p:txBody>
          <a:bodyPr wrap="square" lIns="45720" tIns="18288" rIns="45720" bIns="18288" anchor="t">
            <a:spAutoFit/>
          </a:bodyPr>
          <a:lstStyle/>
          <a:p>
            <a:pPr algn="l"/>
            <a:r>
              <a:rPr sz="1500" b="1" i="0">
                <a:solidFill>
                  <a:srgbClr val="0B2B45"/>
                </a:solidFill>
                <a:latin typeface="Calibri"/>
              </a:rPr>
              <a:t>Does the pipeline's output (C6 interaction list) help an LLM agent comprehend a scenario — alone and in combination?</a:t>
            </a:r>
          </a:p>
        </p:txBody>
      </p:sp>
      <p:graphicFrame>
        <p:nvGraphicFramePr>
          <p:cNvPr id="8" name="Table 7"/>
          <p:cNvGraphicFramePr>
            <a:graphicFrameLocks noGrp="1"/>
          </p:cNvGraphicFramePr>
          <p:nvPr/>
        </p:nvGraphicFramePr>
        <p:xfrm>
          <a:off x="502920" y="1828800"/>
          <a:ext cx="11155679" cy="3017520"/>
        </p:xfrm>
        <a:graphic>
          <a:graphicData uri="http://schemas.openxmlformats.org/drawingml/2006/table">
            <a:tbl>
              <a:tblPr>
                <a:tableStyleId>{5C22544A-7EE6-4342-B048-85BDC9FD1C3A}</a:tableStyleId>
              </a:tblPr>
              <a:tblGrid>
                <a:gridCol w="3415004">
                  <a:extLst>
                    <a:ext uri="{9D8B030D-6E8A-4147-A177-3AD203B41FA5}">
                      <a16:colId xmlns:a16="http://schemas.microsoft.com/office/drawing/2014/main" val="20000"/>
                    </a:ext>
                  </a:extLst>
                </a:gridCol>
                <a:gridCol w="2504336">
                  <a:extLst>
                    <a:ext uri="{9D8B030D-6E8A-4147-A177-3AD203B41FA5}">
                      <a16:colId xmlns:a16="http://schemas.microsoft.com/office/drawing/2014/main" val="20001"/>
                    </a:ext>
                  </a:extLst>
                </a:gridCol>
                <a:gridCol w="2504336">
                  <a:extLst>
                    <a:ext uri="{9D8B030D-6E8A-4147-A177-3AD203B41FA5}">
                      <a16:colId xmlns:a16="http://schemas.microsoft.com/office/drawing/2014/main" val="20002"/>
                    </a:ext>
                  </a:extLst>
                </a:gridCol>
                <a:gridCol w="2732003">
                  <a:extLst>
                    <a:ext uri="{9D8B030D-6E8A-4147-A177-3AD203B41FA5}">
                      <a16:colId xmlns:a16="http://schemas.microsoft.com/office/drawing/2014/main" val="20003"/>
                    </a:ext>
                  </a:extLst>
                </a:gridCol>
              </a:tblGrid>
              <a:tr h="502920">
                <a:tc>
                  <a:txBody>
                    <a:bodyPr/>
                    <a:lstStyle/>
                    <a:p>
                      <a:pPr algn="l"/>
                      <a:r>
                        <a:rPr sz="1400" b="1">
                          <a:solidFill>
                            <a:srgbClr val="FFFFFF"/>
                          </a:solidFill>
                          <a:latin typeface="Calibri"/>
                        </a:rPr>
                        <a:t>Condition</a:t>
                      </a:r>
                    </a:p>
                  </a:txBody>
                  <a:tcPr marL="54864" marR="54864" marT="18288" marB="18288" anchor="ctr">
                    <a:solidFill>
                      <a:srgbClr val="0B2B45"/>
                    </a:solidFill>
                  </a:tcPr>
                </a:tc>
                <a:tc>
                  <a:txBody>
                    <a:bodyPr/>
                    <a:lstStyle/>
                    <a:p>
                      <a:pPr algn="ctr"/>
                      <a:r>
                        <a:rPr sz="1400" b="1">
                          <a:solidFill>
                            <a:srgbClr val="FFFFFF"/>
                          </a:solidFill>
                          <a:latin typeface="Calibri"/>
                        </a:rPr>
                        <a:t>Component recall</a:t>
                      </a:r>
                    </a:p>
                  </a:txBody>
                  <a:tcPr marL="54864" marR="54864" marT="18288" marB="18288" anchor="ctr">
                    <a:solidFill>
                      <a:srgbClr val="0B2B45"/>
                    </a:solidFill>
                  </a:tcPr>
                </a:tc>
                <a:tc>
                  <a:txBody>
                    <a:bodyPr/>
                    <a:lstStyle/>
                    <a:p>
                      <a:pPr algn="ctr"/>
                      <a:r>
                        <a:rPr sz="1400" b="1">
                          <a:solidFill>
                            <a:srgbClr val="FFFFFF"/>
                          </a:solidFill>
                          <a:latin typeface="Calibri"/>
                        </a:rPr>
                        <a:t>Interaction recall</a:t>
                      </a:r>
                    </a:p>
                  </a:txBody>
                  <a:tcPr marL="54864" marR="54864" marT="18288" marB="18288" anchor="ctr">
                    <a:solidFill>
                      <a:srgbClr val="0B2B45"/>
                    </a:solidFill>
                  </a:tcPr>
                </a:tc>
                <a:tc>
                  <a:txBody>
                    <a:bodyPr/>
                    <a:lstStyle/>
                    <a:p>
                      <a:pPr algn="ctr"/>
                      <a:r>
                        <a:rPr sz="1400" b="1">
                          <a:solidFill>
                            <a:srgbClr val="FFFFFF"/>
                          </a:solidFill>
                          <a:latin typeface="Calibri"/>
                        </a:rPr>
                        <a:t>Completeness (1–5)</a:t>
                      </a:r>
                    </a:p>
                  </a:txBody>
                  <a:tcPr marL="54864" marR="54864" marT="18288" marB="18288" anchor="ctr">
                    <a:solidFill>
                      <a:srgbClr val="0B2B45"/>
                    </a:solidFill>
                  </a:tcPr>
                </a:tc>
                <a:extLst>
                  <a:ext uri="{0D108BD9-81ED-4DB2-BD59-A6C34878D82A}">
                    <a16:rowId xmlns:a16="http://schemas.microsoft.com/office/drawing/2014/main" val="10000"/>
                  </a:ext>
                </a:extLst>
              </a:tr>
              <a:tr h="502920">
                <a:tc>
                  <a:txBody>
                    <a:bodyPr/>
                    <a:lstStyle/>
                    <a:p>
                      <a:pPr algn="l"/>
                      <a:r>
                        <a:rPr sz="1400" b="0">
                          <a:solidFill>
                            <a:srgbClr val="222A33"/>
                          </a:solidFill>
                          <a:latin typeface="Calibri"/>
                        </a:rPr>
                        <a:t>Source only</a:t>
                      </a:r>
                    </a:p>
                  </a:txBody>
                  <a:tcPr marL="54864" marR="54864" marT="18288" marB="18288" anchor="ctr">
                    <a:solidFill>
                      <a:srgbClr val="FFFFFF"/>
                    </a:solidFill>
                  </a:tcPr>
                </a:tc>
                <a:tc>
                  <a:txBody>
                    <a:bodyPr/>
                    <a:lstStyle/>
                    <a:p>
                      <a:pPr algn="ctr"/>
                      <a:r>
                        <a:rPr sz="1400" b="0">
                          <a:solidFill>
                            <a:srgbClr val="222A33"/>
                          </a:solidFill>
                          <a:latin typeface="Calibri"/>
                        </a:rPr>
                        <a:t>0.917</a:t>
                      </a:r>
                    </a:p>
                  </a:txBody>
                  <a:tcPr marL="54864" marR="54864" marT="18288" marB="18288" anchor="ctr">
                    <a:solidFill>
                      <a:srgbClr val="FFFFFF"/>
                    </a:solidFill>
                  </a:tcPr>
                </a:tc>
                <a:tc>
                  <a:txBody>
                    <a:bodyPr/>
                    <a:lstStyle/>
                    <a:p>
                      <a:pPr algn="ctr"/>
                      <a:r>
                        <a:rPr sz="1400" b="0">
                          <a:solidFill>
                            <a:srgbClr val="222A33"/>
                          </a:solidFill>
                          <a:latin typeface="Calibri"/>
                        </a:rPr>
                        <a:t>0.800</a:t>
                      </a:r>
                    </a:p>
                  </a:txBody>
                  <a:tcPr marL="54864" marR="54864" marT="18288" marB="18288" anchor="ctr">
                    <a:solidFill>
                      <a:srgbClr val="FFFFFF"/>
                    </a:solidFill>
                  </a:tcPr>
                </a:tc>
                <a:tc>
                  <a:txBody>
                    <a:bodyPr/>
                    <a:lstStyle/>
                    <a:p>
                      <a:pPr algn="ctr"/>
                      <a:r>
                        <a:rPr sz="1400" b="0">
                          <a:solidFill>
                            <a:srgbClr val="222A33"/>
                          </a:solidFill>
                          <a:latin typeface="Calibri"/>
                        </a:rPr>
                        <a:t>4.25</a:t>
                      </a:r>
                    </a:p>
                  </a:txBody>
                  <a:tcPr marL="54864" marR="54864" marT="18288" marB="18288" anchor="ctr">
                    <a:solidFill>
                      <a:srgbClr val="FFFFFF"/>
                    </a:solidFill>
                  </a:tcPr>
                </a:tc>
                <a:extLst>
                  <a:ext uri="{0D108BD9-81ED-4DB2-BD59-A6C34878D82A}">
                    <a16:rowId xmlns:a16="http://schemas.microsoft.com/office/drawing/2014/main" val="10001"/>
                  </a:ext>
                </a:extLst>
              </a:tr>
              <a:tr h="502920">
                <a:tc>
                  <a:txBody>
                    <a:bodyPr/>
                    <a:lstStyle/>
                    <a:p>
                      <a:pPr algn="l"/>
                      <a:r>
                        <a:rPr sz="1400" b="0">
                          <a:solidFill>
                            <a:srgbClr val="222A33"/>
                          </a:solidFill>
                          <a:latin typeface="Calibri"/>
                        </a:rPr>
                        <a:t>Trace only</a:t>
                      </a:r>
                    </a:p>
                  </a:txBody>
                  <a:tcPr marL="54864" marR="54864" marT="18288" marB="18288" anchor="ctr">
                    <a:solidFill>
                      <a:srgbClr val="F1F4F7"/>
                    </a:solidFill>
                  </a:tcPr>
                </a:tc>
                <a:tc>
                  <a:txBody>
                    <a:bodyPr/>
                    <a:lstStyle/>
                    <a:p>
                      <a:pPr algn="ctr"/>
                      <a:r>
                        <a:rPr sz="1400" b="0">
                          <a:solidFill>
                            <a:srgbClr val="222A33"/>
                          </a:solidFill>
                          <a:latin typeface="Calibri"/>
                        </a:rPr>
                        <a:t>0.917</a:t>
                      </a:r>
                    </a:p>
                  </a:txBody>
                  <a:tcPr marL="54864" marR="54864" marT="18288" marB="18288" anchor="ctr">
                    <a:solidFill>
                      <a:srgbClr val="F1F4F7"/>
                    </a:solidFill>
                  </a:tcPr>
                </a:tc>
                <a:tc>
                  <a:txBody>
                    <a:bodyPr/>
                    <a:lstStyle/>
                    <a:p>
                      <a:pPr algn="ctr"/>
                      <a:r>
                        <a:rPr sz="1400" b="0">
                          <a:solidFill>
                            <a:srgbClr val="222A33"/>
                          </a:solidFill>
                          <a:latin typeface="Calibri"/>
                        </a:rPr>
                        <a:t>0.900</a:t>
                      </a:r>
                    </a:p>
                  </a:txBody>
                  <a:tcPr marL="54864" marR="54864" marT="18288" marB="18288" anchor="ctr">
                    <a:solidFill>
                      <a:srgbClr val="F1F4F7"/>
                    </a:solidFill>
                  </a:tcPr>
                </a:tc>
                <a:tc>
                  <a:txBody>
                    <a:bodyPr/>
                    <a:lstStyle/>
                    <a:p>
                      <a:pPr algn="ctr"/>
                      <a:r>
                        <a:rPr sz="1400" b="0">
                          <a:solidFill>
                            <a:srgbClr val="222A33"/>
                          </a:solidFill>
                          <a:latin typeface="Calibri"/>
                        </a:rPr>
                        <a:t>4.25</a:t>
                      </a:r>
                    </a:p>
                  </a:txBody>
                  <a:tcPr marL="54864" marR="54864" marT="18288" marB="18288" anchor="ctr">
                    <a:solidFill>
                      <a:srgbClr val="F1F4F7"/>
                    </a:solidFill>
                  </a:tcPr>
                </a:tc>
                <a:extLst>
                  <a:ext uri="{0D108BD9-81ED-4DB2-BD59-A6C34878D82A}">
                    <a16:rowId xmlns:a16="http://schemas.microsoft.com/office/drawing/2014/main" val="10002"/>
                  </a:ext>
                </a:extLst>
              </a:tr>
              <a:tr h="502920">
                <a:tc>
                  <a:txBody>
                    <a:bodyPr/>
                    <a:lstStyle/>
                    <a:p>
                      <a:pPr algn="l"/>
                      <a:r>
                        <a:rPr sz="1400" b="1">
                          <a:solidFill>
                            <a:srgbClr val="222A33"/>
                          </a:solidFill>
                          <a:latin typeface="Calibri"/>
                        </a:rPr>
                        <a:t>Diagram only</a:t>
                      </a:r>
                    </a:p>
                  </a:txBody>
                  <a:tcPr marL="54864" marR="54864" marT="18288" marB="18288" anchor="ctr">
                    <a:solidFill>
                      <a:srgbClr val="ECF6EE"/>
                    </a:solidFill>
                  </a:tcPr>
                </a:tc>
                <a:tc>
                  <a:txBody>
                    <a:bodyPr/>
                    <a:lstStyle/>
                    <a:p>
                      <a:pPr algn="ctr"/>
                      <a:r>
                        <a:rPr sz="1400" b="0">
                          <a:solidFill>
                            <a:srgbClr val="222A33"/>
                          </a:solidFill>
                          <a:latin typeface="Calibri"/>
                        </a:rPr>
                        <a:t>1.000</a:t>
                      </a:r>
                    </a:p>
                  </a:txBody>
                  <a:tcPr marL="54864" marR="54864" marT="18288" marB="18288" anchor="ctr">
                    <a:solidFill>
                      <a:srgbClr val="ECF6EE"/>
                    </a:solidFill>
                  </a:tcPr>
                </a:tc>
                <a:tc>
                  <a:txBody>
                    <a:bodyPr/>
                    <a:lstStyle/>
                    <a:p>
                      <a:pPr algn="ctr"/>
                      <a:r>
                        <a:rPr sz="1400" b="0">
                          <a:solidFill>
                            <a:srgbClr val="222A33"/>
                          </a:solidFill>
                          <a:latin typeface="Calibri"/>
                        </a:rPr>
                        <a:t>1.000</a:t>
                      </a:r>
                    </a:p>
                  </a:txBody>
                  <a:tcPr marL="54864" marR="54864" marT="18288" marB="18288" anchor="ctr">
                    <a:solidFill>
                      <a:srgbClr val="ECF6EE"/>
                    </a:solidFill>
                  </a:tcPr>
                </a:tc>
                <a:tc>
                  <a:txBody>
                    <a:bodyPr/>
                    <a:lstStyle/>
                    <a:p>
                      <a:pPr algn="ctr"/>
                      <a:r>
                        <a:rPr sz="1400" b="0">
                          <a:solidFill>
                            <a:srgbClr val="222A33"/>
                          </a:solidFill>
                          <a:latin typeface="Calibri"/>
                        </a:rPr>
                        <a:t>5.00</a:t>
                      </a:r>
                    </a:p>
                  </a:txBody>
                  <a:tcPr marL="54864" marR="54864" marT="18288" marB="18288" anchor="ctr">
                    <a:solidFill>
                      <a:srgbClr val="ECF6EE"/>
                    </a:solidFill>
                  </a:tcPr>
                </a:tc>
                <a:extLst>
                  <a:ext uri="{0D108BD9-81ED-4DB2-BD59-A6C34878D82A}">
                    <a16:rowId xmlns:a16="http://schemas.microsoft.com/office/drawing/2014/main" val="10003"/>
                  </a:ext>
                </a:extLst>
              </a:tr>
              <a:tr h="502920">
                <a:tc>
                  <a:txBody>
                    <a:bodyPr/>
                    <a:lstStyle/>
                    <a:p>
                      <a:pPr algn="l"/>
                      <a:r>
                        <a:rPr sz="1400" b="0">
                          <a:solidFill>
                            <a:srgbClr val="222A33"/>
                          </a:solidFill>
                          <a:latin typeface="Calibri"/>
                        </a:rPr>
                        <a:t>Source + Trace</a:t>
                      </a:r>
                    </a:p>
                  </a:txBody>
                  <a:tcPr marL="54864" marR="54864" marT="18288" marB="18288" anchor="ctr">
                    <a:solidFill>
                      <a:srgbClr val="F1F4F7"/>
                    </a:solidFill>
                  </a:tcPr>
                </a:tc>
                <a:tc>
                  <a:txBody>
                    <a:bodyPr/>
                    <a:lstStyle/>
                    <a:p>
                      <a:pPr algn="ctr"/>
                      <a:r>
                        <a:rPr sz="1400" b="0">
                          <a:solidFill>
                            <a:srgbClr val="222A33"/>
                          </a:solidFill>
                          <a:latin typeface="Calibri"/>
                        </a:rPr>
                        <a:t>0.917</a:t>
                      </a:r>
                    </a:p>
                  </a:txBody>
                  <a:tcPr marL="54864" marR="54864" marT="18288" marB="18288" anchor="ctr">
                    <a:solidFill>
                      <a:srgbClr val="F1F4F7"/>
                    </a:solidFill>
                  </a:tcPr>
                </a:tc>
                <a:tc>
                  <a:txBody>
                    <a:bodyPr/>
                    <a:lstStyle/>
                    <a:p>
                      <a:pPr algn="ctr"/>
                      <a:r>
                        <a:rPr sz="1400" b="0">
                          <a:solidFill>
                            <a:srgbClr val="222A33"/>
                          </a:solidFill>
                          <a:latin typeface="Calibri"/>
                        </a:rPr>
                        <a:t>0.900</a:t>
                      </a:r>
                    </a:p>
                  </a:txBody>
                  <a:tcPr marL="54864" marR="54864" marT="18288" marB="18288" anchor="ctr">
                    <a:solidFill>
                      <a:srgbClr val="F1F4F7"/>
                    </a:solidFill>
                  </a:tcPr>
                </a:tc>
                <a:tc>
                  <a:txBody>
                    <a:bodyPr/>
                    <a:lstStyle/>
                    <a:p>
                      <a:pPr algn="ctr"/>
                      <a:r>
                        <a:rPr sz="1400" b="0">
                          <a:solidFill>
                            <a:srgbClr val="222A33"/>
                          </a:solidFill>
                          <a:latin typeface="Calibri"/>
                        </a:rPr>
                        <a:t>4.25</a:t>
                      </a:r>
                    </a:p>
                  </a:txBody>
                  <a:tcPr marL="54864" marR="54864" marT="18288" marB="18288" anchor="ctr">
                    <a:solidFill>
                      <a:srgbClr val="F1F4F7"/>
                    </a:solidFill>
                  </a:tcPr>
                </a:tc>
                <a:extLst>
                  <a:ext uri="{0D108BD9-81ED-4DB2-BD59-A6C34878D82A}">
                    <a16:rowId xmlns:a16="http://schemas.microsoft.com/office/drawing/2014/main" val="10004"/>
                  </a:ext>
                </a:extLst>
              </a:tr>
              <a:tr h="502920">
                <a:tc>
                  <a:txBody>
                    <a:bodyPr/>
                    <a:lstStyle/>
                    <a:p>
                      <a:pPr algn="l"/>
                      <a:r>
                        <a:rPr sz="1400" b="1">
                          <a:solidFill>
                            <a:srgbClr val="222A33"/>
                          </a:solidFill>
                          <a:latin typeface="Calibri"/>
                        </a:rPr>
                        <a:t>Source + Trace + Diagram</a:t>
                      </a:r>
                    </a:p>
                  </a:txBody>
                  <a:tcPr marL="54864" marR="54864" marT="18288" marB="18288" anchor="ctr">
                    <a:solidFill>
                      <a:srgbClr val="ECF6EE"/>
                    </a:solidFill>
                  </a:tcPr>
                </a:tc>
                <a:tc>
                  <a:txBody>
                    <a:bodyPr/>
                    <a:lstStyle/>
                    <a:p>
                      <a:pPr algn="ctr"/>
                      <a:r>
                        <a:rPr sz="1400" b="0">
                          <a:solidFill>
                            <a:srgbClr val="222A33"/>
                          </a:solidFill>
                          <a:latin typeface="Calibri"/>
                        </a:rPr>
                        <a:t>1.000</a:t>
                      </a:r>
                    </a:p>
                  </a:txBody>
                  <a:tcPr marL="54864" marR="54864" marT="18288" marB="18288" anchor="ctr">
                    <a:solidFill>
                      <a:srgbClr val="ECF6EE"/>
                    </a:solidFill>
                  </a:tcPr>
                </a:tc>
                <a:tc>
                  <a:txBody>
                    <a:bodyPr/>
                    <a:lstStyle/>
                    <a:p>
                      <a:pPr algn="ctr"/>
                      <a:r>
                        <a:rPr sz="1400" b="0">
                          <a:solidFill>
                            <a:srgbClr val="222A33"/>
                          </a:solidFill>
                          <a:latin typeface="Calibri"/>
                        </a:rPr>
                        <a:t>1.000</a:t>
                      </a:r>
                    </a:p>
                  </a:txBody>
                  <a:tcPr marL="54864" marR="54864" marT="18288" marB="18288" anchor="ctr">
                    <a:solidFill>
                      <a:srgbClr val="ECF6EE"/>
                    </a:solidFill>
                  </a:tcPr>
                </a:tc>
                <a:tc>
                  <a:txBody>
                    <a:bodyPr/>
                    <a:lstStyle/>
                    <a:p>
                      <a:pPr algn="ctr"/>
                      <a:r>
                        <a:rPr sz="1400" b="0">
                          <a:solidFill>
                            <a:srgbClr val="222A33"/>
                          </a:solidFill>
                          <a:latin typeface="Calibri"/>
                        </a:rPr>
                        <a:t>5.00</a:t>
                      </a:r>
                    </a:p>
                  </a:txBody>
                  <a:tcPr marL="54864" marR="54864" marT="18288" marB="18288" anchor="ctr">
                    <a:solidFill>
                      <a:srgbClr val="ECF6EE"/>
                    </a:solidFill>
                  </a:tcPr>
                </a:tc>
                <a:extLst>
                  <a:ext uri="{0D108BD9-81ED-4DB2-BD59-A6C34878D82A}">
                    <a16:rowId xmlns:a16="http://schemas.microsoft.com/office/drawing/2014/main" val="10005"/>
                  </a:ext>
                </a:extLst>
              </a:tr>
            </a:tbl>
          </a:graphicData>
        </a:graphic>
      </p:graphicFrame>
      <p:sp>
        <p:nvSpPr>
          <p:cNvPr id="9" name="Rounded Rectangle 8"/>
          <p:cNvSpPr/>
          <p:nvPr/>
        </p:nvSpPr>
        <p:spPr>
          <a:xfrm>
            <a:off x="502920" y="5212080"/>
            <a:ext cx="11155680" cy="1097280"/>
          </a:xfrm>
          <a:prstGeom prst="roundRect">
            <a:avLst>
              <a:gd name="adj" fmla="val 4000"/>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5349240"/>
            <a:ext cx="10881360" cy="914400"/>
          </a:xfrm>
          <a:prstGeom prst="rect">
            <a:avLst/>
          </a:prstGeom>
          <a:noFill/>
        </p:spPr>
        <p:txBody>
          <a:bodyPr wrap="square" lIns="45720" tIns="18288" rIns="45720" bIns="18288" anchor="ctr">
            <a:spAutoFit/>
          </a:bodyPr>
          <a:lstStyle/>
          <a:p>
            <a:pPr algn="l"/>
            <a:r>
              <a:rPr sz="1500" b="1" i="0">
                <a:solidFill>
                  <a:srgbClr val="FFFFFF"/>
                </a:solidFill>
                <a:latin typeface="Calibri"/>
              </a:rPr>
              <a:t>The standout: “Diagram only” equals “Source + Trace + Diagram” — perfect on every measure. With no source and no trace, the C6 diagram alone is a sufficient basis for scenario comprehension.</a:t>
            </a:r>
          </a:p>
        </p:txBody>
      </p:sp>
      <p:sp>
        <p:nvSpPr>
          <p:cNvPr id="11" name="TextBox 10"/>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2" name="TextBox 11"/>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RESULTS · QUALITATIVE</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Example Output — S4 Reconstructed Sequence</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25</a:t>
            </a:r>
          </a:p>
        </p:txBody>
      </p:sp>
      <p:sp>
        <p:nvSpPr>
          <p:cNvPr id="8" name="Rounded Rectangle 7"/>
          <p:cNvSpPr/>
          <p:nvPr/>
        </p:nvSpPr>
        <p:spPr>
          <a:xfrm>
            <a:off x="8549640" y="1371600"/>
            <a:ext cx="3108960" cy="457200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0" y="1554480"/>
            <a:ext cx="2697480" cy="4297680"/>
          </a:xfrm>
          <a:prstGeom prst="rect">
            <a:avLst/>
          </a:prstGeom>
          <a:noFill/>
        </p:spPr>
        <p:txBody>
          <a:bodyPr wrap="square" lIns="45720" tIns="18288" rIns="45720" bIns="18288" anchor="t">
            <a:spAutoFit/>
          </a:bodyPr>
          <a:lstStyle/>
          <a:p>
            <a:pPr algn="l">
              <a:spcAft>
                <a:spcPts val="800"/>
              </a:spcAft>
            </a:pPr>
            <a:r>
              <a:rPr sz="1500" b="1" i="0">
                <a:solidFill>
                  <a:srgbClr val="1F6FB2"/>
                </a:solidFill>
                <a:latin typeface="Calibri"/>
              </a:rPr>
              <a:t>Intersection cancels independent errors</a:t>
            </a:r>
          </a:p>
          <a:p>
            <a:pPr algn="l">
              <a:spcAft>
                <a:spcPts val="800"/>
              </a:spcAft>
            </a:pPr>
            <a:r>
              <a:rPr sz="1350" b="0" i="0">
                <a:solidFill>
                  <a:srgbClr val="222A33"/>
                </a:solidFill>
                <a:latin typeface="Calibri"/>
              </a:rPr>
              <a:t>•  stream — confirmed by BOTH static (C2) and dynamic (C3) evidence; the one ground-truth edge.</a:t>
            </a:r>
          </a:p>
          <a:p>
            <a:pPr algn="l">
              <a:spcAft>
                <a:spcPts val="800"/>
              </a:spcAft>
            </a:pPr>
            <a:r>
              <a:rPr sz="1350" b="0" i="0">
                <a:solidFill>
                  <a:srgbClr val="222A33"/>
                </a:solidFill>
                <a:latin typeface="Calibri"/>
              </a:rPr>
              <a:t>•  Each source also reports one edge the other doesn't confirm — C2: subscribeStage; C3: an unrelated stream row.</a:t>
            </a:r>
          </a:p>
          <a:p>
            <a:pPr algn="l"/>
            <a:r>
              <a:rPr sz="1350" b="1" i="0">
                <a:solidFill>
                  <a:srgbClr val="0B2B45"/>
                </a:solidFill>
                <a:latin typeface="Calibri"/>
              </a:rPr>
              <a:t>•  Intersection (C5) keeps only the shared edge — F1 = 1.000, beating both single sources and naive union (F1 = 0.500).</a:t>
            </a:r>
          </a:p>
        </p:txBody>
      </p:sp>
      <p:sp>
        <p:nvSpPr>
          <p:cNvPr id="10" name="TextBox 9"/>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1" name="TextBox 10"/>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25</a:t>
            </a:r>
          </a:p>
        </p:txBody>
      </p:sp>
      <p:pic>
        <p:nvPicPr>
          <p:cNvPr id="12" name="Picture 11" descr="s4_corrected.png"/>
          <p:cNvPicPr>
            <a:picLocks noChangeAspect="1"/>
          </p:cNvPicPr>
          <p:nvPr/>
        </p:nvPicPr>
        <p:blipFill>
          <a:blip r:embed="rId3"/>
          <a:stretch>
            <a:fillRect/>
          </a:stretch>
        </p:blipFill>
        <p:spPr>
          <a:xfrm>
            <a:off x="502920" y="1662132"/>
            <a:ext cx="6195539" cy="458438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TRANSFERABILITY</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Exploratory: A Second, Larger Industrial Codebase</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26</a:t>
            </a:r>
          </a:p>
        </p:txBody>
      </p:sp>
      <p:sp>
        <p:nvSpPr>
          <p:cNvPr id="7" name="Rounded Rectangle 6"/>
          <p:cNvSpPr/>
          <p:nvPr/>
        </p:nvSpPr>
        <p:spPr>
          <a:xfrm>
            <a:off x="502920" y="1371600"/>
            <a:ext cx="11155680" cy="118872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517904"/>
            <a:ext cx="10881360" cy="960120"/>
          </a:xfrm>
          <a:prstGeom prst="rect">
            <a:avLst/>
          </a:prstGeom>
          <a:noFill/>
        </p:spPr>
        <p:txBody>
          <a:bodyPr wrap="square" lIns="45720" tIns="18288" rIns="45720" bIns="18288" anchor="ctr">
            <a:spAutoFit/>
          </a:bodyPr>
          <a:lstStyle/>
          <a:p>
            <a:pPr algn="l"/>
            <a:r>
              <a:rPr sz="1600" b="0" i="0">
                <a:solidFill>
                  <a:srgbClr val="222A33"/>
                </a:solidFill>
                <a:latin typeface="Calibri"/>
              </a:rPr>
              <a:t>A practitioner session applied the same static-extraction and query approach to a second industrial system — testing whether the method transfers beyond CPSCore.</a:t>
            </a:r>
          </a:p>
        </p:txBody>
      </p:sp>
      <p:sp>
        <p:nvSpPr>
          <p:cNvPr id="9" name="Rounded Rectangle 8"/>
          <p:cNvSpPr/>
          <p:nvPr/>
        </p:nvSpPr>
        <p:spPr>
          <a:xfrm>
            <a:off x="502920" y="2788920"/>
            <a:ext cx="5532120" cy="3063240"/>
          </a:xfrm>
          <a:prstGeom prst="roundRect">
            <a:avLst>
              <a:gd name="adj" fmla="val 4000"/>
            </a:avLst>
          </a:prstGeom>
          <a:solidFill>
            <a:srgbClr val="EC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971800"/>
            <a:ext cx="5029200" cy="2743200"/>
          </a:xfrm>
          <a:prstGeom prst="rect">
            <a:avLst/>
          </a:prstGeom>
          <a:noFill/>
        </p:spPr>
        <p:txBody>
          <a:bodyPr wrap="square" lIns="45720" tIns="18288" rIns="45720" bIns="18288" anchor="t">
            <a:spAutoFit/>
          </a:bodyPr>
          <a:lstStyle/>
          <a:p>
            <a:pPr algn="l">
              <a:spcAft>
                <a:spcPts val="800"/>
              </a:spcAft>
            </a:pPr>
            <a:r>
              <a:rPr sz="1600" b="1" i="0">
                <a:solidFill>
                  <a:srgbClr val="2E8B57"/>
                </a:solidFill>
                <a:latin typeface="Calibri"/>
              </a:rPr>
              <a:t>Worked well</a:t>
            </a:r>
          </a:p>
          <a:p>
            <a:pPr algn="l">
              <a:spcAft>
                <a:spcPts val="1000"/>
              </a:spcAft>
            </a:pPr>
            <a:r>
              <a:rPr sz="1500" b="0" i="0">
                <a:solidFill>
                  <a:srgbClr val="222A33"/>
                </a:solidFill>
                <a:latin typeface="Calibri"/>
              </a:rPr>
              <a:t>•  Structural diagrams rated consistently useful.</a:t>
            </a:r>
          </a:p>
          <a:p>
            <a:pPr algn="l">
              <a:spcAft>
                <a:spcPts val="1000"/>
              </a:spcAft>
            </a:pPr>
            <a:r>
              <a:rPr sz="1500" b="0" i="0">
                <a:solidFill>
                  <a:srgbClr val="222A33"/>
                </a:solidFill>
                <a:latin typeface="Calibri"/>
              </a:rPr>
              <a:t>•  Dependency diagrams rated consistently useful.</a:t>
            </a:r>
          </a:p>
          <a:p>
            <a:pPr algn="l"/>
            <a:r>
              <a:rPr sz="1500" b="1" i="0">
                <a:solidFill>
                  <a:srgbClr val="0B2B45"/>
                </a:solidFill>
                <a:latin typeface="Calibri"/>
              </a:rPr>
              <a:t>•  Static extraction + graph query transferred to a larger, unseen codebase.</a:t>
            </a:r>
          </a:p>
        </p:txBody>
      </p:sp>
      <p:sp>
        <p:nvSpPr>
          <p:cNvPr id="11" name="Rounded Rectangle 10"/>
          <p:cNvSpPr/>
          <p:nvPr/>
        </p:nvSpPr>
        <p:spPr>
          <a:xfrm>
            <a:off x="6126480" y="2788920"/>
            <a:ext cx="5532120" cy="3063240"/>
          </a:xfrm>
          <a:prstGeom prst="roundRect">
            <a:avLst>
              <a:gd name="adj" fmla="val 4000"/>
            </a:avLst>
          </a:prstGeom>
          <a:solidFill>
            <a:srgbClr val="FB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2971800"/>
            <a:ext cx="5029200" cy="2743200"/>
          </a:xfrm>
          <a:prstGeom prst="rect">
            <a:avLst/>
          </a:prstGeom>
          <a:noFill/>
        </p:spPr>
        <p:txBody>
          <a:bodyPr wrap="square" lIns="45720" tIns="18288" rIns="45720" bIns="18288" anchor="t">
            <a:spAutoFit/>
          </a:bodyPr>
          <a:lstStyle/>
          <a:p>
            <a:pPr algn="l">
              <a:spcAft>
                <a:spcPts val="800"/>
              </a:spcAft>
            </a:pPr>
            <a:r>
              <a:rPr sz="1600" b="1" i="0">
                <a:solidFill>
                  <a:srgbClr val="E18A1B"/>
                </a:solidFill>
                <a:latin typeface="Calibri"/>
              </a:rPr>
              <a:t>Clearest area to improve</a:t>
            </a:r>
          </a:p>
          <a:p>
            <a:pPr algn="l">
              <a:spcAft>
                <a:spcPts val="1000"/>
              </a:spcAft>
            </a:pPr>
            <a:r>
              <a:rPr sz="1500" b="0" i="0">
                <a:solidFill>
                  <a:srgbClr val="222A33"/>
                </a:solidFill>
                <a:latin typeface="Calibri"/>
              </a:rPr>
              <a:t>•  Sequence-diagram message labelling was identified as the weakest point.</a:t>
            </a:r>
          </a:p>
          <a:p>
            <a:pPr algn="l">
              <a:spcAft>
                <a:spcPts val="1000"/>
              </a:spcAft>
            </a:pPr>
            <a:r>
              <a:rPr sz="1500" b="0" i="0">
                <a:solidFill>
                  <a:srgbClr val="222A33"/>
                </a:solidFill>
                <a:latin typeface="Calibri"/>
              </a:rPr>
              <a:t>•  Consistent with the CPSCore finding that message-level semantics need richer provenance.</a:t>
            </a:r>
          </a:p>
          <a:p>
            <a:pPr algn="l"/>
            <a:r>
              <a:rPr sz="1500" b="1" i="0">
                <a:solidFill>
                  <a:srgbClr val="0B2B45"/>
                </a:solidFill>
                <a:latin typeface="Calibri"/>
              </a:rPr>
              <a:t>•  A concrete, actionable direction for future work.</a:t>
            </a:r>
          </a:p>
        </p:txBody>
      </p:sp>
      <p:sp>
        <p:nvSpPr>
          <p:cNvPr id="13" name="TextBox 12"/>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4" name="TextBox 13"/>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74320" cy="6858000"/>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731520"/>
            <a:ext cx="10515600" cy="457200"/>
          </a:xfrm>
          <a:prstGeom prst="rect">
            <a:avLst/>
          </a:prstGeom>
          <a:noFill/>
        </p:spPr>
        <p:txBody>
          <a:bodyPr wrap="square" lIns="45720" tIns="18288" rIns="45720" bIns="18288" anchor="t">
            <a:spAutoFit/>
          </a:bodyPr>
          <a:lstStyle/>
          <a:p>
            <a:pPr algn="l"/>
            <a:r>
              <a:rPr sz="1500" b="1" i="0">
                <a:solidFill>
                  <a:srgbClr val="1BA19C"/>
                </a:solidFill>
                <a:latin typeface="Calibri"/>
              </a:rPr>
              <a:t>THE ONE PATTERN BEHIND ALL THREE RESULTS</a:t>
            </a:r>
          </a:p>
        </p:txBody>
      </p:sp>
      <p:sp>
        <p:nvSpPr>
          <p:cNvPr id="5" name="TextBox 4"/>
          <p:cNvSpPr txBox="1"/>
          <p:nvPr/>
        </p:nvSpPr>
        <p:spPr>
          <a:xfrm>
            <a:off x="822960" y="1554480"/>
            <a:ext cx="10607040" cy="2377440"/>
          </a:xfrm>
          <a:prstGeom prst="rect">
            <a:avLst/>
          </a:prstGeom>
          <a:noFill/>
        </p:spPr>
        <p:txBody>
          <a:bodyPr wrap="square" lIns="45720" tIns="18288" rIns="45720" bIns="18288" anchor="t">
            <a:spAutoFit/>
          </a:bodyPr>
          <a:lstStyle/>
          <a:p>
            <a:pPr algn="l"/>
            <a:r>
              <a:rPr sz="3000" b="1" i="0">
                <a:solidFill>
                  <a:srgbClr val="FFFFFF"/>
                </a:solidFill>
                <a:latin typeface="Calibri"/>
              </a:rPr>
              <a:t>Additional evidence improves reconstruction or comprehension specifically when the primary evidence source is missing something — and is otherwise redundant.</a:t>
            </a:r>
          </a:p>
        </p:txBody>
      </p:sp>
      <p:sp>
        <p:nvSpPr>
          <p:cNvPr id="6" name="Rounded Rectangle 5"/>
          <p:cNvSpPr/>
          <p:nvPr/>
        </p:nvSpPr>
        <p:spPr>
          <a:xfrm>
            <a:off x="822960" y="4114800"/>
            <a:ext cx="822960" cy="457200"/>
          </a:xfrm>
          <a:prstGeom prst="roundRect">
            <a:avLst>
              <a:gd name="adj" fmla="val 25000"/>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700" b="1">
                <a:solidFill>
                  <a:srgbClr val="0B2B45"/>
                </a:solidFill>
                <a:latin typeface="Calibri"/>
              </a:rPr>
              <a:t>H1</a:t>
            </a:r>
          </a:p>
        </p:txBody>
      </p:sp>
      <p:sp>
        <p:nvSpPr>
          <p:cNvPr id="7" name="TextBox 6"/>
          <p:cNvSpPr txBox="1"/>
          <p:nvPr/>
        </p:nvSpPr>
        <p:spPr>
          <a:xfrm>
            <a:off x="1828800" y="4096512"/>
            <a:ext cx="9692640" cy="640080"/>
          </a:xfrm>
          <a:prstGeom prst="rect">
            <a:avLst/>
          </a:prstGeom>
          <a:noFill/>
        </p:spPr>
        <p:txBody>
          <a:bodyPr wrap="square" lIns="45720" tIns="18288" rIns="45720" bIns="18288" anchor="ctr">
            <a:spAutoFit/>
          </a:bodyPr>
          <a:lstStyle/>
          <a:p>
            <a:pPr algn="l"/>
            <a:r>
              <a:rPr sz="1500" b="0" i="0">
                <a:solidFill>
                  <a:srgbClr val="DCE6F0"/>
                </a:solidFill>
                <a:latin typeface="Calibri"/>
              </a:rPr>
              <a:t>Fusion is strictly additive only where static &amp; dynamic each miss a different edge (S4); redundant where the static graph is complete.</a:t>
            </a:r>
          </a:p>
        </p:txBody>
      </p:sp>
      <p:sp>
        <p:nvSpPr>
          <p:cNvPr id="8" name="Rounded Rectangle 7"/>
          <p:cNvSpPr/>
          <p:nvPr/>
        </p:nvSpPr>
        <p:spPr>
          <a:xfrm>
            <a:off x="822960" y="4828032"/>
            <a:ext cx="822960" cy="457200"/>
          </a:xfrm>
          <a:prstGeom prst="roundRect">
            <a:avLst>
              <a:gd name="adj" fmla="val 25000"/>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700" b="1">
                <a:solidFill>
                  <a:srgbClr val="0B2B45"/>
                </a:solidFill>
                <a:latin typeface="Calibri"/>
              </a:rPr>
              <a:t>H2</a:t>
            </a:r>
          </a:p>
        </p:txBody>
      </p:sp>
      <p:sp>
        <p:nvSpPr>
          <p:cNvPr id="9" name="TextBox 8"/>
          <p:cNvSpPr txBox="1"/>
          <p:nvPr/>
        </p:nvSpPr>
        <p:spPr>
          <a:xfrm>
            <a:off x="1828800" y="4809744"/>
            <a:ext cx="9692640" cy="640080"/>
          </a:xfrm>
          <a:prstGeom prst="rect">
            <a:avLst/>
          </a:prstGeom>
          <a:noFill/>
        </p:spPr>
        <p:txBody>
          <a:bodyPr wrap="square" lIns="45720" tIns="18288" rIns="45720" bIns="18288" anchor="ctr">
            <a:spAutoFit/>
          </a:bodyPr>
          <a:lstStyle/>
          <a:p>
            <a:pPr algn="l"/>
            <a:r>
              <a:rPr sz="1500" b="0" i="0">
                <a:solidFill>
                  <a:srgbClr val="DCE6F0"/>
                </a:solidFill>
                <a:latin typeface="Calibri"/>
              </a:rPr>
              <a:t>Guiding instrumentation by the code graph removes 100% of noise with zero coverage loss.</a:t>
            </a:r>
          </a:p>
        </p:txBody>
      </p:sp>
      <p:sp>
        <p:nvSpPr>
          <p:cNvPr id="10" name="Rounded Rectangle 9"/>
          <p:cNvSpPr/>
          <p:nvPr/>
        </p:nvSpPr>
        <p:spPr>
          <a:xfrm>
            <a:off x="822960" y="5541264"/>
            <a:ext cx="822960" cy="457200"/>
          </a:xfrm>
          <a:prstGeom prst="roundRect">
            <a:avLst>
              <a:gd name="adj" fmla="val 25000"/>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700" b="1">
                <a:solidFill>
                  <a:srgbClr val="0B2B45"/>
                </a:solidFill>
                <a:latin typeface="Calibri"/>
              </a:rPr>
              <a:t>H3</a:t>
            </a:r>
          </a:p>
        </p:txBody>
      </p:sp>
      <p:sp>
        <p:nvSpPr>
          <p:cNvPr id="11" name="TextBox 10"/>
          <p:cNvSpPr txBox="1"/>
          <p:nvPr/>
        </p:nvSpPr>
        <p:spPr>
          <a:xfrm>
            <a:off x="1828800" y="5522976"/>
            <a:ext cx="9692640" cy="640080"/>
          </a:xfrm>
          <a:prstGeom prst="rect">
            <a:avLst/>
          </a:prstGeom>
          <a:noFill/>
        </p:spPr>
        <p:txBody>
          <a:bodyPr wrap="square" lIns="45720" tIns="18288" rIns="45720" bIns="18288" anchor="ctr">
            <a:spAutoFit/>
          </a:bodyPr>
          <a:lstStyle/>
          <a:p>
            <a:pPr algn="l"/>
            <a:r>
              <a:rPr sz="1500" b="0" i="0">
                <a:solidFill>
                  <a:srgbClr val="DCE6F0"/>
                </a:solidFill>
                <a:latin typeface="Calibri"/>
              </a:rPr>
              <a:t>The reconstructed diagram alone is a sufficient basis for scenario comprehension — perfect recall everywhere.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SUMMARY</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Contributions</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28</a:t>
            </a:r>
          </a:p>
        </p:txBody>
      </p:sp>
      <p:sp>
        <p:nvSpPr>
          <p:cNvPr id="7" name="Rounded Rectangle 6"/>
          <p:cNvSpPr/>
          <p:nvPr/>
        </p:nvSpPr>
        <p:spPr>
          <a:xfrm>
            <a:off x="502920" y="1371600"/>
            <a:ext cx="11155680" cy="73152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536192"/>
            <a:ext cx="685800" cy="402336"/>
          </a:xfrm>
          <a:prstGeom prst="roundRect">
            <a:avLst>
              <a:gd name="adj" fmla="val 2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500" b="1">
                <a:solidFill>
                  <a:srgbClr val="FFFFFF"/>
                </a:solidFill>
                <a:latin typeface="Calibri"/>
              </a:rPr>
              <a:t>i</a:t>
            </a:r>
          </a:p>
        </p:txBody>
      </p:sp>
      <p:sp>
        <p:nvSpPr>
          <p:cNvPr id="9" name="TextBox 8"/>
          <p:cNvSpPr txBox="1"/>
          <p:nvPr/>
        </p:nvSpPr>
        <p:spPr>
          <a:xfrm>
            <a:off x="1554480" y="1426464"/>
            <a:ext cx="9966960" cy="621792"/>
          </a:xfrm>
          <a:prstGeom prst="rect">
            <a:avLst/>
          </a:prstGeom>
          <a:noFill/>
        </p:spPr>
        <p:txBody>
          <a:bodyPr wrap="square" lIns="45720" tIns="18288" rIns="45720" bIns="18288" anchor="ctr">
            <a:spAutoFit/>
          </a:bodyPr>
          <a:lstStyle/>
          <a:p>
            <a:pPr algn="l"/>
            <a:r>
              <a:rPr sz="1500" b="0" i="0">
                <a:solidFill>
                  <a:srgbClr val="222A33"/>
                </a:solidFill>
                <a:latin typeface="Calibri"/>
              </a:rPr>
              <a:t>One property graph holding static call graph + runtime trace together, remembering each interaction's provenance.</a:t>
            </a:r>
          </a:p>
        </p:txBody>
      </p:sp>
      <p:sp>
        <p:nvSpPr>
          <p:cNvPr id="10" name="Rounded Rectangle 9"/>
          <p:cNvSpPr/>
          <p:nvPr/>
        </p:nvSpPr>
        <p:spPr>
          <a:xfrm>
            <a:off x="502920" y="2176272"/>
            <a:ext cx="11155680" cy="73152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85800" y="2340864"/>
            <a:ext cx="685800" cy="402336"/>
          </a:xfrm>
          <a:prstGeom prst="roundRect">
            <a:avLst>
              <a:gd name="adj" fmla="val 2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500" b="1">
                <a:solidFill>
                  <a:srgbClr val="FFFFFF"/>
                </a:solidFill>
                <a:latin typeface="Calibri"/>
              </a:rPr>
              <a:t>ii</a:t>
            </a:r>
          </a:p>
        </p:txBody>
      </p:sp>
      <p:sp>
        <p:nvSpPr>
          <p:cNvPr id="12" name="TextBox 11"/>
          <p:cNvSpPr txBox="1"/>
          <p:nvPr/>
        </p:nvSpPr>
        <p:spPr>
          <a:xfrm>
            <a:off x="1554480" y="2231136"/>
            <a:ext cx="9966960" cy="621792"/>
          </a:xfrm>
          <a:prstGeom prst="rect">
            <a:avLst/>
          </a:prstGeom>
          <a:noFill/>
        </p:spPr>
        <p:txBody>
          <a:bodyPr wrap="square" lIns="45720" tIns="18288" rIns="45720" bIns="18288" anchor="ctr">
            <a:spAutoFit/>
          </a:bodyPr>
          <a:lstStyle/>
          <a:p>
            <a:pPr algn="l"/>
            <a:r>
              <a:rPr sz="1500" b="0" i="0">
                <a:solidFill>
                  <a:srgbClr val="222A33"/>
                </a:solidFill>
                <a:latin typeface="Calibri"/>
              </a:rPr>
              <a:t>A slicing method that trims the combined graph to just the interactions relevant to one scenario.</a:t>
            </a:r>
          </a:p>
        </p:txBody>
      </p:sp>
      <p:sp>
        <p:nvSpPr>
          <p:cNvPr id="13" name="Rounded Rectangle 12"/>
          <p:cNvSpPr/>
          <p:nvPr/>
        </p:nvSpPr>
        <p:spPr>
          <a:xfrm>
            <a:off x="502920" y="2980944"/>
            <a:ext cx="11155680" cy="73152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85800" y="3145536"/>
            <a:ext cx="685800" cy="402336"/>
          </a:xfrm>
          <a:prstGeom prst="roundRect">
            <a:avLst>
              <a:gd name="adj" fmla="val 2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500" b="1">
                <a:solidFill>
                  <a:srgbClr val="FFFFFF"/>
                </a:solidFill>
                <a:latin typeface="Calibri"/>
              </a:rPr>
              <a:t>iii</a:t>
            </a:r>
          </a:p>
        </p:txBody>
      </p:sp>
      <p:sp>
        <p:nvSpPr>
          <p:cNvPr id="15" name="TextBox 14"/>
          <p:cNvSpPr txBox="1"/>
          <p:nvPr/>
        </p:nvSpPr>
        <p:spPr>
          <a:xfrm>
            <a:off x="1554480" y="3035808"/>
            <a:ext cx="9966960" cy="621792"/>
          </a:xfrm>
          <a:prstGeom prst="rect">
            <a:avLst/>
          </a:prstGeom>
          <a:noFill/>
        </p:spPr>
        <p:txBody>
          <a:bodyPr wrap="square" lIns="45720" tIns="18288" rIns="45720" bIns="18288" anchor="ctr">
            <a:spAutoFit/>
          </a:bodyPr>
          <a:lstStyle/>
          <a:p>
            <a:pPr algn="l"/>
            <a:r>
              <a:rPr sz="1500" b="0" i="0">
                <a:solidFill>
                  <a:srgbClr val="222A33"/>
                </a:solidFill>
                <a:latin typeface="Calibri"/>
              </a:rPr>
              <a:t>A way to recover publish-subscribe wiring that ordinary call-graph analysis cannot see.</a:t>
            </a:r>
          </a:p>
        </p:txBody>
      </p:sp>
      <p:sp>
        <p:nvSpPr>
          <p:cNvPr id="16" name="Rounded Rectangle 15"/>
          <p:cNvSpPr/>
          <p:nvPr/>
        </p:nvSpPr>
        <p:spPr>
          <a:xfrm>
            <a:off x="502920" y="3785616"/>
            <a:ext cx="11155680" cy="73152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85800" y="3950208"/>
            <a:ext cx="685800" cy="402336"/>
          </a:xfrm>
          <a:prstGeom prst="roundRect">
            <a:avLst>
              <a:gd name="adj" fmla="val 2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500" b="1">
                <a:solidFill>
                  <a:srgbClr val="FFFFFF"/>
                </a:solidFill>
                <a:latin typeface="Calibri"/>
              </a:rPr>
              <a:t>iv</a:t>
            </a:r>
          </a:p>
        </p:txBody>
      </p:sp>
      <p:sp>
        <p:nvSpPr>
          <p:cNvPr id="18" name="TextBox 17"/>
          <p:cNvSpPr txBox="1"/>
          <p:nvPr/>
        </p:nvSpPr>
        <p:spPr>
          <a:xfrm>
            <a:off x="1554480" y="3840480"/>
            <a:ext cx="9966960" cy="621792"/>
          </a:xfrm>
          <a:prstGeom prst="rect">
            <a:avLst/>
          </a:prstGeom>
          <a:noFill/>
        </p:spPr>
        <p:txBody>
          <a:bodyPr wrap="square" lIns="45720" tIns="18288" rIns="45720" bIns="18288" anchor="ctr">
            <a:spAutoFit/>
          </a:bodyPr>
          <a:lstStyle/>
          <a:p>
            <a:pPr algn="l"/>
            <a:r>
              <a:rPr sz="1500" b="0" i="0">
                <a:solidFill>
                  <a:srgbClr val="222A33"/>
                </a:solidFill>
                <a:latin typeface="Calibri"/>
              </a:rPr>
              <a:t>csp_matcher — a small, reversible tool that inserts and removes trace probes automatically.</a:t>
            </a:r>
          </a:p>
        </p:txBody>
      </p:sp>
      <p:sp>
        <p:nvSpPr>
          <p:cNvPr id="19" name="Rounded Rectangle 18"/>
          <p:cNvSpPr/>
          <p:nvPr/>
        </p:nvSpPr>
        <p:spPr>
          <a:xfrm>
            <a:off x="502920" y="4590288"/>
            <a:ext cx="11155680" cy="73152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85800" y="4754880"/>
            <a:ext cx="685800" cy="402336"/>
          </a:xfrm>
          <a:prstGeom prst="roundRect">
            <a:avLst>
              <a:gd name="adj" fmla="val 2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500" b="1">
                <a:solidFill>
                  <a:srgbClr val="FFFFFF"/>
                </a:solidFill>
                <a:latin typeface="Calibri"/>
              </a:rPr>
              <a:t>v</a:t>
            </a:r>
          </a:p>
        </p:txBody>
      </p:sp>
      <p:sp>
        <p:nvSpPr>
          <p:cNvPr id="21" name="TextBox 20"/>
          <p:cNvSpPr txBox="1"/>
          <p:nvPr/>
        </p:nvSpPr>
        <p:spPr>
          <a:xfrm>
            <a:off x="1554480" y="4645152"/>
            <a:ext cx="9966960" cy="621792"/>
          </a:xfrm>
          <a:prstGeom prst="rect">
            <a:avLst/>
          </a:prstGeom>
          <a:noFill/>
        </p:spPr>
        <p:txBody>
          <a:bodyPr wrap="square" lIns="45720" tIns="18288" rIns="45720" bIns="18288" anchor="ctr">
            <a:spAutoFit/>
          </a:bodyPr>
          <a:lstStyle/>
          <a:p>
            <a:pPr algn="l"/>
            <a:r>
              <a:rPr sz="1500" b="0" i="0">
                <a:solidFill>
                  <a:srgbClr val="222A33"/>
                </a:solidFill>
                <a:latin typeface="Calibri"/>
              </a:rPr>
              <a:t>Eleven natural-language agent skills running the whole pipeline, source → SysML v2, on any codebase without code changes.</a:t>
            </a:r>
          </a:p>
        </p:txBody>
      </p:sp>
      <p:sp>
        <p:nvSpPr>
          <p:cNvPr id="22" name="Rounded Rectangle 21"/>
          <p:cNvSpPr/>
          <p:nvPr/>
        </p:nvSpPr>
        <p:spPr>
          <a:xfrm>
            <a:off x="502920" y="5394960"/>
            <a:ext cx="11155680" cy="73152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85800" y="5559552"/>
            <a:ext cx="685800" cy="402336"/>
          </a:xfrm>
          <a:prstGeom prst="roundRect">
            <a:avLst>
              <a:gd name="adj" fmla="val 2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500" b="1">
                <a:solidFill>
                  <a:srgbClr val="FFFFFF"/>
                </a:solidFill>
                <a:latin typeface="Calibri"/>
              </a:rPr>
              <a:t>vi</a:t>
            </a:r>
          </a:p>
        </p:txBody>
      </p:sp>
      <p:sp>
        <p:nvSpPr>
          <p:cNvPr id="24" name="TextBox 23"/>
          <p:cNvSpPr txBox="1"/>
          <p:nvPr/>
        </p:nvSpPr>
        <p:spPr>
          <a:xfrm>
            <a:off x="1554480" y="5449824"/>
            <a:ext cx="9966960" cy="621792"/>
          </a:xfrm>
          <a:prstGeom prst="rect">
            <a:avLst/>
          </a:prstGeom>
          <a:noFill/>
        </p:spPr>
        <p:txBody>
          <a:bodyPr wrap="square" lIns="45720" tIns="18288" rIns="45720" bIns="18288" anchor="ctr">
            <a:spAutoFit/>
          </a:bodyPr>
          <a:lstStyle/>
          <a:p>
            <a:pPr algn="l"/>
            <a:r>
              <a:rPr sz="1500" b="0" i="0">
                <a:solidFill>
                  <a:srgbClr val="222A33"/>
                </a:solidFill>
                <a:latin typeface="Calibri"/>
              </a:rPr>
              <a:t>An evidence-based account of when combining static and dynamic analysis helps — and when it does not.</a:t>
            </a:r>
          </a:p>
        </p:txBody>
      </p:sp>
      <p:sp>
        <p:nvSpPr>
          <p:cNvPr id="25" name="TextBox 24"/>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26" name="TextBox 25"/>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REFLECTION</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Limitations &amp; Future Work</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29</a:t>
            </a:r>
          </a:p>
        </p:txBody>
      </p:sp>
      <p:sp>
        <p:nvSpPr>
          <p:cNvPr id="7" name="Rounded Rectangle 6"/>
          <p:cNvSpPr/>
          <p:nvPr/>
        </p:nvSpPr>
        <p:spPr>
          <a:xfrm>
            <a:off x="502920" y="1371600"/>
            <a:ext cx="5532120" cy="4480560"/>
          </a:xfrm>
          <a:prstGeom prst="roundRect">
            <a:avLst>
              <a:gd name="adj" fmla="val 4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554480"/>
            <a:ext cx="5029200" cy="4206240"/>
          </a:xfrm>
          <a:prstGeom prst="rect">
            <a:avLst/>
          </a:prstGeom>
          <a:noFill/>
        </p:spPr>
        <p:txBody>
          <a:bodyPr wrap="square" lIns="45720" tIns="18288" rIns="45720" bIns="18288" anchor="t">
            <a:spAutoFit/>
          </a:bodyPr>
          <a:lstStyle/>
          <a:p>
            <a:pPr algn="l">
              <a:spcAft>
                <a:spcPts val="800"/>
              </a:spcAft>
            </a:pPr>
            <a:r>
              <a:rPr sz="1700" b="1" i="0">
                <a:solidFill>
                  <a:srgbClr val="C0392B"/>
                </a:solidFill>
                <a:latin typeface="Calibri"/>
              </a:rPr>
              <a:t>Limitations</a:t>
            </a:r>
          </a:p>
          <a:p>
            <a:pPr algn="l">
              <a:spcAft>
                <a:spcPts val="800"/>
              </a:spcAft>
            </a:pPr>
            <a:r>
              <a:rPr sz="1450" b="0" i="0">
                <a:solidFill>
                  <a:srgbClr val="222A33"/>
                </a:solidFill>
                <a:latin typeface="Calibri"/>
              </a:rPr>
              <a:t>•  Single primary case study (CPSCore); S4 is constructed, not found in the wild.</a:t>
            </a:r>
          </a:p>
          <a:p>
            <a:pPr algn="l">
              <a:spcAft>
                <a:spcPts val="800"/>
              </a:spcAft>
            </a:pPr>
            <a:r>
              <a:rPr sz="1450" b="0" i="0">
                <a:solidFill>
                  <a:srgbClr val="222A33"/>
                </a:solidFill>
                <a:latin typeface="Calibri"/>
              </a:rPr>
              <a:t>•  C2's element list omits the calling function → agent cannot always distinguish in-scope from out-of-scope edges.</a:t>
            </a:r>
          </a:p>
          <a:p>
            <a:pPr algn="l">
              <a:spcAft>
                <a:spcPts val="800"/>
              </a:spcAft>
            </a:pPr>
            <a:r>
              <a:rPr sz="1450" b="0" i="0">
                <a:solidFill>
                  <a:srgbClr val="222A33"/>
                </a:solidFill>
                <a:latin typeface="Calibri"/>
              </a:rPr>
              <a:t>•  Two H3 conditions (source-only, diagram-only) rated non-blind by the same rater — disclosed.</a:t>
            </a:r>
          </a:p>
          <a:p>
            <a:pPr algn="l">
              <a:spcAft>
                <a:spcPts val="800"/>
              </a:spcAft>
            </a:pPr>
            <a:r>
              <a:rPr sz="1450" b="0" i="0">
                <a:solidFill>
                  <a:srgbClr val="222A33"/>
                </a:solidFill>
                <a:latin typeface="Calibri"/>
              </a:rPr>
              <a:t>•  Message-label semantics on sequence diagrams remain the weakest output dimension.</a:t>
            </a:r>
          </a:p>
          <a:p>
            <a:pPr algn="l"/>
            <a:r>
              <a:rPr sz="1450" b="0" i="0">
                <a:solidFill>
                  <a:srgbClr val="222A33"/>
                </a:solidFill>
                <a:latin typeface="Calibri"/>
              </a:rPr>
              <a:t>•  Traces limited to what the test suite exercises.</a:t>
            </a:r>
          </a:p>
          <a:p>
            <a:pPr algn="l">
              <a:spcAft>
                <a:spcPts val="800"/>
              </a:spcAft>
            </a:pPr>
            <a:r>
              <a:rPr sz="1450" b="0" i="0">
                <a:solidFill>
                  <a:srgbClr val="222A33"/>
                </a:solidFill>
                <a:latin typeface="Calibri"/>
              </a:rPr>
              <a:t>•  Known gap to verify before the defence: the local skills folder no longer has a standalone get-runtime-traces skill, while get-sequence-dependency-table's own spec still names it as the source of runtime_traces.txt -- confirm which skill produces that file in the current pipeline before being asked.</a:t>
            </a:r>
          </a:p>
        </p:txBody>
      </p:sp>
      <p:sp>
        <p:nvSpPr>
          <p:cNvPr id="9" name="Rounded Rectangle 8"/>
          <p:cNvSpPr/>
          <p:nvPr/>
        </p:nvSpPr>
        <p:spPr>
          <a:xfrm>
            <a:off x="6263640" y="1371600"/>
            <a:ext cx="5394960" cy="4480560"/>
          </a:xfrm>
          <a:prstGeom prst="roundRect">
            <a:avLst>
              <a:gd name="adj" fmla="val 4000"/>
            </a:avLst>
          </a:prstGeom>
          <a:solidFill>
            <a:srgbClr val="EA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1554480"/>
            <a:ext cx="4892040" cy="4206240"/>
          </a:xfrm>
          <a:prstGeom prst="rect">
            <a:avLst/>
          </a:prstGeom>
          <a:noFill/>
        </p:spPr>
        <p:txBody>
          <a:bodyPr wrap="square" lIns="45720" tIns="18288" rIns="45720" bIns="18288" anchor="t">
            <a:spAutoFit/>
          </a:bodyPr>
          <a:lstStyle/>
          <a:p>
            <a:pPr algn="l">
              <a:spcAft>
                <a:spcPts val="800"/>
              </a:spcAft>
            </a:pPr>
            <a:r>
              <a:rPr sz="1700" b="1" i="0">
                <a:solidFill>
                  <a:srgbClr val="1BA19C"/>
                </a:solidFill>
                <a:latin typeface="Calibri"/>
              </a:rPr>
              <a:t>Future work</a:t>
            </a:r>
          </a:p>
          <a:p>
            <a:pPr algn="l">
              <a:spcAft>
                <a:spcPts val="800"/>
              </a:spcAft>
            </a:pPr>
            <a:r>
              <a:rPr sz="1450" b="0" i="0">
                <a:solidFill>
                  <a:srgbClr val="222A33"/>
                </a:solidFill>
                <a:latin typeface="Calibri"/>
              </a:rPr>
              <a:t>•  Carry the calling function into the element list to fix the in-scope / out-of-scope ambiguity.</a:t>
            </a:r>
          </a:p>
          <a:p>
            <a:pPr algn="l">
              <a:spcAft>
                <a:spcPts val="800"/>
              </a:spcAft>
            </a:pPr>
            <a:r>
              <a:rPr sz="1450" b="0" i="0">
                <a:solidFill>
                  <a:srgbClr val="222A33"/>
                </a:solidFill>
                <a:latin typeface="Calibri"/>
              </a:rPr>
              <a:t>•  Evaluate on systems with cross-module virtual dispatch, plugin loading, or reflection — where the additive regime dominates.</a:t>
            </a:r>
          </a:p>
          <a:p>
            <a:pPr algn="l">
              <a:spcAft>
                <a:spcPts val="800"/>
              </a:spcAft>
            </a:pPr>
            <a:r>
              <a:rPr sz="1450" b="0" i="0">
                <a:solidFill>
                  <a:srgbClr val="222A33"/>
                </a:solidFill>
                <a:latin typeface="Calibri"/>
              </a:rPr>
              <a:t>•  Richer, provenance-driven message labelling for sequence diagrams.</a:t>
            </a:r>
          </a:p>
          <a:p>
            <a:pPr algn="l">
              <a:spcAft>
                <a:spcPts val="800"/>
              </a:spcAft>
            </a:pPr>
            <a:r>
              <a:rPr sz="1450" b="0" i="0">
                <a:solidFill>
                  <a:srgbClr val="222A33"/>
                </a:solidFill>
                <a:latin typeface="Calibri"/>
              </a:rPr>
              <a:t>•  Broaden the expert panel and blind all conditions.</a:t>
            </a:r>
          </a:p>
          <a:p>
            <a:pPr algn="l"/>
            <a:r>
              <a:rPr sz="1450" b="0" i="0">
                <a:solidFill>
                  <a:srgbClr val="222A33"/>
                </a:solidFill>
                <a:latin typeface="Calibri"/>
              </a:rPr>
              <a:t>•  Continuous, CI-integrated model maintenance.</a:t>
            </a:r>
          </a:p>
        </p:txBody>
      </p:sp>
      <p:sp>
        <p:nvSpPr>
          <p:cNvPr id="11" name="TextBox 10"/>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2" name="TextBox 11"/>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WRAP-UP</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Conclusion</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30</a:t>
            </a:r>
          </a:p>
        </p:txBody>
      </p:sp>
      <p:sp>
        <p:nvSpPr>
          <p:cNvPr id="7" name="Rounded Rectangle 6"/>
          <p:cNvSpPr/>
          <p:nvPr/>
        </p:nvSpPr>
        <p:spPr>
          <a:xfrm>
            <a:off x="502920" y="1371600"/>
            <a:ext cx="11155680" cy="2011680"/>
          </a:xfrm>
          <a:prstGeom prst="roundRect">
            <a:avLst>
              <a:gd name="adj" fmla="val 4000"/>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572768"/>
            <a:ext cx="10698480" cy="1737360"/>
          </a:xfrm>
          <a:prstGeom prst="rect">
            <a:avLst/>
          </a:prstGeom>
          <a:noFill/>
        </p:spPr>
        <p:txBody>
          <a:bodyPr wrap="square" lIns="45720" tIns="18288" rIns="45720" bIns="18288" anchor="t">
            <a:spAutoFit/>
          </a:bodyPr>
          <a:lstStyle/>
          <a:p>
            <a:pPr algn="l">
              <a:spcAft>
                <a:spcPts val="800"/>
              </a:spcAft>
            </a:pPr>
            <a:r>
              <a:rPr sz="1800" b="1" i="0">
                <a:solidFill>
                  <a:srgbClr val="FFFFFF"/>
                </a:solidFill>
                <a:latin typeface="Calibri"/>
              </a:rPr>
              <a:t>A hybrid pipeline fuses a static call graph with runtime traces in one provenance-tagged property graph and slices it to scenario-specific SysML v2 interaction diagrams.</a:t>
            </a:r>
          </a:p>
          <a:p>
            <a:pPr algn="l"/>
            <a:r>
              <a:rPr sz="1600" b="0" i="0">
                <a:solidFill>
                  <a:srgbClr val="C9D6E2"/>
                </a:solidFill>
                <a:latin typeface="Calibri"/>
              </a:rPr>
              <a:t>Fusion helps exactly where one source is blind (C5 macro-F1 0.964); guided slicing removes 100% of noise at full coverage; the diagram alone suffices for comprehension.</a:t>
            </a:r>
          </a:p>
        </p:txBody>
      </p:sp>
      <p:sp>
        <p:nvSpPr>
          <p:cNvPr id="9" name="Rounded Rectangle 8"/>
          <p:cNvSpPr/>
          <p:nvPr/>
        </p:nvSpPr>
        <p:spPr>
          <a:xfrm>
            <a:off x="548640" y="3657600"/>
            <a:ext cx="960120" cy="502920"/>
          </a:xfrm>
          <a:prstGeom prst="roundRect">
            <a:avLst>
              <a:gd name="adj" fmla="val 2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600" b="1">
                <a:solidFill>
                  <a:srgbClr val="FFFFFF"/>
                </a:solidFill>
                <a:latin typeface="Calibri"/>
              </a:rPr>
              <a:t>Design</a:t>
            </a:r>
          </a:p>
        </p:txBody>
      </p:sp>
      <p:sp>
        <p:nvSpPr>
          <p:cNvPr id="10" name="TextBox 9"/>
          <p:cNvSpPr txBox="1"/>
          <p:nvPr/>
        </p:nvSpPr>
        <p:spPr>
          <a:xfrm>
            <a:off x="1691640" y="3657600"/>
            <a:ext cx="9875520" cy="548640"/>
          </a:xfrm>
          <a:prstGeom prst="rect">
            <a:avLst/>
          </a:prstGeom>
          <a:noFill/>
        </p:spPr>
        <p:txBody>
          <a:bodyPr wrap="square" lIns="45720" tIns="18288" rIns="45720" bIns="18288" anchor="ctr">
            <a:spAutoFit/>
          </a:bodyPr>
          <a:lstStyle/>
          <a:p>
            <a:pPr algn="l"/>
            <a:r>
              <a:rPr sz="1600" b="1" i="0">
                <a:solidFill>
                  <a:srgbClr val="0B2B45"/>
                </a:solidFill>
                <a:latin typeface="Calibri"/>
              </a:rPr>
              <a:t>An 11/11 property-graph schema unifies static and dynamic evidence.</a:t>
            </a:r>
          </a:p>
        </p:txBody>
      </p:sp>
      <p:sp>
        <p:nvSpPr>
          <p:cNvPr id="11" name="Rounded Rectangle 10"/>
          <p:cNvSpPr/>
          <p:nvPr/>
        </p:nvSpPr>
        <p:spPr>
          <a:xfrm>
            <a:off x="548640" y="4370832"/>
            <a:ext cx="960120" cy="502920"/>
          </a:xfrm>
          <a:prstGeom prst="roundRect">
            <a:avLst>
              <a:gd name="adj" fmla="val 25000"/>
            </a:avLst>
          </a:prstGeom>
          <a:solidFill>
            <a:srgbClr val="1BA19C"/>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600" b="1">
                <a:solidFill>
                  <a:srgbClr val="FFFFFF"/>
                </a:solidFill>
                <a:latin typeface="Calibri"/>
              </a:rPr>
              <a:t>RQ1</a:t>
            </a:r>
          </a:p>
        </p:txBody>
      </p:sp>
      <p:sp>
        <p:nvSpPr>
          <p:cNvPr id="12" name="TextBox 11"/>
          <p:cNvSpPr txBox="1"/>
          <p:nvPr/>
        </p:nvSpPr>
        <p:spPr>
          <a:xfrm>
            <a:off x="1691640" y="4370832"/>
            <a:ext cx="9875520" cy="548640"/>
          </a:xfrm>
          <a:prstGeom prst="rect">
            <a:avLst/>
          </a:prstGeom>
          <a:noFill/>
        </p:spPr>
        <p:txBody>
          <a:bodyPr wrap="square" lIns="45720" tIns="18288" rIns="45720" bIns="18288" anchor="ctr">
            <a:spAutoFit/>
          </a:bodyPr>
          <a:lstStyle/>
          <a:p>
            <a:pPr algn="l"/>
            <a:r>
              <a:rPr sz="1600" b="1" i="0">
                <a:solidFill>
                  <a:srgbClr val="0B2B45"/>
                </a:solidFill>
                <a:latin typeface="Calibri"/>
              </a:rPr>
              <a:t>Fusion is additive where sources disagree, protective elsewhere.</a:t>
            </a:r>
          </a:p>
        </p:txBody>
      </p:sp>
      <p:sp>
        <p:nvSpPr>
          <p:cNvPr id="13" name="Rounded Rectangle 12"/>
          <p:cNvSpPr/>
          <p:nvPr/>
        </p:nvSpPr>
        <p:spPr>
          <a:xfrm>
            <a:off x="548640" y="5084064"/>
            <a:ext cx="960120" cy="502920"/>
          </a:xfrm>
          <a:prstGeom prst="roundRect">
            <a:avLst>
              <a:gd name="adj" fmla="val 25000"/>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sz="1600" b="1">
                <a:solidFill>
                  <a:srgbClr val="0B2B45"/>
                </a:solidFill>
                <a:latin typeface="Calibri"/>
              </a:rPr>
              <a:t>RQ2</a:t>
            </a:r>
          </a:p>
        </p:txBody>
      </p:sp>
      <p:sp>
        <p:nvSpPr>
          <p:cNvPr id="14" name="TextBox 13"/>
          <p:cNvSpPr txBox="1"/>
          <p:nvPr/>
        </p:nvSpPr>
        <p:spPr>
          <a:xfrm>
            <a:off x="1691640" y="5084064"/>
            <a:ext cx="9875520" cy="548640"/>
          </a:xfrm>
          <a:prstGeom prst="rect">
            <a:avLst/>
          </a:prstGeom>
          <a:noFill/>
        </p:spPr>
        <p:txBody>
          <a:bodyPr wrap="square" lIns="45720" tIns="18288" rIns="45720" bIns="18288" anchor="ctr">
            <a:spAutoFit/>
          </a:bodyPr>
          <a:lstStyle/>
          <a:p>
            <a:pPr algn="l"/>
            <a:r>
              <a:rPr sz="1600" b="1" i="0">
                <a:solidFill>
                  <a:srgbClr val="0B2B45"/>
                </a:solidFill>
                <a:latin typeface="Calibri"/>
              </a:rPr>
              <a:t>Dependence-based slicing yields focused, noise-free diagrams.</a:t>
            </a:r>
          </a:p>
        </p:txBody>
      </p:sp>
      <p:sp>
        <p:nvSpPr>
          <p:cNvPr id="15" name="TextBox 14"/>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6" name="TextBox 15"/>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20040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658612" y="548640"/>
            <a:ext cx="1893003" cy="1042416"/>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tno_esi.jpg"/>
          <p:cNvPicPr>
            <a:picLocks noChangeAspect="1"/>
          </p:cNvPicPr>
          <p:nvPr/>
        </p:nvPicPr>
        <p:blipFill>
          <a:blip r:embed="rId3"/>
          <a:stretch>
            <a:fillRect/>
          </a:stretch>
        </p:blipFill>
        <p:spPr>
          <a:xfrm>
            <a:off x="9768340" y="658368"/>
            <a:ext cx="1673547" cy="822960"/>
          </a:xfrm>
          <a:prstGeom prst="rect">
            <a:avLst/>
          </a:prstGeom>
        </p:spPr>
      </p:pic>
      <p:pic>
        <p:nvPicPr>
          <p:cNvPr id="6" name="Picture 5" descr="msc-se-logo-small-white.png"/>
          <p:cNvPicPr>
            <a:picLocks noChangeAspect="1"/>
          </p:cNvPicPr>
          <p:nvPr/>
        </p:nvPicPr>
        <p:blipFill>
          <a:blip r:embed="rId4"/>
          <a:stretch>
            <a:fillRect/>
          </a:stretch>
        </p:blipFill>
        <p:spPr>
          <a:xfrm>
            <a:off x="822960" y="5943600"/>
            <a:ext cx="548640" cy="548640"/>
          </a:xfrm>
          <a:prstGeom prst="rect">
            <a:avLst/>
          </a:prstGeom>
        </p:spPr>
      </p:pic>
      <p:sp>
        <p:nvSpPr>
          <p:cNvPr id="7" name="TextBox 6"/>
          <p:cNvSpPr txBox="1"/>
          <p:nvPr/>
        </p:nvSpPr>
        <p:spPr>
          <a:xfrm>
            <a:off x="822960" y="2011680"/>
            <a:ext cx="10607040" cy="1188720"/>
          </a:xfrm>
          <a:prstGeom prst="rect">
            <a:avLst/>
          </a:prstGeom>
          <a:noFill/>
        </p:spPr>
        <p:txBody>
          <a:bodyPr wrap="square" lIns="45720" tIns="18288" rIns="45720" bIns="18288" anchor="t">
            <a:spAutoFit/>
          </a:bodyPr>
          <a:lstStyle/>
          <a:p>
            <a:pPr algn="l"/>
            <a:r>
              <a:rPr sz="4600" b="1" i="0">
                <a:solidFill>
                  <a:srgbClr val="FFFFFF"/>
                </a:solidFill>
                <a:latin typeface="Calibri"/>
              </a:rPr>
              <a:t>Thank you — Questions?</a:t>
            </a:r>
          </a:p>
        </p:txBody>
      </p:sp>
      <p:sp>
        <p:nvSpPr>
          <p:cNvPr id="8" name="TextBox 7"/>
          <p:cNvSpPr txBox="1"/>
          <p:nvPr/>
        </p:nvSpPr>
        <p:spPr>
          <a:xfrm>
            <a:off x="822960" y="3429000"/>
            <a:ext cx="10607040" cy="914400"/>
          </a:xfrm>
          <a:prstGeom prst="rect">
            <a:avLst/>
          </a:prstGeom>
          <a:noFill/>
        </p:spPr>
        <p:txBody>
          <a:bodyPr wrap="square" lIns="45720" tIns="18288" rIns="45720" bIns="18288" anchor="t">
            <a:spAutoFit/>
          </a:bodyPr>
          <a:lstStyle/>
          <a:p>
            <a:pPr algn="l"/>
            <a:r>
              <a:rPr sz="1800" b="0" i="1">
                <a:solidFill>
                  <a:srgbClr val="C9D6E2"/>
                </a:solidFill>
                <a:latin typeface="Calibri"/>
              </a:rPr>
              <a:t>Hybrid Static–Trace Analysis for Interaction Model Synthesis in Event-Driven Systems</a:t>
            </a:r>
          </a:p>
        </p:txBody>
      </p:sp>
      <p:sp>
        <p:nvSpPr>
          <p:cNvPr id="9" name="TextBox 8"/>
          <p:cNvSpPr txBox="1"/>
          <p:nvPr/>
        </p:nvSpPr>
        <p:spPr>
          <a:xfrm>
            <a:off x="822960" y="4846320"/>
            <a:ext cx="10607040" cy="914400"/>
          </a:xfrm>
          <a:prstGeom prst="rect">
            <a:avLst/>
          </a:prstGeom>
          <a:noFill/>
        </p:spPr>
        <p:txBody>
          <a:bodyPr wrap="square" lIns="45720" tIns="18288" rIns="45720" bIns="18288" anchor="t">
            <a:spAutoFit/>
          </a:bodyPr>
          <a:lstStyle/>
          <a:p>
            <a:pPr algn="l">
              <a:spcAft>
                <a:spcPts val="400"/>
              </a:spcAft>
            </a:pPr>
            <a:r>
              <a:rPr sz="2200" b="1" i="0">
                <a:solidFill>
                  <a:srgbClr val="FFFFFF"/>
                </a:solidFill>
                <a:latin typeface="Calibri"/>
              </a:rPr>
              <a:t>Prathik Anand Krishnan</a:t>
            </a:r>
          </a:p>
          <a:p>
            <a:pPr algn="l"/>
            <a:r>
              <a:rPr sz="1400" b="0" i="0">
                <a:solidFill>
                  <a:srgbClr val="1BA19C"/>
                </a:solidFill>
                <a:latin typeface="Calibri"/>
              </a:rPr>
              <a:t>TNO-ESI  ·  MSc Software Engineering, University of Amsterdam</a:t>
            </a:r>
          </a:p>
        </p:txBody>
      </p:sp>
      <p:sp>
        <p:nvSpPr>
          <p:cNvPr id="10" name="TextBox 9"/>
          <p:cNvSpPr txBox="1"/>
          <p:nvPr/>
        </p:nvSpPr>
        <p:spPr>
          <a:xfrm>
            <a:off x="1828800" y="6016752"/>
            <a:ext cx="5486400" cy="457200"/>
          </a:xfrm>
          <a:prstGeom prst="rect">
            <a:avLst/>
          </a:prstGeom>
          <a:noFill/>
        </p:spPr>
        <p:txBody>
          <a:bodyPr wrap="square" lIns="45720" tIns="18288" rIns="45720" bIns="18288" anchor="t">
            <a:spAutoFit/>
          </a:bodyPr>
          <a:lstStyle/>
          <a:p>
            <a:pPr algn="l"/>
            <a:r>
              <a:rPr sz="1200" b="1" i="0">
                <a:solidFill>
                  <a:srgbClr val="1BA19C"/>
                </a:solidFill>
                <a:latin typeface="Calibri"/>
              </a:rPr>
              <a:t>University of Amsterdam</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APPENDIX</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Backup — S1 Structural &amp; Sequence Views</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32</a:t>
            </a:r>
          </a:p>
        </p:txBody>
      </p:sp>
      <p:pic>
        <p:nvPicPr>
          <p:cNvPr id="7" name="Picture 6" descr="s1-structural.png"/>
          <p:cNvPicPr>
            <a:picLocks noChangeAspect="1"/>
          </p:cNvPicPr>
          <p:nvPr/>
        </p:nvPicPr>
        <p:blipFill>
          <a:blip r:embed="rId3"/>
          <a:stretch>
            <a:fillRect/>
          </a:stretch>
        </p:blipFill>
        <p:spPr>
          <a:xfrm>
            <a:off x="510626" y="1371600"/>
            <a:ext cx="5470988" cy="4572000"/>
          </a:xfrm>
          <a:prstGeom prst="rect">
            <a:avLst/>
          </a:prstGeom>
        </p:spPr>
      </p:pic>
      <p:pic>
        <p:nvPicPr>
          <p:cNvPr id="8" name="Picture 7" descr="s1-sequence.png"/>
          <p:cNvPicPr>
            <a:picLocks noChangeAspect="1"/>
          </p:cNvPicPr>
          <p:nvPr/>
        </p:nvPicPr>
        <p:blipFill>
          <a:blip r:embed="rId4"/>
          <a:stretch>
            <a:fillRect/>
          </a:stretch>
        </p:blipFill>
        <p:spPr>
          <a:xfrm>
            <a:off x="6217920" y="2427330"/>
            <a:ext cx="5486400" cy="2460539"/>
          </a:xfrm>
          <a:prstGeom prst="rect">
            <a:avLst/>
          </a:prstGeom>
        </p:spPr>
      </p:pic>
      <p:sp>
        <p:nvSpPr>
          <p:cNvPr id="9" name="TextBox 8"/>
          <p:cNvSpPr txBox="1"/>
          <p:nvPr/>
        </p:nvSpPr>
        <p:spPr>
          <a:xfrm>
            <a:off x="502920" y="5989320"/>
            <a:ext cx="5486400" cy="365760"/>
          </a:xfrm>
          <a:prstGeom prst="rect">
            <a:avLst/>
          </a:prstGeom>
          <a:noFill/>
        </p:spPr>
        <p:txBody>
          <a:bodyPr wrap="square" lIns="45720" tIns="18288" rIns="45720" bIns="18288" anchor="t">
            <a:spAutoFit/>
          </a:bodyPr>
          <a:lstStyle/>
          <a:p>
            <a:pPr algn="ctr"/>
            <a:r>
              <a:rPr sz="1100" b="0" i="1">
                <a:solidFill>
                  <a:srgbClr val="5A636E"/>
                </a:solidFill>
                <a:latin typeface="Calibri"/>
              </a:rPr>
              <a:t>S1 structural view</a:t>
            </a:r>
          </a:p>
        </p:txBody>
      </p:sp>
      <p:sp>
        <p:nvSpPr>
          <p:cNvPr id="10" name="TextBox 9"/>
          <p:cNvSpPr txBox="1"/>
          <p:nvPr/>
        </p:nvSpPr>
        <p:spPr>
          <a:xfrm>
            <a:off x="6217920" y="5989320"/>
            <a:ext cx="5486400" cy="365760"/>
          </a:xfrm>
          <a:prstGeom prst="rect">
            <a:avLst/>
          </a:prstGeom>
          <a:noFill/>
        </p:spPr>
        <p:txBody>
          <a:bodyPr wrap="square" lIns="45720" tIns="18288" rIns="45720" bIns="18288" anchor="t">
            <a:spAutoFit/>
          </a:bodyPr>
          <a:lstStyle/>
          <a:p>
            <a:pPr algn="ctr"/>
            <a:r>
              <a:rPr sz="1100" b="0" i="1">
                <a:solidFill>
                  <a:srgbClr val="5A636E"/>
                </a:solidFill>
                <a:latin typeface="Calibri"/>
              </a:rPr>
              <a:t>S1 reconstructed sequence</a:t>
            </a:r>
          </a:p>
        </p:txBody>
      </p:sp>
      <p:sp>
        <p:nvSpPr>
          <p:cNvPr id="11" name="TextBox 10"/>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2" name="TextBox 11"/>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B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E1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28016"/>
            <a:ext cx="10058400" cy="274320"/>
          </a:xfrm>
          <a:prstGeom prst="rect">
            <a:avLst/>
          </a:prstGeom>
          <a:noFill/>
        </p:spPr>
        <p:txBody>
          <a:bodyPr wrap="square" lIns="45720" tIns="18288" rIns="45720" bIns="18288" anchor="t">
            <a:spAutoFit/>
          </a:bodyPr>
          <a:lstStyle/>
          <a:p>
            <a:pPr algn="l"/>
            <a:r>
              <a:rPr sz="1200" b="1" i="0">
                <a:solidFill>
                  <a:srgbClr val="1BA19C"/>
                </a:solidFill>
                <a:latin typeface="Calibri"/>
              </a:rPr>
              <a:t>APPENDIX</a:t>
            </a:r>
          </a:p>
        </p:txBody>
      </p:sp>
      <p:sp>
        <p:nvSpPr>
          <p:cNvPr id="5" name="TextBox 4"/>
          <p:cNvSpPr txBox="1"/>
          <p:nvPr/>
        </p:nvSpPr>
        <p:spPr>
          <a:xfrm>
            <a:off x="502920" y="365760"/>
            <a:ext cx="10241280" cy="640080"/>
          </a:xfrm>
          <a:prstGeom prst="rect">
            <a:avLst/>
          </a:prstGeom>
          <a:noFill/>
        </p:spPr>
        <p:txBody>
          <a:bodyPr wrap="square" lIns="45720" tIns="18288" rIns="45720" bIns="18288" anchor="t">
            <a:spAutoFit/>
          </a:bodyPr>
          <a:lstStyle/>
          <a:p>
            <a:pPr algn="l"/>
            <a:r>
              <a:rPr sz="2700" b="1" i="0">
                <a:solidFill>
                  <a:srgbClr val="FFFFFF"/>
                </a:solidFill>
                <a:latin typeface="Calibri"/>
              </a:rPr>
              <a:t>Backup — Engineering Challenges &amp; Solutions</a:t>
            </a:r>
          </a:p>
        </p:txBody>
      </p:sp>
      <p:sp>
        <p:nvSpPr>
          <p:cNvPr id="6" name="TextBox 5"/>
          <p:cNvSpPr txBox="1"/>
          <p:nvPr/>
        </p:nvSpPr>
        <p:spPr>
          <a:xfrm>
            <a:off x="11155680" y="384048"/>
            <a:ext cx="822960" cy="457200"/>
          </a:xfrm>
          <a:prstGeom prst="rect">
            <a:avLst/>
          </a:prstGeom>
          <a:noFill/>
        </p:spPr>
        <p:txBody>
          <a:bodyPr wrap="square" lIns="45720" tIns="18288" rIns="45720" bIns="18288" anchor="t">
            <a:spAutoFit/>
          </a:bodyPr>
          <a:lstStyle/>
          <a:p>
            <a:pPr algn="r"/>
            <a:r>
              <a:rPr sz="1500" b="1" i="0">
                <a:solidFill>
                  <a:srgbClr val="1BA19C"/>
                </a:solidFill>
                <a:latin typeface="Calibri"/>
              </a:rPr>
              <a:t>33</a:t>
            </a:r>
          </a:p>
        </p:txBody>
      </p:sp>
      <p:graphicFrame>
        <p:nvGraphicFramePr>
          <p:cNvPr id="7" name="Table 6"/>
          <p:cNvGraphicFramePr>
            <a:graphicFrameLocks noGrp="1"/>
          </p:cNvGraphicFramePr>
          <p:nvPr/>
        </p:nvGraphicFramePr>
        <p:xfrm>
          <a:off x="502920" y="1417320"/>
          <a:ext cx="11155679" cy="4572000"/>
        </p:xfrm>
        <a:graphic>
          <a:graphicData uri="http://schemas.openxmlformats.org/drawingml/2006/table">
            <a:tbl>
              <a:tblPr>
                <a:tableStyleId>{5C22544A-7EE6-4342-B048-85BDC9FD1C3A}</a:tableStyleId>
              </a:tblPr>
              <a:tblGrid>
                <a:gridCol w="4276343">
                  <a:extLst>
                    <a:ext uri="{9D8B030D-6E8A-4147-A177-3AD203B41FA5}">
                      <a16:colId xmlns:a16="http://schemas.microsoft.com/office/drawing/2014/main" val="20000"/>
                    </a:ext>
                  </a:extLst>
                </a:gridCol>
                <a:gridCol w="6879336">
                  <a:extLst>
                    <a:ext uri="{9D8B030D-6E8A-4147-A177-3AD203B41FA5}">
                      <a16:colId xmlns:a16="http://schemas.microsoft.com/office/drawing/2014/main" val="20001"/>
                    </a:ext>
                  </a:extLst>
                </a:gridCol>
              </a:tblGrid>
              <a:tr h="914400">
                <a:tc>
                  <a:txBody>
                    <a:bodyPr/>
                    <a:lstStyle/>
                    <a:p>
                      <a:pPr algn="l"/>
                      <a:r>
                        <a:rPr sz="1400" b="1">
                          <a:solidFill>
                            <a:srgbClr val="FFFFFF"/>
                          </a:solidFill>
                          <a:latin typeface="Calibri"/>
                        </a:rPr>
                        <a:t>Challenge</a:t>
                      </a:r>
                    </a:p>
                  </a:txBody>
                  <a:tcPr marL="54864" marR="54864" marT="18288" marB="18288" anchor="ctr">
                    <a:solidFill>
                      <a:srgbClr val="0B2B45"/>
                    </a:solidFill>
                  </a:tcPr>
                </a:tc>
                <a:tc>
                  <a:txBody>
                    <a:bodyPr/>
                    <a:lstStyle/>
                    <a:p>
                      <a:pPr algn="ctr"/>
                      <a:r>
                        <a:rPr sz="1400" b="1">
                          <a:solidFill>
                            <a:srgbClr val="FFFFFF"/>
                          </a:solidFill>
                          <a:latin typeface="Calibri"/>
                        </a:rPr>
                        <a:t>How it was solved</a:t>
                      </a:r>
                    </a:p>
                  </a:txBody>
                  <a:tcPr marL="54864" marR="54864" marT="18288" marB="18288" anchor="ctr">
                    <a:solidFill>
                      <a:srgbClr val="0B2B45"/>
                    </a:solidFill>
                  </a:tcPr>
                </a:tc>
                <a:extLst>
                  <a:ext uri="{0D108BD9-81ED-4DB2-BD59-A6C34878D82A}">
                    <a16:rowId xmlns:a16="http://schemas.microsoft.com/office/drawing/2014/main" val="10000"/>
                  </a:ext>
                </a:extLst>
              </a:tr>
              <a:tr h="914400">
                <a:tc>
                  <a:txBody>
                    <a:bodyPr/>
                    <a:lstStyle/>
                    <a:p>
                      <a:pPr algn="l"/>
                      <a:r>
                        <a:rPr sz="1400" b="0">
                          <a:solidFill>
                            <a:srgbClr val="222A33"/>
                          </a:solidFill>
                          <a:latin typeface="Calibri"/>
                        </a:rPr>
                        <a:t>C++ is context-sensitive — regex / simple parsers fail</a:t>
                      </a:r>
                    </a:p>
                  </a:txBody>
                  <a:tcPr marL="54864" marR="54864" marT="18288" marB="18288" anchor="ctr">
                    <a:solidFill>
                      <a:srgbClr val="FFFFFF"/>
                    </a:solidFill>
                  </a:tcPr>
                </a:tc>
                <a:tc>
                  <a:txBody>
                    <a:bodyPr/>
                    <a:lstStyle/>
                    <a:p>
                      <a:pPr algn="ctr"/>
                      <a:r>
                        <a:rPr sz="1400" b="0">
                          <a:solidFill>
                            <a:srgbClr val="222A33"/>
                          </a:solidFill>
                          <a:latin typeface="Calibri"/>
                        </a:rPr>
                        <a:t>Renaissance + Neo4j for semantic-level extraction; ClangSharp (libclang) for validation</a:t>
                      </a:r>
                    </a:p>
                  </a:txBody>
                  <a:tcPr marL="54864" marR="54864" marT="18288" marB="18288" anchor="ctr">
                    <a:solidFill>
                      <a:srgbClr val="FFFFFF"/>
                    </a:solidFill>
                  </a:tcPr>
                </a:tc>
                <a:extLst>
                  <a:ext uri="{0D108BD9-81ED-4DB2-BD59-A6C34878D82A}">
                    <a16:rowId xmlns:a16="http://schemas.microsoft.com/office/drawing/2014/main" val="10001"/>
                  </a:ext>
                </a:extLst>
              </a:tr>
              <a:tr h="914400">
                <a:tc>
                  <a:txBody>
                    <a:bodyPr/>
                    <a:lstStyle/>
                    <a:p>
                      <a:pPr algn="l"/>
                      <a:r>
                        <a:rPr sz="1400" b="0">
                          <a:solidFill>
                            <a:srgbClr val="222A33"/>
                          </a:solidFill>
                          <a:latin typeface="Calibri"/>
                        </a:rPr>
                        <a:t>Thousands of dependencies crash SysML toolchains</a:t>
                      </a:r>
                    </a:p>
                  </a:txBody>
                  <a:tcPr marL="54864" marR="54864" marT="18288" marB="18288" anchor="ctr">
                    <a:solidFill>
                      <a:srgbClr val="F1F4F7"/>
                    </a:solidFill>
                  </a:tcPr>
                </a:tc>
                <a:tc>
                  <a:txBody>
                    <a:bodyPr/>
                    <a:lstStyle/>
                    <a:p>
                      <a:pPr algn="ctr"/>
                      <a:r>
                        <a:rPr sz="1400" b="0">
                          <a:solidFill>
                            <a:srgbClr val="222A33"/>
                          </a:solidFill>
                          <a:latin typeface="Calibri"/>
                        </a:rPr>
                        <a:t>Identifier quoting + relationship deduplication in the generation layer</a:t>
                      </a:r>
                    </a:p>
                  </a:txBody>
                  <a:tcPr marL="54864" marR="54864" marT="18288" marB="18288" anchor="ctr">
                    <a:solidFill>
                      <a:srgbClr val="F1F4F7"/>
                    </a:solidFill>
                  </a:tcPr>
                </a:tc>
                <a:extLst>
                  <a:ext uri="{0D108BD9-81ED-4DB2-BD59-A6C34878D82A}">
                    <a16:rowId xmlns:a16="http://schemas.microsoft.com/office/drawing/2014/main" val="10002"/>
                  </a:ext>
                </a:extLst>
              </a:tr>
              <a:tr h="914400">
                <a:tc>
                  <a:txBody>
                    <a:bodyPr/>
                    <a:lstStyle/>
                    <a:p>
                      <a:pPr algn="l"/>
                      <a:r>
                        <a:rPr sz="1400" b="0">
                          <a:solidFill>
                            <a:srgbClr val="222A33"/>
                          </a:solidFill>
                          <a:latin typeface="Calibri"/>
                        </a:rPr>
                        <a:t>Hardcoded scenario slicing is brittle</a:t>
                      </a:r>
                    </a:p>
                  </a:txBody>
                  <a:tcPr marL="54864" marR="54864" marT="18288" marB="18288" anchor="ctr">
                    <a:solidFill>
                      <a:srgbClr val="FFFFFF"/>
                    </a:solidFill>
                  </a:tcPr>
                </a:tc>
                <a:tc>
                  <a:txBody>
                    <a:bodyPr/>
                    <a:lstStyle/>
                    <a:p>
                      <a:pPr algn="ctr"/>
                      <a:r>
                        <a:rPr sz="1400" b="0">
                          <a:solidFill>
                            <a:srgbClr val="222A33"/>
                          </a:solidFill>
                          <a:latin typeface="Calibri"/>
                        </a:rPr>
                        <a:t>Agent-skill architecture — scenario defined as a natural-language query</a:t>
                      </a:r>
                    </a:p>
                  </a:txBody>
                  <a:tcPr marL="54864" marR="54864" marT="18288" marB="18288" anchor="ctr">
                    <a:solidFill>
                      <a:srgbClr val="FFFFFF"/>
                    </a:solidFill>
                  </a:tcPr>
                </a:tc>
                <a:extLst>
                  <a:ext uri="{0D108BD9-81ED-4DB2-BD59-A6C34878D82A}">
                    <a16:rowId xmlns:a16="http://schemas.microsoft.com/office/drawing/2014/main" val="10003"/>
                  </a:ext>
                </a:extLst>
              </a:tr>
              <a:tr h="914400">
                <a:tc>
                  <a:txBody>
                    <a:bodyPr/>
                    <a:lstStyle/>
                    <a:p>
                      <a:pPr algn="l"/>
                      <a:r>
                        <a:rPr sz="1400" b="0">
                          <a:solidFill>
                            <a:srgbClr val="222A33"/>
                          </a:solidFill>
                          <a:latin typeface="Calibri"/>
                        </a:rPr>
                        <a:t>Traces alone are incomplete</a:t>
                      </a:r>
                    </a:p>
                  </a:txBody>
                  <a:tcPr marL="54864" marR="54864" marT="18288" marB="18288" anchor="ctr">
                    <a:solidFill>
                      <a:srgbClr val="F1F4F7"/>
                    </a:solidFill>
                  </a:tcPr>
                </a:tc>
                <a:tc>
                  <a:txBody>
                    <a:bodyPr/>
                    <a:lstStyle/>
                    <a:p>
                      <a:pPr algn="ctr"/>
                      <a:r>
                        <a:rPr sz="1400" b="0">
                          <a:solidFill>
                            <a:srgbClr val="222A33"/>
                          </a:solidFill>
                          <a:latin typeface="Calibri"/>
                        </a:rPr>
                        <a:t>Static reachability in the graph fills unobserved interactions — the core hybrid contribution</a:t>
                      </a:r>
                    </a:p>
                  </a:txBody>
                  <a:tcPr marL="54864" marR="54864" marT="18288" marB="18288" anchor="ctr">
                    <a:solidFill>
                      <a:srgbClr val="F1F4F7"/>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9" name="TextBox 8"/>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TotalTime>
  <Words>8145</Words>
  <Application>Microsoft Office PowerPoint</Application>
  <PresentationFormat>Widescreen</PresentationFormat>
  <Paragraphs>856</Paragraphs>
  <Slides>33</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Prathik Anand Krishnan</cp:lastModifiedBy>
  <cp:revision>2</cp:revision>
  <dcterms:created xsi:type="dcterms:W3CDTF">2013-01-27T09:14:16Z</dcterms:created>
  <dcterms:modified xsi:type="dcterms:W3CDTF">2026-07-20T01:39:59Z</dcterms:modified>
  <cp:category/>
</cp:coreProperties>
</file>